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"/>
  </p:notesMasterIdLst>
  <p:sldIdLst>
    <p:sldId id="764" r:id="rId5"/>
    <p:sldId id="314" r:id="rId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863667-3AEE-FF88-0FC4-9100A2353910}" v="28" dt="2025-08-14T10:33:25.9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240" y="632"/>
      </p:cViewPr>
      <p:guideLst>
        <p:guide orient="horz" pos="2880"/>
        <p:guide pos="21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A0CF0-952E-4A55-ADC5-7CF556879365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4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4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4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B2594-525F-45A3-8401-F707257DD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697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1"/>
            <a:ext cx="7772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AE"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lang="en-AE" smtClean="0"/>
              <a:pPr marL="38100">
                <a:lnSpc>
                  <a:spcPts val="1430"/>
                </a:lnSpc>
              </a:pPr>
              <a:t>‹#›</a:t>
            </a:fld>
            <a:endParaRPr lang="en-A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AE"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lang="en-AE" smtClean="0"/>
              <a:pPr marL="38100">
                <a:lnSpc>
                  <a:spcPts val="1430"/>
                </a:lnSpc>
              </a:pPr>
              <a:t>‹#›</a:t>
            </a:fld>
            <a:endParaRPr lang="en-A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2"/>
            <a:ext cx="9143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2800" y="0"/>
            <a:ext cx="1981200" cy="53949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57200" y="6172200"/>
            <a:ext cx="8229600" cy="1270"/>
          </a:xfrm>
          <a:custGeom>
            <a:avLst/>
            <a:gdLst/>
            <a:ahLst/>
            <a:cxnLst/>
            <a:rect l="l" t="t" r="r" b="b"/>
            <a:pathLst>
              <a:path w="8229600" h="1270">
                <a:moveTo>
                  <a:pt x="0" y="0"/>
                </a:moveTo>
                <a:lnTo>
                  <a:pt x="8229600" y="127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AE" spc="-15"/>
              <a:t>24/02/2024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lang="en-AE" smtClean="0"/>
              <a:pPr marL="38100">
                <a:lnSpc>
                  <a:spcPts val="1430"/>
                </a:lnSpc>
              </a:pPr>
              <a:t>‹#›</a:t>
            </a:fld>
            <a:endParaRPr lang="en-A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AE" spc="-15"/>
              <a:t>24/02/2024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lang="en-AE" smtClean="0"/>
              <a:pPr marL="38100">
                <a:lnSpc>
                  <a:spcPts val="1430"/>
                </a:lnSpc>
              </a:pPr>
              <a:t>‹#›</a:t>
            </a:fld>
            <a:endParaRPr lang="en-A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AE" spc="-15"/>
              <a:t>24/02/2024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lang="en-AE" smtClean="0"/>
              <a:pPr marL="38100">
                <a:lnSpc>
                  <a:spcPts val="1430"/>
                </a:lnSpc>
              </a:pPr>
              <a:t>‹#›</a:t>
            </a:fld>
            <a:endParaRPr lang="en-A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2"/>
            <a:ext cx="9143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62800" y="0"/>
            <a:ext cx="1981200" cy="5394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56788" y="1742391"/>
            <a:ext cx="1630425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219" y="1112268"/>
            <a:ext cx="672465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1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6855" y="6490623"/>
            <a:ext cx="777875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AE"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88096" y="6393726"/>
            <a:ext cx="241300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lang="en-AE" smtClean="0"/>
              <a:pPr marL="38100">
                <a:lnSpc>
                  <a:spcPts val="1430"/>
                </a:lnSpc>
              </a:pPr>
              <a:t>‹#›</a:t>
            </a:fld>
            <a:endParaRPr lang="en-A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service.in/" TargetMode="External"/><Relationship Id="rId2" Type="http://schemas.openxmlformats.org/officeDocument/2006/relationships/hyperlink" Target="http://www.selfservit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7E4A55-AB23-732F-F740-5323BBF702FD}"/>
              </a:ext>
            </a:extLst>
          </p:cNvPr>
          <p:cNvSpPr/>
          <p:nvPr/>
        </p:nvSpPr>
        <p:spPr>
          <a:xfrm>
            <a:off x="358750" y="817169"/>
            <a:ext cx="1538176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FPR QA Update</a:t>
            </a:r>
            <a:endParaRPr lang="en-AE" sz="1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E7806E0B-6AD3-EAA4-4330-382D9368AD08}"/>
              </a:ext>
            </a:extLst>
          </p:cNvPr>
          <p:cNvSpPr/>
          <p:nvPr/>
        </p:nvSpPr>
        <p:spPr>
          <a:xfrm>
            <a:off x="2210992" y="492770"/>
            <a:ext cx="1362902" cy="105400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Is issue Critical?</a:t>
            </a:r>
            <a:endParaRPr lang="en-AE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5DC345-1C38-FAF7-6B9A-52904CF7AD44}"/>
              </a:ext>
            </a:extLst>
          </p:cNvPr>
          <p:cNvSpPr/>
          <p:nvPr/>
        </p:nvSpPr>
        <p:spPr>
          <a:xfrm>
            <a:off x="5698437" y="4337190"/>
            <a:ext cx="1493878" cy="54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Assign to QA Coordinator (HQ Part)</a:t>
            </a:r>
            <a:endParaRPr lang="en-AE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38AEE6-21F7-C800-5849-06AE1A875E5E}"/>
              </a:ext>
            </a:extLst>
          </p:cNvPr>
          <p:cNvSpPr/>
          <p:nvPr/>
        </p:nvSpPr>
        <p:spPr>
          <a:xfrm>
            <a:off x="2048090" y="4736241"/>
            <a:ext cx="1298946" cy="572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Finance – Payment Confirmation</a:t>
            </a:r>
            <a:endParaRPr lang="en-AE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40204-ADD6-A76C-5D94-CAF6BA54B075}"/>
              </a:ext>
            </a:extLst>
          </p:cNvPr>
          <p:cNvSpPr/>
          <p:nvPr/>
        </p:nvSpPr>
        <p:spPr>
          <a:xfrm>
            <a:off x="4189525" y="667983"/>
            <a:ext cx="1298945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Create SWP (Critical case)</a:t>
            </a:r>
            <a:endParaRPr lang="en-AE" sz="1200" dirty="0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686DB57B-6D95-2109-0472-817FCD8DA7F2}"/>
              </a:ext>
            </a:extLst>
          </p:cNvPr>
          <p:cNvSpPr/>
          <p:nvPr/>
        </p:nvSpPr>
        <p:spPr>
          <a:xfrm>
            <a:off x="372182" y="1635612"/>
            <a:ext cx="1765004" cy="108452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Is Part required for vendor claim?</a:t>
            </a:r>
            <a:endParaRPr lang="en-AE" sz="1200" dirty="0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B33ACD4C-DDC3-34AF-14C9-B2DFFA05696C}"/>
              </a:ext>
            </a:extLst>
          </p:cNvPr>
          <p:cNvSpPr/>
          <p:nvPr/>
        </p:nvSpPr>
        <p:spPr>
          <a:xfrm>
            <a:off x="2496998" y="1615082"/>
            <a:ext cx="1837660" cy="112932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Is Failed Part required by vendor?</a:t>
            </a:r>
            <a:endParaRPr lang="en-AE" sz="1200" dirty="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23C833DB-C5F0-3A75-AFE4-D0E8992E0A8B}"/>
              </a:ext>
            </a:extLst>
          </p:cNvPr>
          <p:cNvSpPr/>
          <p:nvPr/>
        </p:nvSpPr>
        <p:spPr>
          <a:xfrm>
            <a:off x="4562963" y="1601471"/>
            <a:ext cx="2231501" cy="112932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Failed Part received &amp; QA acknowledged?</a:t>
            </a:r>
            <a:endParaRPr lang="en-AE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74A9CB-2B5F-8A1C-44D5-7E1B981D9623}"/>
              </a:ext>
            </a:extLst>
          </p:cNvPr>
          <p:cNvSpPr/>
          <p:nvPr/>
        </p:nvSpPr>
        <p:spPr>
          <a:xfrm>
            <a:off x="7056782" y="1125237"/>
            <a:ext cx="1522227" cy="607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WAIT – Awaiting Failed Part Receipt/QA Ack</a:t>
            </a:r>
            <a:endParaRPr lang="en-AE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FF22BB-7FD5-06D7-CD88-D9EF08BBBFE8}"/>
              </a:ext>
            </a:extLst>
          </p:cNvPr>
          <p:cNvSpPr/>
          <p:nvPr/>
        </p:nvSpPr>
        <p:spPr>
          <a:xfrm>
            <a:off x="205022" y="2890516"/>
            <a:ext cx="1405271" cy="56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Close – Non-Claimable</a:t>
            </a:r>
            <a:endParaRPr lang="en-AE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0550BF-736D-9DBE-31C0-87B528760753}"/>
              </a:ext>
            </a:extLst>
          </p:cNvPr>
          <p:cNvSpPr/>
          <p:nvPr/>
        </p:nvSpPr>
        <p:spPr>
          <a:xfrm>
            <a:off x="7377213" y="2023459"/>
            <a:ext cx="1563426" cy="667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Create SWP (Non-Critical but Part required)</a:t>
            </a:r>
            <a:endParaRPr lang="en-AE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0E18A9-ACBC-AC53-D17E-FD6F0D166DF1}"/>
              </a:ext>
            </a:extLst>
          </p:cNvPr>
          <p:cNvSpPr/>
          <p:nvPr/>
        </p:nvSpPr>
        <p:spPr>
          <a:xfrm>
            <a:off x="7499026" y="3337371"/>
            <a:ext cx="1190407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CQA Section (on SWP)</a:t>
            </a:r>
            <a:endParaRPr lang="en-AE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4550E2-17B1-02EC-A392-CD4DA908F59F}"/>
              </a:ext>
            </a:extLst>
          </p:cNvPr>
          <p:cNvSpPr/>
          <p:nvPr/>
        </p:nvSpPr>
        <p:spPr>
          <a:xfrm>
            <a:off x="2413391" y="3719024"/>
            <a:ext cx="1493878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Assign to SCM (Local Part)</a:t>
            </a:r>
            <a:endParaRPr lang="en-AE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512F12-B7D0-556A-7736-CC3DCA38EA81}"/>
              </a:ext>
            </a:extLst>
          </p:cNvPr>
          <p:cNvSpPr/>
          <p:nvPr/>
        </p:nvSpPr>
        <p:spPr>
          <a:xfrm>
            <a:off x="475837" y="3724223"/>
            <a:ext cx="1493879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SCM / QA Coordinator Review</a:t>
            </a:r>
            <a:endParaRPr lang="en-AE" sz="1200" dirty="0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9A314F0E-120C-8A74-44DF-1D9527920BFB}"/>
              </a:ext>
            </a:extLst>
          </p:cNvPr>
          <p:cNvSpPr/>
          <p:nvPr/>
        </p:nvSpPr>
        <p:spPr>
          <a:xfrm>
            <a:off x="4367105" y="3206331"/>
            <a:ext cx="1275022" cy="81301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Part Origin?</a:t>
            </a:r>
            <a:endParaRPr lang="en-AE" sz="1400" dirty="0"/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48F07F78-D48D-32C5-B5FF-1990D8BD22D2}"/>
              </a:ext>
            </a:extLst>
          </p:cNvPr>
          <p:cNvSpPr/>
          <p:nvPr/>
        </p:nvSpPr>
        <p:spPr>
          <a:xfrm>
            <a:off x="5804434" y="3207993"/>
            <a:ext cx="1395524" cy="81301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Is claimable?</a:t>
            </a:r>
            <a:endParaRPr lang="en-AE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3C96D7-9BBA-655A-32F0-A1209D109D51}"/>
              </a:ext>
            </a:extLst>
          </p:cNvPr>
          <p:cNvSpPr/>
          <p:nvPr/>
        </p:nvSpPr>
        <p:spPr>
          <a:xfrm>
            <a:off x="317571" y="4751086"/>
            <a:ext cx="1472607" cy="54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Finance – Internal Financial Closure</a:t>
            </a:r>
            <a:endParaRPr lang="en-AE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E0DB7A-8B54-1003-C3D6-FE9E9FA1EE0E}"/>
              </a:ext>
            </a:extLst>
          </p:cNvPr>
          <p:cNvSpPr/>
          <p:nvPr/>
        </p:nvSpPr>
        <p:spPr>
          <a:xfrm>
            <a:off x="3729744" y="4736479"/>
            <a:ext cx="1298946" cy="572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Supplier APPROVES</a:t>
            </a:r>
            <a:r>
              <a:rPr lang="en-US" sz="1200" dirty="0"/>
              <a:t>-</a:t>
            </a:r>
            <a:endParaRPr lang="en-AE" sz="1200" dirty="0"/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8482FB87-67FD-E3A8-A7E0-58D1BC877A1B}"/>
              </a:ext>
            </a:extLst>
          </p:cNvPr>
          <p:cNvSpPr/>
          <p:nvPr/>
        </p:nvSpPr>
        <p:spPr>
          <a:xfrm>
            <a:off x="3874584" y="5395890"/>
            <a:ext cx="1561256" cy="124290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Supplier Decision: Approve / Reject / Return?</a:t>
            </a:r>
            <a:endParaRPr lang="en-AE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0463B3-CEA3-260C-5662-DCC99EC81C9C}"/>
              </a:ext>
            </a:extLst>
          </p:cNvPr>
          <p:cNvSpPr/>
          <p:nvPr/>
        </p:nvSpPr>
        <p:spPr>
          <a:xfrm>
            <a:off x="5729994" y="5185669"/>
            <a:ext cx="1493878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Submit Claim to Supplier</a:t>
            </a:r>
            <a:endParaRPr lang="en-AE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5012B9-5CDD-5A58-1C0F-46F6EC968572}"/>
              </a:ext>
            </a:extLst>
          </p:cNvPr>
          <p:cNvSpPr/>
          <p:nvPr/>
        </p:nvSpPr>
        <p:spPr>
          <a:xfrm>
            <a:off x="7429344" y="4691022"/>
            <a:ext cx="1493879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Update Vendor Database</a:t>
            </a:r>
            <a:endParaRPr lang="en-AE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1A6DC2-649A-28F8-C770-468079471EB9}"/>
              </a:ext>
            </a:extLst>
          </p:cNvPr>
          <p:cNvSpPr/>
          <p:nvPr/>
        </p:nvSpPr>
        <p:spPr>
          <a:xfrm>
            <a:off x="5722881" y="6024713"/>
            <a:ext cx="1493878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CQA / SCM Update &amp; Re-Submit Claim</a:t>
            </a:r>
            <a:endParaRPr lang="en-AE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B26818-37C1-D974-D621-EA807D687604}"/>
              </a:ext>
            </a:extLst>
          </p:cNvPr>
          <p:cNvSpPr/>
          <p:nvPr/>
        </p:nvSpPr>
        <p:spPr>
          <a:xfrm>
            <a:off x="2151854" y="6119126"/>
            <a:ext cx="1493878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Supplier RETURNS (needs info)</a:t>
            </a:r>
            <a:endParaRPr lang="en-AE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E919CC-C21D-CC0F-A7CC-CDA1D633079D}"/>
              </a:ext>
            </a:extLst>
          </p:cNvPr>
          <p:cNvSpPr/>
          <p:nvPr/>
        </p:nvSpPr>
        <p:spPr>
          <a:xfrm>
            <a:off x="296300" y="6106078"/>
            <a:ext cx="1493878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Supplier REJECTS</a:t>
            </a:r>
            <a:endParaRPr lang="en-AE" sz="1400" dirty="0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D8F4702-CC70-01EB-46EC-E3825C61671A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1896926" y="1096273"/>
            <a:ext cx="353745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690D32C-4F4E-BF05-4FE5-A1D91491DC82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573894" y="1019774"/>
            <a:ext cx="480693" cy="1525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9BA1BA8-21C9-D53E-663D-2A6B4E55AE68}"/>
              </a:ext>
            </a:extLst>
          </p:cNvPr>
          <p:cNvCxnSpPr>
            <a:cxnSpLocks/>
            <a:stCxn id="7" idx="3"/>
            <a:endCxn id="14" idx="3"/>
          </p:cNvCxnSpPr>
          <p:nvPr/>
        </p:nvCxnSpPr>
        <p:spPr>
          <a:xfrm>
            <a:off x="5488470" y="947088"/>
            <a:ext cx="3200963" cy="2669388"/>
          </a:xfrm>
          <a:prstGeom prst="bentConnector3">
            <a:avLst>
              <a:gd name="adj1" fmla="val 11097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894FB34-1A62-C5A2-47AF-31C409BB76FB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5400000">
            <a:off x="2029147" y="772316"/>
            <a:ext cx="88834" cy="1637759"/>
          </a:xfrm>
          <a:prstGeom prst="bentConnector3">
            <a:avLst>
              <a:gd name="adj1" fmla="val -504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21FA536-2956-58BE-E8A6-F140577CDF6E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rot="5400000">
            <a:off x="995980" y="2631811"/>
            <a:ext cx="170383" cy="3470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602B3C4-5FC3-22A8-13B4-31C8BBE0BF72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137186" y="2177873"/>
            <a:ext cx="359812" cy="18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AB8F16A-AAF8-0894-A9CA-4315BF5633B0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6794464" y="1429150"/>
            <a:ext cx="262318" cy="7369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865BA74-C8F1-A7D9-FE9A-EF1A2EE18A98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7899570" y="2950782"/>
            <a:ext cx="536069" cy="17357"/>
          </a:xfrm>
          <a:prstGeom prst="bentConnector3">
            <a:avLst>
              <a:gd name="adj1" fmla="val 936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769015C4-EB29-C475-76DD-277F85E0CFD9}"/>
              </a:ext>
            </a:extLst>
          </p:cNvPr>
          <p:cNvCxnSpPr>
            <a:cxnSpLocks/>
            <a:stCxn id="14" idx="1"/>
            <a:endCxn id="18" idx="3"/>
          </p:cNvCxnSpPr>
          <p:nvPr/>
        </p:nvCxnSpPr>
        <p:spPr>
          <a:xfrm rot="10800000">
            <a:off x="7199958" y="3614502"/>
            <a:ext cx="299068" cy="19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972E2E7-4F8E-EB31-0EAA-432F980DD358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rot="10800000">
            <a:off x="5642128" y="3612842"/>
            <a:ext cx="162307" cy="16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E6965FAC-B4C8-DB8C-38BD-56F97D33B846}"/>
              </a:ext>
            </a:extLst>
          </p:cNvPr>
          <p:cNvCxnSpPr>
            <a:cxnSpLocks/>
            <a:stCxn id="17" idx="1"/>
            <a:endCxn id="15" idx="3"/>
          </p:cNvCxnSpPr>
          <p:nvPr/>
        </p:nvCxnSpPr>
        <p:spPr>
          <a:xfrm rot="10800000" flipV="1">
            <a:off x="3907269" y="3612841"/>
            <a:ext cx="459836" cy="3852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AF1C2EE8-AEB7-6D4B-3A73-F0F29E3659D8}"/>
              </a:ext>
            </a:extLst>
          </p:cNvPr>
          <p:cNvCxnSpPr>
            <a:cxnSpLocks/>
            <a:stCxn id="15" idx="1"/>
            <a:endCxn id="16" idx="3"/>
          </p:cNvCxnSpPr>
          <p:nvPr/>
        </p:nvCxnSpPr>
        <p:spPr>
          <a:xfrm rot="10800000" flipV="1">
            <a:off x="1969717" y="3998128"/>
            <a:ext cx="443675" cy="51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8E5F5FE-56CB-7A46-B609-6E3E9AD10088}"/>
              </a:ext>
            </a:extLst>
          </p:cNvPr>
          <p:cNvCxnSpPr>
            <a:cxnSpLocks/>
            <a:stCxn id="17" idx="2"/>
            <a:endCxn id="5" idx="0"/>
          </p:cNvCxnSpPr>
          <p:nvPr/>
        </p:nvCxnSpPr>
        <p:spPr>
          <a:xfrm rot="16200000" flipH="1">
            <a:off x="5566076" y="3457890"/>
            <a:ext cx="317840" cy="14407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E6F8DD5-C231-639C-B6C7-1D323776046A}"/>
              </a:ext>
            </a:extLst>
          </p:cNvPr>
          <p:cNvCxnSpPr>
            <a:cxnSpLocks/>
            <a:stCxn id="14" idx="3"/>
            <a:endCxn id="23" idx="3"/>
          </p:cNvCxnSpPr>
          <p:nvPr/>
        </p:nvCxnSpPr>
        <p:spPr>
          <a:xfrm>
            <a:off x="8689433" y="3616476"/>
            <a:ext cx="233790" cy="1353651"/>
          </a:xfrm>
          <a:prstGeom prst="bentConnector3">
            <a:avLst>
              <a:gd name="adj1" fmla="val 1500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A2C95DC1-04D7-1D55-1F21-FE9B5D4B7EBD}"/>
              </a:ext>
            </a:extLst>
          </p:cNvPr>
          <p:cNvCxnSpPr>
            <a:cxnSpLocks/>
            <a:stCxn id="23" idx="1"/>
            <a:endCxn id="22" idx="3"/>
          </p:cNvCxnSpPr>
          <p:nvPr/>
        </p:nvCxnSpPr>
        <p:spPr>
          <a:xfrm rot="10800000" flipV="1">
            <a:off x="7223872" y="4970126"/>
            <a:ext cx="205472" cy="4946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FE5538CE-2597-6D09-C8CD-D060BED3498B}"/>
              </a:ext>
            </a:extLst>
          </p:cNvPr>
          <p:cNvCxnSpPr>
            <a:cxnSpLocks/>
            <a:stCxn id="22" idx="1"/>
            <a:endCxn id="21" idx="3"/>
          </p:cNvCxnSpPr>
          <p:nvPr/>
        </p:nvCxnSpPr>
        <p:spPr>
          <a:xfrm rot="10800000" flipV="1">
            <a:off x="5435840" y="5464773"/>
            <a:ext cx="294154" cy="5525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62EE0A26-8C4D-39D7-652D-1B997F85ECF6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>
          <a:xfrm rot="10800000" flipH="1">
            <a:off x="3874584" y="5022897"/>
            <a:ext cx="1154106" cy="994445"/>
          </a:xfrm>
          <a:prstGeom prst="bentConnector5">
            <a:avLst>
              <a:gd name="adj1" fmla="val -19808"/>
              <a:gd name="adj2" fmla="val 66845"/>
              <a:gd name="adj3" fmla="val 1198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FDE817E-E35F-9A6F-A20E-0E82C0245FAE}"/>
              </a:ext>
            </a:extLst>
          </p:cNvPr>
          <p:cNvCxnSpPr>
            <a:cxnSpLocks/>
            <a:stCxn id="20" idx="1"/>
            <a:endCxn id="6" idx="3"/>
          </p:cNvCxnSpPr>
          <p:nvPr/>
        </p:nvCxnSpPr>
        <p:spPr>
          <a:xfrm rot="10800000">
            <a:off x="3347036" y="5022658"/>
            <a:ext cx="382708" cy="2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058FEF9F-5215-239D-3CC3-684E9B7A7EE0}"/>
              </a:ext>
            </a:extLst>
          </p:cNvPr>
          <p:cNvCxnSpPr>
            <a:cxnSpLocks/>
            <a:stCxn id="6" idx="1"/>
            <a:endCxn id="19" idx="3"/>
          </p:cNvCxnSpPr>
          <p:nvPr/>
        </p:nvCxnSpPr>
        <p:spPr>
          <a:xfrm rot="10800000">
            <a:off x="1790178" y="5022658"/>
            <a:ext cx="25791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F79AFD5-BF44-C143-DF77-89F0BA0F5794}"/>
              </a:ext>
            </a:extLst>
          </p:cNvPr>
          <p:cNvSpPr txBox="1"/>
          <p:nvPr/>
        </p:nvSpPr>
        <p:spPr>
          <a:xfrm>
            <a:off x="225852" y="73796"/>
            <a:ext cx="22200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Auto-calculate Severity (Critical/Non-Critical)- QA may override- Decide: Part required for vendor claim? Failed part required?</a:t>
            </a:r>
            <a:endParaRPr lang="en-AE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E68E5C-9A49-0F5C-A67C-9E142A464E3B}"/>
              </a:ext>
            </a:extLst>
          </p:cNvPr>
          <p:cNvSpPr txBox="1"/>
          <p:nvPr/>
        </p:nvSpPr>
        <p:spPr>
          <a:xfrm>
            <a:off x="5466677" y="533933"/>
            <a:ext cx="18376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Always generate SWP irrespective of claim ability</a:t>
            </a:r>
            <a:endParaRPr lang="en-AE" sz="105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7CD250-9A3D-0008-7C88-8F7F45D047A8}"/>
              </a:ext>
            </a:extLst>
          </p:cNvPr>
          <p:cNvSpPr txBox="1"/>
          <p:nvPr/>
        </p:nvSpPr>
        <p:spPr>
          <a:xfrm>
            <a:off x="1709799" y="2435993"/>
            <a:ext cx="15328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View CQA report- (Optional) Dispatch Details- Vendor Claim Ref / Quality Site Ref</a:t>
            </a:r>
            <a:endParaRPr lang="en-AE" sz="105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F49BB4-6A35-B37C-4D4A-D2D268E436CB}"/>
              </a:ext>
            </a:extLst>
          </p:cNvPr>
          <p:cNvSpPr txBox="1"/>
          <p:nvPr/>
        </p:nvSpPr>
        <p:spPr>
          <a:xfrm>
            <a:off x="3909694" y="4166844"/>
            <a:ext cx="163757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Make payment- Enter payment details- Supplier financial closure</a:t>
            </a:r>
            <a:endParaRPr lang="en-AE" sz="105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54DBF3-C7B8-0306-9E6E-89709DBEFD32}"/>
              </a:ext>
            </a:extLst>
          </p:cNvPr>
          <p:cNvSpPr txBox="1"/>
          <p:nvPr/>
        </p:nvSpPr>
        <p:spPr>
          <a:xfrm>
            <a:off x="1952790" y="4467530"/>
            <a:ext cx="77032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Verify bank vs supplier data</a:t>
            </a:r>
            <a:endParaRPr lang="en-AE" sz="105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4B68CE-A825-B724-BD78-65343D506D15}"/>
              </a:ext>
            </a:extLst>
          </p:cNvPr>
          <p:cNvSpPr txBox="1"/>
          <p:nvPr/>
        </p:nvSpPr>
        <p:spPr>
          <a:xfrm>
            <a:off x="327686" y="4331784"/>
            <a:ext cx="17901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Journal/Credit Note- Close claim financially</a:t>
            </a:r>
            <a:endParaRPr lang="en-AE" sz="11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2AFFFE-0336-7104-9EC1-B5AEB7747A15}"/>
              </a:ext>
            </a:extLst>
          </p:cNvPr>
          <p:cNvSpPr txBox="1"/>
          <p:nvPr/>
        </p:nvSpPr>
        <p:spPr>
          <a:xfrm>
            <a:off x="202943" y="3428682"/>
            <a:ext cx="77032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Record CAPA / lessons</a:t>
            </a:r>
            <a:endParaRPr lang="en-AE" sz="105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3A7283B-64D2-685E-77E4-BB00D1A68C1C}"/>
              </a:ext>
            </a:extLst>
          </p:cNvPr>
          <p:cNvSpPr txBox="1"/>
          <p:nvPr/>
        </p:nvSpPr>
        <p:spPr>
          <a:xfrm>
            <a:off x="3625014" y="661268"/>
            <a:ext cx="564511" cy="261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Yes</a:t>
            </a:r>
            <a:endParaRPr lang="en-AE" sz="11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38FE230-C0D7-4D08-F0A8-1EB0F2A07F73}"/>
              </a:ext>
            </a:extLst>
          </p:cNvPr>
          <p:cNvSpPr txBox="1"/>
          <p:nvPr/>
        </p:nvSpPr>
        <p:spPr>
          <a:xfrm>
            <a:off x="2048090" y="1153452"/>
            <a:ext cx="77032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No</a:t>
            </a:r>
            <a:endParaRPr lang="en-AE" sz="11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E2880C8-AE92-097F-AB5C-82821752047F}"/>
              </a:ext>
            </a:extLst>
          </p:cNvPr>
          <p:cNvSpPr txBox="1"/>
          <p:nvPr/>
        </p:nvSpPr>
        <p:spPr>
          <a:xfrm>
            <a:off x="568609" y="2549610"/>
            <a:ext cx="77032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No</a:t>
            </a:r>
            <a:endParaRPr lang="en-AE" sz="11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60F097-4F55-AAFE-B3A6-AE66D8253FA4}"/>
              </a:ext>
            </a:extLst>
          </p:cNvPr>
          <p:cNvSpPr txBox="1"/>
          <p:nvPr/>
        </p:nvSpPr>
        <p:spPr>
          <a:xfrm>
            <a:off x="4595491" y="1746700"/>
            <a:ext cx="77032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Yes</a:t>
            </a:r>
            <a:endParaRPr lang="en-AE" sz="11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F2D8202-8DE9-16BA-7502-6FAABF8EA764}"/>
              </a:ext>
            </a:extLst>
          </p:cNvPr>
          <p:cNvSpPr txBox="1"/>
          <p:nvPr/>
        </p:nvSpPr>
        <p:spPr>
          <a:xfrm>
            <a:off x="6742046" y="2222071"/>
            <a:ext cx="77032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Yes</a:t>
            </a:r>
            <a:endParaRPr lang="en-AE" sz="1100" dirty="0"/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3B620E45-5AAF-0043-89EA-C4CCF4C334AD}"/>
              </a:ext>
            </a:extLst>
          </p:cNvPr>
          <p:cNvCxnSpPr>
            <a:cxnSpLocks/>
          </p:cNvCxnSpPr>
          <p:nvPr/>
        </p:nvCxnSpPr>
        <p:spPr>
          <a:xfrm rot="10800000">
            <a:off x="1632086" y="3186410"/>
            <a:ext cx="4908710" cy="216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F54C42D-5B3B-729F-D913-545A716FB546}"/>
              </a:ext>
            </a:extLst>
          </p:cNvPr>
          <p:cNvSpPr txBox="1"/>
          <p:nvPr/>
        </p:nvSpPr>
        <p:spPr>
          <a:xfrm>
            <a:off x="2496998" y="5799770"/>
            <a:ext cx="84900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Return</a:t>
            </a:r>
            <a:endParaRPr lang="en-AE" sz="1100" dirty="0"/>
          </a:p>
        </p:txBody>
      </p:sp>
      <p:sp>
        <p:nvSpPr>
          <p:cNvPr id="82" name="Rectangle 4">
            <a:extLst>
              <a:ext uri="{FF2B5EF4-FFF2-40B4-BE49-F238E27FC236}">
                <a16:creationId xmlns:a16="http://schemas.microsoft.com/office/drawing/2014/main" id="{13230AAD-8A17-5CB5-A5A5-C5AF60A60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1896" y="27501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E"/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26B22E34-DD38-1511-403E-2E7E878AAB03}"/>
              </a:ext>
            </a:extLst>
          </p:cNvPr>
          <p:cNvCxnSpPr>
            <a:cxnSpLocks/>
            <a:stCxn id="25" idx="3"/>
            <a:endCxn id="24" idx="2"/>
          </p:cNvCxnSpPr>
          <p:nvPr/>
        </p:nvCxnSpPr>
        <p:spPr>
          <a:xfrm>
            <a:off x="3645732" y="6398231"/>
            <a:ext cx="2824088" cy="184691"/>
          </a:xfrm>
          <a:prstGeom prst="bentConnector4">
            <a:avLst>
              <a:gd name="adj1" fmla="val 7161"/>
              <a:gd name="adj2" fmla="val 1875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8622C16F-B78A-6D1F-80BD-22B8A4917DAB}"/>
              </a:ext>
            </a:extLst>
          </p:cNvPr>
          <p:cNvCxnSpPr>
            <a:cxnSpLocks/>
            <a:endCxn id="22" idx="2"/>
          </p:cNvCxnSpPr>
          <p:nvPr/>
        </p:nvCxnSpPr>
        <p:spPr>
          <a:xfrm rot="16200000" flipV="1">
            <a:off x="6350014" y="5870798"/>
            <a:ext cx="279105" cy="252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4BE2FAAA-D51C-2B04-4C1C-03F36083D002}"/>
              </a:ext>
            </a:extLst>
          </p:cNvPr>
          <p:cNvCxnSpPr>
            <a:cxnSpLocks/>
            <a:stCxn id="10" idx="1"/>
            <a:endCxn id="10" idx="1"/>
          </p:cNvCxnSpPr>
          <p:nvPr/>
        </p:nvCxnSpPr>
        <p:spPr>
          <a:xfrm rot="10800000">
            <a:off x="4562963" y="2166131"/>
            <a:ext cx="12700" cy="1270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: Elbow 223">
            <a:extLst>
              <a:ext uri="{FF2B5EF4-FFF2-40B4-BE49-F238E27FC236}">
                <a16:creationId xmlns:a16="http://schemas.microsoft.com/office/drawing/2014/main" id="{5D06E3A3-2482-25A1-DCC4-A44DBDE69CC3}"/>
              </a:ext>
            </a:extLst>
          </p:cNvPr>
          <p:cNvCxnSpPr>
            <a:cxnSpLocks/>
            <a:stCxn id="66" idx="0"/>
          </p:cNvCxnSpPr>
          <p:nvPr/>
        </p:nvCxnSpPr>
        <p:spPr>
          <a:xfrm rot="16200000" flipH="1" flipV="1">
            <a:off x="8313489" y="1872263"/>
            <a:ext cx="259210" cy="8083"/>
          </a:xfrm>
          <a:prstGeom prst="bentConnector3">
            <a:avLst>
              <a:gd name="adj1" fmla="val -881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: Elbow 248">
            <a:extLst>
              <a:ext uri="{FF2B5EF4-FFF2-40B4-BE49-F238E27FC236}">
                <a16:creationId xmlns:a16="http://schemas.microsoft.com/office/drawing/2014/main" id="{E223C083-C926-3B9E-07E5-96FE4AF31528}"/>
              </a:ext>
            </a:extLst>
          </p:cNvPr>
          <p:cNvCxnSpPr>
            <a:cxnSpLocks/>
            <a:endCxn id="26" idx="0"/>
          </p:cNvCxnSpPr>
          <p:nvPr/>
        </p:nvCxnSpPr>
        <p:spPr>
          <a:xfrm rot="10800000" flipV="1">
            <a:off x="1043240" y="5609794"/>
            <a:ext cx="2581777" cy="4962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: Elbow 251">
            <a:extLst>
              <a:ext uri="{FF2B5EF4-FFF2-40B4-BE49-F238E27FC236}">
                <a16:creationId xmlns:a16="http://schemas.microsoft.com/office/drawing/2014/main" id="{B5A6DE96-4879-88D2-FA2E-D0CAB027DC9F}"/>
              </a:ext>
            </a:extLst>
          </p:cNvPr>
          <p:cNvCxnSpPr>
            <a:cxnSpLocks/>
          </p:cNvCxnSpPr>
          <p:nvPr/>
        </p:nvCxnSpPr>
        <p:spPr>
          <a:xfrm rot="5400000">
            <a:off x="2180937" y="5859425"/>
            <a:ext cx="509332" cy="100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189CBA44-DA15-215D-2FF3-18FD54D7EEC6}"/>
              </a:ext>
            </a:extLst>
          </p:cNvPr>
          <p:cNvSpPr txBox="1"/>
          <p:nvPr/>
        </p:nvSpPr>
        <p:spPr>
          <a:xfrm>
            <a:off x="7377213" y="3910642"/>
            <a:ext cx="173857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Attach Analysis Report (required)- Failure Type / Reason dropdowns- Claim Type (Standard/Goodwill)- Claimable? (Yes/No)- Comments</a:t>
            </a:r>
            <a:endParaRPr lang="en-AE" sz="9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AEF92C5C-7946-D850-CE83-8085D05FE0C4}"/>
              </a:ext>
            </a:extLst>
          </p:cNvPr>
          <p:cNvSpPr txBox="1"/>
          <p:nvPr/>
        </p:nvSpPr>
        <p:spPr>
          <a:xfrm>
            <a:off x="7446761" y="5324313"/>
            <a:ext cx="149387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(if needed; independent of part no.)</a:t>
            </a:r>
            <a:endParaRPr lang="en-AE" sz="105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F0707124-B9F6-1E0B-72F7-989AFAB7C417}"/>
              </a:ext>
            </a:extLst>
          </p:cNvPr>
          <p:cNvSpPr txBox="1"/>
          <p:nvPr/>
        </p:nvSpPr>
        <p:spPr>
          <a:xfrm>
            <a:off x="5883317" y="4836438"/>
            <a:ext cx="14210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Auto-generate SWP Claim Reference</a:t>
            </a:r>
            <a:endParaRPr lang="en-AE" sz="1000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6F5B0632-8FCC-129C-EFD3-D18410FEAD4C}"/>
              </a:ext>
            </a:extLst>
          </p:cNvPr>
          <p:cNvSpPr txBox="1"/>
          <p:nvPr/>
        </p:nvSpPr>
        <p:spPr>
          <a:xfrm>
            <a:off x="1043239" y="5773918"/>
            <a:ext cx="7883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Reject</a:t>
            </a:r>
            <a:endParaRPr lang="en-AE" sz="1100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90587800-1A1D-47BD-1D71-985D2D87638A}"/>
              </a:ext>
            </a:extLst>
          </p:cNvPr>
          <p:cNvSpPr txBox="1"/>
          <p:nvPr/>
        </p:nvSpPr>
        <p:spPr>
          <a:xfrm>
            <a:off x="4985195" y="4683446"/>
            <a:ext cx="8490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Approve</a:t>
            </a:r>
            <a:endParaRPr lang="en-AE" sz="1050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388FF85B-4E65-2B9A-EA9A-C6AA5F3D5633}"/>
              </a:ext>
            </a:extLst>
          </p:cNvPr>
          <p:cNvSpPr txBox="1"/>
          <p:nvPr/>
        </p:nvSpPr>
        <p:spPr>
          <a:xfrm>
            <a:off x="55624" y="5787542"/>
            <a:ext cx="77032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Capture reason</a:t>
            </a:r>
            <a:endParaRPr lang="en-AE" sz="1050" dirty="0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AA6466B1-0C59-A569-D465-674210BB61C2}"/>
              </a:ext>
            </a:extLst>
          </p:cNvPr>
          <p:cNvSpPr txBox="1"/>
          <p:nvPr/>
        </p:nvSpPr>
        <p:spPr>
          <a:xfrm>
            <a:off x="5200650" y="3865799"/>
            <a:ext cx="78867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HQ</a:t>
            </a:r>
            <a:endParaRPr lang="en-AE" sz="1100" dirty="0"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F5589C39-380D-4A0D-D643-8CF6814E65BF}"/>
              </a:ext>
            </a:extLst>
          </p:cNvPr>
          <p:cNvSpPr txBox="1"/>
          <p:nvPr/>
        </p:nvSpPr>
        <p:spPr>
          <a:xfrm>
            <a:off x="3907855" y="3342105"/>
            <a:ext cx="7883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Local</a:t>
            </a:r>
            <a:endParaRPr lang="en-AE" sz="1100" dirty="0"/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8F990CFB-D6ED-E6E4-730D-8A37D17ECAF7}"/>
              </a:ext>
            </a:extLst>
          </p:cNvPr>
          <p:cNvSpPr txBox="1"/>
          <p:nvPr/>
        </p:nvSpPr>
        <p:spPr>
          <a:xfrm>
            <a:off x="6502596" y="1763940"/>
            <a:ext cx="7883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No</a:t>
            </a:r>
            <a:endParaRPr lang="en-AE" sz="1100" dirty="0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B93A1222-96AF-4A2A-B1DC-07D017465D2A}"/>
              </a:ext>
            </a:extLst>
          </p:cNvPr>
          <p:cNvSpPr txBox="1"/>
          <p:nvPr/>
        </p:nvSpPr>
        <p:spPr>
          <a:xfrm>
            <a:off x="8474129" y="1686608"/>
            <a:ext cx="7883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QA Ack</a:t>
            </a:r>
            <a:endParaRPr lang="en-AE" sz="110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6308EA44-3240-385A-37E2-20665B0FE942}"/>
              </a:ext>
            </a:extLst>
          </p:cNvPr>
          <p:cNvSpPr txBox="1"/>
          <p:nvPr/>
        </p:nvSpPr>
        <p:spPr>
          <a:xfrm>
            <a:off x="7304337" y="897986"/>
            <a:ext cx="81766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Upon receipt</a:t>
            </a:r>
            <a:endParaRPr lang="en-AE" sz="1100" dirty="0"/>
          </a:p>
        </p:txBody>
      </p:sp>
      <p:cxnSp>
        <p:nvCxnSpPr>
          <p:cNvPr id="327" name="Connector: Elbow 326">
            <a:extLst>
              <a:ext uri="{FF2B5EF4-FFF2-40B4-BE49-F238E27FC236}">
                <a16:creationId xmlns:a16="http://schemas.microsoft.com/office/drawing/2014/main" id="{C88B7E30-782A-E70F-DE76-4BA918B213E2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6794464" y="2166131"/>
            <a:ext cx="582749" cy="491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: Elbow 329">
            <a:extLst>
              <a:ext uri="{FF2B5EF4-FFF2-40B4-BE49-F238E27FC236}">
                <a16:creationId xmlns:a16="http://schemas.microsoft.com/office/drawing/2014/main" id="{10CF3A23-2783-A868-1AC9-428171F18080}"/>
              </a:ext>
            </a:extLst>
          </p:cNvPr>
          <p:cNvCxnSpPr>
            <a:cxnSpLocks/>
          </p:cNvCxnSpPr>
          <p:nvPr/>
        </p:nvCxnSpPr>
        <p:spPr>
          <a:xfrm flipV="1">
            <a:off x="3415828" y="2638555"/>
            <a:ext cx="3933664" cy="111943"/>
          </a:xfrm>
          <a:prstGeom prst="bentConnector3">
            <a:avLst>
              <a:gd name="adj1" fmla="val 845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TextBox 336">
            <a:extLst>
              <a:ext uri="{FF2B5EF4-FFF2-40B4-BE49-F238E27FC236}">
                <a16:creationId xmlns:a16="http://schemas.microsoft.com/office/drawing/2014/main" id="{2C69E37E-8F26-6F5D-C6BA-05382F967BFB}"/>
              </a:ext>
            </a:extLst>
          </p:cNvPr>
          <p:cNvSpPr txBox="1"/>
          <p:nvPr/>
        </p:nvSpPr>
        <p:spPr>
          <a:xfrm>
            <a:off x="6742046" y="2429361"/>
            <a:ext cx="81766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Yes</a:t>
            </a:r>
            <a:endParaRPr lang="en-AE" sz="1050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DE02275B-36DD-CFF6-3637-49A08A6419CC}"/>
              </a:ext>
            </a:extLst>
          </p:cNvPr>
          <p:cNvSpPr txBox="1"/>
          <p:nvPr/>
        </p:nvSpPr>
        <p:spPr>
          <a:xfrm>
            <a:off x="5528861" y="3257223"/>
            <a:ext cx="81766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Yes</a:t>
            </a:r>
            <a:endParaRPr lang="en-AE" sz="1100" dirty="0"/>
          </a:p>
        </p:txBody>
      </p:sp>
      <p:graphicFrame>
        <p:nvGraphicFramePr>
          <p:cNvPr id="342" name="Table 341">
            <a:extLst>
              <a:ext uri="{FF2B5EF4-FFF2-40B4-BE49-F238E27FC236}">
                <a16:creationId xmlns:a16="http://schemas.microsoft.com/office/drawing/2014/main" id="{26C383F2-42F6-44CD-45E0-048B62143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791481"/>
              </p:ext>
            </p:extLst>
          </p:nvPr>
        </p:nvGraphicFramePr>
        <p:xfrm>
          <a:off x="-2560237" y="48852"/>
          <a:ext cx="10515600" cy="365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763772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304787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u="sng" dirty="0"/>
                        <a:t>SWP to be generated in Following conditions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649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623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5374" y="1912065"/>
            <a:ext cx="21739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825">
              <a:spcBef>
                <a:spcPts val="95"/>
              </a:spcBef>
            </a:pPr>
            <a:r>
              <a:rPr spc="-5" dirty="0"/>
              <a:t>Thank</a:t>
            </a:r>
            <a:r>
              <a:rPr spc="-130" dirty="0"/>
              <a:t> </a:t>
            </a:r>
            <a:r>
              <a:rPr spc="-25" dirty="0"/>
              <a:t>You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413761" y="5494656"/>
            <a:ext cx="1297305" cy="13335"/>
            <a:chOff x="3413759" y="5494654"/>
            <a:chExt cx="1297305" cy="13335"/>
          </a:xfrm>
        </p:grpSpPr>
        <p:sp>
          <p:nvSpPr>
            <p:cNvPr id="5" name="object 5"/>
            <p:cNvSpPr/>
            <p:nvPr/>
          </p:nvSpPr>
          <p:spPr>
            <a:xfrm>
              <a:off x="3413759" y="5498591"/>
              <a:ext cx="1266190" cy="7620"/>
            </a:xfrm>
            <a:custGeom>
              <a:avLst/>
              <a:gdLst/>
              <a:ahLst/>
              <a:cxnLst/>
              <a:rect l="l" t="t" r="r" b="b"/>
              <a:pathLst>
                <a:path w="1266189" h="7620">
                  <a:moveTo>
                    <a:pt x="1266063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266063" y="7620"/>
                  </a:lnTo>
                  <a:lnTo>
                    <a:pt x="126606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80203" y="5500117"/>
              <a:ext cx="30480" cy="7620"/>
            </a:xfrm>
            <a:custGeom>
              <a:avLst/>
              <a:gdLst/>
              <a:ahLst/>
              <a:cxnLst/>
              <a:rect l="l" t="t" r="r" b="b"/>
              <a:pathLst>
                <a:path w="30479" h="7620">
                  <a:moveTo>
                    <a:pt x="30479" y="0"/>
                  </a:moveTo>
                  <a:lnTo>
                    <a:pt x="0" y="0"/>
                  </a:lnTo>
                  <a:lnTo>
                    <a:pt x="0" y="7618"/>
                  </a:lnTo>
                  <a:lnTo>
                    <a:pt x="30479" y="7618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1F47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14140" y="5494654"/>
              <a:ext cx="1274445" cy="10795"/>
            </a:xfrm>
            <a:custGeom>
              <a:avLst/>
              <a:gdLst/>
              <a:ahLst/>
              <a:cxnLst/>
              <a:rect l="l" t="t" r="r" b="b"/>
              <a:pathLst>
                <a:path w="1274445" h="10795">
                  <a:moveTo>
                    <a:pt x="1274064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274064" y="10668"/>
                  </a:lnTo>
                  <a:lnTo>
                    <a:pt x="127406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65374" y="4719573"/>
            <a:ext cx="254063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>
                <a:latin typeface="Calibri" panose="020F0502020204030204"/>
                <a:cs typeface="Calibri" panose="020F0502020204030204"/>
              </a:rPr>
              <a:t>S</a:t>
            </a:r>
            <a:r>
              <a:rPr b="1" spc="5">
                <a:latin typeface="Calibri" panose="020F0502020204030204"/>
                <a:cs typeface="Calibri" panose="020F0502020204030204"/>
              </a:rPr>
              <a:t>e</a:t>
            </a:r>
            <a:r>
              <a:rPr b="1">
                <a:latin typeface="Calibri" panose="020F0502020204030204"/>
                <a:cs typeface="Calibri" panose="020F0502020204030204"/>
              </a:rPr>
              <a:t>lfservit</a:t>
            </a:r>
            <a:r>
              <a:rPr b="1" spc="-85">
                <a:latin typeface="Calibri" panose="020F0502020204030204"/>
                <a:cs typeface="Calibri" panose="020F0502020204030204"/>
              </a:rPr>
              <a:t> </a:t>
            </a:r>
            <a:r>
              <a:rPr b="1">
                <a:latin typeface="Calibri" panose="020F0502020204030204"/>
                <a:cs typeface="Calibri" panose="020F0502020204030204"/>
              </a:rPr>
              <a:t>Solutions</a:t>
            </a:r>
            <a:r>
              <a:rPr b="1" spc="-45">
                <a:latin typeface="Calibri" panose="020F0502020204030204"/>
                <a:cs typeface="Calibri" panose="020F0502020204030204"/>
              </a:rPr>
              <a:t> </a:t>
            </a:r>
            <a:r>
              <a:rPr b="1">
                <a:latin typeface="Calibri" panose="020F0502020204030204"/>
                <a:cs typeface="Calibri" panose="020F0502020204030204"/>
              </a:rPr>
              <a:t>(P)</a:t>
            </a:r>
            <a:r>
              <a:rPr b="1" spc="-60">
                <a:latin typeface="Calibri" panose="020F0502020204030204"/>
                <a:cs typeface="Calibri" panose="020F0502020204030204"/>
              </a:rPr>
              <a:t> </a:t>
            </a:r>
            <a:r>
              <a:rPr b="1" spc="-30">
                <a:latin typeface="Calibri" panose="020F0502020204030204"/>
                <a:cs typeface="Calibri" panose="020F0502020204030204"/>
              </a:rPr>
              <a:t>L</a:t>
            </a:r>
            <a:r>
              <a:rPr b="1" spc="-25">
                <a:latin typeface="Calibri" panose="020F0502020204030204"/>
                <a:cs typeface="Calibri" panose="020F0502020204030204"/>
              </a:rPr>
              <a:t>t</a:t>
            </a:r>
            <a:r>
              <a:rPr b="1" spc="-20">
                <a:latin typeface="Calibri" panose="020F0502020204030204"/>
                <a:cs typeface="Calibri" panose="020F0502020204030204"/>
              </a:rPr>
              <a:t>d</a:t>
            </a:r>
            <a:r>
              <a:rPr b="1">
                <a:latin typeface="Calibri" panose="020F0502020204030204"/>
                <a:cs typeface="Calibri" panose="020F0502020204030204"/>
              </a:rPr>
              <a:t>.</a:t>
            </a:r>
            <a:endParaRPr>
              <a:latin typeface="Calibri" panose="020F0502020204030204"/>
              <a:cs typeface="Calibri" panose="020F0502020204030204"/>
            </a:endParaRPr>
          </a:p>
          <a:p>
            <a:pPr marL="12700">
              <a:spcBef>
                <a:spcPts val="25"/>
              </a:spcBef>
            </a:pPr>
            <a:r>
              <a:rPr sz="1400" b="1" spc="-5">
                <a:latin typeface="Calibri" panose="020F0502020204030204"/>
                <a:cs typeface="Calibri" panose="020F0502020204030204"/>
              </a:rPr>
              <a:t>(CIN</a:t>
            </a:r>
            <a:r>
              <a:rPr sz="1400" b="1" spc="-45">
                <a:latin typeface="Calibri" panose="020F0502020204030204"/>
                <a:cs typeface="Calibri" panose="020F0502020204030204"/>
              </a:rPr>
              <a:t> </a:t>
            </a:r>
            <a:r>
              <a:rPr sz="1400" b="1">
                <a:latin typeface="Calibri" panose="020F0502020204030204"/>
                <a:cs typeface="Calibri" panose="020F0502020204030204"/>
              </a:rPr>
              <a:t>–</a:t>
            </a:r>
            <a:r>
              <a:rPr sz="1400" b="1" spc="-40"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5">
                <a:latin typeface="Calibri" panose="020F0502020204030204"/>
                <a:cs typeface="Calibri" panose="020F0502020204030204"/>
              </a:rPr>
              <a:t>U72900TN2008PTC068979)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48895">
              <a:spcBef>
                <a:spcPts val="815"/>
              </a:spcBef>
            </a:pPr>
            <a:r>
              <a:rPr sz="1200" b="1" spc="-5">
                <a:solidFill>
                  <a:srgbClr val="0000FF"/>
                </a:solidFill>
                <a:latin typeface="Calibri" panose="020F0502020204030204"/>
                <a:cs typeface="Calibri" panose="020F0502020204030204"/>
                <a:hlinkClick r:id="rId2"/>
              </a:rPr>
              <a:t>www.selfservit.com</a:t>
            </a:r>
            <a:r>
              <a:rPr sz="1200" b="1" spc="125">
                <a:solidFill>
                  <a:srgbClr val="0000FF"/>
                </a:solidFill>
                <a:latin typeface="Calibri" panose="020F0502020204030204"/>
                <a:cs typeface="Calibri" panose="020F0502020204030204"/>
                <a:hlinkClick r:id="rId2"/>
              </a:rPr>
              <a:t> </a:t>
            </a:r>
            <a:r>
              <a:rPr sz="1200" b="1" u="sng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 panose="020F0502020204030204"/>
                <a:cs typeface="Calibri" panose="020F0502020204030204"/>
                <a:hlinkClick r:id="rId3"/>
              </a:rPr>
              <a:t>www.mservice.in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47971" y="5181600"/>
            <a:ext cx="0" cy="1172210"/>
          </a:xfrm>
          <a:custGeom>
            <a:avLst/>
            <a:gdLst/>
            <a:ahLst/>
            <a:cxnLst/>
            <a:rect l="l" t="t" r="r" b="b"/>
            <a:pathLst>
              <a:path h="1172210">
                <a:moveTo>
                  <a:pt x="0" y="1171702"/>
                </a:moveTo>
                <a:lnTo>
                  <a:pt x="0" y="0"/>
                </a:lnTo>
              </a:path>
            </a:pathLst>
          </a:custGeom>
          <a:ln w="9142">
            <a:solidFill>
              <a:srgbClr val="FCFCF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4724400"/>
            <a:ext cx="9144000" cy="1270"/>
          </a:xfrm>
          <a:custGeom>
            <a:avLst/>
            <a:gdLst/>
            <a:ahLst/>
            <a:cxnLst/>
            <a:rect l="l" t="t" r="r" b="b"/>
            <a:pathLst>
              <a:path w="9144000" h="1270">
                <a:moveTo>
                  <a:pt x="0" y="0"/>
                </a:moveTo>
                <a:lnTo>
                  <a:pt x="9144000" y="126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06398" y="5589221"/>
            <a:ext cx="14389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algn="just">
              <a:spcBef>
                <a:spcPts val="100"/>
              </a:spcBef>
            </a:pPr>
            <a:r>
              <a:rPr sz="1200" b="1" u="sng" spc="-5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Chennai:</a:t>
            </a:r>
            <a:r>
              <a:rPr sz="1200" b="1" u="sng" spc="-6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1200" b="1" u="sng" spc="-4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HO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algn="just"/>
            <a:r>
              <a:rPr sz="1200">
                <a:latin typeface="Calibri" panose="020F0502020204030204"/>
                <a:cs typeface="Calibri" panose="020F0502020204030204"/>
              </a:rPr>
              <a:t>No.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51/2</a:t>
            </a:r>
            <a:r>
              <a:rPr sz="1200" spc="-4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(Old</a:t>
            </a:r>
            <a:r>
              <a:rPr sz="1200" spc="-3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No.</a:t>
            </a:r>
            <a:r>
              <a:rPr sz="1200" spc="-35">
                <a:latin typeface="Calibri" panose="020F0502020204030204"/>
                <a:cs typeface="Calibri" panose="020F0502020204030204"/>
              </a:rPr>
              <a:t> </a:t>
            </a:r>
            <a:r>
              <a:rPr sz="1200" spc="-20">
                <a:latin typeface="Calibri" panose="020F0502020204030204"/>
                <a:cs typeface="Calibri" panose="020F0502020204030204"/>
              </a:rPr>
              <a:t>26)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marR="141605" algn="just"/>
            <a:r>
              <a:rPr sz="1200" spc="-5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st </a:t>
            </a:r>
            <a:r>
              <a:rPr sz="1200" spc="-5">
                <a:latin typeface="Calibri" panose="020F0502020204030204"/>
                <a:cs typeface="Calibri" panose="020F0502020204030204"/>
              </a:rPr>
              <a:t>Main Road </a:t>
            </a:r>
            <a:r>
              <a:rPr sz="1200" spc="-30">
                <a:latin typeface="Calibri" panose="020F0502020204030204"/>
                <a:cs typeface="Calibri" panose="020F0502020204030204"/>
              </a:rPr>
              <a:t>West, </a:t>
            </a:r>
            <a:r>
              <a:rPr sz="1200" spc="-26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Shenoy Nagar </a:t>
            </a:r>
            <a:r>
              <a:rPr sz="1200" spc="-20">
                <a:latin typeface="Calibri" panose="020F0502020204030204"/>
                <a:cs typeface="Calibri" panose="020F0502020204030204"/>
              </a:rPr>
              <a:t>West </a:t>
            </a:r>
            <a:r>
              <a:rPr sz="1200" spc="-1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C</a:t>
            </a:r>
            <a:r>
              <a:rPr sz="1200">
                <a:latin typeface="Calibri" panose="020F0502020204030204"/>
                <a:cs typeface="Calibri" panose="020F0502020204030204"/>
              </a:rPr>
              <a:t>he</a:t>
            </a:r>
            <a:r>
              <a:rPr sz="1200" spc="5">
                <a:latin typeface="Calibri" panose="020F0502020204030204"/>
                <a:cs typeface="Calibri" panose="020F0502020204030204"/>
              </a:rPr>
              <a:t>n</a:t>
            </a:r>
            <a:r>
              <a:rPr sz="1200">
                <a:latin typeface="Calibri" panose="020F0502020204030204"/>
                <a:cs typeface="Calibri" panose="020F0502020204030204"/>
              </a:rPr>
              <a:t>nai</a:t>
            </a:r>
            <a:r>
              <a:rPr sz="1200" spc="-6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-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600</a:t>
            </a:r>
            <a:r>
              <a:rPr sz="1200" spc="5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030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73025" algn="just"/>
            <a:r>
              <a:rPr sz="1200">
                <a:latin typeface="Calibri" panose="020F0502020204030204"/>
                <a:cs typeface="Calibri" panose="020F0502020204030204"/>
              </a:rPr>
              <a:t>Ph-</a:t>
            </a:r>
            <a:r>
              <a:rPr sz="1200" spc="-5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+91-76048-78864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36896" y="5589221"/>
            <a:ext cx="1755139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1200" b="1" u="sng" spc="-15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Bangalore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marR="30480"/>
            <a:r>
              <a:rPr sz="1200">
                <a:latin typeface="Calibri" panose="020F0502020204030204"/>
                <a:cs typeface="Calibri" panose="020F0502020204030204"/>
              </a:rPr>
              <a:t>3262/1,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st</a:t>
            </a:r>
            <a:r>
              <a:rPr sz="1200" spc="89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Floor,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13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th</a:t>
            </a:r>
            <a:r>
              <a:rPr sz="1200" spc="112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15">
                <a:latin typeface="Calibri" panose="020F0502020204030204"/>
                <a:cs typeface="Calibri" panose="020F0502020204030204"/>
              </a:rPr>
              <a:t>Cross </a:t>
            </a:r>
            <a:r>
              <a:rPr sz="1200" spc="-254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2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n</a:t>
            </a:r>
            <a:r>
              <a:rPr sz="1200" baseline="21000">
                <a:latin typeface="Calibri" panose="020F0502020204030204"/>
                <a:cs typeface="Calibri" panose="020F0502020204030204"/>
              </a:rPr>
              <a:t>d</a:t>
            </a:r>
            <a:r>
              <a:rPr sz="1200" spc="97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S</a:t>
            </a:r>
            <a:r>
              <a:rPr sz="1200">
                <a:latin typeface="Calibri" panose="020F0502020204030204"/>
                <a:cs typeface="Calibri" panose="020F0502020204030204"/>
              </a:rPr>
              <a:t>tage,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Indira</a:t>
            </a:r>
            <a:r>
              <a:rPr sz="1200" spc="-95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N</a:t>
            </a:r>
            <a:r>
              <a:rPr sz="1200" spc="-15">
                <a:latin typeface="Calibri" panose="020F0502020204030204"/>
                <a:cs typeface="Calibri" panose="020F0502020204030204"/>
              </a:rPr>
              <a:t>agar</a:t>
            </a:r>
            <a:r>
              <a:rPr sz="1200">
                <a:latin typeface="Calibri" panose="020F0502020204030204"/>
                <a:cs typeface="Calibri" panose="020F0502020204030204"/>
              </a:rPr>
              <a:t>,  </a:t>
            </a:r>
            <a:r>
              <a:rPr sz="1200" spc="-15">
                <a:latin typeface="Calibri" panose="020F0502020204030204"/>
                <a:cs typeface="Calibri" panose="020F0502020204030204"/>
              </a:rPr>
              <a:t>Bangalore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25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38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/>
            <a:r>
              <a:rPr sz="1200">
                <a:latin typeface="Calibri" panose="020F0502020204030204"/>
                <a:cs typeface="Calibri" panose="020F0502020204030204"/>
              </a:rPr>
              <a:t>Ph</a:t>
            </a:r>
            <a:r>
              <a:rPr sz="1200" spc="-1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-</a:t>
            </a:r>
            <a:r>
              <a:rPr sz="1200" spc="-10">
                <a:latin typeface="Calibri" panose="020F0502020204030204"/>
                <a:cs typeface="Calibri" panose="020F0502020204030204"/>
              </a:rPr>
              <a:t> +91-80-25216635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2023" y="5589219"/>
            <a:ext cx="7080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15">
                <a:latin typeface="Calibri" panose="020F0502020204030204"/>
                <a:cs typeface="Calibri" panose="020F0502020204030204"/>
              </a:rPr>
              <a:t>H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y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d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e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r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a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b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a</a:t>
            </a:r>
            <a:r>
              <a:rPr sz="1200" b="1">
                <a:latin typeface="Calibri" panose="020F0502020204030204"/>
                <a:cs typeface="Calibri" panose="020F0502020204030204"/>
              </a:rPr>
              <a:t>d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44469" y="5775961"/>
            <a:ext cx="690245" cy="7620"/>
          </a:xfrm>
          <a:custGeom>
            <a:avLst/>
            <a:gdLst/>
            <a:ahLst/>
            <a:cxnLst/>
            <a:rect l="l" t="t" r="r" b="b"/>
            <a:pathLst>
              <a:path w="690245" h="7620">
                <a:moveTo>
                  <a:pt x="689863" y="0"/>
                </a:moveTo>
                <a:lnTo>
                  <a:pt x="0" y="0"/>
                </a:lnTo>
                <a:lnTo>
                  <a:pt x="0" y="7618"/>
                </a:lnTo>
                <a:lnTo>
                  <a:pt x="689863" y="7618"/>
                </a:lnTo>
                <a:lnTo>
                  <a:pt x="6898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07257" y="5772101"/>
            <a:ext cx="20396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spcBef>
                <a:spcPts val="100"/>
              </a:spcBef>
            </a:pPr>
            <a:r>
              <a:rPr sz="1200">
                <a:latin typeface="Calibri" panose="020F0502020204030204"/>
                <a:cs typeface="Calibri" panose="020F0502020204030204"/>
              </a:rPr>
              <a:t>Plot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No.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6,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Lane.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Opp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OBC </a:t>
            </a:r>
            <a:r>
              <a:rPr sz="1200" spc="-25">
                <a:latin typeface="Calibri" panose="020F0502020204030204"/>
                <a:cs typeface="Calibri" panose="020F0502020204030204"/>
              </a:rPr>
              <a:t>Bank, </a:t>
            </a:r>
            <a:r>
              <a:rPr sz="1200" spc="-254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</a:t>
            </a:r>
            <a:r>
              <a:rPr sz="1200" baseline="21000">
                <a:latin typeface="Calibri" panose="020F0502020204030204"/>
                <a:cs typeface="Calibri" panose="020F0502020204030204"/>
              </a:rPr>
              <a:t>t</a:t>
            </a:r>
            <a:r>
              <a:rPr sz="1200" spc="60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Floor</a:t>
            </a:r>
            <a:r>
              <a:rPr sz="1200">
                <a:latin typeface="Calibri" panose="020F0502020204030204"/>
                <a:cs typeface="Calibri" panose="020F0502020204030204"/>
              </a:rPr>
              <a:t>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B</a:t>
            </a:r>
            <a:r>
              <a:rPr sz="1200">
                <a:latin typeface="Calibri" panose="020F0502020204030204"/>
                <a:cs typeface="Calibri" panose="020F0502020204030204"/>
              </a:rPr>
              <a:t>e</a:t>
            </a:r>
            <a:r>
              <a:rPr sz="1200" spc="5">
                <a:latin typeface="Calibri" panose="020F0502020204030204"/>
                <a:cs typeface="Calibri" panose="020F0502020204030204"/>
              </a:rPr>
              <a:t>t</a:t>
            </a:r>
            <a:r>
              <a:rPr sz="1200">
                <a:latin typeface="Calibri" panose="020F0502020204030204"/>
                <a:cs typeface="Calibri" panose="020F0502020204030204"/>
              </a:rPr>
              <a:t>hany</a:t>
            </a:r>
            <a:r>
              <a:rPr sz="1200" spc="-80">
                <a:latin typeface="Calibri" panose="020F0502020204030204"/>
                <a:cs typeface="Calibri" panose="020F0502020204030204"/>
              </a:rPr>
              <a:t> </a:t>
            </a:r>
            <a:r>
              <a:rPr sz="1200" spc="-30">
                <a:latin typeface="Calibri" panose="020F0502020204030204"/>
                <a:cs typeface="Calibri" panose="020F0502020204030204"/>
              </a:rPr>
              <a:t>H</a:t>
            </a:r>
            <a:r>
              <a:rPr sz="1200" spc="-25">
                <a:latin typeface="Calibri" panose="020F0502020204030204"/>
                <a:cs typeface="Calibri" panose="020F0502020204030204"/>
              </a:rPr>
              <a:t>o</a:t>
            </a:r>
            <a:r>
              <a:rPr sz="1200" spc="-20">
                <a:latin typeface="Calibri" panose="020F0502020204030204"/>
                <a:cs typeface="Calibri" panose="020F0502020204030204"/>
              </a:rPr>
              <a:t>u</a:t>
            </a:r>
            <a:r>
              <a:rPr sz="1200" spc="-30">
                <a:latin typeface="Calibri" panose="020F0502020204030204"/>
                <a:cs typeface="Calibri" panose="020F0502020204030204"/>
              </a:rPr>
              <a:t>s</a:t>
            </a:r>
            <a:r>
              <a:rPr sz="1200">
                <a:latin typeface="Calibri" panose="020F0502020204030204"/>
                <a:cs typeface="Calibri" panose="020F0502020204030204"/>
              </a:rPr>
              <a:t>e  </a:t>
            </a:r>
            <a:r>
              <a:rPr sz="1200" spc="-15">
                <a:latin typeface="Calibri" panose="020F0502020204030204"/>
                <a:cs typeface="Calibri" panose="020F0502020204030204"/>
              </a:rPr>
              <a:t>S</a:t>
            </a:r>
            <a:r>
              <a:rPr sz="1200" spc="-10">
                <a:latin typeface="Calibri" panose="020F0502020204030204"/>
                <a:cs typeface="Calibri" panose="020F0502020204030204"/>
              </a:rPr>
              <a:t>e</a:t>
            </a:r>
            <a:r>
              <a:rPr sz="1200" spc="-20">
                <a:latin typeface="Calibri" panose="020F0502020204030204"/>
                <a:cs typeface="Calibri" panose="020F0502020204030204"/>
              </a:rPr>
              <a:t>c</a:t>
            </a:r>
            <a:r>
              <a:rPr sz="1200" spc="-10">
                <a:latin typeface="Calibri" panose="020F0502020204030204"/>
                <a:cs typeface="Calibri" panose="020F0502020204030204"/>
              </a:rPr>
              <a:t>unde</a:t>
            </a:r>
            <a:r>
              <a:rPr sz="1200" spc="-15">
                <a:latin typeface="Calibri" panose="020F0502020204030204"/>
                <a:cs typeface="Calibri" panose="020F0502020204030204"/>
              </a:rPr>
              <a:t>ra</a:t>
            </a:r>
            <a:r>
              <a:rPr sz="1200" spc="-10">
                <a:latin typeface="Calibri" panose="020F0502020204030204"/>
                <a:cs typeface="Calibri" panose="020F0502020204030204"/>
              </a:rPr>
              <a:t>b</a:t>
            </a:r>
            <a:r>
              <a:rPr sz="1200" spc="-15">
                <a:latin typeface="Calibri" panose="020F0502020204030204"/>
                <a:cs typeface="Calibri" panose="020F0502020204030204"/>
              </a:rPr>
              <a:t>a</a:t>
            </a:r>
            <a:r>
              <a:rPr sz="1200">
                <a:latin typeface="Calibri" panose="020F0502020204030204"/>
                <a:cs typeface="Calibri" panose="020F0502020204030204"/>
              </a:rPr>
              <a:t>d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4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500003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32023" y="6321348"/>
            <a:ext cx="10775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>
                <a:latin typeface="Calibri" panose="020F0502020204030204"/>
                <a:cs typeface="Calibri" panose="020F0502020204030204"/>
              </a:rPr>
              <a:t>Ph-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99891-21094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4e8e7f-c586-4da5-b625-25ca602de19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5306CFCD34E84FB9AF5E894D6C3073" ma:contentTypeVersion="14" ma:contentTypeDescription="Create a new document." ma:contentTypeScope="" ma:versionID="2f773f5274a411c36a13d712746532c4">
  <xsd:schema xmlns:xsd="http://www.w3.org/2001/XMLSchema" xmlns:xs="http://www.w3.org/2001/XMLSchema" xmlns:p="http://schemas.microsoft.com/office/2006/metadata/properties" xmlns:ns3="944e8e7f-c586-4da5-b625-25ca602de198" xmlns:ns4="09882c4c-98d3-42d4-9fa4-9b997bf31c9f" targetNamespace="http://schemas.microsoft.com/office/2006/metadata/properties" ma:root="true" ma:fieldsID="fe7d79485c4578d231ee9735e9a8c86a" ns3:_="" ns4:_="">
    <xsd:import namespace="944e8e7f-c586-4da5-b625-25ca602de198"/>
    <xsd:import namespace="09882c4c-98d3-42d4-9fa4-9b997bf31c9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4e8e7f-c586-4da5-b625-25ca602de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82c4c-98d3-42d4-9fa4-9b997bf31c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E6DB5ED-6937-4BC3-BCC6-8A103A480F64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09882c4c-98d3-42d4-9fa4-9b997bf31c9f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944e8e7f-c586-4da5-b625-25ca602de198"/>
  </ds:schemaRefs>
</ds:datastoreItem>
</file>

<file path=customXml/itemProps2.xml><?xml version="1.0" encoding="utf-8"?>
<ds:datastoreItem xmlns:ds="http://schemas.openxmlformats.org/officeDocument/2006/customXml" ds:itemID="{A1DF5F45-434B-4C51-AE99-29B5FA6DBA9E}">
  <ds:schemaRefs>
    <ds:schemaRef ds:uri="09882c4c-98d3-42d4-9fa4-9b997bf31c9f"/>
    <ds:schemaRef ds:uri="944e8e7f-c586-4da5-b625-25ca602de1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A2A7700-D0B7-47B9-AE21-3C3F317AE3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</TotalTime>
  <Words>355</Words>
  <Application>Microsoft Office PowerPoint</Application>
  <PresentationFormat>On-screen Show (4:3)</PresentationFormat>
  <Paragraphs>65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 MT</vt:lpstr>
      <vt:lpstr>Calibri</vt:lpstr>
      <vt:lpstr>Office Theme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MService</dc:title>
  <dc:subject>Overview</dc:subject>
  <dc:creator>Chak</dc:creator>
  <cp:lastModifiedBy>Aswin rajendiran</cp:lastModifiedBy>
  <cp:revision>6</cp:revision>
  <dcterms:created xsi:type="dcterms:W3CDTF">2024-03-14T07:43:00Z</dcterms:created>
  <dcterms:modified xsi:type="dcterms:W3CDTF">2025-08-14T12:13:08Z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2024-02-24T05:30:00Z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2024-03-14T05:30:00Z</vt:filetime>
  </property>
  <property fmtid="{D5CDD505-2E9C-101B-9397-08002B2CF9AE}" pid="5" name="ICV">
    <vt:lpwstr>8095A703FF644F2FADEED5D7B10CAF49_13</vt:lpwstr>
  </property>
  <property fmtid="{D5CDD505-2E9C-101B-9397-08002B2CF9AE}" pid="6" name="KSOProductBuildVer">
    <vt:lpwstr>1033-12.2.0.16731</vt:lpwstr>
  </property>
  <property fmtid="{D5CDD505-2E9C-101B-9397-08002B2CF9AE}" pid="7" name="ContentTypeId">
    <vt:lpwstr>0x010100785306CFCD34E84FB9AF5E894D6C3073</vt:lpwstr>
  </property>
</Properties>
</file>