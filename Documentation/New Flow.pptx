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763" r:id="rId5"/>
    <p:sldId id="314" r:id="rId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580" y="48"/>
      </p:cViewPr>
      <p:guideLst>
        <p:guide orient="horz" pos="2880"/>
        <p:guide pos="21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A0CF0-952E-4A55-ADC5-7CF556879365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B2594-525F-45A3-8401-F707257DD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69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7200" y="6172200"/>
            <a:ext cx="8229600" cy="1270"/>
          </a:xfrm>
          <a:custGeom>
            <a:avLst/>
            <a:gdLst/>
            <a:ahLst/>
            <a:cxnLst/>
            <a:rect l="l" t="t" r="r" b="b"/>
            <a:pathLst>
              <a:path w="8229600" h="1270">
                <a:moveTo>
                  <a:pt x="0" y="0"/>
                </a:moveTo>
                <a:lnTo>
                  <a:pt x="8229600" y="12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6787" y="1742389"/>
            <a:ext cx="163042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112266"/>
            <a:ext cx="6724650" cy="4618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6854" y="6490623"/>
            <a:ext cx="77787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8095" y="6393726"/>
            <a:ext cx="241300" cy="241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service.in/" TargetMode="External"/><Relationship Id="rId2" Type="http://schemas.openxmlformats.org/officeDocument/2006/relationships/hyperlink" Target="http://www.selfservi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6FB27EB-37F5-EF04-A23A-195B08F857E1}"/>
              </a:ext>
            </a:extLst>
          </p:cNvPr>
          <p:cNvSpPr/>
          <p:nvPr/>
        </p:nvSpPr>
        <p:spPr>
          <a:xfrm>
            <a:off x="468630" y="1811655"/>
            <a:ext cx="1874520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050" dirty="0"/>
              <a:t>Part Type (Local/HQ) decided by QA Coordinator during FPR • Vendor Claim / Critical Issue / Failed Part required </a:t>
            </a:r>
            <a:endParaRPr lang="en-AE" sz="105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72475E-9455-7AEA-6353-5537F59703DE}"/>
              </a:ext>
            </a:extLst>
          </p:cNvPr>
          <p:cNvSpPr txBox="1"/>
          <p:nvPr/>
        </p:nvSpPr>
        <p:spPr>
          <a:xfrm>
            <a:off x="637220" y="151161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Condition Check</a:t>
            </a:r>
            <a:endParaRPr lang="en-AE" sz="14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9F9DEB7-2DCF-1E83-0060-951F96624A1D}"/>
              </a:ext>
            </a:extLst>
          </p:cNvPr>
          <p:cNvSpPr/>
          <p:nvPr/>
        </p:nvSpPr>
        <p:spPr>
          <a:xfrm>
            <a:off x="3234690" y="518279"/>
            <a:ext cx="2023110" cy="53721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CQA (Customer Quality Assurance)</a:t>
            </a:r>
            <a:endParaRPr lang="en-AE" sz="1100" b="1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4CA00FE-F8BD-EA61-1A6D-C8C68A33B9B6}"/>
              </a:ext>
            </a:extLst>
          </p:cNvPr>
          <p:cNvSpPr/>
          <p:nvPr/>
        </p:nvSpPr>
        <p:spPr>
          <a:xfrm>
            <a:off x="3223260" y="1518404"/>
            <a:ext cx="2171700" cy="150090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All SWC assigned to CQA first • Attach Analysis Report • Select Failure Type &amp; Reason (Drop Down) •Select Claim Type (Standard/Goodwill) • Mark Claimable / Not Claimable • Add Comments •</a:t>
            </a:r>
            <a:endParaRPr lang="en-AE" sz="11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4675D89-EF21-5E73-1273-B2A9F9980243}"/>
              </a:ext>
            </a:extLst>
          </p:cNvPr>
          <p:cNvSpPr/>
          <p:nvPr/>
        </p:nvSpPr>
        <p:spPr>
          <a:xfrm>
            <a:off x="3234689" y="3528258"/>
            <a:ext cx="2171700" cy="58293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After review ➝ Assign to SCM (Local) OR QA Coordinator (HQ)</a:t>
            </a:r>
            <a:endParaRPr lang="en-AE" sz="105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E1C94A-382F-C907-D55C-794F48D70713}"/>
              </a:ext>
            </a:extLst>
          </p:cNvPr>
          <p:cNvSpPr txBox="1"/>
          <p:nvPr/>
        </p:nvSpPr>
        <p:spPr>
          <a:xfrm>
            <a:off x="605790" y="2811557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dirty="0"/>
              <a:t>(SWC will be generated only after QA acknowledgment)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55E57E7-19AB-C9AF-4B96-9F003C803A2C}"/>
              </a:ext>
            </a:extLst>
          </p:cNvPr>
          <p:cNvSpPr/>
          <p:nvPr/>
        </p:nvSpPr>
        <p:spPr>
          <a:xfrm>
            <a:off x="6275070" y="1811655"/>
            <a:ext cx="2171700" cy="10200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• Review Claim &amp; CQA Report • Fill Dispatch Details (Optional) • Enter Vendor Claim Ref (if portal available) • Enter Vendor Quality Reporting Ref • Submit Claim </a:t>
            </a:r>
            <a:endParaRPr lang="en-AE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E83A2A-E0D2-98DD-17BB-883A359C13F2}"/>
              </a:ext>
            </a:extLst>
          </p:cNvPr>
          <p:cNvSpPr txBox="1"/>
          <p:nvPr/>
        </p:nvSpPr>
        <p:spPr>
          <a:xfrm>
            <a:off x="6400165" y="145031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SCM / QA Coordinator</a:t>
            </a:r>
            <a:endParaRPr lang="en-AE" sz="1400" dirty="0"/>
          </a:p>
        </p:txBody>
      </p:sp>
      <p:sp>
        <p:nvSpPr>
          <p:cNvPr id="75" name="Parallelogram 74">
            <a:extLst>
              <a:ext uri="{FF2B5EF4-FFF2-40B4-BE49-F238E27FC236}">
                <a16:creationId xmlns:a16="http://schemas.microsoft.com/office/drawing/2014/main" id="{25971B92-B009-9B1C-8A27-A6A25AC9A146}"/>
              </a:ext>
            </a:extLst>
          </p:cNvPr>
          <p:cNvSpPr/>
          <p:nvPr/>
        </p:nvSpPr>
        <p:spPr>
          <a:xfrm>
            <a:off x="6366510" y="3736159"/>
            <a:ext cx="2171700" cy="914400"/>
          </a:xfrm>
          <a:prstGeom prst="parallelogram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Approve / Reject / Return Claim • Make Payment &amp; Enter Payment Details • Do Financial Closure</a:t>
            </a:r>
            <a:endParaRPr lang="en-AE" sz="1100" dirty="0"/>
          </a:p>
        </p:txBody>
      </p:sp>
      <p:sp>
        <p:nvSpPr>
          <p:cNvPr id="76" name="Parallelogram 75">
            <a:extLst>
              <a:ext uri="{FF2B5EF4-FFF2-40B4-BE49-F238E27FC236}">
                <a16:creationId xmlns:a16="http://schemas.microsoft.com/office/drawing/2014/main" id="{E65961D2-6CBB-5D1F-BE0E-4F9A06020070}"/>
              </a:ext>
            </a:extLst>
          </p:cNvPr>
          <p:cNvSpPr/>
          <p:nvPr/>
        </p:nvSpPr>
        <p:spPr>
          <a:xfrm>
            <a:off x="4309110" y="5300424"/>
            <a:ext cx="2171700" cy="914400"/>
          </a:xfrm>
          <a:prstGeom prst="parallelogram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Take Permanent Action • Attach Permanent Solution Report • Do Permanent Closure</a:t>
            </a:r>
            <a:endParaRPr lang="en-AE" sz="1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4A73414-AC3B-C06E-061B-11A8CAB9D351}"/>
              </a:ext>
            </a:extLst>
          </p:cNvPr>
          <p:cNvSpPr txBox="1"/>
          <p:nvPr/>
        </p:nvSpPr>
        <p:spPr>
          <a:xfrm>
            <a:off x="5957888" y="4719139"/>
            <a:ext cx="3323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Supplier 1 (</a:t>
            </a:r>
            <a:r>
              <a:rPr lang="fr-FR" sz="1400" b="1" dirty="0" err="1"/>
              <a:t>Technical</a:t>
            </a:r>
            <a:r>
              <a:rPr lang="fr-FR" sz="1400" b="1" dirty="0"/>
              <a:t>  &amp; Finance Dept.)</a:t>
            </a:r>
            <a:endParaRPr lang="en-AE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8FBF40-B226-E768-777C-2374804BF9D9}"/>
              </a:ext>
            </a:extLst>
          </p:cNvPr>
          <p:cNvSpPr txBox="1"/>
          <p:nvPr/>
        </p:nvSpPr>
        <p:spPr>
          <a:xfrm>
            <a:off x="4309110" y="6305431"/>
            <a:ext cx="5412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Supplier 2 (QA / R&amp;D Dept.)</a:t>
            </a:r>
            <a:endParaRPr lang="en-AE" sz="1400" dirty="0"/>
          </a:p>
        </p:txBody>
      </p:sp>
      <p:sp>
        <p:nvSpPr>
          <p:cNvPr id="81" name="Flowchart: Alternate Process 80">
            <a:extLst>
              <a:ext uri="{FF2B5EF4-FFF2-40B4-BE49-F238E27FC236}">
                <a16:creationId xmlns:a16="http://schemas.microsoft.com/office/drawing/2014/main" id="{3AD5DA47-246A-7946-AE30-A605D3224521}"/>
              </a:ext>
            </a:extLst>
          </p:cNvPr>
          <p:cNvSpPr/>
          <p:nvPr/>
        </p:nvSpPr>
        <p:spPr>
          <a:xfrm>
            <a:off x="2513171" y="4939851"/>
            <a:ext cx="1443037" cy="620457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Confirm Payment • Do Financial Closure</a:t>
            </a:r>
            <a:endParaRPr lang="en-AE" sz="1050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739A46C-1FA3-FFB1-B0A2-199B163C9A93}"/>
              </a:ext>
            </a:extLst>
          </p:cNvPr>
          <p:cNvSpPr/>
          <p:nvPr/>
        </p:nvSpPr>
        <p:spPr>
          <a:xfrm>
            <a:off x="511491" y="4880610"/>
            <a:ext cx="1394459" cy="7389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Confirm Permanent Action • Issue &amp; Attach ECN • Do Permanent Closure</a:t>
            </a:r>
            <a:endParaRPr lang="en-AE" sz="11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4C7247-865C-3EFA-F124-97F9E040F0C4}"/>
              </a:ext>
            </a:extLst>
          </p:cNvPr>
          <p:cNvSpPr txBox="1"/>
          <p:nvPr/>
        </p:nvSpPr>
        <p:spPr>
          <a:xfrm>
            <a:off x="2471738" y="4661371"/>
            <a:ext cx="5412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Finance Department</a:t>
            </a:r>
            <a:endParaRPr lang="en-AE" sz="1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132999-BC5A-68D5-1627-6A57FA9B960D}"/>
              </a:ext>
            </a:extLst>
          </p:cNvPr>
          <p:cNvSpPr txBox="1"/>
          <p:nvPr/>
        </p:nvSpPr>
        <p:spPr>
          <a:xfrm>
            <a:off x="262890" y="4603603"/>
            <a:ext cx="5412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CQA Final Confirmation</a:t>
            </a:r>
            <a:endParaRPr lang="en-AE" sz="1400" dirty="0"/>
          </a:p>
        </p:txBody>
      </p: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90183417-9E37-D209-0CC2-008D11786599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>
            <a:off x="2343150" y="2268855"/>
            <a:ext cx="880110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561DABC3-DC7D-C5EE-122E-082F79712BF8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5394960" y="2268855"/>
            <a:ext cx="742950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B3DA17AF-EA43-76DF-DD6C-09DA95F45663}"/>
              </a:ext>
            </a:extLst>
          </p:cNvPr>
          <p:cNvCxnSpPr>
            <a:cxnSpLocks/>
            <a:stCxn id="70" idx="2"/>
          </p:cNvCxnSpPr>
          <p:nvPr/>
        </p:nvCxnSpPr>
        <p:spPr>
          <a:xfrm rot="5400000">
            <a:off x="6965448" y="3227210"/>
            <a:ext cx="790944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8961C6C7-FC20-3D69-B6F5-F5A4C213F17D}"/>
              </a:ext>
            </a:extLst>
          </p:cNvPr>
          <p:cNvCxnSpPr>
            <a:cxnSpLocks/>
            <a:endCxn id="76" idx="2"/>
          </p:cNvCxnSpPr>
          <p:nvPr/>
        </p:nvCxnSpPr>
        <p:spPr>
          <a:xfrm rot="10800000" flipV="1">
            <a:off x="6366510" y="4650558"/>
            <a:ext cx="1253014" cy="1107065"/>
          </a:xfrm>
          <a:prstGeom prst="bentConnector3">
            <a:avLst>
              <a:gd name="adj1" fmla="val 16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41697321-FDD9-9689-2961-1FF932DEDD8B}"/>
              </a:ext>
            </a:extLst>
          </p:cNvPr>
          <p:cNvCxnSpPr>
            <a:cxnSpLocks/>
            <a:stCxn id="76" idx="5"/>
            <a:endCxn id="81" idx="2"/>
          </p:cNvCxnSpPr>
          <p:nvPr/>
        </p:nvCxnSpPr>
        <p:spPr>
          <a:xfrm rot="10800000">
            <a:off x="3234690" y="5560308"/>
            <a:ext cx="1188720" cy="1973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7501C0F4-B8BB-845A-028C-51A81C2A729E}"/>
              </a:ext>
            </a:extLst>
          </p:cNvPr>
          <p:cNvCxnSpPr>
            <a:cxnSpLocks/>
            <a:stCxn id="81" idx="1"/>
            <a:endCxn id="82" idx="3"/>
          </p:cNvCxnSpPr>
          <p:nvPr/>
        </p:nvCxnSpPr>
        <p:spPr>
          <a:xfrm rot="10800000" flipV="1">
            <a:off x="1905951" y="5250079"/>
            <a:ext cx="607221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969C9711-0A04-13A0-A4B6-24F49A532CFB}"/>
              </a:ext>
            </a:extLst>
          </p:cNvPr>
          <p:cNvCxnSpPr>
            <a:cxnSpLocks/>
            <a:endCxn id="65" idx="4"/>
          </p:cNvCxnSpPr>
          <p:nvPr/>
        </p:nvCxnSpPr>
        <p:spPr>
          <a:xfrm rot="5400000" flipH="1" flipV="1">
            <a:off x="4008437" y="1286947"/>
            <a:ext cx="469266" cy="63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Curved 125">
            <a:extLst>
              <a:ext uri="{FF2B5EF4-FFF2-40B4-BE49-F238E27FC236}">
                <a16:creationId xmlns:a16="http://schemas.microsoft.com/office/drawing/2014/main" id="{5E85D44B-B42B-8FD3-0370-DB1F5D715490}"/>
              </a:ext>
            </a:extLst>
          </p:cNvPr>
          <p:cNvCxnSpPr>
            <a:cxnSpLocks/>
            <a:stCxn id="66" idx="2"/>
            <a:endCxn id="67" idx="0"/>
          </p:cNvCxnSpPr>
          <p:nvPr/>
        </p:nvCxnSpPr>
        <p:spPr>
          <a:xfrm rot="16200000" flipH="1">
            <a:off x="4060348" y="3268067"/>
            <a:ext cx="508952" cy="1142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284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95"/>
              </a:spcBef>
            </a:pPr>
            <a:r>
              <a:rPr spc="-5"/>
              <a:t>Thank</a:t>
            </a:r>
            <a:r>
              <a:rPr spc="-130"/>
              <a:t> </a:t>
            </a:r>
            <a:r>
              <a:rPr spc="-25"/>
              <a:t>You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13759" y="5494654"/>
            <a:ext cx="1297305" cy="13335"/>
            <a:chOff x="3413759" y="5494654"/>
            <a:chExt cx="1297305" cy="13335"/>
          </a:xfrm>
        </p:grpSpPr>
        <p:sp>
          <p:nvSpPr>
            <p:cNvPr id="5" name="object 5"/>
            <p:cNvSpPr/>
            <p:nvPr/>
          </p:nvSpPr>
          <p:spPr>
            <a:xfrm>
              <a:off x="3413759" y="5498591"/>
              <a:ext cx="1266190" cy="7620"/>
            </a:xfrm>
            <a:custGeom>
              <a:avLst/>
              <a:gdLst/>
              <a:ahLst/>
              <a:cxnLst/>
              <a:rect l="l" t="t" r="r" b="b"/>
              <a:pathLst>
                <a:path w="1266189" h="7620">
                  <a:moveTo>
                    <a:pt x="1266063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266063" y="7620"/>
                  </a:lnTo>
                  <a:lnTo>
                    <a:pt x="12660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80203" y="5500117"/>
              <a:ext cx="30480" cy="7620"/>
            </a:xfrm>
            <a:custGeom>
              <a:avLst/>
              <a:gdLst/>
              <a:ahLst/>
              <a:cxnLst/>
              <a:rect l="l" t="t" r="r" b="b"/>
              <a:pathLst>
                <a:path w="30479" h="7620">
                  <a:moveTo>
                    <a:pt x="30479" y="0"/>
                  </a:moveTo>
                  <a:lnTo>
                    <a:pt x="0" y="0"/>
                  </a:lnTo>
                  <a:lnTo>
                    <a:pt x="0" y="7618"/>
                  </a:lnTo>
                  <a:lnTo>
                    <a:pt x="30479" y="7618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14140" y="5494654"/>
              <a:ext cx="1274445" cy="10795"/>
            </a:xfrm>
            <a:custGeom>
              <a:avLst/>
              <a:gdLst/>
              <a:ahLst/>
              <a:cxnLst/>
              <a:rect l="l" t="t" r="r" b="b"/>
              <a:pathLst>
                <a:path w="1274445" h="10795">
                  <a:moveTo>
                    <a:pt x="1274064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274064" y="10668"/>
                  </a:lnTo>
                  <a:lnTo>
                    <a:pt x="127406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65372" y="4719573"/>
            <a:ext cx="25406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latin typeface="Calibri" panose="020F0502020204030204"/>
                <a:cs typeface="Calibri" panose="020F0502020204030204"/>
              </a:rPr>
              <a:t>S</a:t>
            </a:r>
            <a:r>
              <a:rPr sz="1800" b="1" spc="5">
                <a:latin typeface="Calibri" panose="020F0502020204030204"/>
                <a:cs typeface="Calibri" panose="020F0502020204030204"/>
              </a:rPr>
              <a:t>e</a:t>
            </a:r>
            <a:r>
              <a:rPr sz="1800" b="1">
                <a:latin typeface="Calibri" panose="020F0502020204030204"/>
                <a:cs typeface="Calibri" panose="020F0502020204030204"/>
              </a:rPr>
              <a:t>lfservit</a:t>
            </a:r>
            <a:r>
              <a:rPr sz="1800" b="1" spc="-85">
                <a:latin typeface="Calibri" panose="020F0502020204030204"/>
                <a:cs typeface="Calibri" panose="020F0502020204030204"/>
              </a:rPr>
              <a:t> </a:t>
            </a:r>
            <a:r>
              <a:rPr sz="1800" b="1">
                <a:latin typeface="Calibri" panose="020F0502020204030204"/>
                <a:cs typeface="Calibri" panose="020F0502020204030204"/>
              </a:rPr>
              <a:t>Solutions</a:t>
            </a:r>
            <a:r>
              <a:rPr sz="18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800" b="1">
                <a:latin typeface="Calibri" panose="020F0502020204030204"/>
                <a:cs typeface="Calibri" panose="020F0502020204030204"/>
              </a:rPr>
              <a:t>(P)</a:t>
            </a:r>
            <a:r>
              <a:rPr sz="1800" b="1" spc="-6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30">
                <a:latin typeface="Calibri" panose="020F0502020204030204"/>
                <a:cs typeface="Calibri" panose="020F0502020204030204"/>
              </a:rPr>
              <a:t>L</a:t>
            </a:r>
            <a:r>
              <a:rPr sz="1800" b="1" spc="-25">
                <a:latin typeface="Calibri" panose="020F0502020204030204"/>
                <a:cs typeface="Calibri" panose="020F0502020204030204"/>
              </a:rPr>
              <a:t>t</a:t>
            </a:r>
            <a:r>
              <a:rPr sz="1800" b="1" spc="-20">
                <a:latin typeface="Calibri" panose="020F0502020204030204"/>
                <a:cs typeface="Calibri" panose="020F0502020204030204"/>
              </a:rPr>
              <a:t>d</a:t>
            </a:r>
            <a:r>
              <a:rPr sz="1800" b="1">
                <a:latin typeface="Calibri" panose="020F0502020204030204"/>
                <a:cs typeface="Calibri" panose="020F0502020204030204"/>
              </a:rPr>
              <a:t>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b="1" spc="-5">
                <a:latin typeface="Calibri" panose="020F0502020204030204"/>
                <a:cs typeface="Calibri" panose="020F0502020204030204"/>
              </a:rPr>
              <a:t>(CIN</a:t>
            </a:r>
            <a:r>
              <a:rPr sz="14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400" b="1">
                <a:latin typeface="Calibri" panose="020F0502020204030204"/>
                <a:cs typeface="Calibri" panose="020F0502020204030204"/>
              </a:rPr>
              <a:t>–</a:t>
            </a:r>
            <a:r>
              <a:rPr sz="1400" b="1" spc="-4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5">
                <a:latin typeface="Calibri" panose="020F0502020204030204"/>
                <a:cs typeface="Calibri" panose="020F0502020204030204"/>
              </a:rPr>
              <a:t>U72900TN2008PTC068979)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48895">
              <a:lnSpc>
                <a:spcPct val="100000"/>
              </a:lnSpc>
              <a:spcBef>
                <a:spcPts val="815"/>
              </a:spcBef>
            </a:pPr>
            <a:r>
              <a:rPr sz="1200" b="1" spc="-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www.selfservit.com</a:t>
            </a:r>
            <a:r>
              <a:rPr sz="1200" b="1" spc="12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 </a:t>
            </a:r>
            <a:r>
              <a:rPr sz="1200" b="1" u="sng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 panose="020F0502020204030204"/>
                <a:cs typeface="Calibri" panose="020F0502020204030204"/>
                <a:hlinkClick r:id="rId3"/>
              </a:rPr>
              <a:t>www.mservice.in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971" y="5181600"/>
            <a:ext cx="0" cy="1172210"/>
          </a:xfrm>
          <a:custGeom>
            <a:avLst/>
            <a:gdLst/>
            <a:ahLst/>
            <a:cxnLst/>
            <a:rect l="l" t="t" r="r" b="b"/>
            <a:pathLst>
              <a:path h="1172210">
                <a:moveTo>
                  <a:pt x="0" y="1171702"/>
                </a:moveTo>
                <a:lnTo>
                  <a:pt x="0" y="0"/>
                </a:lnTo>
              </a:path>
            </a:pathLst>
          </a:custGeom>
          <a:ln w="9142">
            <a:solidFill>
              <a:srgbClr val="FCFCF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4724400"/>
            <a:ext cx="9144000" cy="1270"/>
          </a:xfrm>
          <a:custGeom>
            <a:avLst/>
            <a:gdLst/>
            <a:ahLst/>
            <a:cxnLst/>
            <a:rect l="l" t="t" r="r" b="b"/>
            <a:pathLst>
              <a:path w="9144000" h="1270">
                <a:moveTo>
                  <a:pt x="0" y="0"/>
                </a:moveTo>
                <a:lnTo>
                  <a:pt x="9144000" y="126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6398" y="5589219"/>
            <a:ext cx="1438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100"/>
              </a:spcBef>
            </a:pPr>
            <a:r>
              <a:rPr sz="1200" b="1" u="sng" spc="-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Chennai:</a:t>
            </a:r>
            <a:r>
              <a:rPr sz="1200" b="1" u="sng" spc="-6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HO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algn="just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51/2</a:t>
            </a:r>
            <a:r>
              <a:rPr sz="1200" spc="-4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(Old</a:t>
            </a:r>
            <a:r>
              <a:rPr sz="1200" spc="-3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35">
                <a:latin typeface="Calibri" panose="020F0502020204030204"/>
                <a:cs typeface="Calibri" panose="020F0502020204030204"/>
              </a:rPr>
              <a:t> </a:t>
            </a:r>
            <a:r>
              <a:rPr sz="1200" spc="-20">
                <a:latin typeface="Calibri" panose="020F0502020204030204"/>
                <a:cs typeface="Calibri" panose="020F0502020204030204"/>
              </a:rPr>
              <a:t>26)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141605" algn="just">
              <a:lnSpc>
                <a:spcPct val="100000"/>
              </a:lnSpc>
            </a:pP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 </a:t>
            </a:r>
            <a:r>
              <a:rPr sz="1200" spc="-5">
                <a:latin typeface="Calibri" panose="020F0502020204030204"/>
                <a:cs typeface="Calibri" panose="020F0502020204030204"/>
              </a:rPr>
              <a:t>Main Road </a:t>
            </a:r>
            <a:r>
              <a:rPr sz="1200" spc="-30">
                <a:latin typeface="Calibri" panose="020F0502020204030204"/>
                <a:cs typeface="Calibri" panose="020F0502020204030204"/>
              </a:rPr>
              <a:t>West, </a:t>
            </a:r>
            <a:r>
              <a:rPr sz="1200" spc="-26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Shenoy Nagar </a:t>
            </a:r>
            <a:r>
              <a:rPr sz="1200" spc="-20">
                <a:latin typeface="Calibri" panose="020F0502020204030204"/>
                <a:cs typeface="Calibri" panose="020F0502020204030204"/>
              </a:rPr>
              <a:t>West </a:t>
            </a:r>
            <a:r>
              <a:rPr sz="1200" spc="-1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C</a:t>
            </a:r>
            <a:r>
              <a:rPr sz="1200">
                <a:latin typeface="Calibri" panose="020F0502020204030204"/>
                <a:cs typeface="Calibri" panose="020F0502020204030204"/>
              </a:rPr>
              <a:t>he</a:t>
            </a:r>
            <a:r>
              <a:rPr sz="1200" spc="5">
                <a:latin typeface="Calibri" panose="020F0502020204030204"/>
                <a:cs typeface="Calibri" panose="020F0502020204030204"/>
              </a:rPr>
              <a:t>n</a:t>
            </a:r>
            <a:r>
              <a:rPr sz="1200">
                <a:latin typeface="Calibri" panose="020F0502020204030204"/>
                <a:cs typeface="Calibri" panose="020F0502020204030204"/>
              </a:rPr>
              <a:t>nai</a:t>
            </a:r>
            <a:r>
              <a:rPr sz="1200" spc="-6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600</a:t>
            </a:r>
            <a:r>
              <a:rPr sz="1200" spc="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030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73025" algn="just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+91-76048-78864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6894" y="5589219"/>
            <a:ext cx="175513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u="sng" spc="-1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Bangalore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30480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3262/1,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</a:t>
            </a:r>
            <a:r>
              <a:rPr sz="1200" spc="89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13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th</a:t>
            </a:r>
            <a:r>
              <a:rPr sz="1200" spc="112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15">
                <a:latin typeface="Calibri" panose="020F0502020204030204"/>
                <a:cs typeface="Calibri" panose="020F0502020204030204"/>
              </a:rPr>
              <a:t>Cross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2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n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d</a:t>
            </a:r>
            <a:r>
              <a:rPr sz="1200" spc="97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tage,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Indira</a:t>
            </a:r>
            <a:r>
              <a:rPr sz="1200" spc="-9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N</a:t>
            </a:r>
            <a:r>
              <a:rPr sz="1200" spc="-15">
                <a:latin typeface="Calibri" panose="020F0502020204030204"/>
                <a:cs typeface="Calibri" panose="020F0502020204030204"/>
              </a:rPr>
              <a:t>agar</a:t>
            </a:r>
            <a:r>
              <a:rPr sz="1200">
                <a:latin typeface="Calibri" panose="020F0502020204030204"/>
                <a:cs typeface="Calibri" panose="020F0502020204030204"/>
              </a:rPr>
              <a:t>,  </a:t>
            </a:r>
            <a:r>
              <a:rPr sz="1200" spc="-15">
                <a:latin typeface="Calibri" panose="020F0502020204030204"/>
                <a:cs typeface="Calibri" panose="020F0502020204030204"/>
              </a:rPr>
              <a:t>Bangalore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2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38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Ph</a:t>
            </a:r>
            <a:r>
              <a:rPr sz="1200" spc="-1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-</a:t>
            </a:r>
            <a:r>
              <a:rPr sz="1200" spc="-10">
                <a:latin typeface="Calibri" panose="020F0502020204030204"/>
                <a:cs typeface="Calibri" panose="020F0502020204030204"/>
              </a:rPr>
              <a:t> +91-80-25216635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2021" y="5589219"/>
            <a:ext cx="708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>
                <a:latin typeface="Calibri" panose="020F0502020204030204"/>
                <a:cs typeface="Calibri" panose="020F0502020204030204"/>
              </a:rPr>
              <a:t>H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y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d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e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r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>
                <a:latin typeface="Calibri" panose="020F0502020204030204"/>
                <a:cs typeface="Calibri" panose="020F0502020204030204"/>
              </a:rPr>
              <a:t>d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44467" y="5775961"/>
            <a:ext cx="690245" cy="7620"/>
          </a:xfrm>
          <a:custGeom>
            <a:avLst/>
            <a:gdLst/>
            <a:ahLst/>
            <a:cxnLst/>
            <a:rect l="l" t="t" r="r" b="b"/>
            <a:pathLst>
              <a:path w="690245" h="7620">
                <a:moveTo>
                  <a:pt x="689863" y="0"/>
                </a:moveTo>
                <a:lnTo>
                  <a:pt x="0" y="0"/>
                </a:lnTo>
                <a:lnTo>
                  <a:pt x="0" y="7618"/>
                </a:lnTo>
                <a:lnTo>
                  <a:pt x="689863" y="7618"/>
                </a:lnTo>
                <a:lnTo>
                  <a:pt x="689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07257" y="5772099"/>
            <a:ext cx="2039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Plot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No.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Lane.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Opp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OBC </a:t>
            </a:r>
            <a:r>
              <a:rPr sz="1200" spc="-25">
                <a:latin typeface="Calibri" panose="020F0502020204030204"/>
                <a:cs typeface="Calibri" panose="020F0502020204030204"/>
              </a:rPr>
              <a:t>Bank,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t</a:t>
            </a:r>
            <a:r>
              <a:rPr sz="1200" spc="60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</a:t>
            </a:r>
            <a:r>
              <a:rPr sz="1200">
                <a:latin typeface="Calibri" panose="020F0502020204030204"/>
                <a:cs typeface="Calibri" panose="020F0502020204030204"/>
              </a:rPr>
              <a:t>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>
                <a:latin typeface="Calibri" panose="020F0502020204030204"/>
                <a:cs typeface="Calibri" panose="020F0502020204030204"/>
              </a:rPr>
              <a:t>e</a:t>
            </a:r>
            <a:r>
              <a:rPr sz="1200" spc="5">
                <a:latin typeface="Calibri" panose="020F0502020204030204"/>
                <a:cs typeface="Calibri" panose="020F0502020204030204"/>
              </a:rPr>
              <a:t>t</a:t>
            </a:r>
            <a:r>
              <a:rPr sz="1200">
                <a:latin typeface="Calibri" panose="020F0502020204030204"/>
                <a:cs typeface="Calibri" panose="020F0502020204030204"/>
              </a:rPr>
              <a:t>hany</a:t>
            </a:r>
            <a:r>
              <a:rPr sz="1200" spc="-80">
                <a:latin typeface="Calibri" panose="020F0502020204030204"/>
                <a:cs typeface="Calibri" panose="020F0502020204030204"/>
              </a:rPr>
              <a:t> </a:t>
            </a:r>
            <a:r>
              <a:rPr sz="1200" spc="-30">
                <a:latin typeface="Calibri" panose="020F0502020204030204"/>
                <a:cs typeface="Calibri" panose="020F0502020204030204"/>
              </a:rPr>
              <a:t>H</a:t>
            </a:r>
            <a:r>
              <a:rPr sz="1200" spc="-25">
                <a:latin typeface="Calibri" panose="020F0502020204030204"/>
                <a:cs typeface="Calibri" panose="020F0502020204030204"/>
              </a:rPr>
              <a:t>o</a:t>
            </a:r>
            <a:r>
              <a:rPr sz="1200" spc="-20">
                <a:latin typeface="Calibri" panose="020F0502020204030204"/>
                <a:cs typeface="Calibri" panose="020F0502020204030204"/>
              </a:rPr>
              <a:t>u</a:t>
            </a:r>
            <a:r>
              <a:rPr sz="1200" spc="-30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e  </a:t>
            </a:r>
            <a:r>
              <a:rPr sz="1200" spc="-15">
                <a:latin typeface="Calibri" panose="020F0502020204030204"/>
                <a:cs typeface="Calibri" panose="020F0502020204030204"/>
              </a:rPr>
              <a:t>S</a:t>
            </a:r>
            <a:r>
              <a:rPr sz="1200" spc="-10">
                <a:latin typeface="Calibri" panose="020F0502020204030204"/>
                <a:cs typeface="Calibri" panose="020F0502020204030204"/>
              </a:rPr>
              <a:t>e</a:t>
            </a:r>
            <a:r>
              <a:rPr sz="1200" spc="-20">
                <a:latin typeface="Calibri" panose="020F0502020204030204"/>
                <a:cs typeface="Calibri" panose="020F0502020204030204"/>
              </a:rPr>
              <a:t>c</a:t>
            </a:r>
            <a:r>
              <a:rPr sz="1200" spc="-10">
                <a:latin typeface="Calibri" panose="020F0502020204030204"/>
                <a:cs typeface="Calibri" panose="020F0502020204030204"/>
              </a:rPr>
              <a:t>unde</a:t>
            </a:r>
            <a:r>
              <a:rPr sz="1200" spc="-15">
                <a:latin typeface="Calibri" panose="020F0502020204030204"/>
                <a:cs typeface="Calibri" panose="020F0502020204030204"/>
              </a:rPr>
              <a:t>ra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spc="-15">
                <a:latin typeface="Calibri" panose="020F0502020204030204"/>
                <a:cs typeface="Calibri" panose="020F0502020204030204"/>
              </a:rPr>
              <a:t>a</a:t>
            </a:r>
            <a:r>
              <a:rPr sz="1200">
                <a:latin typeface="Calibri" panose="020F0502020204030204"/>
                <a:cs typeface="Calibri" panose="020F0502020204030204"/>
              </a:rPr>
              <a:t>d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4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500003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2021" y="6321348"/>
            <a:ext cx="1077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99891-21094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5306CFCD34E84FB9AF5E894D6C3073" ma:contentTypeVersion="14" ma:contentTypeDescription="Create a new document." ma:contentTypeScope="" ma:versionID="2f773f5274a411c36a13d712746532c4">
  <xsd:schema xmlns:xsd="http://www.w3.org/2001/XMLSchema" xmlns:xs="http://www.w3.org/2001/XMLSchema" xmlns:p="http://schemas.microsoft.com/office/2006/metadata/properties" xmlns:ns3="944e8e7f-c586-4da5-b625-25ca602de198" xmlns:ns4="09882c4c-98d3-42d4-9fa4-9b997bf31c9f" targetNamespace="http://schemas.microsoft.com/office/2006/metadata/properties" ma:root="true" ma:fieldsID="fe7d79485c4578d231ee9735e9a8c86a" ns3:_="" ns4:_="">
    <xsd:import namespace="944e8e7f-c586-4da5-b625-25ca602de198"/>
    <xsd:import namespace="09882c4c-98d3-42d4-9fa4-9b997bf31c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e8e7f-c586-4da5-b625-25ca602de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82c4c-98d3-42d4-9fa4-9b997bf31c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4e8e7f-c586-4da5-b625-25ca602de198" xsi:nil="true"/>
  </documentManagement>
</p:properties>
</file>

<file path=customXml/itemProps1.xml><?xml version="1.0" encoding="utf-8"?>
<ds:datastoreItem xmlns:ds="http://schemas.openxmlformats.org/officeDocument/2006/customXml" ds:itemID="{A1DF5F45-434B-4C51-AE99-29B5FA6DBA9E}">
  <ds:schemaRefs>
    <ds:schemaRef ds:uri="09882c4c-98d3-42d4-9fa4-9b997bf31c9f"/>
    <ds:schemaRef ds:uri="944e8e7f-c586-4da5-b625-25ca602de1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2A7700-D0B7-47B9-AE21-3C3F317AE3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6DB5ED-6937-4BC3-BCC6-8A103A480F64}">
  <ds:schemaRefs>
    <ds:schemaRef ds:uri="09882c4c-98d3-42d4-9fa4-9b997bf31c9f"/>
    <ds:schemaRef ds:uri="944e8e7f-c586-4da5-b625-25ca602de19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295</Words>
  <Application>Microsoft Office PowerPoint</Application>
  <PresentationFormat>On-screen Show (4:3)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 MT</vt:lpstr>
      <vt:lpstr>Calibri</vt:lpstr>
      <vt:lpstr>Office Theme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MService</dc:title>
  <dc:subject>Overview</dc:subject>
  <dc:creator>Chak</dc:creator>
  <cp:lastModifiedBy>Aswin R</cp:lastModifiedBy>
  <cp:revision>6</cp:revision>
  <dcterms:created xsi:type="dcterms:W3CDTF">2024-03-14T07:43:00Z</dcterms:created>
  <dcterms:modified xsi:type="dcterms:W3CDTF">2025-09-02T05:34:58Z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2024-02-24T05:30:00Z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2024-03-14T05:30:00Z</vt:filetime>
  </property>
  <property fmtid="{D5CDD505-2E9C-101B-9397-08002B2CF9AE}" pid="5" name="ICV">
    <vt:lpwstr>8095A703FF644F2FADEED5D7B10CAF49_13</vt:lpwstr>
  </property>
  <property fmtid="{D5CDD505-2E9C-101B-9397-08002B2CF9AE}" pid="6" name="KSOProductBuildVer">
    <vt:lpwstr>1033-12.2.0.16731</vt:lpwstr>
  </property>
  <property fmtid="{D5CDD505-2E9C-101B-9397-08002B2CF9AE}" pid="7" name="ContentTypeId">
    <vt:lpwstr>0x010100785306CFCD34E84FB9AF5E894D6C3073</vt:lpwstr>
  </property>
</Properties>
</file>