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49" r:id="rId1"/>
    <p:sldMasterId id="2147485263" r:id="rId2"/>
  </p:sldMasterIdLst>
  <p:notesMasterIdLst>
    <p:notesMasterId r:id="rId35"/>
  </p:notesMasterIdLst>
  <p:sldIdLst>
    <p:sldId id="632" r:id="rId3"/>
    <p:sldId id="615" r:id="rId4"/>
    <p:sldId id="617" r:id="rId5"/>
    <p:sldId id="655" r:id="rId6"/>
    <p:sldId id="654" r:id="rId7"/>
    <p:sldId id="616" r:id="rId8"/>
    <p:sldId id="659" r:id="rId9"/>
    <p:sldId id="660" r:id="rId10"/>
    <p:sldId id="661" r:id="rId11"/>
    <p:sldId id="633" r:id="rId12"/>
    <p:sldId id="668" r:id="rId13"/>
    <p:sldId id="669" r:id="rId14"/>
    <p:sldId id="591" r:id="rId15"/>
    <p:sldId id="628" r:id="rId16"/>
    <p:sldId id="629" r:id="rId17"/>
    <p:sldId id="683" r:id="rId18"/>
    <p:sldId id="686" r:id="rId19"/>
    <p:sldId id="687" r:id="rId20"/>
    <p:sldId id="688" r:id="rId21"/>
    <p:sldId id="690" r:id="rId22"/>
    <p:sldId id="691" r:id="rId23"/>
    <p:sldId id="692" r:id="rId24"/>
    <p:sldId id="693" r:id="rId25"/>
    <p:sldId id="694" r:id="rId26"/>
    <p:sldId id="695" r:id="rId27"/>
    <p:sldId id="696" r:id="rId28"/>
    <p:sldId id="697" r:id="rId29"/>
    <p:sldId id="698" r:id="rId30"/>
    <p:sldId id="699" r:id="rId31"/>
    <p:sldId id="700" r:id="rId32"/>
    <p:sldId id="701" r:id="rId33"/>
    <p:sldId id="631" r:id="rId34"/>
  </p:sldIdLst>
  <p:sldSz cx="9144000" cy="6858000" type="screen4x3"/>
  <p:notesSz cx="6858000" cy="9144000"/>
  <p:defaultTex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1" clrIdx="0">
    <p:extLst>
      <p:ext uri="{19B8F6BF-5375-455C-9EA6-DF929625EA0E}">
        <p15:presenceInfo xmlns:p15="http://schemas.microsoft.com/office/powerpoint/2012/main" userId="P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4912"/>
    <a:srgbClr val="7EC234"/>
    <a:srgbClr val="FFFF99"/>
    <a:srgbClr val="FF6A47"/>
    <a:srgbClr val="FF9B09"/>
    <a:srgbClr val="17D0F5"/>
    <a:srgbClr val="38C1D4"/>
    <a:srgbClr val="F7940F"/>
    <a:srgbClr val="E4FA44"/>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775E63-E84D-4599-6F5C-1A8FE4DD5C81}" v="613" dt="2025-08-12T12:11:28.780"/>
    <p1510:client id="{A47DD0AC-35F8-B986-3518-F0C2218B9BE1}" v="184" dt="2025-08-12T16:43:01.612"/>
    <p1510:client id="{D8E87064-2C27-B0DF-27BF-1DAB10B48018}" v="651" dt="2025-08-12T11:10:51.004"/>
    <p1510:client id="{DC61EA51-20BB-87B8-CABC-D53515337459}" v="448" dt="2025-08-12T14:03:02.9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B59535-5F3D-42F0-B00D-7D51A1883E05}"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n-US"/>
        </a:p>
      </dgm:t>
    </dgm:pt>
    <dgm:pt modelId="{DCD00254-1BED-410E-8226-904289C20C70}">
      <dgm:prSet phldrT="[Text]" custT="1"/>
      <dgm:spPr>
        <a:solidFill>
          <a:srgbClr val="F7940F">
            <a:alpha val="50000"/>
          </a:srgbClr>
        </a:solidFill>
        <a:ln w="57150">
          <a:solidFill>
            <a:srgbClr val="00B0F0"/>
          </a:solidFill>
          <a:prstDash val="sysDot"/>
        </a:ln>
      </dgm:spPr>
      <dgm:t>
        <a:bodyPr/>
        <a:lstStyle/>
        <a:p>
          <a:r>
            <a:rPr lang="en-US" sz="2000" b="1"/>
            <a:t>MService</a:t>
          </a:r>
        </a:p>
      </dgm:t>
    </dgm:pt>
    <dgm:pt modelId="{71D476B8-DDEC-4913-9F2A-1F3CE82A9FBE}" type="parTrans" cxnId="{AB974F48-5C78-4D22-A5DA-C6A21F3170F1}">
      <dgm:prSet/>
      <dgm:spPr/>
      <dgm:t>
        <a:bodyPr/>
        <a:lstStyle/>
        <a:p>
          <a:endParaRPr lang="en-US" sz="1600"/>
        </a:p>
      </dgm:t>
    </dgm:pt>
    <dgm:pt modelId="{7A15E238-B4A8-4576-B001-2BD25BB5F883}" type="sibTrans" cxnId="{AB974F48-5C78-4D22-A5DA-C6A21F3170F1}">
      <dgm:prSet/>
      <dgm:spPr/>
      <dgm:t>
        <a:bodyPr/>
        <a:lstStyle/>
        <a:p>
          <a:endParaRPr lang="en-US" sz="1600"/>
        </a:p>
      </dgm:t>
    </dgm:pt>
    <dgm:pt modelId="{43A0E388-B2E7-4CED-B225-51E35D518393}">
      <dgm:prSet phldrT="[Text]" custT="1"/>
      <dgm:spPr>
        <a:solidFill>
          <a:srgbClr val="92D050"/>
        </a:solidFill>
        <a:ln>
          <a:noFill/>
          <a:prstDash val="solid"/>
        </a:ln>
      </dgm:spPr>
      <dgm:t>
        <a:bodyPr/>
        <a:lstStyle/>
        <a:p>
          <a:r>
            <a:rPr lang="en-US" sz="1300"/>
            <a:t>Service</a:t>
          </a:r>
        </a:p>
      </dgm:t>
    </dgm:pt>
    <dgm:pt modelId="{531AF0D6-3A40-484C-9BC1-FB3246F080CE}" type="parTrans" cxnId="{BC0EF010-6376-4F01-A32F-8DE800CCF6BE}">
      <dgm:prSet/>
      <dgm:spPr/>
      <dgm:t>
        <a:bodyPr/>
        <a:lstStyle/>
        <a:p>
          <a:endParaRPr lang="en-US" sz="1600"/>
        </a:p>
      </dgm:t>
    </dgm:pt>
    <dgm:pt modelId="{CF897E1C-2A85-412C-AC25-7C80D84E55DC}" type="sibTrans" cxnId="{BC0EF010-6376-4F01-A32F-8DE800CCF6BE}">
      <dgm:prSet/>
      <dgm:spPr/>
      <dgm:t>
        <a:bodyPr/>
        <a:lstStyle/>
        <a:p>
          <a:endParaRPr lang="en-US" sz="1600"/>
        </a:p>
      </dgm:t>
    </dgm:pt>
    <dgm:pt modelId="{D073BC6D-4D0E-483C-AD81-73021BCAD1EB}">
      <dgm:prSet phldrT="[Text]" custT="1"/>
      <dgm:spPr>
        <a:solidFill>
          <a:srgbClr val="92D050"/>
        </a:solidFill>
        <a:ln>
          <a:noFill/>
          <a:prstDash val="solid"/>
        </a:ln>
      </dgm:spPr>
      <dgm:t>
        <a:bodyPr/>
        <a:lstStyle/>
        <a:p>
          <a:r>
            <a:rPr lang="en-US" sz="1300"/>
            <a:t>Labor Claim</a:t>
          </a:r>
        </a:p>
      </dgm:t>
    </dgm:pt>
    <dgm:pt modelId="{989C96FA-E4D5-4662-AE05-181DBD2D64A9}" type="parTrans" cxnId="{390C5FFB-EC76-4319-BFC1-DB55E5676CD1}">
      <dgm:prSet/>
      <dgm:spPr/>
      <dgm:t>
        <a:bodyPr/>
        <a:lstStyle/>
        <a:p>
          <a:endParaRPr lang="en-US" sz="1600"/>
        </a:p>
      </dgm:t>
    </dgm:pt>
    <dgm:pt modelId="{468D88F0-8D56-4C71-AF78-3144BD17A9A4}" type="sibTrans" cxnId="{390C5FFB-EC76-4319-BFC1-DB55E5676CD1}">
      <dgm:prSet/>
      <dgm:spPr/>
      <dgm:t>
        <a:bodyPr/>
        <a:lstStyle/>
        <a:p>
          <a:endParaRPr lang="en-US" sz="1600"/>
        </a:p>
      </dgm:t>
    </dgm:pt>
    <dgm:pt modelId="{90AE8532-49B5-47BA-A5D6-2FD77276AB0E}">
      <dgm:prSet phldrT="[Text]" custT="1"/>
      <dgm:spPr>
        <a:solidFill>
          <a:srgbClr val="92D050"/>
        </a:solidFill>
        <a:ln>
          <a:noFill/>
          <a:prstDash val="solid"/>
        </a:ln>
      </dgm:spPr>
      <dgm:t>
        <a:bodyPr/>
        <a:lstStyle/>
        <a:p>
          <a:r>
            <a:rPr lang="en-US" sz="1300"/>
            <a:t>Quotation</a:t>
          </a:r>
        </a:p>
      </dgm:t>
    </dgm:pt>
    <dgm:pt modelId="{2D8F0002-9705-4028-96FA-255DE2892987}" type="parTrans" cxnId="{C959AF16-A4C2-43C3-B96C-5C64CCA9AD07}">
      <dgm:prSet/>
      <dgm:spPr/>
      <dgm:t>
        <a:bodyPr/>
        <a:lstStyle/>
        <a:p>
          <a:endParaRPr lang="en-US" sz="1600"/>
        </a:p>
      </dgm:t>
    </dgm:pt>
    <dgm:pt modelId="{37085253-7F88-4CE8-BA52-6A43CE20285D}" type="sibTrans" cxnId="{C959AF16-A4C2-43C3-B96C-5C64CCA9AD07}">
      <dgm:prSet/>
      <dgm:spPr/>
      <dgm:t>
        <a:bodyPr/>
        <a:lstStyle/>
        <a:p>
          <a:endParaRPr lang="en-US" sz="1600"/>
        </a:p>
      </dgm:t>
    </dgm:pt>
    <dgm:pt modelId="{26CE9D8E-6836-4BEE-9AF1-AB0678E7EFF8}">
      <dgm:prSet phldrT="[Text]" custT="1"/>
      <dgm:spPr>
        <a:solidFill>
          <a:srgbClr val="92D050"/>
        </a:solidFill>
        <a:ln w="19050">
          <a:noFill/>
          <a:prstDash val="solid"/>
        </a:ln>
      </dgm:spPr>
      <dgm:t>
        <a:bodyPr/>
        <a:lstStyle/>
        <a:p>
          <a:r>
            <a:rPr lang="en-US" sz="1300"/>
            <a:t>Sales Invoicing</a:t>
          </a:r>
        </a:p>
      </dgm:t>
    </dgm:pt>
    <dgm:pt modelId="{033A841F-3D15-4D85-8A84-313F16D8E5A6}" type="parTrans" cxnId="{77C6C22A-EC0D-4990-BF3D-FD4A8151CDE5}">
      <dgm:prSet/>
      <dgm:spPr/>
      <dgm:t>
        <a:bodyPr/>
        <a:lstStyle/>
        <a:p>
          <a:endParaRPr lang="en-US" sz="1600"/>
        </a:p>
      </dgm:t>
    </dgm:pt>
    <dgm:pt modelId="{232F1DF2-0CA9-4B2F-9D61-CEC9AA64A78A}" type="sibTrans" cxnId="{77C6C22A-EC0D-4990-BF3D-FD4A8151CDE5}">
      <dgm:prSet/>
      <dgm:spPr/>
      <dgm:t>
        <a:bodyPr/>
        <a:lstStyle/>
        <a:p>
          <a:endParaRPr lang="en-US" sz="1600"/>
        </a:p>
      </dgm:t>
    </dgm:pt>
    <dgm:pt modelId="{B2F02644-40C5-4101-AC8E-3B13E462E3DF}">
      <dgm:prSet phldrT="[Text]" custT="1"/>
      <dgm:spPr>
        <a:solidFill>
          <a:srgbClr val="92D050"/>
        </a:solidFill>
        <a:ln w="19050">
          <a:noFill/>
          <a:prstDash val="solid"/>
        </a:ln>
      </dgm:spPr>
      <dgm:t>
        <a:bodyPr/>
        <a:lstStyle/>
        <a:p>
          <a:r>
            <a:rPr lang="en-US" sz="1300"/>
            <a:t>Inventory</a:t>
          </a:r>
        </a:p>
      </dgm:t>
    </dgm:pt>
    <dgm:pt modelId="{8C001EF2-3723-4521-9985-FBE067D9695F}" type="parTrans" cxnId="{5B1ED15F-84FC-4D96-AD2E-2408FCEE77ED}">
      <dgm:prSet/>
      <dgm:spPr/>
      <dgm:t>
        <a:bodyPr/>
        <a:lstStyle/>
        <a:p>
          <a:endParaRPr lang="en-US" sz="1600"/>
        </a:p>
      </dgm:t>
    </dgm:pt>
    <dgm:pt modelId="{927B29D0-387A-4216-B949-35701D33FFA7}" type="sibTrans" cxnId="{5B1ED15F-84FC-4D96-AD2E-2408FCEE77ED}">
      <dgm:prSet/>
      <dgm:spPr/>
      <dgm:t>
        <a:bodyPr/>
        <a:lstStyle/>
        <a:p>
          <a:endParaRPr lang="en-US" sz="1600"/>
        </a:p>
      </dgm:t>
    </dgm:pt>
    <dgm:pt modelId="{D4FA9841-2541-482A-A039-25BC24418875}">
      <dgm:prSet phldrT="[Text]" custT="1"/>
      <dgm:spPr>
        <a:solidFill>
          <a:srgbClr val="92D050"/>
        </a:solidFill>
        <a:ln>
          <a:noFill/>
          <a:prstDash val="solid"/>
        </a:ln>
      </dgm:spPr>
      <dgm:t>
        <a:bodyPr/>
        <a:lstStyle/>
        <a:p>
          <a:r>
            <a:rPr lang="en-US" sz="1300"/>
            <a:t>Customer Feedback</a:t>
          </a:r>
        </a:p>
      </dgm:t>
    </dgm:pt>
    <dgm:pt modelId="{FDE88499-A240-459B-A21B-0528352DC68E}" type="parTrans" cxnId="{4D1B7611-DCEA-4DC1-A19C-AA8C52B11D5D}">
      <dgm:prSet/>
      <dgm:spPr/>
      <dgm:t>
        <a:bodyPr/>
        <a:lstStyle/>
        <a:p>
          <a:endParaRPr lang="en-US" sz="2400"/>
        </a:p>
      </dgm:t>
    </dgm:pt>
    <dgm:pt modelId="{4E5D1A7E-31B7-4E86-A1D6-C82BF6844C33}" type="sibTrans" cxnId="{4D1B7611-DCEA-4DC1-A19C-AA8C52B11D5D}">
      <dgm:prSet/>
      <dgm:spPr/>
      <dgm:t>
        <a:bodyPr/>
        <a:lstStyle/>
        <a:p>
          <a:endParaRPr lang="en-US" sz="2400"/>
        </a:p>
      </dgm:t>
    </dgm:pt>
    <dgm:pt modelId="{5ED28E8E-DF1E-4D0E-BC5A-3471B7BB990F}">
      <dgm:prSet phldrT="[Text]" custT="1"/>
      <dgm:spPr>
        <a:solidFill>
          <a:srgbClr val="92D050"/>
        </a:solidFill>
        <a:ln>
          <a:noFill/>
          <a:prstDash val="solid"/>
        </a:ln>
      </dgm:spPr>
      <dgm:t>
        <a:bodyPr/>
        <a:lstStyle/>
        <a:p>
          <a:r>
            <a:rPr lang="en-US" sz="1300"/>
            <a:t>Prospect Visit</a:t>
          </a:r>
        </a:p>
      </dgm:t>
    </dgm:pt>
    <dgm:pt modelId="{C1FCD34C-6AA5-4925-BA41-1082ADC865E4}" type="parTrans" cxnId="{0FABFA78-0980-4AFE-811D-824460B9D2C3}">
      <dgm:prSet/>
      <dgm:spPr/>
      <dgm:t>
        <a:bodyPr/>
        <a:lstStyle/>
        <a:p>
          <a:endParaRPr lang="en-US"/>
        </a:p>
      </dgm:t>
    </dgm:pt>
    <dgm:pt modelId="{82B7BD69-7027-4937-8892-6912DFD9B7AF}" type="sibTrans" cxnId="{0FABFA78-0980-4AFE-811D-824460B9D2C3}">
      <dgm:prSet/>
      <dgm:spPr/>
      <dgm:t>
        <a:bodyPr/>
        <a:lstStyle/>
        <a:p>
          <a:endParaRPr lang="en-US"/>
        </a:p>
      </dgm:t>
    </dgm:pt>
    <dgm:pt modelId="{6B4CA3F0-EC3D-4488-A2FA-758182F49E41}">
      <dgm:prSet phldrT="[Text]" custT="1"/>
      <dgm:spPr>
        <a:solidFill>
          <a:srgbClr val="92D050"/>
        </a:solidFill>
        <a:ln>
          <a:noFill/>
          <a:prstDash val="solid"/>
        </a:ln>
      </dgm:spPr>
      <dgm:t>
        <a:bodyPr/>
        <a:lstStyle/>
        <a:p>
          <a:r>
            <a:rPr lang="en-US" sz="1300"/>
            <a:t>Parts Enquiry</a:t>
          </a:r>
        </a:p>
      </dgm:t>
    </dgm:pt>
    <dgm:pt modelId="{0C0FA581-C1C4-4C05-B50C-07D27785061E}" type="parTrans" cxnId="{1C457F83-E682-471B-87AB-57EA29F35E2C}">
      <dgm:prSet/>
      <dgm:spPr/>
      <dgm:t>
        <a:bodyPr/>
        <a:lstStyle/>
        <a:p>
          <a:endParaRPr lang="en-US"/>
        </a:p>
      </dgm:t>
    </dgm:pt>
    <dgm:pt modelId="{E3E1FF23-AB38-4F1C-9B5A-C1D1E021F6B0}" type="sibTrans" cxnId="{1C457F83-E682-471B-87AB-57EA29F35E2C}">
      <dgm:prSet/>
      <dgm:spPr/>
      <dgm:t>
        <a:bodyPr/>
        <a:lstStyle/>
        <a:p>
          <a:endParaRPr lang="en-US"/>
        </a:p>
      </dgm:t>
    </dgm:pt>
    <dgm:pt modelId="{D3BB7AE0-FA1A-4194-A221-7B1757482A31}">
      <dgm:prSet phldrT="[Text]" custT="1"/>
      <dgm:spPr>
        <a:solidFill>
          <a:srgbClr val="92D050"/>
        </a:solidFill>
        <a:ln w="19050">
          <a:noFill/>
          <a:prstDash val="solid"/>
        </a:ln>
      </dgm:spPr>
      <dgm:t>
        <a:bodyPr/>
        <a:lstStyle/>
        <a:p>
          <a:r>
            <a:rPr lang="en-US" sz="1300"/>
            <a:t>Parts Ordering</a:t>
          </a:r>
        </a:p>
      </dgm:t>
    </dgm:pt>
    <dgm:pt modelId="{CF4E8F8B-54EA-4B36-B58B-BEBE23026488}" type="parTrans" cxnId="{DD8CD27B-4B24-4AA7-8E22-BDA30DC8B7A0}">
      <dgm:prSet/>
      <dgm:spPr/>
      <dgm:t>
        <a:bodyPr/>
        <a:lstStyle/>
        <a:p>
          <a:endParaRPr lang="en-US"/>
        </a:p>
      </dgm:t>
    </dgm:pt>
    <dgm:pt modelId="{B78013AB-4DEA-482A-A8AA-57528DC965A4}" type="sibTrans" cxnId="{DD8CD27B-4B24-4AA7-8E22-BDA30DC8B7A0}">
      <dgm:prSet/>
      <dgm:spPr/>
      <dgm:t>
        <a:bodyPr/>
        <a:lstStyle/>
        <a:p>
          <a:endParaRPr lang="en-US"/>
        </a:p>
      </dgm:t>
    </dgm:pt>
    <dgm:pt modelId="{D6112127-CE9F-4A6B-A801-C7626A79D5B9}">
      <dgm:prSet phldrT="[Text]" custT="1"/>
      <dgm:spPr>
        <a:solidFill>
          <a:srgbClr val="92D050"/>
        </a:solidFill>
        <a:ln>
          <a:noFill/>
          <a:prstDash val="solid"/>
        </a:ln>
      </dgm:spPr>
      <dgm:t>
        <a:bodyPr/>
        <a:lstStyle/>
        <a:p>
          <a:r>
            <a:rPr lang="en-US" sz="1300"/>
            <a:t>Parts Warranty Claim</a:t>
          </a:r>
        </a:p>
      </dgm:t>
    </dgm:pt>
    <dgm:pt modelId="{C497A935-70CE-4CAD-B107-B54AA9D633E6}" type="parTrans" cxnId="{7C34C433-E1EC-4480-8DF9-DEEB49629FB6}">
      <dgm:prSet/>
      <dgm:spPr/>
      <dgm:t>
        <a:bodyPr/>
        <a:lstStyle/>
        <a:p>
          <a:endParaRPr lang="en-US"/>
        </a:p>
      </dgm:t>
    </dgm:pt>
    <dgm:pt modelId="{2169BF08-B768-4F5A-8EAA-C0CFDFDA2EEE}" type="sibTrans" cxnId="{7C34C433-E1EC-4480-8DF9-DEEB49629FB6}">
      <dgm:prSet/>
      <dgm:spPr/>
      <dgm:t>
        <a:bodyPr/>
        <a:lstStyle/>
        <a:p>
          <a:endParaRPr lang="en-US"/>
        </a:p>
      </dgm:t>
    </dgm:pt>
    <dgm:pt modelId="{B2CAEDDB-F56C-4167-9B7D-88517EB8BC4F}">
      <dgm:prSet phldrT="[Text]" custT="1"/>
      <dgm:spPr>
        <a:solidFill>
          <a:srgbClr val="92D050"/>
        </a:solidFill>
        <a:ln>
          <a:noFill/>
          <a:prstDash val="solid"/>
        </a:ln>
      </dgm:spPr>
      <dgm:t>
        <a:bodyPr/>
        <a:lstStyle/>
        <a:p>
          <a:r>
            <a:rPr lang="en-US" sz="1250"/>
            <a:t>Equipment Enquiry</a:t>
          </a:r>
        </a:p>
      </dgm:t>
    </dgm:pt>
    <dgm:pt modelId="{05F4DFB0-6388-4AF3-BBA0-D6F692D29450}" type="parTrans" cxnId="{A456B8E6-42F2-4E6C-9384-57014E1AE26D}">
      <dgm:prSet/>
      <dgm:spPr/>
      <dgm:t>
        <a:bodyPr/>
        <a:lstStyle/>
        <a:p>
          <a:endParaRPr lang="en-US"/>
        </a:p>
      </dgm:t>
    </dgm:pt>
    <dgm:pt modelId="{9C83E11B-00C3-4AC6-8455-CF671DAE869C}" type="sibTrans" cxnId="{A456B8E6-42F2-4E6C-9384-57014E1AE26D}">
      <dgm:prSet/>
      <dgm:spPr/>
      <dgm:t>
        <a:bodyPr/>
        <a:lstStyle/>
        <a:p>
          <a:endParaRPr lang="en-US"/>
        </a:p>
      </dgm:t>
    </dgm:pt>
    <dgm:pt modelId="{07682AFE-36D0-4853-8D8C-433C490E4964}">
      <dgm:prSet phldrT="[Text]" custT="1"/>
      <dgm:spPr>
        <a:solidFill>
          <a:srgbClr val="92D050"/>
        </a:solidFill>
        <a:ln>
          <a:noFill/>
          <a:prstDash val="solid"/>
        </a:ln>
      </dgm:spPr>
      <dgm:t>
        <a:bodyPr/>
        <a:lstStyle/>
        <a:p>
          <a:r>
            <a:rPr lang="en-US" sz="1300"/>
            <a:t>Machine Health</a:t>
          </a:r>
        </a:p>
      </dgm:t>
    </dgm:pt>
    <dgm:pt modelId="{E91E09DE-7329-4B6B-8977-9CE5D5122E9A}" type="parTrans" cxnId="{9E136A2D-D667-4B9A-B5F5-CB5543A46B5F}">
      <dgm:prSet/>
      <dgm:spPr/>
      <dgm:t>
        <a:bodyPr/>
        <a:lstStyle/>
        <a:p>
          <a:endParaRPr lang="en-IN"/>
        </a:p>
      </dgm:t>
    </dgm:pt>
    <dgm:pt modelId="{86E21B5E-D4B0-495F-9479-2C39E59F908F}" type="sibTrans" cxnId="{9E136A2D-D667-4B9A-B5F5-CB5543A46B5F}">
      <dgm:prSet/>
      <dgm:spPr/>
      <dgm:t>
        <a:bodyPr/>
        <a:lstStyle/>
        <a:p>
          <a:endParaRPr lang="en-IN"/>
        </a:p>
      </dgm:t>
    </dgm:pt>
    <dgm:pt modelId="{A4CC89BF-C54F-4FA6-9F16-4180D83F16E5}">
      <dgm:prSet phldrT="[Text]"/>
      <dgm:spPr>
        <a:solidFill>
          <a:srgbClr val="92D050"/>
        </a:solidFill>
        <a:ln w="19050">
          <a:noFill/>
          <a:prstDash val="solid"/>
        </a:ln>
      </dgm:spPr>
      <dgm:t>
        <a:bodyPr/>
        <a:lstStyle/>
        <a:p>
          <a:endParaRPr lang="en-US" sz="1300"/>
        </a:p>
      </dgm:t>
    </dgm:pt>
    <dgm:pt modelId="{87349D85-41AE-41BE-AAA6-497E81D1E70A}" type="parTrans" cxnId="{D567F967-7F0D-4227-B9D7-55D599255572}">
      <dgm:prSet/>
      <dgm:spPr/>
      <dgm:t>
        <a:bodyPr/>
        <a:lstStyle/>
        <a:p>
          <a:endParaRPr lang="en-US"/>
        </a:p>
      </dgm:t>
    </dgm:pt>
    <dgm:pt modelId="{02B35009-C5CC-413E-BBD8-206C3B65F652}" type="sibTrans" cxnId="{D567F967-7F0D-4227-B9D7-55D599255572}">
      <dgm:prSet/>
      <dgm:spPr/>
      <dgm:t>
        <a:bodyPr/>
        <a:lstStyle/>
        <a:p>
          <a:endParaRPr lang="en-US"/>
        </a:p>
      </dgm:t>
    </dgm:pt>
    <dgm:pt modelId="{87A808EB-7D1E-42D8-8BCF-F3264610B78C}">
      <dgm:prSet phldrT="[Text]" custT="1"/>
      <dgm:spPr>
        <a:solidFill>
          <a:srgbClr val="92D050"/>
        </a:solidFill>
        <a:ln w="19050">
          <a:noFill/>
          <a:prstDash val="solid"/>
        </a:ln>
      </dgm:spPr>
      <dgm:t>
        <a:bodyPr/>
        <a:lstStyle/>
        <a:p>
          <a:r>
            <a:rPr lang="en-US" sz="1300"/>
            <a:t>Payment collection </a:t>
          </a:r>
        </a:p>
      </dgm:t>
    </dgm:pt>
    <dgm:pt modelId="{6E58AA2B-80C7-4780-AEC6-B16A2D2BD428}" type="parTrans" cxnId="{F672F5A3-3AEF-4C0C-8379-3E5D6BA92A6E}">
      <dgm:prSet/>
      <dgm:spPr/>
      <dgm:t>
        <a:bodyPr/>
        <a:lstStyle/>
        <a:p>
          <a:endParaRPr lang="en-US"/>
        </a:p>
      </dgm:t>
    </dgm:pt>
    <dgm:pt modelId="{086C748F-AD16-4AEB-860C-3A9976DE81A0}" type="sibTrans" cxnId="{F672F5A3-3AEF-4C0C-8379-3E5D6BA92A6E}">
      <dgm:prSet/>
      <dgm:spPr/>
      <dgm:t>
        <a:bodyPr/>
        <a:lstStyle/>
        <a:p>
          <a:endParaRPr lang="en-US"/>
        </a:p>
      </dgm:t>
    </dgm:pt>
    <dgm:pt modelId="{3DC64E6E-F603-43A1-8E11-05B1B5EA55BF}">
      <dgm:prSet phldrT="[Text]" custT="1"/>
      <dgm:spPr>
        <a:solidFill>
          <a:srgbClr val="92D050"/>
        </a:solidFill>
        <a:ln w="19050">
          <a:noFill/>
          <a:prstDash val="solid"/>
        </a:ln>
      </dgm:spPr>
      <dgm:t>
        <a:bodyPr/>
        <a:lstStyle/>
        <a:p>
          <a:r>
            <a:rPr lang="en-US" sz="1250"/>
            <a:t>Debit &amp; Credit notes Adj</a:t>
          </a:r>
        </a:p>
      </dgm:t>
    </dgm:pt>
    <dgm:pt modelId="{AAD177C7-0CF6-4BDF-8291-4E51530AD201}" type="parTrans" cxnId="{B6678D80-F048-4BB8-B160-2EFBB3BF3E85}">
      <dgm:prSet/>
      <dgm:spPr/>
      <dgm:t>
        <a:bodyPr/>
        <a:lstStyle/>
        <a:p>
          <a:endParaRPr lang="en-US"/>
        </a:p>
      </dgm:t>
    </dgm:pt>
    <dgm:pt modelId="{85020A1A-BBC9-4EE5-9BCA-7EB33901F1ED}" type="sibTrans" cxnId="{B6678D80-F048-4BB8-B160-2EFBB3BF3E85}">
      <dgm:prSet/>
      <dgm:spPr/>
      <dgm:t>
        <a:bodyPr/>
        <a:lstStyle/>
        <a:p>
          <a:endParaRPr lang="en-US"/>
        </a:p>
      </dgm:t>
    </dgm:pt>
    <dgm:pt modelId="{8F4108D5-A5CD-4AA0-9F72-65910B573CBE}">
      <dgm:prSet phldrT="[Text]" custT="1"/>
      <dgm:spPr>
        <a:solidFill>
          <a:srgbClr val="92D050"/>
        </a:solidFill>
        <a:ln>
          <a:noFill/>
          <a:prstDash val="solid"/>
        </a:ln>
      </dgm:spPr>
      <dgm:t>
        <a:bodyPr/>
        <a:lstStyle/>
        <a:p>
          <a:r>
            <a:rPr lang="en-US" sz="1300"/>
            <a:t>TA/DA Claim for  Engineer</a:t>
          </a:r>
        </a:p>
      </dgm:t>
    </dgm:pt>
    <dgm:pt modelId="{8736C95A-BB61-4737-AC88-CB4B2D21B448}" type="parTrans" cxnId="{505986FB-FC79-42B0-BC5D-D245E4024B4F}">
      <dgm:prSet/>
      <dgm:spPr/>
      <dgm:t>
        <a:bodyPr/>
        <a:lstStyle/>
        <a:p>
          <a:endParaRPr lang="en-US"/>
        </a:p>
      </dgm:t>
    </dgm:pt>
    <dgm:pt modelId="{457582C2-CDA9-4C76-AEF5-C714A8853748}" type="sibTrans" cxnId="{505986FB-FC79-42B0-BC5D-D245E4024B4F}">
      <dgm:prSet/>
      <dgm:spPr/>
      <dgm:t>
        <a:bodyPr/>
        <a:lstStyle/>
        <a:p>
          <a:endParaRPr lang="en-US"/>
        </a:p>
      </dgm:t>
    </dgm:pt>
    <dgm:pt modelId="{A350AA72-EFE7-483A-A101-BC1FCC52BB67}">
      <dgm:prSet phldrT="[Text]" custT="1"/>
      <dgm:spPr>
        <a:solidFill>
          <a:srgbClr val="92D050"/>
        </a:solidFill>
        <a:ln>
          <a:noFill/>
          <a:prstDash val="solid"/>
        </a:ln>
      </dgm:spPr>
      <dgm:t>
        <a:bodyPr/>
        <a:lstStyle/>
        <a:p>
          <a:r>
            <a:rPr lang="en-US" sz="1100"/>
            <a:t>Integration</a:t>
          </a:r>
        </a:p>
      </dgm:t>
    </dgm:pt>
    <dgm:pt modelId="{06E8C854-B77E-4F27-B226-D315BC66E2CE}" type="parTrans" cxnId="{21D567E6-D217-4A87-82F9-B24DD67A5B00}">
      <dgm:prSet/>
      <dgm:spPr/>
      <dgm:t>
        <a:bodyPr/>
        <a:lstStyle/>
        <a:p>
          <a:endParaRPr lang="en-US"/>
        </a:p>
      </dgm:t>
    </dgm:pt>
    <dgm:pt modelId="{2FC4FC83-252F-4047-928F-1605F3DB6030}" type="sibTrans" cxnId="{21D567E6-D217-4A87-82F9-B24DD67A5B00}">
      <dgm:prSet/>
      <dgm:spPr/>
      <dgm:t>
        <a:bodyPr/>
        <a:lstStyle/>
        <a:p>
          <a:endParaRPr lang="en-US"/>
        </a:p>
      </dgm:t>
    </dgm:pt>
    <dgm:pt modelId="{E361C6D5-787E-49E4-831E-991E6A8DD2ED}">
      <dgm:prSet phldrT="[Text]"/>
      <dgm:spPr>
        <a:solidFill>
          <a:srgbClr val="92D050"/>
        </a:solidFill>
        <a:ln>
          <a:noFill/>
          <a:prstDash val="solid"/>
        </a:ln>
      </dgm:spPr>
      <dgm:t>
        <a:bodyPr/>
        <a:lstStyle/>
        <a:p>
          <a:r>
            <a:rPr lang="en-US"/>
            <a:t>Knowledge &amp; Collaboration</a:t>
          </a:r>
        </a:p>
      </dgm:t>
    </dgm:pt>
    <dgm:pt modelId="{5853ED7F-C12B-4252-9CEE-B290B4927CE2}" type="parTrans" cxnId="{DB63E4F6-0846-44DA-A861-C116B267DF6A}">
      <dgm:prSet/>
      <dgm:spPr/>
      <dgm:t>
        <a:bodyPr/>
        <a:lstStyle/>
        <a:p>
          <a:endParaRPr lang="en-US"/>
        </a:p>
      </dgm:t>
    </dgm:pt>
    <dgm:pt modelId="{2B0B032B-9AC3-4AD3-B43E-B8433BE35314}" type="sibTrans" cxnId="{DB63E4F6-0846-44DA-A861-C116B267DF6A}">
      <dgm:prSet/>
      <dgm:spPr/>
      <dgm:t>
        <a:bodyPr/>
        <a:lstStyle/>
        <a:p>
          <a:endParaRPr lang="en-US"/>
        </a:p>
      </dgm:t>
    </dgm:pt>
    <dgm:pt modelId="{6DDF160F-50A0-4C43-8A30-F59815BB8D20}" type="pres">
      <dgm:prSet presAssocID="{EFB59535-5F3D-42F0-B00D-7D51A1883E05}" presName="composite" presStyleCnt="0">
        <dgm:presLayoutVars>
          <dgm:chMax val="1"/>
          <dgm:dir/>
          <dgm:resizeHandles val="exact"/>
        </dgm:presLayoutVars>
      </dgm:prSet>
      <dgm:spPr/>
    </dgm:pt>
    <dgm:pt modelId="{C50BD47E-6FF4-47C4-BF55-8D66689A8BD1}" type="pres">
      <dgm:prSet presAssocID="{EFB59535-5F3D-42F0-B00D-7D51A1883E05}" presName="radial" presStyleCnt="0">
        <dgm:presLayoutVars>
          <dgm:animLvl val="ctr"/>
        </dgm:presLayoutVars>
      </dgm:prSet>
      <dgm:spPr/>
    </dgm:pt>
    <dgm:pt modelId="{693DB968-E74A-4298-A1E6-D23C76F9D92F}" type="pres">
      <dgm:prSet presAssocID="{DCD00254-1BED-410E-8226-904289C20C70}" presName="centerShape" presStyleLbl="vennNode1" presStyleIdx="0" presStyleCnt="18"/>
      <dgm:spPr/>
    </dgm:pt>
    <dgm:pt modelId="{09DEFB54-1305-4EC3-A63A-945B0C08F1BE}" type="pres">
      <dgm:prSet presAssocID="{43A0E388-B2E7-4CED-B225-51E35D518393}" presName="node" presStyleLbl="vennNode1" presStyleIdx="1" presStyleCnt="18" custRadScaleRad="105683" custRadScaleInc="-1394">
        <dgm:presLayoutVars>
          <dgm:bulletEnabled val="1"/>
        </dgm:presLayoutVars>
      </dgm:prSet>
      <dgm:spPr/>
    </dgm:pt>
    <dgm:pt modelId="{0C453154-04FB-40D6-9469-C1E89D83B8AE}" type="pres">
      <dgm:prSet presAssocID="{D073BC6D-4D0E-483C-AD81-73021BCAD1EB}" presName="node" presStyleLbl="vennNode1" presStyleIdx="2" presStyleCnt="18">
        <dgm:presLayoutVars>
          <dgm:bulletEnabled val="1"/>
        </dgm:presLayoutVars>
      </dgm:prSet>
      <dgm:spPr/>
    </dgm:pt>
    <dgm:pt modelId="{41F1ACCD-42C2-403E-A6AD-2526A6D9D4E9}" type="pres">
      <dgm:prSet presAssocID="{8F4108D5-A5CD-4AA0-9F72-65910B573CBE}" presName="node" presStyleLbl="vennNode1" presStyleIdx="3" presStyleCnt="18">
        <dgm:presLayoutVars>
          <dgm:bulletEnabled val="1"/>
        </dgm:presLayoutVars>
      </dgm:prSet>
      <dgm:spPr/>
    </dgm:pt>
    <dgm:pt modelId="{2557E03E-67EF-4ABC-B5DA-1F3E02C1DDA3}" type="pres">
      <dgm:prSet presAssocID="{D6112127-CE9F-4A6B-A801-C7626A79D5B9}" presName="node" presStyleLbl="vennNode1" presStyleIdx="4" presStyleCnt="18">
        <dgm:presLayoutVars>
          <dgm:bulletEnabled val="1"/>
        </dgm:presLayoutVars>
      </dgm:prSet>
      <dgm:spPr/>
    </dgm:pt>
    <dgm:pt modelId="{2F5FDE65-775F-46E1-B013-87BF9A682E88}" type="pres">
      <dgm:prSet presAssocID="{5ED28E8E-DF1E-4D0E-BC5A-3471B7BB990F}" presName="node" presStyleLbl="vennNode1" presStyleIdx="5" presStyleCnt="18">
        <dgm:presLayoutVars>
          <dgm:bulletEnabled val="1"/>
        </dgm:presLayoutVars>
      </dgm:prSet>
      <dgm:spPr/>
    </dgm:pt>
    <dgm:pt modelId="{47E47233-2873-4C4C-9C64-B3D71735B3FA}" type="pres">
      <dgm:prSet presAssocID="{B2CAEDDB-F56C-4167-9B7D-88517EB8BC4F}" presName="node" presStyleLbl="vennNode1" presStyleIdx="6" presStyleCnt="18">
        <dgm:presLayoutVars>
          <dgm:bulletEnabled val="1"/>
        </dgm:presLayoutVars>
      </dgm:prSet>
      <dgm:spPr/>
    </dgm:pt>
    <dgm:pt modelId="{8EE06CA4-A85D-474D-85D4-930539F83929}" type="pres">
      <dgm:prSet presAssocID="{6B4CA3F0-EC3D-4488-A2FA-758182F49E41}" presName="node" presStyleLbl="vennNode1" presStyleIdx="7" presStyleCnt="18">
        <dgm:presLayoutVars>
          <dgm:bulletEnabled val="1"/>
        </dgm:presLayoutVars>
      </dgm:prSet>
      <dgm:spPr/>
    </dgm:pt>
    <dgm:pt modelId="{B5B46836-ACAB-4B18-B58B-DBAD0E8CA446}" type="pres">
      <dgm:prSet presAssocID="{90AE8532-49B5-47BA-A5D6-2FD77276AB0E}" presName="node" presStyleLbl="vennNode1" presStyleIdx="8" presStyleCnt="18">
        <dgm:presLayoutVars>
          <dgm:bulletEnabled val="1"/>
        </dgm:presLayoutVars>
      </dgm:prSet>
      <dgm:spPr/>
    </dgm:pt>
    <dgm:pt modelId="{17F65384-F0C2-4200-BDC4-06AAB39D655F}" type="pres">
      <dgm:prSet presAssocID="{26CE9D8E-6836-4BEE-9AF1-AB0678E7EFF8}" presName="node" presStyleLbl="vennNode1" presStyleIdx="9" presStyleCnt="18">
        <dgm:presLayoutVars>
          <dgm:bulletEnabled val="1"/>
        </dgm:presLayoutVars>
      </dgm:prSet>
      <dgm:spPr/>
    </dgm:pt>
    <dgm:pt modelId="{FE4FC55D-6DDA-4A5E-8741-5FEB11C1844F}" type="pres">
      <dgm:prSet presAssocID="{87A808EB-7D1E-42D8-8BCF-F3264610B78C}" presName="node" presStyleLbl="vennNode1" presStyleIdx="10" presStyleCnt="18">
        <dgm:presLayoutVars>
          <dgm:bulletEnabled val="1"/>
        </dgm:presLayoutVars>
      </dgm:prSet>
      <dgm:spPr/>
    </dgm:pt>
    <dgm:pt modelId="{58518C26-EA6F-454E-973D-65D4E0154AF9}" type="pres">
      <dgm:prSet presAssocID="{3DC64E6E-F603-43A1-8E11-05B1B5EA55BF}" presName="node" presStyleLbl="vennNode1" presStyleIdx="11" presStyleCnt="18">
        <dgm:presLayoutVars>
          <dgm:bulletEnabled val="1"/>
        </dgm:presLayoutVars>
      </dgm:prSet>
      <dgm:spPr/>
    </dgm:pt>
    <dgm:pt modelId="{BABF6632-0BEA-4756-A4BE-84E8D61C09E2}" type="pres">
      <dgm:prSet presAssocID="{B2F02644-40C5-4101-AC8E-3B13E462E3DF}" presName="node" presStyleLbl="vennNode1" presStyleIdx="12" presStyleCnt="18">
        <dgm:presLayoutVars>
          <dgm:bulletEnabled val="1"/>
        </dgm:presLayoutVars>
      </dgm:prSet>
      <dgm:spPr/>
    </dgm:pt>
    <dgm:pt modelId="{4BD1CA11-B8DC-4966-9F09-11801AA9C390}" type="pres">
      <dgm:prSet presAssocID="{D3BB7AE0-FA1A-4194-A221-7B1757482A31}" presName="node" presStyleLbl="vennNode1" presStyleIdx="13" presStyleCnt="18">
        <dgm:presLayoutVars>
          <dgm:bulletEnabled val="1"/>
        </dgm:presLayoutVars>
      </dgm:prSet>
      <dgm:spPr/>
    </dgm:pt>
    <dgm:pt modelId="{AD6878DA-956B-4243-9531-02809F3341B2}" type="pres">
      <dgm:prSet presAssocID="{D4FA9841-2541-482A-A039-25BC24418875}" presName="node" presStyleLbl="vennNode1" presStyleIdx="14" presStyleCnt="18">
        <dgm:presLayoutVars>
          <dgm:bulletEnabled val="1"/>
        </dgm:presLayoutVars>
      </dgm:prSet>
      <dgm:spPr/>
    </dgm:pt>
    <dgm:pt modelId="{9FDE39A3-5524-4042-8CE3-403370DFFF6B}" type="pres">
      <dgm:prSet presAssocID="{07682AFE-36D0-4853-8D8C-433C490E4964}" presName="node" presStyleLbl="vennNode1" presStyleIdx="15" presStyleCnt="18">
        <dgm:presLayoutVars>
          <dgm:bulletEnabled val="1"/>
        </dgm:presLayoutVars>
      </dgm:prSet>
      <dgm:spPr/>
    </dgm:pt>
    <dgm:pt modelId="{C39D2F65-72C8-4AA5-A14C-A906EA9B11F5}" type="pres">
      <dgm:prSet presAssocID="{A350AA72-EFE7-483A-A101-BC1FCC52BB67}" presName="node" presStyleLbl="vennNode1" presStyleIdx="16" presStyleCnt="18">
        <dgm:presLayoutVars>
          <dgm:bulletEnabled val="1"/>
        </dgm:presLayoutVars>
      </dgm:prSet>
      <dgm:spPr/>
    </dgm:pt>
    <dgm:pt modelId="{09A57816-F4C4-40B2-9283-A3CBA33F5971}" type="pres">
      <dgm:prSet presAssocID="{E361C6D5-787E-49E4-831E-991E6A8DD2ED}" presName="node" presStyleLbl="vennNode1" presStyleIdx="17" presStyleCnt="18">
        <dgm:presLayoutVars>
          <dgm:bulletEnabled val="1"/>
        </dgm:presLayoutVars>
      </dgm:prSet>
      <dgm:spPr/>
    </dgm:pt>
  </dgm:ptLst>
  <dgm:cxnLst>
    <dgm:cxn modelId="{956F800D-0021-4CDB-9FC6-753B0ED35AC4}" type="presOf" srcId="{3DC64E6E-F603-43A1-8E11-05B1B5EA55BF}" destId="{58518C26-EA6F-454E-973D-65D4E0154AF9}" srcOrd="0" destOrd="0" presId="urn:microsoft.com/office/officeart/2005/8/layout/radial3"/>
    <dgm:cxn modelId="{BC0EF010-6376-4F01-A32F-8DE800CCF6BE}" srcId="{DCD00254-1BED-410E-8226-904289C20C70}" destId="{43A0E388-B2E7-4CED-B225-51E35D518393}" srcOrd="0" destOrd="0" parTransId="{531AF0D6-3A40-484C-9BC1-FB3246F080CE}" sibTransId="{CF897E1C-2A85-412C-AC25-7C80D84E55DC}"/>
    <dgm:cxn modelId="{4D1B7611-DCEA-4DC1-A19C-AA8C52B11D5D}" srcId="{DCD00254-1BED-410E-8226-904289C20C70}" destId="{D4FA9841-2541-482A-A039-25BC24418875}" srcOrd="13" destOrd="0" parTransId="{FDE88499-A240-459B-A21B-0528352DC68E}" sibTransId="{4E5D1A7E-31B7-4E86-A1D6-C82BF6844C33}"/>
    <dgm:cxn modelId="{C959AF16-A4C2-43C3-B96C-5C64CCA9AD07}" srcId="{DCD00254-1BED-410E-8226-904289C20C70}" destId="{90AE8532-49B5-47BA-A5D6-2FD77276AB0E}" srcOrd="7" destOrd="0" parTransId="{2D8F0002-9705-4028-96FA-255DE2892987}" sibTransId="{37085253-7F88-4CE8-BA52-6A43CE20285D}"/>
    <dgm:cxn modelId="{77C6C22A-EC0D-4990-BF3D-FD4A8151CDE5}" srcId="{DCD00254-1BED-410E-8226-904289C20C70}" destId="{26CE9D8E-6836-4BEE-9AF1-AB0678E7EFF8}" srcOrd="8" destOrd="0" parTransId="{033A841F-3D15-4D85-8A84-313F16D8E5A6}" sibTransId="{232F1DF2-0CA9-4B2F-9D61-CEC9AA64A78A}"/>
    <dgm:cxn modelId="{9E136A2D-D667-4B9A-B5F5-CB5543A46B5F}" srcId="{DCD00254-1BED-410E-8226-904289C20C70}" destId="{07682AFE-36D0-4853-8D8C-433C490E4964}" srcOrd="14" destOrd="0" parTransId="{E91E09DE-7329-4B6B-8977-9CE5D5122E9A}" sibTransId="{86E21B5E-D4B0-495F-9479-2C39E59F908F}"/>
    <dgm:cxn modelId="{7C34C433-E1EC-4480-8DF9-DEEB49629FB6}" srcId="{DCD00254-1BED-410E-8226-904289C20C70}" destId="{D6112127-CE9F-4A6B-A801-C7626A79D5B9}" srcOrd="3" destOrd="0" parTransId="{C497A935-70CE-4CAD-B107-B54AA9D633E6}" sibTransId="{2169BF08-B768-4F5A-8EAA-C0CFDFDA2EEE}"/>
    <dgm:cxn modelId="{5B1ED15F-84FC-4D96-AD2E-2408FCEE77ED}" srcId="{DCD00254-1BED-410E-8226-904289C20C70}" destId="{B2F02644-40C5-4101-AC8E-3B13E462E3DF}" srcOrd="11" destOrd="0" parTransId="{8C001EF2-3723-4521-9985-FBE067D9695F}" sibTransId="{927B29D0-387A-4216-B949-35701D33FFA7}"/>
    <dgm:cxn modelId="{D567F967-7F0D-4227-B9D7-55D599255572}" srcId="{EFB59535-5F3D-42F0-B00D-7D51A1883E05}" destId="{A4CC89BF-C54F-4FA6-9F16-4180D83F16E5}" srcOrd="1" destOrd="0" parTransId="{87349D85-41AE-41BE-AAA6-497E81D1E70A}" sibTransId="{02B35009-C5CC-413E-BBD8-206C3B65F652}"/>
    <dgm:cxn modelId="{AB974F48-5C78-4D22-A5DA-C6A21F3170F1}" srcId="{EFB59535-5F3D-42F0-B00D-7D51A1883E05}" destId="{DCD00254-1BED-410E-8226-904289C20C70}" srcOrd="0" destOrd="0" parTransId="{71D476B8-DDEC-4913-9F2A-1F3CE82A9FBE}" sibTransId="{7A15E238-B4A8-4576-B001-2BD25BB5F883}"/>
    <dgm:cxn modelId="{F4427276-705B-4C71-84F0-15F1D790182C}" type="presOf" srcId="{B2CAEDDB-F56C-4167-9B7D-88517EB8BC4F}" destId="{47E47233-2873-4C4C-9C64-B3D71735B3FA}" srcOrd="0" destOrd="0" presId="urn:microsoft.com/office/officeart/2005/8/layout/radial3"/>
    <dgm:cxn modelId="{C622B077-21C5-4B46-8315-1E3FE92AA2BC}" type="presOf" srcId="{EFB59535-5F3D-42F0-B00D-7D51A1883E05}" destId="{6DDF160F-50A0-4C43-8A30-F59815BB8D20}" srcOrd="0" destOrd="0" presId="urn:microsoft.com/office/officeart/2005/8/layout/radial3"/>
    <dgm:cxn modelId="{0FABFA78-0980-4AFE-811D-824460B9D2C3}" srcId="{DCD00254-1BED-410E-8226-904289C20C70}" destId="{5ED28E8E-DF1E-4D0E-BC5A-3471B7BB990F}" srcOrd="4" destOrd="0" parTransId="{C1FCD34C-6AA5-4925-BA41-1082ADC865E4}" sibTransId="{82B7BD69-7027-4937-8892-6912DFD9B7AF}"/>
    <dgm:cxn modelId="{DD8CD27B-4B24-4AA7-8E22-BDA30DC8B7A0}" srcId="{DCD00254-1BED-410E-8226-904289C20C70}" destId="{D3BB7AE0-FA1A-4194-A221-7B1757482A31}" srcOrd="12" destOrd="0" parTransId="{CF4E8F8B-54EA-4B36-B58B-BEBE23026488}" sibTransId="{B78013AB-4DEA-482A-A8AA-57528DC965A4}"/>
    <dgm:cxn modelId="{B6678D80-F048-4BB8-B160-2EFBB3BF3E85}" srcId="{DCD00254-1BED-410E-8226-904289C20C70}" destId="{3DC64E6E-F603-43A1-8E11-05B1B5EA55BF}" srcOrd="10" destOrd="0" parTransId="{AAD177C7-0CF6-4BDF-8291-4E51530AD201}" sibTransId="{85020A1A-BBC9-4EE5-9BCA-7EB33901F1ED}"/>
    <dgm:cxn modelId="{A7B11F82-1A28-4ECF-A34F-B69419160930}" type="presOf" srcId="{43A0E388-B2E7-4CED-B225-51E35D518393}" destId="{09DEFB54-1305-4EC3-A63A-945B0C08F1BE}" srcOrd="0" destOrd="0" presId="urn:microsoft.com/office/officeart/2005/8/layout/radial3"/>
    <dgm:cxn modelId="{1C457F83-E682-471B-87AB-57EA29F35E2C}" srcId="{DCD00254-1BED-410E-8226-904289C20C70}" destId="{6B4CA3F0-EC3D-4488-A2FA-758182F49E41}" srcOrd="6" destOrd="0" parTransId="{0C0FA581-C1C4-4C05-B50C-07D27785061E}" sibTransId="{E3E1FF23-AB38-4F1C-9B5A-C1D1E021F6B0}"/>
    <dgm:cxn modelId="{4FF85A9E-CDCD-4665-9C53-5E6E1953E0F9}" type="presOf" srcId="{DCD00254-1BED-410E-8226-904289C20C70}" destId="{693DB968-E74A-4298-A1E6-D23C76F9D92F}" srcOrd="0" destOrd="0" presId="urn:microsoft.com/office/officeart/2005/8/layout/radial3"/>
    <dgm:cxn modelId="{F672F5A3-3AEF-4C0C-8379-3E5D6BA92A6E}" srcId="{DCD00254-1BED-410E-8226-904289C20C70}" destId="{87A808EB-7D1E-42D8-8BCF-F3264610B78C}" srcOrd="9" destOrd="0" parTransId="{6E58AA2B-80C7-4780-AEC6-B16A2D2BD428}" sibTransId="{086C748F-AD16-4AEB-860C-3A9976DE81A0}"/>
    <dgm:cxn modelId="{BC1A35A8-6869-45C4-B310-62029C8540C4}" type="presOf" srcId="{E361C6D5-787E-49E4-831E-991E6A8DD2ED}" destId="{09A57816-F4C4-40B2-9283-A3CBA33F5971}" srcOrd="0" destOrd="0" presId="urn:microsoft.com/office/officeart/2005/8/layout/radial3"/>
    <dgm:cxn modelId="{9645DCB0-AF63-434B-8EEB-6764A05E3821}" type="presOf" srcId="{D073BC6D-4D0E-483C-AD81-73021BCAD1EB}" destId="{0C453154-04FB-40D6-9469-C1E89D83B8AE}" srcOrd="0" destOrd="0" presId="urn:microsoft.com/office/officeart/2005/8/layout/radial3"/>
    <dgm:cxn modelId="{28D924B2-2A02-4249-BFB8-117F95BEB4A0}" type="presOf" srcId="{8F4108D5-A5CD-4AA0-9F72-65910B573CBE}" destId="{41F1ACCD-42C2-403E-A6AD-2526A6D9D4E9}" srcOrd="0" destOrd="0" presId="urn:microsoft.com/office/officeart/2005/8/layout/radial3"/>
    <dgm:cxn modelId="{5BE1F5B6-754B-4762-8C6F-0F3085CC94CB}" type="presOf" srcId="{A350AA72-EFE7-483A-A101-BC1FCC52BB67}" destId="{C39D2F65-72C8-4AA5-A14C-A906EA9B11F5}" srcOrd="0" destOrd="0" presId="urn:microsoft.com/office/officeart/2005/8/layout/radial3"/>
    <dgm:cxn modelId="{639E61C0-9ACA-419D-BCC3-0BF47923EA88}" type="presOf" srcId="{6B4CA3F0-EC3D-4488-A2FA-758182F49E41}" destId="{8EE06CA4-A85D-474D-85D4-930539F83929}" srcOrd="0" destOrd="0" presId="urn:microsoft.com/office/officeart/2005/8/layout/radial3"/>
    <dgm:cxn modelId="{0C6C4FCD-0A51-4941-A98D-1BB6FBA64AFC}" type="presOf" srcId="{07682AFE-36D0-4853-8D8C-433C490E4964}" destId="{9FDE39A3-5524-4042-8CE3-403370DFFF6B}" srcOrd="0" destOrd="0" presId="urn:microsoft.com/office/officeart/2005/8/layout/radial3"/>
    <dgm:cxn modelId="{96C7E0D1-BFCC-47F4-9ABF-EB99C6449550}" type="presOf" srcId="{87A808EB-7D1E-42D8-8BCF-F3264610B78C}" destId="{FE4FC55D-6DDA-4A5E-8741-5FEB11C1844F}" srcOrd="0" destOrd="0" presId="urn:microsoft.com/office/officeart/2005/8/layout/radial3"/>
    <dgm:cxn modelId="{E35A79D8-CAE7-43E1-BD81-3B6EDB89B4B2}" type="presOf" srcId="{D4FA9841-2541-482A-A039-25BC24418875}" destId="{AD6878DA-956B-4243-9531-02809F3341B2}" srcOrd="0" destOrd="0" presId="urn:microsoft.com/office/officeart/2005/8/layout/radial3"/>
    <dgm:cxn modelId="{6C4E1BD9-D3C5-4D5A-A2DA-CCB4029053F0}" type="presOf" srcId="{26CE9D8E-6836-4BEE-9AF1-AB0678E7EFF8}" destId="{17F65384-F0C2-4200-BDC4-06AAB39D655F}" srcOrd="0" destOrd="0" presId="urn:microsoft.com/office/officeart/2005/8/layout/radial3"/>
    <dgm:cxn modelId="{C18758DF-20BD-4D50-A03A-FBBCBF677CF8}" type="presOf" srcId="{D6112127-CE9F-4A6B-A801-C7626A79D5B9}" destId="{2557E03E-67EF-4ABC-B5DA-1F3E02C1DDA3}" srcOrd="0" destOrd="0" presId="urn:microsoft.com/office/officeart/2005/8/layout/radial3"/>
    <dgm:cxn modelId="{21D567E6-D217-4A87-82F9-B24DD67A5B00}" srcId="{DCD00254-1BED-410E-8226-904289C20C70}" destId="{A350AA72-EFE7-483A-A101-BC1FCC52BB67}" srcOrd="15" destOrd="0" parTransId="{06E8C854-B77E-4F27-B226-D315BC66E2CE}" sibTransId="{2FC4FC83-252F-4047-928F-1605F3DB6030}"/>
    <dgm:cxn modelId="{A456B8E6-42F2-4E6C-9384-57014E1AE26D}" srcId="{DCD00254-1BED-410E-8226-904289C20C70}" destId="{B2CAEDDB-F56C-4167-9B7D-88517EB8BC4F}" srcOrd="5" destOrd="0" parTransId="{05F4DFB0-6388-4AF3-BBA0-D6F692D29450}" sibTransId="{9C83E11B-00C3-4AC6-8455-CF671DAE869C}"/>
    <dgm:cxn modelId="{0E122DED-DF1F-4F08-AC22-9433EFD3B53A}" type="presOf" srcId="{D3BB7AE0-FA1A-4194-A221-7B1757482A31}" destId="{4BD1CA11-B8DC-4966-9F09-11801AA9C390}" srcOrd="0" destOrd="0" presId="urn:microsoft.com/office/officeart/2005/8/layout/radial3"/>
    <dgm:cxn modelId="{301E37ED-B881-4354-A392-FA257837ABC3}" type="presOf" srcId="{90AE8532-49B5-47BA-A5D6-2FD77276AB0E}" destId="{B5B46836-ACAB-4B18-B58B-DBAD0E8CA446}" srcOrd="0" destOrd="0" presId="urn:microsoft.com/office/officeart/2005/8/layout/radial3"/>
    <dgm:cxn modelId="{6E4AB5F2-DBD9-4E46-84AD-528ADD886149}" type="presOf" srcId="{5ED28E8E-DF1E-4D0E-BC5A-3471B7BB990F}" destId="{2F5FDE65-775F-46E1-B013-87BF9A682E88}" srcOrd="0" destOrd="0" presId="urn:microsoft.com/office/officeart/2005/8/layout/radial3"/>
    <dgm:cxn modelId="{DB63E4F6-0846-44DA-A861-C116B267DF6A}" srcId="{DCD00254-1BED-410E-8226-904289C20C70}" destId="{E361C6D5-787E-49E4-831E-991E6A8DD2ED}" srcOrd="16" destOrd="0" parTransId="{5853ED7F-C12B-4252-9CEE-B290B4927CE2}" sibTransId="{2B0B032B-9AC3-4AD3-B43E-B8433BE35314}"/>
    <dgm:cxn modelId="{559F7BFA-E727-4874-A6C7-104DCCDB3CE2}" type="presOf" srcId="{B2F02644-40C5-4101-AC8E-3B13E462E3DF}" destId="{BABF6632-0BEA-4756-A4BE-84E8D61C09E2}" srcOrd="0" destOrd="0" presId="urn:microsoft.com/office/officeart/2005/8/layout/radial3"/>
    <dgm:cxn modelId="{390C5FFB-EC76-4319-BFC1-DB55E5676CD1}" srcId="{DCD00254-1BED-410E-8226-904289C20C70}" destId="{D073BC6D-4D0E-483C-AD81-73021BCAD1EB}" srcOrd="1" destOrd="0" parTransId="{989C96FA-E4D5-4662-AE05-181DBD2D64A9}" sibTransId="{468D88F0-8D56-4C71-AF78-3144BD17A9A4}"/>
    <dgm:cxn modelId="{505986FB-FC79-42B0-BC5D-D245E4024B4F}" srcId="{DCD00254-1BED-410E-8226-904289C20C70}" destId="{8F4108D5-A5CD-4AA0-9F72-65910B573CBE}" srcOrd="2" destOrd="0" parTransId="{8736C95A-BB61-4737-AC88-CB4B2D21B448}" sibTransId="{457582C2-CDA9-4C76-AEF5-C714A8853748}"/>
    <dgm:cxn modelId="{AEF8A847-2AB8-46E4-A92F-85E4E4D44877}" type="presParOf" srcId="{6DDF160F-50A0-4C43-8A30-F59815BB8D20}" destId="{C50BD47E-6FF4-47C4-BF55-8D66689A8BD1}" srcOrd="0" destOrd="0" presId="urn:microsoft.com/office/officeart/2005/8/layout/radial3"/>
    <dgm:cxn modelId="{283C1112-2F04-482F-A568-BB409764524D}" type="presParOf" srcId="{C50BD47E-6FF4-47C4-BF55-8D66689A8BD1}" destId="{693DB968-E74A-4298-A1E6-D23C76F9D92F}" srcOrd="0" destOrd="0" presId="urn:microsoft.com/office/officeart/2005/8/layout/radial3"/>
    <dgm:cxn modelId="{445B685D-2928-47F0-8D15-A33E7DFC4336}" type="presParOf" srcId="{C50BD47E-6FF4-47C4-BF55-8D66689A8BD1}" destId="{09DEFB54-1305-4EC3-A63A-945B0C08F1BE}" srcOrd="1" destOrd="0" presId="urn:microsoft.com/office/officeart/2005/8/layout/radial3"/>
    <dgm:cxn modelId="{C0BE7D4C-89A9-409B-8B48-02C1F0186C41}" type="presParOf" srcId="{C50BD47E-6FF4-47C4-BF55-8D66689A8BD1}" destId="{0C453154-04FB-40D6-9469-C1E89D83B8AE}" srcOrd="2" destOrd="0" presId="urn:microsoft.com/office/officeart/2005/8/layout/radial3"/>
    <dgm:cxn modelId="{10FB6AC7-6715-416F-8BCE-FC649BDF6275}" type="presParOf" srcId="{C50BD47E-6FF4-47C4-BF55-8D66689A8BD1}" destId="{41F1ACCD-42C2-403E-A6AD-2526A6D9D4E9}" srcOrd="3" destOrd="0" presId="urn:microsoft.com/office/officeart/2005/8/layout/radial3"/>
    <dgm:cxn modelId="{38FEAF33-BC82-4F95-A945-3DF2B2B49B89}" type="presParOf" srcId="{C50BD47E-6FF4-47C4-BF55-8D66689A8BD1}" destId="{2557E03E-67EF-4ABC-B5DA-1F3E02C1DDA3}" srcOrd="4" destOrd="0" presId="urn:microsoft.com/office/officeart/2005/8/layout/radial3"/>
    <dgm:cxn modelId="{06AA65AE-553B-4052-B32F-A5381D390555}" type="presParOf" srcId="{C50BD47E-6FF4-47C4-BF55-8D66689A8BD1}" destId="{2F5FDE65-775F-46E1-B013-87BF9A682E88}" srcOrd="5" destOrd="0" presId="urn:microsoft.com/office/officeart/2005/8/layout/radial3"/>
    <dgm:cxn modelId="{32B94D68-4864-49E4-AB5C-0D3DC9A358BC}" type="presParOf" srcId="{C50BD47E-6FF4-47C4-BF55-8D66689A8BD1}" destId="{47E47233-2873-4C4C-9C64-B3D71735B3FA}" srcOrd="6" destOrd="0" presId="urn:microsoft.com/office/officeart/2005/8/layout/radial3"/>
    <dgm:cxn modelId="{F31DEAC8-D78A-41C9-94B5-79EF36F80139}" type="presParOf" srcId="{C50BD47E-6FF4-47C4-BF55-8D66689A8BD1}" destId="{8EE06CA4-A85D-474D-85D4-930539F83929}" srcOrd="7" destOrd="0" presId="urn:microsoft.com/office/officeart/2005/8/layout/radial3"/>
    <dgm:cxn modelId="{4F474713-BEE1-4F75-8598-3DE0D1A1DD45}" type="presParOf" srcId="{C50BD47E-6FF4-47C4-BF55-8D66689A8BD1}" destId="{B5B46836-ACAB-4B18-B58B-DBAD0E8CA446}" srcOrd="8" destOrd="0" presId="urn:microsoft.com/office/officeart/2005/8/layout/radial3"/>
    <dgm:cxn modelId="{407751E0-3F2C-44D0-8079-E81BD7DEFB4D}" type="presParOf" srcId="{C50BD47E-6FF4-47C4-BF55-8D66689A8BD1}" destId="{17F65384-F0C2-4200-BDC4-06AAB39D655F}" srcOrd="9" destOrd="0" presId="urn:microsoft.com/office/officeart/2005/8/layout/radial3"/>
    <dgm:cxn modelId="{592BB308-04AD-4CBA-B31D-D63AFE07D2E9}" type="presParOf" srcId="{C50BD47E-6FF4-47C4-BF55-8D66689A8BD1}" destId="{FE4FC55D-6DDA-4A5E-8741-5FEB11C1844F}" srcOrd="10" destOrd="0" presId="urn:microsoft.com/office/officeart/2005/8/layout/radial3"/>
    <dgm:cxn modelId="{C895779A-A4EA-46C0-8608-E1D8779A466D}" type="presParOf" srcId="{C50BD47E-6FF4-47C4-BF55-8D66689A8BD1}" destId="{58518C26-EA6F-454E-973D-65D4E0154AF9}" srcOrd="11" destOrd="0" presId="urn:microsoft.com/office/officeart/2005/8/layout/radial3"/>
    <dgm:cxn modelId="{20C0A854-EE1E-479E-91D6-9A78BF7CB07C}" type="presParOf" srcId="{C50BD47E-6FF4-47C4-BF55-8D66689A8BD1}" destId="{BABF6632-0BEA-4756-A4BE-84E8D61C09E2}" srcOrd="12" destOrd="0" presId="urn:microsoft.com/office/officeart/2005/8/layout/radial3"/>
    <dgm:cxn modelId="{160F93FA-4AF4-475E-AC16-1B09D81DF729}" type="presParOf" srcId="{C50BD47E-6FF4-47C4-BF55-8D66689A8BD1}" destId="{4BD1CA11-B8DC-4966-9F09-11801AA9C390}" srcOrd="13" destOrd="0" presId="urn:microsoft.com/office/officeart/2005/8/layout/radial3"/>
    <dgm:cxn modelId="{F8F5522F-0DFD-4158-B466-DC6DF802853F}" type="presParOf" srcId="{C50BD47E-6FF4-47C4-BF55-8D66689A8BD1}" destId="{AD6878DA-956B-4243-9531-02809F3341B2}" srcOrd="14" destOrd="0" presId="urn:microsoft.com/office/officeart/2005/8/layout/radial3"/>
    <dgm:cxn modelId="{EFAEF6F6-E4E8-4AA8-93ED-4EDDB3609801}" type="presParOf" srcId="{C50BD47E-6FF4-47C4-BF55-8D66689A8BD1}" destId="{9FDE39A3-5524-4042-8CE3-403370DFFF6B}" srcOrd="15" destOrd="0" presId="urn:microsoft.com/office/officeart/2005/8/layout/radial3"/>
    <dgm:cxn modelId="{DEF9BC1E-B87D-45DA-B318-C691B0827058}" type="presParOf" srcId="{C50BD47E-6FF4-47C4-BF55-8D66689A8BD1}" destId="{C39D2F65-72C8-4AA5-A14C-A906EA9B11F5}" srcOrd="16" destOrd="0" presId="urn:microsoft.com/office/officeart/2005/8/layout/radial3"/>
    <dgm:cxn modelId="{61F368D2-C547-48CE-9681-3904B6FB400A}" type="presParOf" srcId="{C50BD47E-6FF4-47C4-BF55-8D66689A8BD1}" destId="{09A57816-F4C4-40B2-9283-A3CBA33F5971}" srcOrd="17" destOrd="0" presId="urn:microsoft.com/office/officeart/2005/8/layout/radial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DB968-E74A-4298-A1E6-D23C76F9D92F}">
      <dsp:nvSpPr>
        <dsp:cNvPr id="0" name=""/>
        <dsp:cNvSpPr/>
      </dsp:nvSpPr>
      <dsp:spPr>
        <a:xfrm>
          <a:off x="3128063" y="1718162"/>
          <a:ext cx="2030680" cy="2030680"/>
        </a:xfrm>
        <a:prstGeom prst="ellipse">
          <a:avLst/>
        </a:prstGeom>
        <a:solidFill>
          <a:srgbClr val="F7940F">
            <a:alpha val="50000"/>
          </a:srgbClr>
        </a:solidFill>
        <a:ln w="57150" cap="flat" cmpd="sng" algn="ctr">
          <a:solidFill>
            <a:srgbClr val="00B0F0"/>
          </a:solidFill>
          <a:prstDash val="sysDot"/>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a:t>MService</a:t>
          </a:r>
        </a:p>
      </dsp:txBody>
      <dsp:txXfrm>
        <a:off x="3425449" y="2015548"/>
        <a:ext cx="1435908" cy="1435908"/>
      </dsp:txXfrm>
    </dsp:sp>
    <dsp:sp modelId="{09DEFB54-1305-4EC3-A63A-945B0C08F1BE}">
      <dsp:nvSpPr>
        <dsp:cNvPr id="0" name=""/>
        <dsp:cNvSpPr/>
      </dsp:nvSpPr>
      <dsp:spPr>
        <a:xfrm>
          <a:off x="3623672" y="0"/>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Service</a:t>
          </a:r>
        </a:p>
      </dsp:txBody>
      <dsp:txXfrm>
        <a:off x="3772365" y="148693"/>
        <a:ext cx="717954" cy="717954"/>
      </dsp:txXfrm>
    </dsp:sp>
    <dsp:sp modelId="{0C453154-04FB-40D6-9469-C1E89D83B8AE}">
      <dsp:nvSpPr>
        <dsp:cNvPr id="0" name=""/>
        <dsp:cNvSpPr/>
      </dsp:nvSpPr>
      <dsp:spPr>
        <a:xfrm>
          <a:off x="4435951" y="160233"/>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Labor Claim</a:t>
          </a:r>
        </a:p>
      </dsp:txBody>
      <dsp:txXfrm>
        <a:off x="4584644" y="308926"/>
        <a:ext cx="717954" cy="717954"/>
      </dsp:txXfrm>
    </dsp:sp>
    <dsp:sp modelId="{41F1ACCD-42C2-403E-A6AD-2526A6D9D4E9}">
      <dsp:nvSpPr>
        <dsp:cNvPr id="0" name=""/>
        <dsp:cNvSpPr/>
      </dsp:nvSpPr>
      <dsp:spPr>
        <a:xfrm>
          <a:off x="5128095" y="588790"/>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TA/DA Claim for  Engineer</a:t>
          </a:r>
        </a:p>
      </dsp:txBody>
      <dsp:txXfrm>
        <a:off x="5276788" y="737483"/>
        <a:ext cx="717954" cy="717954"/>
      </dsp:txXfrm>
    </dsp:sp>
    <dsp:sp modelId="{2557E03E-67EF-4ABC-B5DA-1F3E02C1DDA3}">
      <dsp:nvSpPr>
        <dsp:cNvPr id="0" name=""/>
        <dsp:cNvSpPr/>
      </dsp:nvSpPr>
      <dsp:spPr>
        <a:xfrm>
          <a:off x="5618687" y="1238439"/>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Parts Warranty Claim</a:t>
          </a:r>
        </a:p>
      </dsp:txBody>
      <dsp:txXfrm>
        <a:off x="5767380" y="1387132"/>
        <a:ext cx="717954" cy="717954"/>
      </dsp:txXfrm>
    </dsp:sp>
    <dsp:sp modelId="{2F5FDE65-775F-46E1-B013-87BF9A682E88}">
      <dsp:nvSpPr>
        <dsp:cNvPr id="0" name=""/>
        <dsp:cNvSpPr/>
      </dsp:nvSpPr>
      <dsp:spPr>
        <a:xfrm>
          <a:off x="5841470" y="2021441"/>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Prospect Visit</a:t>
          </a:r>
        </a:p>
      </dsp:txBody>
      <dsp:txXfrm>
        <a:off x="5990163" y="2170134"/>
        <a:ext cx="717954" cy="717954"/>
      </dsp:txXfrm>
    </dsp:sp>
    <dsp:sp modelId="{47E47233-2873-4C4C-9C64-B3D71735B3FA}">
      <dsp:nvSpPr>
        <dsp:cNvPr id="0" name=""/>
        <dsp:cNvSpPr/>
      </dsp:nvSpPr>
      <dsp:spPr>
        <a:xfrm>
          <a:off x="5766356" y="2832047"/>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55625">
            <a:lnSpc>
              <a:spcPct val="90000"/>
            </a:lnSpc>
            <a:spcBef>
              <a:spcPct val="0"/>
            </a:spcBef>
            <a:spcAft>
              <a:spcPct val="35000"/>
            </a:spcAft>
            <a:buNone/>
          </a:pPr>
          <a:r>
            <a:rPr lang="en-US" sz="1250" kern="1200"/>
            <a:t>Equipment Enquiry</a:t>
          </a:r>
        </a:p>
      </dsp:txBody>
      <dsp:txXfrm>
        <a:off x="5915049" y="2980740"/>
        <a:ext cx="717954" cy="717954"/>
      </dsp:txXfrm>
    </dsp:sp>
    <dsp:sp modelId="{8EE06CA4-A85D-474D-85D4-930539F83929}">
      <dsp:nvSpPr>
        <dsp:cNvPr id="0" name=""/>
        <dsp:cNvSpPr/>
      </dsp:nvSpPr>
      <dsp:spPr>
        <a:xfrm>
          <a:off x="5403490" y="3560780"/>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Parts Enquiry</a:t>
          </a:r>
        </a:p>
      </dsp:txBody>
      <dsp:txXfrm>
        <a:off x="5552183" y="3709473"/>
        <a:ext cx="717954" cy="717954"/>
      </dsp:txXfrm>
    </dsp:sp>
    <dsp:sp modelId="{B5B46836-ACAB-4B18-B58B-DBAD0E8CA446}">
      <dsp:nvSpPr>
        <dsp:cNvPr id="0" name=""/>
        <dsp:cNvSpPr/>
      </dsp:nvSpPr>
      <dsp:spPr>
        <a:xfrm>
          <a:off x="4801879" y="4109221"/>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Quotation</a:t>
          </a:r>
        </a:p>
      </dsp:txBody>
      <dsp:txXfrm>
        <a:off x="4950572" y="4257914"/>
        <a:ext cx="717954" cy="717954"/>
      </dsp:txXfrm>
    </dsp:sp>
    <dsp:sp modelId="{17F65384-F0C2-4200-BDC4-06AAB39D655F}">
      <dsp:nvSpPr>
        <dsp:cNvPr id="0" name=""/>
        <dsp:cNvSpPr/>
      </dsp:nvSpPr>
      <dsp:spPr>
        <a:xfrm>
          <a:off x="4042773" y="4403301"/>
          <a:ext cx="1015340" cy="1015340"/>
        </a:xfrm>
        <a:prstGeom prst="ellipse">
          <a:avLst/>
        </a:prstGeom>
        <a:solidFill>
          <a:srgbClr val="92D050"/>
        </a:solidFill>
        <a:ln w="1905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Sales Invoicing</a:t>
          </a:r>
        </a:p>
      </dsp:txBody>
      <dsp:txXfrm>
        <a:off x="4191466" y="4551994"/>
        <a:ext cx="717954" cy="717954"/>
      </dsp:txXfrm>
    </dsp:sp>
    <dsp:sp modelId="{FE4FC55D-6DDA-4A5E-8741-5FEB11C1844F}">
      <dsp:nvSpPr>
        <dsp:cNvPr id="0" name=""/>
        <dsp:cNvSpPr/>
      </dsp:nvSpPr>
      <dsp:spPr>
        <a:xfrm>
          <a:off x="3228694" y="4403301"/>
          <a:ext cx="1015340" cy="1015340"/>
        </a:xfrm>
        <a:prstGeom prst="ellipse">
          <a:avLst/>
        </a:prstGeom>
        <a:solidFill>
          <a:srgbClr val="92D050"/>
        </a:solidFill>
        <a:ln w="1905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Payment collection </a:t>
          </a:r>
        </a:p>
      </dsp:txBody>
      <dsp:txXfrm>
        <a:off x="3377387" y="4551994"/>
        <a:ext cx="717954" cy="717954"/>
      </dsp:txXfrm>
    </dsp:sp>
    <dsp:sp modelId="{58518C26-EA6F-454E-973D-65D4E0154AF9}">
      <dsp:nvSpPr>
        <dsp:cNvPr id="0" name=""/>
        <dsp:cNvSpPr/>
      </dsp:nvSpPr>
      <dsp:spPr>
        <a:xfrm>
          <a:off x="2469588" y="4109221"/>
          <a:ext cx="1015340" cy="1015340"/>
        </a:xfrm>
        <a:prstGeom prst="ellipse">
          <a:avLst/>
        </a:prstGeom>
        <a:solidFill>
          <a:srgbClr val="92D050"/>
        </a:solidFill>
        <a:ln w="1905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55625">
            <a:lnSpc>
              <a:spcPct val="90000"/>
            </a:lnSpc>
            <a:spcBef>
              <a:spcPct val="0"/>
            </a:spcBef>
            <a:spcAft>
              <a:spcPct val="35000"/>
            </a:spcAft>
            <a:buNone/>
          </a:pPr>
          <a:r>
            <a:rPr lang="en-US" sz="1250" kern="1200"/>
            <a:t>Debit &amp; Credit notes Adj</a:t>
          </a:r>
        </a:p>
      </dsp:txBody>
      <dsp:txXfrm>
        <a:off x="2618281" y="4257914"/>
        <a:ext cx="717954" cy="717954"/>
      </dsp:txXfrm>
    </dsp:sp>
    <dsp:sp modelId="{BABF6632-0BEA-4756-A4BE-84E8D61C09E2}">
      <dsp:nvSpPr>
        <dsp:cNvPr id="0" name=""/>
        <dsp:cNvSpPr/>
      </dsp:nvSpPr>
      <dsp:spPr>
        <a:xfrm>
          <a:off x="1867977" y="3560780"/>
          <a:ext cx="1015340" cy="1015340"/>
        </a:xfrm>
        <a:prstGeom prst="ellipse">
          <a:avLst/>
        </a:prstGeom>
        <a:solidFill>
          <a:srgbClr val="92D050"/>
        </a:solidFill>
        <a:ln w="1905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Inventory</a:t>
          </a:r>
        </a:p>
      </dsp:txBody>
      <dsp:txXfrm>
        <a:off x="2016670" y="3709473"/>
        <a:ext cx="717954" cy="717954"/>
      </dsp:txXfrm>
    </dsp:sp>
    <dsp:sp modelId="{4BD1CA11-B8DC-4966-9F09-11801AA9C390}">
      <dsp:nvSpPr>
        <dsp:cNvPr id="0" name=""/>
        <dsp:cNvSpPr/>
      </dsp:nvSpPr>
      <dsp:spPr>
        <a:xfrm>
          <a:off x="1505110" y="2832047"/>
          <a:ext cx="1015340" cy="1015340"/>
        </a:xfrm>
        <a:prstGeom prst="ellipse">
          <a:avLst/>
        </a:prstGeom>
        <a:solidFill>
          <a:srgbClr val="92D050"/>
        </a:solidFill>
        <a:ln w="1905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Parts Ordering</a:t>
          </a:r>
        </a:p>
      </dsp:txBody>
      <dsp:txXfrm>
        <a:off x="1653803" y="2980740"/>
        <a:ext cx="717954" cy="717954"/>
      </dsp:txXfrm>
    </dsp:sp>
    <dsp:sp modelId="{AD6878DA-956B-4243-9531-02809F3341B2}">
      <dsp:nvSpPr>
        <dsp:cNvPr id="0" name=""/>
        <dsp:cNvSpPr/>
      </dsp:nvSpPr>
      <dsp:spPr>
        <a:xfrm>
          <a:off x="1429997" y="2021441"/>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Customer Feedback</a:t>
          </a:r>
        </a:p>
      </dsp:txBody>
      <dsp:txXfrm>
        <a:off x="1578690" y="2170134"/>
        <a:ext cx="717954" cy="717954"/>
      </dsp:txXfrm>
    </dsp:sp>
    <dsp:sp modelId="{9FDE39A3-5524-4042-8CE3-403370DFFF6B}">
      <dsp:nvSpPr>
        <dsp:cNvPr id="0" name=""/>
        <dsp:cNvSpPr/>
      </dsp:nvSpPr>
      <dsp:spPr>
        <a:xfrm>
          <a:off x="1652780" y="1238439"/>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Machine Health</a:t>
          </a:r>
        </a:p>
      </dsp:txBody>
      <dsp:txXfrm>
        <a:off x="1801473" y="1387132"/>
        <a:ext cx="717954" cy="717954"/>
      </dsp:txXfrm>
    </dsp:sp>
    <dsp:sp modelId="{C39D2F65-72C8-4AA5-A14C-A906EA9B11F5}">
      <dsp:nvSpPr>
        <dsp:cNvPr id="0" name=""/>
        <dsp:cNvSpPr/>
      </dsp:nvSpPr>
      <dsp:spPr>
        <a:xfrm>
          <a:off x="2143372" y="588790"/>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Integration</a:t>
          </a:r>
        </a:p>
      </dsp:txBody>
      <dsp:txXfrm>
        <a:off x="2292065" y="737483"/>
        <a:ext cx="717954" cy="717954"/>
      </dsp:txXfrm>
    </dsp:sp>
    <dsp:sp modelId="{09A57816-F4C4-40B2-9283-A3CBA33F5971}">
      <dsp:nvSpPr>
        <dsp:cNvPr id="0" name=""/>
        <dsp:cNvSpPr/>
      </dsp:nvSpPr>
      <dsp:spPr>
        <a:xfrm>
          <a:off x="2835516" y="160233"/>
          <a:ext cx="1015340" cy="1015340"/>
        </a:xfrm>
        <a:prstGeom prst="ellipse">
          <a:avLst/>
        </a:prstGeom>
        <a:solidFill>
          <a:srgbClr val="92D050"/>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Knowledge &amp; Collaboration</a:t>
          </a:r>
        </a:p>
      </dsp:txBody>
      <dsp:txXfrm>
        <a:off x="2984209" y="308926"/>
        <a:ext cx="717954" cy="717954"/>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E1DB4D1-F045-4239-A6D7-FCF505E9152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Arial" charset="0"/>
              </a:defRPr>
            </a:lvl1pPr>
          </a:lstStyle>
          <a:p>
            <a:pPr>
              <a:defRPr/>
            </a:pPr>
            <a:endParaRPr lang="en-GB"/>
          </a:p>
        </p:txBody>
      </p:sp>
      <p:sp>
        <p:nvSpPr>
          <p:cNvPr id="9219" name="Rectangle 3">
            <a:extLst>
              <a:ext uri="{FF2B5EF4-FFF2-40B4-BE49-F238E27FC236}">
                <a16:creationId xmlns:a16="http://schemas.microsoft.com/office/drawing/2014/main" id="{EA9732F8-1596-4C2A-8741-086B8F3EB6B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Arial" charset="0"/>
              </a:defRPr>
            </a:lvl1pPr>
          </a:lstStyle>
          <a:p>
            <a:pPr>
              <a:defRPr/>
            </a:pPr>
            <a:endParaRPr lang="en-GB"/>
          </a:p>
        </p:txBody>
      </p:sp>
      <p:sp>
        <p:nvSpPr>
          <p:cNvPr id="44036" name="Rectangle 4">
            <a:extLst>
              <a:ext uri="{FF2B5EF4-FFF2-40B4-BE49-F238E27FC236}">
                <a16:creationId xmlns:a16="http://schemas.microsoft.com/office/drawing/2014/main" id="{9B2DB782-23B0-47EA-B498-AE4E34007B2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2CB3DE09-0727-4864-B430-E461D16C4B45}"/>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222" name="Rectangle 6">
            <a:extLst>
              <a:ext uri="{FF2B5EF4-FFF2-40B4-BE49-F238E27FC236}">
                <a16:creationId xmlns:a16="http://schemas.microsoft.com/office/drawing/2014/main" id="{494CF7FF-CC28-4097-BFB2-958D4D58908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Arial" charset="0"/>
              </a:defRPr>
            </a:lvl1pPr>
          </a:lstStyle>
          <a:p>
            <a:pPr>
              <a:defRPr/>
            </a:pPr>
            <a:endParaRPr lang="en-GB"/>
          </a:p>
        </p:txBody>
      </p:sp>
      <p:sp>
        <p:nvSpPr>
          <p:cNvPr id="9223" name="Rectangle 7">
            <a:extLst>
              <a:ext uri="{FF2B5EF4-FFF2-40B4-BE49-F238E27FC236}">
                <a16:creationId xmlns:a16="http://schemas.microsoft.com/office/drawing/2014/main" id="{C5054116-A5A9-42FF-9180-7712FFDC930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Arial" panose="020B0604020202020204" pitchFamily="34" charset="0"/>
              </a:defRPr>
            </a:lvl1pPr>
          </a:lstStyle>
          <a:p>
            <a:fld id="{7AA7D2D7-EAF0-4040-8217-0DCFB3F57636}" type="slidenum">
              <a:rPr lang="en-GB" altLang="en-US"/>
              <a:pPr/>
              <a:t>‹#›</a:t>
            </a:fld>
            <a:endParaRPr lang="en-GB" altLang="en-US"/>
          </a:p>
        </p:txBody>
      </p:sp>
    </p:spTree>
    <p:extLst>
      <p:ext uri="{BB962C8B-B14F-4D97-AF65-F5344CB8AC3E}">
        <p14:creationId xmlns:p14="http://schemas.microsoft.com/office/powerpoint/2010/main" val="32258394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59BFDF0-2964-464A-9ABA-631DDBA0E92C}"/>
              </a:ext>
            </a:extLst>
          </p:cNvPr>
          <p:cNvSpPr>
            <a:spLocks noGrp="1"/>
          </p:cNvSpPr>
          <p:nvPr>
            <p:ph type="dt" sz="half" idx="10"/>
          </p:nvPr>
        </p:nvSpPr>
        <p:spPr/>
        <p:txBody>
          <a:bodyPr/>
          <a:lstStyle>
            <a:lvl1pPr>
              <a:defRPr/>
            </a:lvl1pPr>
          </a:lstStyle>
          <a:p>
            <a:pPr>
              <a:defRPr/>
            </a:pPr>
            <a:fld id="{B66CFBAB-8B4A-4948-B2C8-A0F2175174EC}" type="datetime1">
              <a:rPr lang="en-GB"/>
              <a:pPr>
                <a:defRPr/>
              </a:pPr>
              <a:t>12/08/2025</a:t>
            </a:fld>
            <a:endParaRPr lang="en-US"/>
          </a:p>
        </p:txBody>
      </p:sp>
      <p:sp>
        <p:nvSpPr>
          <p:cNvPr id="5" name="Slide Number Placeholder 5">
            <a:extLst>
              <a:ext uri="{FF2B5EF4-FFF2-40B4-BE49-F238E27FC236}">
                <a16:creationId xmlns:a16="http://schemas.microsoft.com/office/drawing/2014/main" id="{00CF6244-7C5B-4909-8C6E-35D4B86015C8}"/>
              </a:ext>
            </a:extLst>
          </p:cNvPr>
          <p:cNvSpPr>
            <a:spLocks noGrp="1"/>
          </p:cNvSpPr>
          <p:nvPr>
            <p:ph type="sldNum" sz="quarter" idx="11"/>
          </p:nvPr>
        </p:nvSpPr>
        <p:spPr/>
        <p:txBody>
          <a:bodyPr/>
          <a:lstStyle>
            <a:lvl1pPr>
              <a:defRPr/>
            </a:lvl1pPr>
          </a:lstStyle>
          <a:p>
            <a:fld id="{68D5297A-FD45-456F-939D-5DB56F57801B}" type="slidenum">
              <a:rPr lang="en-US" altLang="en-US"/>
              <a:pPr/>
              <a:t>‹#›</a:t>
            </a:fld>
            <a:endParaRPr lang="en-US" altLang="en-US"/>
          </a:p>
        </p:txBody>
      </p:sp>
    </p:spTree>
    <p:extLst>
      <p:ext uri="{BB962C8B-B14F-4D97-AF65-F5344CB8AC3E}">
        <p14:creationId xmlns:p14="http://schemas.microsoft.com/office/powerpoint/2010/main" val="334784282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753A820-4929-4792-90F7-2DBA1E2445B5}"/>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9EBA203-BD9C-4B15-9BC2-C85325B2750D}"/>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0A6801C5-DCD0-4B8B-AC3C-40D15A99A9E6}"/>
              </a:ext>
            </a:extLst>
          </p:cNvPr>
          <p:cNvSpPr>
            <a:spLocks noGrp="1"/>
          </p:cNvSpPr>
          <p:nvPr>
            <p:ph type="dt" sz="half" idx="10"/>
          </p:nvPr>
        </p:nvSpPr>
        <p:spPr/>
        <p:txBody>
          <a:bodyPr/>
          <a:lstStyle>
            <a:lvl1pPr>
              <a:defRPr/>
            </a:lvl1pPr>
          </a:lstStyle>
          <a:p>
            <a:pPr>
              <a:defRPr/>
            </a:pPr>
            <a:fld id="{162341DA-544E-4DEB-AE55-190861BC69BE}" type="datetime1">
              <a:rPr lang="en-GB"/>
              <a:pPr>
                <a:defRPr/>
              </a:pPr>
              <a:t>12/08/2025</a:t>
            </a:fld>
            <a:endParaRPr lang="en-GB"/>
          </a:p>
        </p:txBody>
      </p:sp>
      <p:sp>
        <p:nvSpPr>
          <p:cNvPr id="7" name="Footer Placeholder 4">
            <a:extLst>
              <a:ext uri="{FF2B5EF4-FFF2-40B4-BE49-F238E27FC236}">
                <a16:creationId xmlns:a16="http://schemas.microsoft.com/office/drawing/2014/main" id="{142224FE-A23D-493F-A1B6-AD7B5B9BCA03}"/>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5">
            <a:extLst>
              <a:ext uri="{FF2B5EF4-FFF2-40B4-BE49-F238E27FC236}">
                <a16:creationId xmlns:a16="http://schemas.microsoft.com/office/drawing/2014/main" id="{E2B6A909-D3BF-434A-9319-776EFBE54337}"/>
              </a:ext>
            </a:extLst>
          </p:cNvPr>
          <p:cNvSpPr>
            <a:spLocks noGrp="1"/>
          </p:cNvSpPr>
          <p:nvPr>
            <p:ph type="sldNum" sz="quarter" idx="12"/>
          </p:nvPr>
        </p:nvSpPr>
        <p:spPr/>
        <p:txBody>
          <a:bodyPr/>
          <a:lstStyle>
            <a:lvl1pPr>
              <a:defRPr/>
            </a:lvl1pPr>
          </a:lstStyle>
          <a:p>
            <a:fld id="{A04638F8-3EDA-449F-B7CB-C8D81E4C91A6}" type="slidenum">
              <a:rPr lang="en-GB" altLang="en-US"/>
              <a:pPr/>
              <a:t>‹#›</a:t>
            </a:fld>
            <a:endParaRPr lang="en-GB" altLang="en-US"/>
          </a:p>
        </p:txBody>
      </p:sp>
    </p:spTree>
    <p:extLst>
      <p:ext uri="{BB962C8B-B14F-4D97-AF65-F5344CB8AC3E}">
        <p14:creationId xmlns:p14="http://schemas.microsoft.com/office/powerpoint/2010/main" val="997250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709979-654D-4B2E-85A9-ECF5E261DF07}"/>
              </a:ext>
            </a:extLst>
          </p:cNvPr>
          <p:cNvSpPr>
            <a:spLocks noGrp="1"/>
          </p:cNvSpPr>
          <p:nvPr>
            <p:ph type="dt" sz="half" idx="10"/>
          </p:nvPr>
        </p:nvSpPr>
        <p:spPr/>
        <p:txBody>
          <a:bodyPr/>
          <a:lstStyle>
            <a:lvl1pPr>
              <a:defRPr/>
            </a:lvl1pPr>
          </a:lstStyle>
          <a:p>
            <a:pPr>
              <a:defRPr/>
            </a:pPr>
            <a:fld id="{714A87BA-B9C0-48E1-A91D-755689B44630}" type="datetime1">
              <a:rPr lang="en-GB"/>
              <a:pPr>
                <a:defRPr/>
              </a:pPr>
              <a:t>12/08/2025</a:t>
            </a:fld>
            <a:endParaRPr lang="en-GB"/>
          </a:p>
        </p:txBody>
      </p:sp>
      <p:sp>
        <p:nvSpPr>
          <p:cNvPr id="5" name="Footer Placeholder 4">
            <a:extLst>
              <a:ext uri="{FF2B5EF4-FFF2-40B4-BE49-F238E27FC236}">
                <a16:creationId xmlns:a16="http://schemas.microsoft.com/office/drawing/2014/main" id="{FE28B4D3-EBE6-4B51-9E4D-6B74F2B375C8}"/>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6" name="Slide Number Placeholder 5">
            <a:extLst>
              <a:ext uri="{FF2B5EF4-FFF2-40B4-BE49-F238E27FC236}">
                <a16:creationId xmlns:a16="http://schemas.microsoft.com/office/drawing/2014/main" id="{AC1AAB53-CAFA-444F-AD9D-6AABF002DC36}"/>
              </a:ext>
            </a:extLst>
          </p:cNvPr>
          <p:cNvSpPr>
            <a:spLocks noGrp="1"/>
          </p:cNvSpPr>
          <p:nvPr>
            <p:ph type="sldNum" sz="quarter" idx="12"/>
          </p:nvPr>
        </p:nvSpPr>
        <p:spPr/>
        <p:txBody>
          <a:bodyPr/>
          <a:lstStyle>
            <a:lvl1pPr>
              <a:defRPr/>
            </a:lvl1pPr>
          </a:lstStyle>
          <a:p>
            <a:fld id="{22BAE270-6890-449A-98C6-E56B9AA88AFF}" type="slidenum">
              <a:rPr lang="en-GB" altLang="en-US"/>
              <a:pPr/>
              <a:t>‹#›</a:t>
            </a:fld>
            <a:endParaRPr lang="en-GB" altLang="en-US"/>
          </a:p>
        </p:txBody>
      </p:sp>
    </p:spTree>
    <p:extLst>
      <p:ext uri="{BB962C8B-B14F-4D97-AF65-F5344CB8AC3E}">
        <p14:creationId xmlns:p14="http://schemas.microsoft.com/office/powerpoint/2010/main" val="4112416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F9306F1-A6C1-4923-A466-F081AE9A3A3D}"/>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CEBBB6C-D69F-4F30-A4B0-E4D2C6A64F10}"/>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432AED67-9B8D-44A8-A587-9E102DFBBC13}"/>
              </a:ext>
            </a:extLst>
          </p:cNvPr>
          <p:cNvSpPr>
            <a:spLocks noGrp="1"/>
          </p:cNvSpPr>
          <p:nvPr>
            <p:ph type="dt" sz="half" idx="10"/>
          </p:nvPr>
        </p:nvSpPr>
        <p:spPr/>
        <p:txBody>
          <a:bodyPr/>
          <a:lstStyle>
            <a:lvl1pPr>
              <a:defRPr/>
            </a:lvl1pPr>
          </a:lstStyle>
          <a:p>
            <a:pPr>
              <a:defRPr/>
            </a:pPr>
            <a:fld id="{3E31EB53-3C8B-4C59-B4FD-7767215F62E4}" type="datetime1">
              <a:rPr lang="en-GB"/>
              <a:pPr>
                <a:defRPr/>
              </a:pPr>
              <a:t>12/08/2025</a:t>
            </a:fld>
            <a:endParaRPr lang="en-GB"/>
          </a:p>
        </p:txBody>
      </p:sp>
      <p:sp>
        <p:nvSpPr>
          <p:cNvPr id="8" name="Footer Placeholder 5">
            <a:extLst>
              <a:ext uri="{FF2B5EF4-FFF2-40B4-BE49-F238E27FC236}">
                <a16:creationId xmlns:a16="http://schemas.microsoft.com/office/drawing/2014/main" id="{010B995C-240F-4505-AC27-F15BE18EBE79}"/>
              </a:ext>
            </a:extLst>
          </p:cNvPr>
          <p:cNvSpPr>
            <a:spLocks noGrp="1"/>
          </p:cNvSpPr>
          <p:nvPr>
            <p:ph type="ftr" sz="quarter" idx="11"/>
          </p:nvPr>
        </p:nvSpPr>
        <p:spPr/>
        <p:txBody>
          <a:bodyPr/>
          <a:lstStyle>
            <a:lvl1pPr>
              <a:defRPr/>
            </a:lvl1pPr>
          </a:lstStyle>
          <a:p>
            <a:pPr>
              <a:defRPr/>
            </a:pPr>
            <a:r>
              <a:rPr lang="en-US"/>
              <a:t>Confidential to Selfservit, TVS &amp; Sons</a:t>
            </a:r>
            <a:endParaRPr lang="en-GB"/>
          </a:p>
        </p:txBody>
      </p:sp>
      <p:sp>
        <p:nvSpPr>
          <p:cNvPr id="9" name="Slide Number Placeholder 6">
            <a:extLst>
              <a:ext uri="{FF2B5EF4-FFF2-40B4-BE49-F238E27FC236}">
                <a16:creationId xmlns:a16="http://schemas.microsoft.com/office/drawing/2014/main" id="{08E48C4E-6310-4756-B87A-BEEEE17CF72D}"/>
              </a:ext>
            </a:extLst>
          </p:cNvPr>
          <p:cNvSpPr>
            <a:spLocks noGrp="1"/>
          </p:cNvSpPr>
          <p:nvPr>
            <p:ph type="sldNum" sz="quarter" idx="12"/>
          </p:nvPr>
        </p:nvSpPr>
        <p:spPr/>
        <p:txBody>
          <a:bodyPr/>
          <a:lstStyle>
            <a:lvl1pPr>
              <a:defRPr/>
            </a:lvl1pPr>
          </a:lstStyle>
          <a:p>
            <a:fld id="{0095EAC3-10E8-4F3A-8406-1C1354EAAA7C}" type="slidenum">
              <a:rPr lang="en-GB" altLang="en-US"/>
              <a:pPr/>
              <a:t>‹#›</a:t>
            </a:fld>
            <a:endParaRPr lang="en-GB" altLang="en-US"/>
          </a:p>
        </p:txBody>
      </p:sp>
    </p:spTree>
    <p:extLst>
      <p:ext uri="{BB962C8B-B14F-4D97-AF65-F5344CB8AC3E}">
        <p14:creationId xmlns:p14="http://schemas.microsoft.com/office/powerpoint/2010/main" val="399704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A4012D2-9905-4530-814F-C64F1A427D8C}"/>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28659CA-8142-4C67-B953-CF682A36468A}"/>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6">
            <a:extLst>
              <a:ext uri="{FF2B5EF4-FFF2-40B4-BE49-F238E27FC236}">
                <a16:creationId xmlns:a16="http://schemas.microsoft.com/office/drawing/2014/main" id="{64AE29E7-8915-480B-8CFA-164AB2218DF8}"/>
              </a:ext>
            </a:extLst>
          </p:cNvPr>
          <p:cNvSpPr>
            <a:spLocks noGrp="1"/>
          </p:cNvSpPr>
          <p:nvPr>
            <p:ph type="dt" sz="half" idx="10"/>
          </p:nvPr>
        </p:nvSpPr>
        <p:spPr/>
        <p:txBody>
          <a:bodyPr/>
          <a:lstStyle>
            <a:lvl1pPr>
              <a:defRPr/>
            </a:lvl1pPr>
          </a:lstStyle>
          <a:p>
            <a:pPr>
              <a:defRPr/>
            </a:pPr>
            <a:fld id="{CAC274C2-6E45-4EDE-99A6-0CB0823D9111}" type="datetime1">
              <a:rPr lang="en-GB"/>
              <a:pPr>
                <a:defRPr/>
              </a:pPr>
              <a:t>12/08/2025</a:t>
            </a:fld>
            <a:endParaRPr lang="en-GB"/>
          </a:p>
        </p:txBody>
      </p:sp>
      <p:sp>
        <p:nvSpPr>
          <p:cNvPr id="10" name="Footer Placeholder 7">
            <a:extLst>
              <a:ext uri="{FF2B5EF4-FFF2-40B4-BE49-F238E27FC236}">
                <a16:creationId xmlns:a16="http://schemas.microsoft.com/office/drawing/2014/main" id="{42B8856F-D950-4194-8DDB-18FB1F87439F}"/>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11" name="Slide Number Placeholder 8">
            <a:extLst>
              <a:ext uri="{FF2B5EF4-FFF2-40B4-BE49-F238E27FC236}">
                <a16:creationId xmlns:a16="http://schemas.microsoft.com/office/drawing/2014/main" id="{1DC057C3-B81A-48BD-BC33-7BB628189CFB}"/>
              </a:ext>
            </a:extLst>
          </p:cNvPr>
          <p:cNvSpPr>
            <a:spLocks noGrp="1"/>
          </p:cNvSpPr>
          <p:nvPr>
            <p:ph type="sldNum" sz="quarter" idx="12"/>
          </p:nvPr>
        </p:nvSpPr>
        <p:spPr/>
        <p:txBody>
          <a:bodyPr/>
          <a:lstStyle>
            <a:lvl1pPr>
              <a:defRPr/>
            </a:lvl1pPr>
          </a:lstStyle>
          <a:p>
            <a:fld id="{A4ED5014-8DD6-49A4-90BB-173CFD15D89A}" type="slidenum">
              <a:rPr lang="en-GB" altLang="en-US"/>
              <a:pPr/>
              <a:t>‹#›</a:t>
            </a:fld>
            <a:endParaRPr lang="en-GB" altLang="en-US"/>
          </a:p>
        </p:txBody>
      </p:sp>
    </p:spTree>
    <p:extLst>
      <p:ext uri="{BB962C8B-B14F-4D97-AF65-F5344CB8AC3E}">
        <p14:creationId xmlns:p14="http://schemas.microsoft.com/office/powerpoint/2010/main" val="2990565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0E9E99-D741-4A2D-A2B2-269B819BF04E}"/>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B13356F-BBFB-463E-AD0F-5FEFFD86F2F9}"/>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5" name="Date Placeholder 2">
            <a:extLst>
              <a:ext uri="{FF2B5EF4-FFF2-40B4-BE49-F238E27FC236}">
                <a16:creationId xmlns:a16="http://schemas.microsoft.com/office/drawing/2014/main" id="{CB1EAFB2-BF8A-45B9-9C19-9A04F793BD02}"/>
              </a:ext>
            </a:extLst>
          </p:cNvPr>
          <p:cNvSpPr>
            <a:spLocks noGrp="1"/>
          </p:cNvSpPr>
          <p:nvPr>
            <p:ph type="dt" sz="half" idx="10"/>
          </p:nvPr>
        </p:nvSpPr>
        <p:spPr/>
        <p:txBody>
          <a:bodyPr/>
          <a:lstStyle>
            <a:lvl1pPr>
              <a:defRPr/>
            </a:lvl1pPr>
          </a:lstStyle>
          <a:p>
            <a:pPr>
              <a:defRPr/>
            </a:pPr>
            <a:fld id="{219838F7-2D9E-4AC7-86DB-179020484CEF}" type="datetime1">
              <a:rPr lang="en-GB"/>
              <a:pPr>
                <a:defRPr/>
              </a:pPr>
              <a:t>12/08/2025</a:t>
            </a:fld>
            <a:endParaRPr lang="en-GB"/>
          </a:p>
        </p:txBody>
      </p:sp>
      <p:sp>
        <p:nvSpPr>
          <p:cNvPr id="6" name="Footer Placeholder 3">
            <a:extLst>
              <a:ext uri="{FF2B5EF4-FFF2-40B4-BE49-F238E27FC236}">
                <a16:creationId xmlns:a16="http://schemas.microsoft.com/office/drawing/2014/main" id="{13DED6C7-4600-493F-BAA7-E2942067DACA}"/>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7" name="Slide Number Placeholder 4">
            <a:extLst>
              <a:ext uri="{FF2B5EF4-FFF2-40B4-BE49-F238E27FC236}">
                <a16:creationId xmlns:a16="http://schemas.microsoft.com/office/drawing/2014/main" id="{AF88E25E-7D84-40C8-8814-CB8070FAD3AC}"/>
              </a:ext>
            </a:extLst>
          </p:cNvPr>
          <p:cNvSpPr>
            <a:spLocks noGrp="1"/>
          </p:cNvSpPr>
          <p:nvPr>
            <p:ph type="sldNum" sz="quarter" idx="12"/>
          </p:nvPr>
        </p:nvSpPr>
        <p:spPr/>
        <p:txBody>
          <a:bodyPr/>
          <a:lstStyle>
            <a:lvl1pPr>
              <a:defRPr/>
            </a:lvl1pPr>
          </a:lstStyle>
          <a:p>
            <a:fld id="{8A446A7D-EC30-4E72-8AA3-1E0AC8563DA8}" type="slidenum">
              <a:rPr lang="en-GB" altLang="en-US"/>
              <a:pPr/>
              <a:t>‹#›</a:t>
            </a:fld>
            <a:endParaRPr lang="en-GB" altLang="en-US"/>
          </a:p>
        </p:txBody>
      </p:sp>
    </p:spTree>
    <p:extLst>
      <p:ext uri="{BB962C8B-B14F-4D97-AF65-F5344CB8AC3E}">
        <p14:creationId xmlns:p14="http://schemas.microsoft.com/office/powerpoint/2010/main" val="937990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05E0A6-BB3A-4BBC-94DE-4A58C3A5A3FC}"/>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1">
            <a:extLst>
              <a:ext uri="{FF2B5EF4-FFF2-40B4-BE49-F238E27FC236}">
                <a16:creationId xmlns:a16="http://schemas.microsoft.com/office/drawing/2014/main" id="{EBEA9A08-6F39-4DB4-A831-3EB36F3D0BBD}"/>
              </a:ext>
            </a:extLst>
          </p:cNvPr>
          <p:cNvSpPr>
            <a:spLocks noGrp="1"/>
          </p:cNvSpPr>
          <p:nvPr>
            <p:ph type="dt" sz="half" idx="10"/>
          </p:nvPr>
        </p:nvSpPr>
        <p:spPr/>
        <p:txBody>
          <a:bodyPr/>
          <a:lstStyle>
            <a:lvl1pPr>
              <a:defRPr/>
            </a:lvl1pPr>
          </a:lstStyle>
          <a:p>
            <a:pPr>
              <a:defRPr/>
            </a:pPr>
            <a:fld id="{95B8914C-303E-4E84-8B34-1A31B99B164F}" type="datetime1">
              <a:rPr lang="en-GB"/>
              <a:pPr>
                <a:defRPr/>
              </a:pPr>
              <a:t>12/08/2025</a:t>
            </a:fld>
            <a:endParaRPr lang="en-GB"/>
          </a:p>
        </p:txBody>
      </p:sp>
      <p:sp>
        <p:nvSpPr>
          <p:cNvPr id="4" name="Footer Placeholder 2">
            <a:extLst>
              <a:ext uri="{FF2B5EF4-FFF2-40B4-BE49-F238E27FC236}">
                <a16:creationId xmlns:a16="http://schemas.microsoft.com/office/drawing/2014/main" id="{3020B236-04C4-47E7-A10C-28A4BE995A45}"/>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5" name="Slide Number Placeholder 3">
            <a:extLst>
              <a:ext uri="{FF2B5EF4-FFF2-40B4-BE49-F238E27FC236}">
                <a16:creationId xmlns:a16="http://schemas.microsoft.com/office/drawing/2014/main" id="{CBD83EC6-DCA4-4DCD-9F47-2E88AD3BD053}"/>
              </a:ext>
            </a:extLst>
          </p:cNvPr>
          <p:cNvSpPr>
            <a:spLocks noGrp="1"/>
          </p:cNvSpPr>
          <p:nvPr>
            <p:ph type="sldNum" sz="quarter" idx="12"/>
          </p:nvPr>
        </p:nvSpPr>
        <p:spPr/>
        <p:txBody>
          <a:bodyPr/>
          <a:lstStyle>
            <a:lvl1pPr>
              <a:defRPr/>
            </a:lvl1pPr>
          </a:lstStyle>
          <a:p>
            <a:fld id="{3E6E0AAA-CD81-4600-8AFF-1AFB757A6F8D}" type="slidenum">
              <a:rPr lang="en-GB" altLang="en-US"/>
              <a:pPr/>
              <a:t>‹#›</a:t>
            </a:fld>
            <a:endParaRPr lang="en-GB" altLang="en-US"/>
          </a:p>
        </p:txBody>
      </p:sp>
    </p:spTree>
    <p:extLst>
      <p:ext uri="{BB962C8B-B14F-4D97-AF65-F5344CB8AC3E}">
        <p14:creationId xmlns:p14="http://schemas.microsoft.com/office/powerpoint/2010/main" val="15891565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C0D9D07-D23C-4695-B19B-56C0DAC37FD3}"/>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AEB90B7E-37C5-41F5-BBD1-002ABDBBF287}"/>
              </a:ext>
            </a:extLst>
          </p:cNvPr>
          <p:cNvSpPr>
            <a:spLocks noGrp="1"/>
          </p:cNvSpPr>
          <p:nvPr>
            <p:ph type="dt" sz="half" idx="10"/>
          </p:nvPr>
        </p:nvSpPr>
        <p:spPr/>
        <p:txBody>
          <a:bodyPr/>
          <a:lstStyle>
            <a:lvl1pPr>
              <a:defRPr/>
            </a:lvl1pPr>
          </a:lstStyle>
          <a:p>
            <a:pPr>
              <a:defRPr/>
            </a:pPr>
            <a:fld id="{53FE468C-999D-41FA-8598-4E88E4A11607}" type="datetime1">
              <a:rPr lang="en-GB"/>
              <a:pPr>
                <a:defRPr/>
              </a:pPr>
              <a:t>12/08/2025</a:t>
            </a:fld>
            <a:endParaRPr lang="en-GB"/>
          </a:p>
        </p:txBody>
      </p:sp>
      <p:sp>
        <p:nvSpPr>
          <p:cNvPr id="7" name="Footer Placeholder 5">
            <a:extLst>
              <a:ext uri="{FF2B5EF4-FFF2-40B4-BE49-F238E27FC236}">
                <a16:creationId xmlns:a16="http://schemas.microsoft.com/office/drawing/2014/main" id="{4560B32D-C5BC-4060-8777-B5BEEFF3DF5B}"/>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6">
            <a:extLst>
              <a:ext uri="{FF2B5EF4-FFF2-40B4-BE49-F238E27FC236}">
                <a16:creationId xmlns:a16="http://schemas.microsoft.com/office/drawing/2014/main" id="{9C563B80-7F72-4B8C-B428-92283EAC0D10}"/>
              </a:ext>
            </a:extLst>
          </p:cNvPr>
          <p:cNvSpPr>
            <a:spLocks noGrp="1"/>
          </p:cNvSpPr>
          <p:nvPr>
            <p:ph type="sldNum" sz="quarter" idx="12"/>
          </p:nvPr>
        </p:nvSpPr>
        <p:spPr/>
        <p:txBody>
          <a:bodyPr/>
          <a:lstStyle>
            <a:lvl1pPr>
              <a:defRPr/>
            </a:lvl1pPr>
          </a:lstStyle>
          <a:p>
            <a:fld id="{A4965BD6-11D9-4CD5-B6B1-28C1F2D83904}" type="slidenum">
              <a:rPr lang="en-GB" altLang="en-US"/>
              <a:pPr/>
              <a:t>‹#›</a:t>
            </a:fld>
            <a:endParaRPr lang="en-GB" altLang="en-US"/>
          </a:p>
        </p:txBody>
      </p:sp>
    </p:spTree>
    <p:extLst>
      <p:ext uri="{BB962C8B-B14F-4D97-AF65-F5344CB8AC3E}">
        <p14:creationId xmlns:p14="http://schemas.microsoft.com/office/powerpoint/2010/main" val="1244788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EDA1CC6-F12F-4CEF-B4FA-07F1C1A9D7B0}"/>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3D74A541-158C-4243-9206-C8772466939F}"/>
              </a:ext>
            </a:extLst>
          </p:cNvPr>
          <p:cNvSpPr>
            <a:spLocks noGrp="1"/>
          </p:cNvSpPr>
          <p:nvPr>
            <p:ph type="dt" sz="half" idx="10"/>
          </p:nvPr>
        </p:nvSpPr>
        <p:spPr/>
        <p:txBody>
          <a:bodyPr/>
          <a:lstStyle>
            <a:lvl1pPr>
              <a:defRPr/>
            </a:lvl1pPr>
          </a:lstStyle>
          <a:p>
            <a:pPr>
              <a:defRPr/>
            </a:pPr>
            <a:fld id="{411F7212-8CB2-4E06-9A0B-83A20845D7F8}" type="datetime1">
              <a:rPr lang="en-GB"/>
              <a:pPr>
                <a:defRPr/>
              </a:pPr>
              <a:t>12/08/2025</a:t>
            </a:fld>
            <a:endParaRPr lang="en-GB"/>
          </a:p>
        </p:txBody>
      </p:sp>
      <p:sp>
        <p:nvSpPr>
          <p:cNvPr id="7" name="Footer Placeholder 5">
            <a:extLst>
              <a:ext uri="{FF2B5EF4-FFF2-40B4-BE49-F238E27FC236}">
                <a16:creationId xmlns:a16="http://schemas.microsoft.com/office/drawing/2014/main" id="{667BCD69-68BC-432E-A41E-DA06A7046AB2}"/>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6">
            <a:extLst>
              <a:ext uri="{FF2B5EF4-FFF2-40B4-BE49-F238E27FC236}">
                <a16:creationId xmlns:a16="http://schemas.microsoft.com/office/drawing/2014/main" id="{31F80E16-B78B-4D6A-BECC-76625225F546}"/>
              </a:ext>
            </a:extLst>
          </p:cNvPr>
          <p:cNvSpPr>
            <a:spLocks noGrp="1"/>
          </p:cNvSpPr>
          <p:nvPr>
            <p:ph type="sldNum" sz="quarter" idx="12"/>
          </p:nvPr>
        </p:nvSpPr>
        <p:spPr/>
        <p:txBody>
          <a:bodyPr/>
          <a:lstStyle>
            <a:lvl1pPr>
              <a:defRPr/>
            </a:lvl1pPr>
          </a:lstStyle>
          <a:p>
            <a:fld id="{E6ABED21-AAA5-4146-A383-85A502AC0B4D}" type="slidenum">
              <a:rPr lang="en-GB" altLang="en-US"/>
              <a:pPr/>
              <a:t>‹#›</a:t>
            </a:fld>
            <a:endParaRPr lang="en-GB" altLang="en-US"/>
          </a:p>
        </p:txBody>
      </p:sp>
    </p:spTree>
    <p:extLst>
      <p:ext uri="{BB962C8B-B14F-4D97-AF65-F5344CB8AC3E}">
        <p14:creationId xmlns:p14="http://schemas.microsoft.com/office/powerpoint/2010/main" val="4135075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328B6ED-6388-4D7A-9C15-6B862EEF1775}"/>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CF8DF1C-B72E-4404-B7D8-6DB0EA469C69}"/>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36C5AEA0-2E22-4EDD-BBF1-76B400519FEA}"/>
              </a:ext>
            </a:extLst>
          </p:cNvPr>
          <p:cNvSpPr>
            <a:spLocks noGrp="1"/>
          </p:cNvSpPr>
          <p:nvPr>
            <p:ph type="dt" sz="half" idx="10"/>
          </p:nvPr>
        </p:nvSpPr>
        <p:spPr/>
        <p:txBody>
          <a:bodyPr/>
          <a:lstStyle>
            <a:lvl1pPr>
              <a:defRPr/>
            </a:lvl1pPr>
          </a:lstStyle>
          <a:p>
            <a:pPr>
              <a:defRPr/>
            </a:pPr>
            <a:fld id="{1C6F9B6B-D09D-4EE9-B327-318711300910}" type="datetime1">
              <a:rPr lang="en-GB"/>
              <a:pPr>
                <a:defRPr/>
              </a:pPr>
              <a:t>12/08/2025</a:t>
            </a:fld>
            <a:endParaRPr lang="en-GB"/>
          </a:p>
        </p:txBody>
      </p:sp>
      <p:sp>
        <p:nvSpPr>
          <p:cNvPr id="7" name="Footer Placeholder 4">
            <a:extLst>
              <a:ext uri="{FF2B5EF4-FFF2-40B4-BE49-F238E27FC236}">
                <a16:creationId xmlns:a16="http://schemas.microsoft.com/office/drawing/2014/main" id="{24546F9C-CD66-470E-AD8D-C1A0684BD223}"/>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5">
            <a:extLst>
              <a:ext uri="{FF2B5EF4-FFF2-40B4-BE49-F238E27FC236}">
                <a16:creationId xmlns:a16="http://schemas.microsoft.com/office/drawing/2014/main" id="{1AEDB623-08F5-4B40-B07B-A4CBD606527F}"/>
              </a:ext>
            </a:extLst>
          </p:cNvPr>
          <p:cNvSpPr>
            <a:spLocks noGrp="1"/>
          </p:cNvSpPr>
          <p:nvPr>
            <p:ph type="sldNum" sz="quarter" idx="12"/>
          </p:nvPr>
        </p:nvSpPr>
        <p:spPr/>
        <p:txBody>
          <a:bodyPr/>
          <a:lstStyle>
            <a:lvl1pPr>
              <a:defRPr/>
            </a:lvl1pPr>
          </a:lstStyle>
          <a:p>
            <a:fld id="{2AB7BACB-4AE9-43D3-A01D-526DAD2EEAEB}" type="slidenum">
              <a:rPr lang="en-GB" altLang="en-US"/>
              <a:pPr/>
              <a:t>‹#›</a:t>
            </a:fld>
            <a:endParaRPr lang="en-GB" altLang="en-US"/>
          </a:p>
        </p:txBody>
      </p:sp>
    </p:spTree>
    <p:extLst>
      <p:ext uri="{BB962C8B-B14F-4D97-AF65-F5344CB8AC3E}">
        <p14:creationId xmlns:p14="http://schemas.microsoft.com/office/powerpoint/2010/main" val="2044356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3F9116C1-8103-4D37-A3F9-1B333A80DFB1}"/>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655F878-2B4E-4787-9344-FDF4A114E545}"/>
              </a:ext>
            </a:extLst>
          </p:cNvPr>
          <p:cNvSpPr>
            <a:spLocks noGrp="1"/>
          </p:cNvSpPr>
          <p:nvPr>
            <p:ph type="dt" sz="half" idx="10"/>
          </p:nvPr>
        </p:nvSpPr>
        <p:spPr/>
        <p:txBody>
          <a:bodyPr/>
          <a:lstStyle>
            <a:lvl1pPr>
              <a:defRPr/>
            </a:lvl1pPr>
          </a:lstStyle>
          <a:p>
            <a:pPr>
              <a:defRPr/>
            </a:pPr>
            <a:fld id="{F352A33D-AF27-4EF4-9064-CA4BAC118CEF}" type="datetime1">
              <a:rPr lang="en-GB"/>
              <a:pPr>
                <a:defRPr/>
              </a:pPr>
              <a:t>12/08/2025</a:t>
            </a:fld>
            <a:endParaRPr lang="en-GB"/>
          </a:p>
        </p:txBody>
      </p:sp>
      <p:sp>
        <p:nvSpPr>
          <p:cNvPr id="6" name="Footer Placeholder 4">
            <a:extLst>
              <a:ext uri="{FF2B5EF4-FFF2-40B4-BE49-F238E27FC236}">
                <a16:creationId xmlns:a16="http://schemas.microsoft.com/office/drawing/2014/main" id="{A533071E-865C-4981-80E4-F9669C334E55}"/>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7" name="Slide Number Placeholder 5">
            <a:extLst>
              <a:ext uri="{FF2B5EF4-FFF2-40B4-BE49-F238E27FC236}">
                <a16:creationId xmlns:a16="http://schemas.microsoft.com/office/drawing/2014/main" id="{0FE39062-31F1-48B4-9E00-4272F4B458DD}"/>
              </a:ext>
            </a:extLst>
          </p:cNvPr>
          <p:cNvSpPr>
            <a:spLocks noGrp="1"/>
          </p:cNvSpPr>
          <p:nvPr>
            <p:ph type="sldNum" sz="quarter" idx="12"/>
          </p:nvPr>
        </p:nvSpPr>
        <p:spPr/>
        <p:txBody>
          <a:bodyPr/>
          <a:lstStyle>
            <a:lvl1pPr>
              <a:defRPr/>
            </a:lvl1pPr>
          </a:lstStyle>
          <a:p>
            <a:fld id="{6B5D1A11-B790-45F1-9A94-33CE58BEC72C}" type="slidenum">
              <a:rPr lang="en-GB" altLang="en-US"/>
              <a:pPr/>
              <a:t>‹#›</a:t>
            </a:fld>
            <a:endParaRPr lang="en-GB" altLang="en-US"/>
          </a:p>
        </p:txBody>
      </p:sp>
    </p:spTree>
    <p:extLst>
      <p:ext uri="{BB962C8B-B14F-4D97-AF65-F5344CB8AC3E}">
        <p14:creationId xmlns:p14="http://schemas.microsoft.com/office/powerpoint/2010/main" val="2247145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D5F7D93-4FD6-4F7B-85F2-DAC3FDB6B205}"/>
              </a:ext>
            </a:extLst>
          </p:cNvPr>
          <p:cNvSpPr>
            <a:spLocks noGrp="1"/>
          </p:cNvSpPr>
          <p:nvPr>
            <p:ph type="dt" sz="half" idx="10"/>
          </p:nvPr>
        </p:nvSpPr>
        <p:spPr/>
        <p:txBody>
          <a:bodyPr/>
          <a:lstStyle>
            <a:lvl1pPr>
              <a:defRPr/>
            </a:lvl1pPr>
          </a:lstStyle>
          <a:p>
            <a:pPr>
              <a:defRPr/>
            </a:pPr>
            <a:fld id="{8941344F-95E5-4A17-BCF6-94AF2EFD4F8D}" type="datetime1">
              <a:rPr lang="en-GB"/>
              <a:pPr>
                <a:defRPr/>
              </a:pPr>
              <a:t>12/08/2025</a:t>
            </a:fld>
            <a:endParaRPr lang="en-US"/>
          </a:p>
        </p:txBody>
      </p:sp>
      <p:sp>
        <p:nvSpPr>
          <p:cNvPr id="5" name="Slide Number Placeholder 5">
            <a:extLst>
              <a:ext uri="{FF2B5EF4-FFF2-40B4-BE49-F238E27FC236}">
                <a16:creationId xmlns:a16="http://schemas.microsoft.com/office/drawing/2014/main" id="{C31EF581-8B68-4001-8085-4F9EA370462C}"/>
              </a:ext>
            </a:extLst>
          </p:cNvPr>
          <p:cNvSpPr>
            <a:spLocks noGrp="1"/>
          </p:cNvSpPr>
          <p:nvPr>
            <p:ph type="sldNum" sz="quarter" idx="11"/>
          </p:nvPr>
        </p:nvSpPr>
        <p:spPr/>
        <p:txBody>
          <a:bodyPr/>
          <a:lstStyle>
            <a:lvl1pPr>
              <a:defRPr/>
            </a:lvl1pPr>
          </a:lstStyle>
          <a:p>
            <a:fld id="{CDF7CBBD-9716-4A57-A07D-8511D9C9E288}" type="slidenum">
              <a:rPr lang="en-US" altLang="en-US"/>
              <a:pPr/>
              <a:t>‹#›</a:t>
            </a:fld>
            <a:endParaRPr lang="en-US" altLang="en-US"/>
          </a:p>
        </p:txBody>
      </p:sp>
    </p:spTree>
    <p:extLst>
      <p:ext uri="{BB962C8B-B14F-4D97-AF65-F5344CB8AC3E}">
        <p14:creationId xmlns:p14="http://schemas.microsoft.com/office/powerpoint/2010/main" val="14980876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9AF3D4B-B572-468F-882C-9F6FCA2E161C}"/>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92F4651-377C-4570-B1BB-B9A6D0034B8B}"/>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F312FFA4-CC4D-4961-B249-FDCAA1A81E46}"/>
              </a:ext>
            </a:extLst>
          </p:cNvPr>
          <p:cNvSpPr>
            <a:spLocks noGrp="1"/>
          </p:cNvSpPr>
          <p:nvPr>
            <p:ph type="dt" sz="half" idx="10"/>
          </p:nvPr>
        </p:nvSpPr>
        <p:spPr/>
        <p:txBody>
          <a:bodyPr/>
          <a:lstStyle>
            <a:lvl1pPr>
              <a:defRPr/>
            </a:lvl1pPr>
          </a:lstStyle>
          <a:p>
            <a:pPr>
              <a:defRPr/>
            </a:pPr>
            <a:fld id="{E9641DED-C2C8-4CF2-9A08-1A465667D1F6}" type="datetime1">
              <a:rPr lang="en-GB"/>
              <a:pPr>
                <a:defRPr/>
              </a:pPr>
              <a:t>12/08/2025</a:t>
            </a:fld>
            <a:endParaRPr lang="en-GB"/>
          </a:p>
        </p:txBody>
      </p:sp>
      <p:sp>
        <p:nvSpPr>
          <p:cNvPr id="7" name="Footer Placeholder 4">
            <a:extLst>
              <a:ext uri="{FF2B5EF4-FFF2-40B4-BE49-F238E27FC236}">
                <a16:creationId xmlns:a16="http://schemas.microsoft.com/office/drawing/2014/main" id="{FC4A368A-A812-4DC6-9B8B-74E2700FC424}"/>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5">
            <a:extLst>
              <a:ext uri="{FF2B5EF4-FFF2-40B4-BE49-F238E27FC236}">
                <a16:creationId xmlns:a16="http://schemas.microsoft.com/office/drawing/2014/main" id="{2E8250B1-629A-420F-9B58-5C62AB8F4EFC}"/>
              </a:ext>
            </a:extLst>
          </p:cNvPr>
          <p:cNvSpPr>
            <a:spLocks noGrp="1"/>
          </p:cNvSpPr>
          <p:nvPr>
            <p:ph type="sldNum" sz="quarter" idx="12"/>
          </p:nvPr>
        </p:nvSpPr>
        <p:spPr/>
        <p:txBody>
          <a:bodyPr/>
          <a:lstStyle>
            <a:lvl1pPr>
              <a:defRPr/>
            </a:lvl1pPr>
          </a:lstStyle>
          <a:p>
            <a:fld id="{6A599F57-F34C-4B64-AB26-540D0D10635D}" type="slidenum">
              <a:rPr lang="en-GB" altLang="en-US"/>
              <a:pPr/>
              <a:t>‹#›</a:t>
            </a:fld>
            <a:endParaRPr lang="en-GB" altLang="en-US"/>
          </a:p>
        </p:txBody>
      </p:sp>
    </p:spTree>
    <p:extLst>
      <p:ext uri="{BB962C8B-B14F-4D97-AF65-F5344CB8AC3E}">
        <p14:creationId xmlns:p14="http://schemas.microsoft.com/office/powerpoint/2010/main" val="228454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CF5593-EC02-46A5-9A2D-5221928AF8A8}"/>
              </a:ext>
            </a:extLst>
          </p:cNvPr>
          <p:cNvSpPr>
            <a:spLocks noGrp="1"/>
          </p:cNvSpPr>
          <p:nvPr>
            <p:ph type="dt" sz="half" idx="10"/>
          </p:nvPr>
        </p:nvSpPr>
        <p:spPr/>
        <p:txBody>
          <a:bodyPr/>
          <a:lstStyle>
            <a:lvl1pPr>
              <a:defRPr/>
            </a:lvl1pPr>
          </a:lstStyle>
          <a:p>
            <a:pPr>
              <a:defRPr/>
            </a:pPr>
            <a:fld id="{F261C0DD-8C9E-425B-A285-49FE5CA169F2}" type="datetime1">
              <a:rPr lang="en-GB"/>
              <a:pPr>
                <a:defRPr/>
              </a:pPr>
              <a:t>12/08/2025</a:t>
            </a:fld>
            <a:endParaRPr lang="en-GB"/>
          </a:p>
        </p:txBody>
      </p:sp>
      <p:sp>
        <p:nvSpPr>
          <p:cNvPr id="5" name="Footer Placeholder 4">
            <a:extLst>
              <a:ext uri="{FF2B5EF4-FFF2-40B4-BE49-F238E27FC236}">
                <a16:creationId xmlns:a16="http://schemas.microsoft.com/office/drawing/2014/main" id="{6F136575-5BA7-46A5-960F-2D4025ACD1F2}"/>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6" name="Slide Number Placeholder 5">
            <a:extLst>
              <a:ext uri="{FF2B5EF4-FFF2-40B4-BE49-F238E27FC236}">
                <a16:creationId xmlns:a16="http://schemas.microsoft.com/office/drawing/2014/main" id="{ECEC783C-AB7C-483A-8AFE-7A44BB1F2BDD}"/>
              </a:ext>
            </a:extLst>
          </p:cNvPr>
          <p:cNvSpPr>
            <a:spLocks noGrp="1"/>
          </p:cNvSpPr>
          <p:nvPr>
            <p:ph type="sldNum" sz="quarter" idx="12"/>
          </p:nvPr>
        </p:nvSpPr>
        <p:spPr/>
        <p:txBody>
          <a:bodyPr/>
          <a:lstStyle>
            <a:lvl1pPr>
              <a:defRPr/>
            </a:lvl1pPr>
          </a:lstStyle>
          <a:p>
            <a:fld id="{E71383F0-E334-406E-82F6-ABC3333B90AF}" type="slidenum">
              <a:rPr lang="en-GB" altLang="en-US"/>
              <a:pPr/>
              <a:t>‹#›</a:t>
            </a:fld>
            <a:endParaRPr lang="en-GB" altLang="en-US"/>
          </a:p>
        </p:txBody>
      </p:sp>
    </p:spTree>
    <p:extLst>
      <p:ext uri="{BB962C8B-B14F-4D97-AF65-F5344CB8AC3E}">
        <p14:creationId xmlns:p14="http://schemas.microsoft.com/office/powerpoint/2010/main" val="790476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581DD12-C51D-478A-A43C-B70133501F6D}"/>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D41F8A-C5B5-4592-8CCE-ABBDBBE0C00C}"/>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F1923445-EC64-410B-99D9-CE676CC8E364}"/>
              </a:ext>
            </a:extLst>
          </p:cNvPr>
          <p:cNvSpPr>
            <a:spLocks noGrp="1"/>
          </p:cNvSpPr>
          <p:nvPr>
            <p:ph type="dt" sz="half" idx="10"/>
          </p:nvPr>
        </p:nvSpPr>
        <p:spPr/>
        <p:txBody>
          <a:bodyPr/>
          <a:lstStyle>
            <a:lvl1pPr>
              <a:defRPr/>
            </a:lvl1pPr>
          </a:lstStyle>
          <a:p>
            <a:pPr>
              <a:defRPr/>
            </a:pPr>
            <a:fld id="{EA4DE47A-A094-4F70-8052-9916781F906B}" type="datetime1">
              <a:rPr lang="en-GB"/>
              <a:pPr>
                <a:defRPr/>
              </a:pPr>
              <a:t>12/08/2025</a:t>
            </a:fld>
            <a:endParaRPr lang="en-GB"/>
          </a:p>
        </p:txBody>
      </p:sp>
      <p:sp>
        <p:nvSpPr>
          <p:cNvPr id="8" name="Footer Placeholder 5">
            <a:extLst>
              <a:ext uri="{FF2B5EF4-FFF2-40B4-BE49-F238E27FC236}">
                <a16:creationId xmlns:a16="http://schemas.microsoft.com/office/drawing/2014/main" id="{6CD27E16-4A04-419C-926B-954958804C13}"/>
              </a:ext>
            </a:extLst>
          </p:cNvPr>
          <p:cNvSpPr>
            <a:spLocks noGrp="1"/>
          </p:cNvSpPr>
          <p:nvPr>
            <p:ph type="ftr" sz="quarter" idx="11"/>
          </p:nvPr>
        </p:nvSpPr>
        <p:spPr/>
        <p:txBody>
          <a:bodyPr/>
          <a:lstStyle>
            <a:lvl1pPr>
              <a:defRPr/>
            </a:lvl1pPr>
          </a:lstStyle>
          <a:p>
            <a:pPr>
              <a:defRPr/>
            </a:pPr>
            <a:r>
              <a:rPr lang="en-US"/>
              <a:t>Confidential to Selfservit, TVS &amp; Sons</a:t>
            </a:r>
            <a:endParaRPr lang="en-GB"/>
          </a:p>
        </p:txBody>
      </p:sp>
      <p:sp>
        <p:nvSpPr>
          <p:cNvPr id="9" name="Slide Number Placeholder 6">
            <a:extLst>
              <a:ext uri="{FF2B5EF4-FFF2-40B4-BE49-F238E27FC236}">
                <a16:creationId xmlns:a16="http://schemas.microsoft.com/office/drawing/2014/main" id="{B186128F-1E40-4813-99BB-DB7F404D8917}"/>
              </a:ext>
            </a:extLst>
          </p:cNvPr>
          <p:cNvSpPr>
            <a:spLocks noGrp="1"/>
          </p:cNvSpPr>
          <p:nvPr>
            <p:ph type="sldNum" sz="quarter" idx="12"/>
          </p:nvPr>
        </p:nvSpPr>
        <p:spPr/>
        <p:txBody>
          <a:bodyPr/>
          <a:lstStyle>
            <a:lvl1pPr>
              <a:defRPr/>
            </a:lvl1pPr>
          </a:lstStyle>
          <a:p>
            <a:fld id="{2633034D-9235-4127-824B-3BB567F9DC03}" type="slidenum">
              <a:rPr lang="en-GB" altLang="en-US"/>
              <a:pPr/>
              <a:t>‹#›</a:t>
            </a:fld>
            <a:endParaRPr lang="en-GB" altLang="en-US"/>
          </a:p>
        </p:txBody>
      </p:sp>
    </p:spTree>
    <p:extLst>
      <p:ext uri="{BB962C8B-B14F-4D97-AF65-F5344CB8AC3E}">
        <p14:creationId xmlns:p14="http://schemas.microsoft.com/office/powerpoint/2010/main" val="4199055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EDF9CB-02F3-49AA-BAEE-59B0AD8E6C62}"/>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26D0D6-FB06-43CD-9CC1-C56902E6156E}"/>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6">
            <a:extLst>
              <a:ext uri="{FF2B5EF4-FFF2-40B4-BE49-F238E27FC236}">
                <a16:creationId xmlns:a16="http://schemas.microsoft.com/office/drawing/2014/main" id="{ADE072D5-EFCF-479F-B33F-0858393B8311}"/>
              </a:ext>
            </a:extLst>
          </p:cNvPr>
          <p:cNvSpPr>
            <a:spLocks noGrp="1"/>
          </p:cNvSpPr>
          <p:nvPr>
            <p:ph type="dt" sz="half" idx="10"/>
          </p:nvPr>
        </p:nvSpPr>
        <p:spPr/>
        <p:txBody>
          <a:bodyPr/>
          <a:lstStyle>
            <a:lvl1pPr>
              <a:defRPr/>
            </a:lvl1pPr>
          </a:lstStyle>
          <a:p>
            <a:pPr>
              <a:defRPr/>
            </a:pPr>
            <a:fld id="{C78E6B4F-1C95-4F45-94BB-EF8F51C908FF}" type="datetime1">
              <a:rPr lang="en-GB"/>
              <a:pPr>
                <a:defRPr/>
              </a:pPr>
              <a:t>12/08/2025</a:t>
            </a:fld>
            <a:endParaRPr lang="en-GB"/>
          </a:p>
        </p:txBody>
      </p:sp>
      <p:sp>
        <p:nvSpPr>
          <p:cNvPr id="10" name="Footer Placeholder 7">
            <a:extLst>
              <a:ext uri="{FF2B5EF4-FFF2-40B4-BE49-F238E27FC236}">
                <a16:creationId xmlns:a16="http://schemas.microsoft.com/office/drawing/2014/main" id="{42A66E6F-8AF9-4982-BAF0-B0E44C26FB4C}"/>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11" name="Slide Number Placeholder 8">
            <a:extLst>
              <a:ext uri="{FF2B5EF4-FFF2-40B4-BE49-F238E27FC236}">
                <a16:creationId xmlns:a16="http://schemas.microsoft.com/office/drawing/2014/main" id="{B87B1321-3A14-4A2E-B9C1-2F0802F71361}"/>
              </a:ext>
            </a:extLst>
          </p:cNvPr>
          <p:cNvSpPr>
            <a:spLocks noGrp="1"/>
          </p:cNvSpPr>
          <p:nvPr>
            <p:ph type="sldNum" sz="quarter" idx="12"/>
          </p:nvPr>
        </p:nvSpPr>
        <p:spPr/>
        <p:txBody>
          <a:bodyPr/>
          <a:lstStyle>
            <a:lvl1pPr>
              <a:defRPr/>
            </a:lvl1pPr>
          </a:lstStyle>
          <a:p>
            <a:fld id="{B78CC861-F12A-4D0D-98FA-19BF66B4F317}" type="slidenum">
              <a:rPr lang="en-GB" altLang="en-US"/>
              <a:pPr/>
              <a:t>‹#›</a:t>
            </a:fld>
            <a:endParaRPr lang="en-GB" altLang="en-US"/>
          </a:p>
        </p:txBody>
      </p:sp>
    </p:spTree>
    <p:extLst>
      <p:ext uri="{BB962C8B-B14F-4D97-AF65-F5344CB8AC3E}">
        <p14:creationId xmlns:p14="http://schemas.microsoft.com/office/powerpoint/2010/main" val="2780957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C6B1BC3-3CF8-4B6B-8B80-5668E513AD12}"/>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A57229C9-E28A-4F42-8EDA-2E7D3358AFA4}"/>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5" name="Date Placeholder 2">
            <a:extLst>
              <a:ext uri="{FF2B5EF4-FFF2-40B4-BE49-F238E27FC236}">
                <a16:creationId xmlns:a16="http://schemas.microsoft.com/office/drawing/2014/main" id="{99776C50-D15B-4293-841C-70A6599F01BA}"/>
              </a:ext>
            </a:extLst>
          </p:cNvPr>
          <p:cNvSpPr>
            <a:spLocks noGrp="1"/>
          </p:cNvSpPr>
          <p:nvPr>
            <p:ph type="dt" sz="half" idx="10"/>
          </p:nvPr>
        </p:nvSpPr>
        <p:spPr/>
        <p:txBody>
          <a:bodyPr/>
          <a:lstStyle>
            <a:lvl1pPr>
              <a:defRPr/>
            </a:lvl1pPr>
          </a:lstStyle>
          <a:p>
            <a:pPr>
              <a:defRPr/>
            </a:pPr>
            <a:fld id="{3F27F432-7F47-495B-B855-D02D356DDBCB}" type="datetime1">
              <a:rPr lang="en-GB"/>
              <a:pPr>
                <a:defRPr/>
              </a:pPr>
              <a:t>12/08/2025</a:t>
            </a:fld>
            <a:endParaRPr lang="en-GB"/>
          </a:p>
        </p:txBody>
      </p:sp>
      <p:sp>
        <p:nvSpPr>
          <p:cNvPr id="6" name="Footer Placeholder 3">
            <a:extLst>
              <a:ext uri="{FF2B5EF4-FFF2-40B4-BE49-F238E27FC236}">
                <a16:creationId xmlns:a16="http://schemas.microsoft.com/office/drawing/2014/main" id="{6DB23EA2-B152-45FB-817D-F0A3603B0F91}"/>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7" name="Slide Number Placeholder 4">
            <a:extLst>
              <a:ext uri="{FF2B5EF4-FFF2-40B4-BE49-F238E27FC236}">
                <a16:creationId xmlns:a16="http://schemas.microsoft.com/office/drawing/2014/main" id="{D638AF59-9DA8-40B8-AAE7-B011D8F84EA6}"/>
              </a:ext>
            </a:extLst>
          </p:cNvPr>
          <p:cNvSpPr>
            <a:spLocks noGrp="1"/>
          </p:cNvSpPr>
          <p:nvPr>
            <p:ph type="sldNum" sz="quarter" idx="12"/>
          </p:nvPr>
        </p:nvSpPr>
        <p:spPr/>
        <p:txBody>
          <a:bodyPr/>
          <a:lstStyle>
            <a:lvl1pPr>
              <a:defRPr/>
            </a:lvl1pPr>
          </a:lstStyle>
          <a:p>
            <a:fld id="{6002C1E2-AF94-4749-86E7-67CD27E19E68}" type="slidenum">
              <a:rPr lang="en-GB" altLang="en-US"/>
              <a:pPr/>
              <a:t>‹#›</a:t>
            </a:fld>
            <a:endParaRPr lang="en-GB" altLang="en-US"/>
          </a:p>
        </p:txBody>
      </p:sp>
    </p:spTree>
    <p:extLst>
      <p:ext uri="{BB962C8B-B14F-4D97-AF65-F5344CB8AC3E}">
        <p14:creationId xmlns:p14="http://schemas.microsoft.com/office/powerpoint/2010/main" val="1725153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AEE03D8-9DF1-4835-B1CF-B5A7CDED55C4}"/>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1">
            <a:extLst>
              <a:ext uri="{FF2B5EF4-FFF2-40B4-BE49-F238E27FC236}">
                <a16:creationId xmlns:a16="http://schemas.microsoft.com/office/drawing/2014/main" id="{00DD7B71-95B8-459F-BAAD-357790763B53}"/>
              </a:ext>
            </a:extLst>
          </p:cNvPr>
          <p:cNvSpPr>
            <a:spLocks noGrp="1"/>
          </p:cNvSpPr>
          <p:nvPr>
            <p:ph type="dt" sz="half" idx="10"/>
          </p:nvPr>
        </p:nvSpPr>
        <p:spPr/>
        <p:txBody>
          <a:bodyPr/>
          <a:lstStyle>
            <a:lvl1pPr>
              <a:defRPr/>
            </a:lvl1pPr>
          </a:lstStyle>
          <a:p>
            <a:pPr>
              <a:defRPr/>
            </a:pPr>
            <a:fld id="{A4AC5712-1E90-422F-9A97-F2A57076054F}" type="datetime1">
              <a:rPr lang="en-GB"/>
              <a:pPr>
                <a:defRPr/>
              </a:pPr>
              <a:t>12/08/2025</a:t>
            </a:fld>
            <a:endParaRPr lang="en-GB"/>
          </a:p>
        </p:txBody>
      </p:sp>
      <p:sp>
        <p:nvSpPr>
          <p:cNvPr id="4" name="Footer Placeholder 2">
            <a:extLst>
              <a:ext uri="{FF2B5EF4-FFF2-40B4-BE49-F238E27FC236}">
                <a16:creationId xmlns:a16="http://schemas.microsoft.com/office/drawing/2014/main" id="{D7577DFD-0CE8-4A25-A27F-1E51B72CF101}"/>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5" name="Slide Number Placeholder 3">
            <a:extLst>
              <a:ext uri="{FF2B5EF4-FFF2-40B4-BE49-F238E27FC236}">
                <a16:creationId xmlns:a16="http://schemas.microsoft.com/office/drawing/2014/main" id="{657F3A9A-09BB-4004-8EE9-8DBB406F44B7}"/>
              </a:ext>
            </a:extLst>
          </p:cNvPr>
          <p:cNvSpPr>
            <a:spLocks noGrp="1"/>
          </p:cNvSpPr>
          <p:nvPr>
            <p:ph type="sldNum" sz="quarter" idx="12"/>
          </p:nvPr>
        </p:nvSpPr>
        <p:spPr/>
        <p:txBody>
          <a:bodyPr/>
          <a:lstStyle>
            <a:lvl1pPr>
              <a:defRPr/>
            </a:lvl1pPr>
          </a:lstStyle>
          <a:p>
            <a:fld id="{8616C78B-0C59-4B83-A3AF-83563F6DCDA7}" type="slidenum">
              <a:rPr lang="en-GB" altLang="en-US"/>
              <a:pPr/>
              <a:t>‹#›</a:t>
            </a:fld>
            <a:endParaRPr lang="en-GB" altLang="en-US"/>
          </a:p>
        </p:txBody>
      </p:sp>
    </p:spTree>
    <p:extLst>
      <p:ext uri="{BB962C8B-B14F-4D97-AF65-F5344CB8AC3E}">
        <p14:creationId xmlns:p14="http://schemas.microsoft.com/office/powerpoint/2010/main" val="393443437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93DE471-DB66-4C90-9329-06C69E624769}"/>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4761BA79-A8AE-4144-83FE-821059AF0C38}"/>
              </a:ext>
            </a:extLst>
          </p:cNvPr>
          <p:cNvSpPr>
            <a:spLocks noGrp="1"/>
          </p:cNvSpPr>
          <p:nvPr>
            <p:ph type="dt" sz="half" idx="10"/>
          </p:nvPr>
        </p:nvSpPr>
        <p:spPr/>
        <p:txBody>
          <a:bodyPr/>
          <a:lstStyle>
            <a:lvl1pPr>
              <a:defRPr/>
            </a:lvl1pPr>
          </a:lstStyle>
          <a:p>
            <a:pPr>
              <a:defRPr/>
            </a:pPr>
            <a:fld id="{DD1DC629-F0B2-409D-9F8B-A57AB4FB81E8}" type="datetime1">
              <a:rPr lang="en-GB"/>
              <a:pPr>
                <a:defRPr/>
              </a:pPr>
              <a:t>12/08/2025</a:t>
            </a:fld>
            <a:endParaRPr lang="en-GB"/>
          </a:p>
        </p:txBody>
      </p:sp>
      <p:sp>
        <p:nvSpPr>
          <p:cNvPr id="7" name="Footer Placeholder 5">
            <a:extLst>
              <a:ext uri="{FF2B5EF4-FFF2-40B4-BE49-F238E27FC236}">
                <a16:creationId xmlns:a16="http://schemas.microsoft.com/office/drawing/2014/main" id="{22E0D1BC-BC3D-466E-A087-0A3BDBFA044B}"/>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6">
            <a:extLst>
              <a:ext uri="{FF2B5EF4-FFF2-40B4-BE49-F238E27FC236}">
                <a16:creationId xmlns:a16="http://schemas.microsoft.com/office/drawing/2014/main" id="{05266AC6-160E-4449-89FF-FC87CAE51145}"/>
              </a:ext>
            </a:extLst>
          </p:cNvPr>
          <p:cNvSpPr>
            <a:spLocks noGrp="1"/>
          </p:cNvSpPr>
          <p:nvPr>
            <p:ph type="sldNum" sz="quarter" idx="12"/>
          </p:nvPr>
        </p:nvSpPr>
        <p:spPr/>
        <p:txBody>
          <a:bodyPr/>
          <a:lstStyle>
            <a:lvl1pPr>
              <a:defRPr/>
            </a:lvl1pPr>
          </a:lstStyle>
          <a:p>
            <a:fld id="{A6D52808-D3AA-4CAF-84DD-12DE369B2A27}" type="slidenum">
              <a:rPr lang="en-GB" altLang="en-US"/>
              <a:pPr/>
              <a:t>‹#›</a:t>
            </a:fld>
            <a:endParaRPr lang="en-GB" altLang="en-US"/>
          </a:p>
        </p:txBody>
      </p:sp>
    </p:spTree>
    <p:extLst>
      <p:ext uri="{BB962C8B-B14F-4D97-AF65-F5344CB8AC3E}">
        <p14:creationId xmlns:p14="http://schemas.microsoft.com/office/powerpoint/2010/main" val="238755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F5A8B9B-5ECD-4FC9-B540-40A9DD0ADB1C}"/>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AF846769-3BCF-4D1B-B5B2-1827DAE95BA3}"/>
              </a:ext>
            </a:extLst>
          </p:cNvPr>
          <p:cNvSpPr>
            <a:spLocks noGrp="1"/>
          </p:cNvSpPr>
          <p:nvPr>
            <p:ph type="dt" sz="half" idx="10"/>
          </p:nvPr>
        </p:nvSpPr>
        <p:spPr/>
        <p:txBody>
          <a:bodyPr/>
          <a:lstStyle>
            <a:lvl1pPr>
              <a:defRPr/>
            </a:lvl1pPr>
          </a:lstStyle>
          <a:p>
            <a:pPr>
              <a:defRPr/>
            </a:pPr>
            <a:fld id="{B1FE9541-D21A-40B0-99F1-5A072983F80B}" type="datetime1">
              <a:rPr lang="en-GB"/>
              <a:pPr>
                <a:defRPr/>
              </a:pPr>
              <a:t>12/08/2025</a:t>
            </a:fld>
            <a:endParaRPr lang="en-GB"/>
          </a:p>
        </p:txBody>
      </p:sp>
      <p:sp>
        <p:nvSpPr>
          <p:cNvPr id="7" name="Footer Placeholder 5">
            <a:extLst>
              <a:ext uri="{FF2B5EF4-FFF2-40B4-BE49-F238E27FC236}">
                <a16:creationId xmlns:a16="http://schemas.microsoft.com/office/drawing/2014/main" id="{E2078BF1-947F-41E8-A834-422C767DC6CC}"/>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6">
            <a:extLst>
              <a:ext uri="{FF2B5EF4-FFF2-40B4-BE49-F238E27FC236}">
                <a16:creationId xmlns:a16="http://schemas.microsoft.com/office/drawing/2014/main" id="{0D789C41-CEEF-4D74-835D-A8588D4ADFDC}"/>
              </a:ext>
            </a:extLst>
          </p:cNvPr>
          <p:cNvSpPr>
            <a:spLocks noGrp="1"/>
          </p:cNvSpPr>
          <p:nvPr>
            <p:ph type="sldNum" sz="quarter" idx="12"/>
          </p:nvPr>
        </p:nvSpPr>
        <p:spPr/>
        <p:txBody>
          <a:bodyPr/>
          <a:lstStyle>
            <a:lvl1pPr>
              <a:defRPr/>
            </a:lvl1pPr>
          </a:lstStyle>
          <a:p>
            <a:fld id="{78A9BD3B-CEEE-426F-8F9E-0FBB4B24B8B7}" type="slidenum">
              <a:rPr lang="en-GB" altLang="en-US"/>
              <a:pPr/>
              <a:t>‹#›</a:t>
            </a:fld>
            <a:endParaRPr lang="en-GB" altLang="en-US"/>
          </a:p>
        </p:txBody>
      </p:sp>
    </p:spTree>
    <p:extLst>
      <p:ext uri="{BB962C8B-B14F-4D97-AF65-F5344CB8AC3E}">
        <p14:creationId xmlns:p14="http://schemas.microsoft.com/office/powerpoint/2010/main" val="1092365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76E08E-1039-4E6A-AEC0-E0535DA66EB4}"/>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FBDA328-2872-43C4-AE55-11852F4FAFB0}"/>
              </a:ext>
            </a:extLst>
          </p:cNvPr>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10011841-3D73-4D28-8B32-EFD628C46FB5}"/>
              </a:ext>
            </a:extLst>
          </p:cNvPr>
          <p:cNvSpPr>
            <a:spLocks noGrp="1"/>
          </p:cNvSpPr>
          <p:nvPr>
            <p:ph type="dt" sz="half" idx="10"/>
          </p:nvPr>
        </p:nvSpPr>
        <p:spPr/>
        <p:txBody>
          <a:bodyPr/>
          <a:lstStyle>
            <a:lvl1pPr>
              <a:defRPr/>
            </a:lvl1pPr>
          </a:lstStyle>
          <a:p>
            <a:pPr>
              <a:defRPr/>
            </a:pPr>
            <a:fld id="{A1414913-E088-4FDE-A6AC-E386F4F28B3D}" type="datetime1">
              <a:rPr lang="en-GB"/>
              <a:pPr>
                <a:defRPr/>
              </a:pPr>
              <a:t>12/08/2025</a:t>
            </a:fld>
            <a:endParaRPr lang="en-GB"/>
          </a:p>
        </p:txBody>
      </p:sp>
      <p:sp>
        <p:nvSpPr>
          <p:cNvPr id="7" name="Footer Placeholder 4">
            <a:extLst>
              <a:ext uri="{FF2B5EF4-FFF2-40B4-BE49-F238E27FC236}">
                <a16:creationId xmlns:a16="http://schemas.microsoft.com/office/drawing/2014/main" id="{D9AE545F-C00C-4D44-BCC2-01B83DB60239}"/>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8" name="Slide Number Placeholder 5">
            <a:extLst>
              <a:ext uri="{FF2B5EF4-FFF2-40B4-BE49-F238E27FC236}">
                <a16:creationId xmlns:a16="http://schemas.microsoft.com/office/drawing/2014/main" id="{CF88E178-5601-49C3-89E0-C845EEA0A573}"/>
              </a:ext>
            </a:extLst>
          </p:cNvPr>
          <p:cNvSpPr>
            <a:spLocks noGrp="1"/>
          </p:cNvSpPr>
          <p:nvPr>
            <p:ph type="sldNum" sz="quarter" idx="12"/>
          </p:nvPr>
        </p:nvSpPr>
        <p:spPr/>
        <p:txBody>
          <a:bodyPr/>
          <a:lstStyle>
            <a:lvl1pPr>
              <a:defRPr/>
            </a:lvl1pPr>
          </a:lstStyle>
          <a:p>
            <a:fld id="{6AE8911E-C969-4BBC-A177-C3E5D56FCBD9}" type="slidenum">
              <a:rPr lang="en-GB" altLang="en-US"/>
              <a:pPr/>
              <a:t>‹#›</a:t>
            </a:fld>
            <a:endParaRPr lang="en-GB" altLang="en-US"/>
          </a:p>
        </p:txBody>
      </p:sp>
    </p:spTree>
    <p:extLst>
      <p:ext uri="{BB962C8B-B14F-4D97-AF65-F5344CB8AC3E}">
        <p14:creationId xmlns:p14="http://schemas.microsoft.com/office/powerpoint/2010/main" val="37900847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B869832-DE21-4603-9554-FD0E0EDF481E}"/>
              </a:ext>
            </a:extLst>
          </p:cNvPr>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948E048-AD16-4EF8-93EA-D9788CD2D0A3}"/>
              </a:ext>
            </a:extLst>
          </p:cNvPr>
          <p:cNvSpPr>
            <a:spLocks noGrp="1"/>
          </p:cNvSpPr>
          <p:nvPr>
            <p:ph type="dt" sz="half" idx="10"/>
          </p:nvPr>
        </p:nvSpPr>
        <p:spPr/>
        <p:txBody>
          <a:bodyPr/>
          <a:lstStyle>
            <a:lvl1pPr>
              <a:defRPr/>
            </a:lvl1pPr>
          </a:lstStyle>
          <a:p>
            <a:pPr>
              <a:defRPr/>
            </a:pPr>
            <a:fld id="{98930FA0-15A1-4846-ADAC-66E91BDA4381}" type="datetime1">
              <a:rPr lang="en-GB"/>
              <a:pPr>
                <a:defRPr/>
              </a:pPr>
              <a:t>12/08/2025</a:t>
            </a:fld>
            <a:endParaRPr lang="en-GB"/>
          </a:p>
        </p:txBody>
      </p:sp>
      <p:sp>
        <p:nvSpPr>
          <p:cNvPr id="6" name="Footer Placeholder 4">
            <a:extLst>
              <a:ext uri="{FF2B5EF4-FFF2-40B4-BE49-F238E27FC236}">
                <a16:creationId xmlns:a16="http://schemas.microsoft.com/office/drawing/2014/main" id="{2EAEA697-B07C-4F6E-B32C-0B7A7A0FB5D6}"/>
              </a:ext>
            </a:extLst>
          </p:cNvPr>
          <p:cNvSpPr>
            <a:spLocks noGrp="1"/>
          </p:cNvSpPr>
          <p:nvPr>
            <p:ph type="ftr" sz="quarter" idx="11"/>
          </p:nvPr>
        </p:nvSpPr>
        <p:spPr/>
        <p:txBody>
          <a:bodyPr/>
          <a:lstStyle>
            <a:lvl1pPr>
              <a:defRPr/>
            </a:lvl1pPr>
          </a:lstStyle>
          <a:p>
            <a:pPr>
              <a:defRPr/>
            </a:pPr>
            <a:r>
              <a:rPr lang="en-US"/>
              <a:t>Confidential to Selfservit, TVS &amp; Sons</a:t>
            </a:r>
          </a:p>
        </p:txBody>
      </p:sp>
      <p:sp>
        <p:nvSpPr>
          <p:cNvPr id="7" name="Slide Number Placeholder 5">
            <a:extLst>
              <a:ext uri="{FF2B5EF4-FFF2-40B4-BE49-F238E27FC236}">
                <a16:creationId xmlns:a16="http://schemas.microsoft.com/office/drawing/2014/main" id="{CD79EF43-1850-4249-925B-D20AF3F43CE7}"/>
              </a:ext>
            </a:extLst>
          </p:cNvPr>
          <p:cNvSpPr>
            <a:spLocks noGrp="1"/>
          </p:cNvSpPr>
          <p:nvPr>
            <p:ph type="sldNum" sz="quarter" idx="12"/>
          </p:nvPr>
        </p:nvSpPr>
        <p:spPr/>
        <p:txBody>
          <a:bodyPr/>
          <a:lstStyle>
            <a:lvl1pPr>
              <a:defRPr/>
            </a:lvl1pPr>
          </a:lstStyle>
          <a:p>
            <a:fld id="{C02969F6-916F-48B7-B452-8DA2E67E25DA}" type="slidenum">
              <a:rPr lang="en-GB" altLang="en-US"/>
              <a:pPr/>
              <a:t>‹#›</a:t>
            </a:fld>
            <a:endParaRPr lang="en-GB" altLang="en-US"/>
          </a:p>
        </p:txBody>
      </p:sp>
    </p:spTree>
    <p:extLst>
      <p:ext uri="{BB962C8B-B14F-4D97-AF65-F5344CB8AC3E}">
        <p14:creationId xmlns:p14="http://schemas.microsoft.com/office/powerpoint/2010/main" val="3135880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3.png"/><Relationship Id="rId2" Type="http://schemas.openxmlformats.org/officeDocument/2006/relationships/slideLayout" Target="../slideLayouts/slideLayout13.xml"/><Relationship Id="rId16" Type="http://schemas.openxmlformats.org/officeDocument/2006/relationships/image" Target="../media/image2.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oleObject" Target="../embeddings/oleObject2.bin"/><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l="-17000" r="-17000"/>
          </a:stretch>
        </a:blip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EF9EF7A-F342-6421-67ED-8B3748E12AF8}"/>
              </a:ext>
            </a:extLst>
          </p:cNvPr>
          <p:cNvGraphicFramePr>
            <a:graphicFrameLocks noChangeAspect="1"/>
          </p:cNvGraphicFramePr>
          <p:nvPr userDrawn="1">
            <p:custDataLst>
              <p:tags r:id="rId13"/>
            </p:custDataLst>
            <p:extLst>
              <p:ext uri="{D42A27DB-BD31-4B8C-83A1-F6EECF244321}">
                <p14:modId xmlns:p14="http://schemas.microsoft.com/office/powerpoint/2010/main" val="41193517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04" imgH="405" progId="TCLayout.ActiveDocument.1">
                  <p:embed/>
                </p:oleObj>
              </mc:Choice>
              <mc:Fallback>
                <p:oleObj name="think-cell Slide" r:id="rId15" imgW="404" imgH="405" progId="TCLayout.ActiveDocument.1">
                  <p:embed/>
                  <p:pic>
                    <p:nvPicPr>
                      <p:cNvPr id="3" name="think-cell data - do not delete" hidden="1">
                        <a:extLst>
                          <a:ext uri="{FF2B5EF4-FFF2-40B4-BE49-F238E27FC236}">
                            <a16:creationId xmlns:a16="http://schemas.microsoft.com/office/drawing/2014/main" id="{3EF9EF7A-F342-6421-67ED-8B3748E12AF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1026" name="Title Placeholder 1">
            <a:extLst>
              <a:ext uri="{FF2B5EF4-FFF2-40B4-BE49-F238E27FC236}">
                <a16:creationId xmlns:a16="http://schemas.microsoft.com/office/drawing/2014/main" id="{FE996923-35DC-4200-B29C-B49C1495DEC7}"/>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65F1B541-ADFC-4817-ACB4-D2339E5A01E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3F5404E-3819-43A9-B670-83CAB4242C3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ea typeface="Arial Unicode MS" pitchFamily="34" charset="-128"/>
                <a:cs typeface="Arial Unicode MS" pitchFamily="34" charset="-128"/>
              </a:defRPr>
            </a:lvl1pPr>
          </a:lstStyle>
          <a:p>
            <a:pPr>
              <a:defRPr/>
            </a:pPr>
            <a:fld id="{42CD644C-4064-4C07-AF64-6642E1D4CF0B}" type="datetime1">
              <a:rPr lang="en-GB"/>
              <a:pPr>
                <a:defRPr/>
              </a:pPr>
              <a:t>12/08/2025</a:t>
            </a:fld>
            <a:endParaRPr lang="en-GB"/>
          </a:p>
        </p:txBody>
      </p:sp>
      <p:sp>
        <p:nvSpPr>
          <p:cNvPr id="5" name="Footer Placeholder 4">
            <a:extLst>
              <a:ext uri="{FF2B5EF4-FFF2-40B4-BE49-F238E27FC236}">
                <a16:creationId xmlns:a16="http://schemas.microsoft.com/office/drawing/2014/main" id="{5834E142-66F8-4142-B4BF-92EF3B986672}"/>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Arial Unicode MS" pitchFamily="34" charset="-128"/>
                <a:cs typeface="Arial Unicode MS" pitchFamily="34" charset="-128"/>
              </a:defRPr>
            </a:lvl1pPr>
          </a:lstStyle>
          <a:p>
            <a:pPr>
              <a:defRPr/>
            </a:pPr>
            <a:r>
              <a:rPr lang="en-US"/>
              <a:t>Confidential to Selfservit, TVS &amp; Sons</a:t>
            </a:r>
          </a:p>
        </p:txBody>
      </p:sp>
      <p:sp>
        <p:nvSpPr>
          <p:cNvPr id="6" name="Slide Number Placeholder 5">
            <a:extLst>
              <a:ext uri="{FF2B5EF4-FFF2-40B4-BE49-F238E27FC236}">
                <a16:creationId xmlns:a16="http://schemas.microsoft.com/office/drawing/2014/main" id="{01291956-3C00-42FB-9BF4-497CE0A2776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8DB9C1A9-B4F8-4931-ADA7-2061CE275A59}" type="slidenum">
              <a:rPr lang="en-GB" altLang="en-US"/>
              <a:pPr/>
              <a:t>‹#›</a:t>
            </a:fld>
            <a:endParaRPr lang="en-GB" altLang="en-US"/>
          </a:p>
        </p:txBody>
      </p:sp>
      <p:pic>
        <p:nvPicPr>
          <p:cNvPr id="1031" name="Picture 6" descr="Selfservit.PNG">
            <a:extLst>
              <a:ext uri="{FF2B5EF4-FFF2-40B4-BE49-F238E27FC236}">
                <a16:creationId xmlns:a16="http://schemas.microsoft.com/office/drawing/2014/main" id="{F166306A-5184-4F2A-968C-AB86F5D12F4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7162800" y="0"/>
            <a:ext cx="19812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938" r:id="rId1"/>
    <p:sldLayoutId id="2147484939" r:id="rId2"/>
    <p:sldLayoutId id="2147484937" r:id="rId3"/>
    <p:sldLayoutId id="2147484940" r:id="rId4"/>
    <p:sldLayoutId id="2147484941" r:id="rId5"/>
    <p:sldLayoutId id="2147484942" r:id="rId6"/>
    <p:sldLayoutId id="2147484943" r:id="rId7"/>
    <p:sldLayoutId id="2147484944" r:id="rId8"/>
    <p:sldLayoutId id="2147484945" r:id="rId9"/>
    <p:sldLayoutId id="2147484946" r:id="rId10"/>
    <p:sldLayoutId id="2147484947"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l="-17000" r="-17000"/>
          </a:stretch>
        </a:blip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2FBBAE4-CA0E-E0B1-3C4E-067D11CD1428}"/>
              </a:ext>
            </a:extLst>
          </p:cNvPr>
          <p:cNvGraphicFramePr>
            <a:graphicFrameLocks noChangeAspect="1"/>
          </p:cNvGraphicFramePr>
          <p:nvPr userDrawn="1">
            <p:custDataLst>
              <p:tags r:id="rId13"/>
            </p:custDataLst>
            <p:extLst>
              <p:ext uri="{D42A27DB-BD31-4B8C-83A1-F6EECF244321}">
                <p14:modId xmlns:p14="http://schemas.microsoft.com/office/powerpoint/2010/main" val="3015097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04" imgH="405" progId="TCLayout.ActiveDocument.1">
                  <p:embed/>
                </p:oleObj>
              </mc:Choice>
              <mc:Fallback>
                <p:oleObj name="think-cell Slide" r:id="rId15" imgW="404" imgH="405" progId="TCLayout.ActiveDocument.1">
                  <p:embed/>
                  <p:pic>
                    <p:nvPicPr>
                      <p:cNvPr id="3" name="think-cell data - do not delete" hidden="1">
                        <a:extLst>
                          <a:ext uri="{FF2B5EF4-FFF2-40B4-BE49-F238E27FC236}">
                            <a16:creationId xmlns:a16="http://schemas.microsoft.com/office/drawing/2014/main" id="{52FBBAE4-CA0E-E0B1-3C4E-067D11CD142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1026" name="Title Placeholder 1">
            <a:extLst>
              <a:ext uri="{FF2B5EF4-FFF2-40B4-BE49-F238E27FC236}">
                <a16:creationId xmlns:a16="http://schemas.microsoft.com/office/drawing/2014/main" id="{57D4E675-92C6-41BA-B41E-8DD12373D2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53053AC-4420-48A7-BDC8-97B00B5E200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175B0B6-DA11-4757-A2D0-A8B13A54139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ea typeface="Arial Unicode MS" pitchFamily="34" charset="-128"/>
                <a:cs typeface="Arial Unicode MS" pitchFamily="34" charset="-128"/>
              </a:defRPr>
            </a:lvl1pPr>
          </a:lstStyle>
          <a:p>
            <a:pPr>
              <a:defRPr/>
            </a:pPr>
            <a:fld id="{15C76130-8C0B-4FE2-92B2-AEC5D744A549}" type="datetime1">
              <a:rPr lang="en-GB"/>
              <a:pPr>
                <a:defRPr/>
              </a:pPr>
              <a:t>12/08/2025</a:t>
            </a:fld>
            <a:endParaRPr lang="en-GB"/>
          </a:p>
        </p:txBody>
      </p:sp>
      <p:sp>
        <p:nvSpPr>
          <p:cNvPr id="5" name="Footer Placeholder 4">
            <a:extLst>
              <a:ext uri="{FF2B5EF4-FFF2-40B4-BE49-F238E27FC236}">
                <a16:creationId xmlns:a16="http://schemas.microsoft.com/office/drawing/2014/main" id="{0F39EB98-AED7-4DCC-A350-4D032D31B1D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Arial Unicode MS" pitchFamily="34" charset="-128"/>
                <a:cs typeface="Arial Unicode MS" pitchFamily="34" charset="-128"/>
              </a:defRPr>
            </a:lvl1pPr>
          </a:lstStyle>
          <a:p>
            <a:pPr>
              <a:defRPr/>
            </a:pPr>
            <a:r>
              <a:rPr lang="en-US"/>
              <a:t>Confidential to Selfservit, TVS &amp; Sons</a:t>
            </a:r>
          </a:p>
        </p:txBody>
      </p:sp>
      <p:sp>
        <p:nvSpPr>
          <p:cNvPr id="6" name="Slide Number Placeholder 5">
            <a:extLst>
              <a:ext uri="{FF2B5EF4-FFF2-40B4-BE49-F238E27FC236}">
                <a16:creationId xmlns:a16="http://schemas.microsoft.com/office/drawing/2014/main" id="{756B5B01-8F01-455C-AEA4-52806FD4A2F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B4491AF-5D8E-407E-B048-71447CD46297}" type="slidenum">
              <a:rPr lang="en-GB" altLang="en-US"/>
              <a:pPr/>
              <a:t>‹#›</a:t>
            </a:fld>
            <a:endParaRPr lang="en-GB" altLang="en-US"/>
          </a:p>
        </p:txBody>
      </p:sp>
      <p:pic>
        <p:nvPicPr>
          <p:cNvPr id="1031" name="Picture 6" descr="Selfservit.PNG">
            <a:extLst>
              <a:ext uri="{FF2B5EF4-FFF2-40B4-BE49-F238E27FC236}">
                <a16:creationId xmlns:a16="http://schemas.microsoft.com/office/drawing/2014/main" id="{68028F9B-A84A-4CF6-AFBC-D35F892F98DC}"/>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7162800" y="0"/>
            <a:ext cx="19812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253" r:id="rId1"/>
    <p:sldLayoutId id="2147485254" r:id="rId2"/>
    <p:sldLayoutId id="2147485252" r:id="rId3"/>
    <p:sldLayoutId id="2147485255" r:id="rId4"/>
    <p:sldLayoutId id="2147485256" r:id="rId5"/>
    <p:sldLayoutId id="2147485257" r:id="rId6"/>
    <p:sldLayoutId id="2147485258" r:id="rId7"/>
    <p:sldLayoutId id="2147485259" r:id="rId8"/>
    <p:sldLayoutId id="2147485260" r:id="rId9"/>
    <p:sldLayoutId id="2147485261" r:id="rId10"/>
    <p:sldLayoutId id="2147485262"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4.png"/><Relationship Id="rId17" Type="http://schemas.openxmlformats.org/officeDocument/2006/relationships/image" Target="../media/image19.jpeg"/><Relationship Id="rId2" Type="http://schemas.openxmlformats.org/officeDocument/2006/relationships/image" Target="../media/image4.png"/><Relationship Id="rId16" Type="http://schemas.openxmlformats.org/officeDocument/2006/relationships/image" Target="../media/image18.jpeg"/><Relationship Id="rId1" Type="http://schemas.openxmlformats.org/officeDocument/2006/relationships/slideLayout" Target="../slideLayouts/slideLayout3.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jpe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22.jpeg"/><Relationship Id="rId2" Type="http://schemas.openxmlformats.org/officeDocument/2006/relationships/image" Target="../media/image11.jpeg"/><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21.jpeg"/><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jpe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18.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www.mservice.ai/" TargetMode="External"/><Relationship Id="rId2" Type="http://schemas.openxmlformats.org/officeDocument/2006/relationships/hyperlink" Target="http://www.selfservit.com/" TargetMode="External"/><Relationship Id="rId1" Type="http://schemas.openxmlformats.org/officeDocument/2006/relationships/slideLayout" Target="../slideLayouts/slideLayout14.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normAutofit fontScale="90000"/>
          </a:bodyPr>
          <a:lstStyle/>
          <a:p>
            <a:pPr eaLnBrk="1" hangingPunct="1">
              <a:defRPr/>
            </a:pPr>
            <a:br>
              <a:rPr lang="en-US" altLang="en-US" sz="3600"/>
            </a:br>
            <a:br>
              <a:rPr lang="en-US" altLang="en-US" sz="3600"/>
            </a:br>
            <a:endParaRPr lang="en-US" altLang="en-US" sz="3600"/>
          </a:p>
        </p:txBody>
      </p:sp>
      <p:sp>
        <p:nvSpPr>
          <p:cNvPr id="2" name="Subtitle 1"/>
          <p:cNvSpPr>
            <a:spLocks noGrp="1"/>
          </p:cNvSpPr>
          <p:nvPr>
            <p:ph type="subTitle" idx="1"/>
          </p:nvPr>
        </p:nvSpPr>
        <p:spPr>
          <a:xfrm>
            <a:off x="1371600" y="1066800"/>
            <a:ext cx="6584776" cy="5026496"/>
          </a:xfrm>
        </p:spPr>
        <p:txBody>
          <a:bodyPr>
            <a:noAutofit/>
          </a:bodyPr>
          <a:lstStyle/>
          <a:p>
            <a:pPr>
              <a:defRPr/>
            </a:pPr>
            <a:r>
              <a:rPr lang="en-US" sz="2800" b="1" err="1">
                <a:solidFill>
                  <a:srgbClr val="F7940F"/>
                </a:solidFill>
              </a:rPr>
              <a:t>MService</a:t>
            </a:r>
            <a:r>
              <a:rPr lang="en-US" sz="2800" b="1">
                <a:solidFill>
                  <a:srgbClr val="F7940F"/>
                </a:solidFill>
              </a:rPr>
              <a:t> Platform </a:t>
            </a:r>
            <a:endParaRPr lang="en-US" b="1">
              <a:solidFill>
                <a:srgbClr val="F7940F"/>
              </a:solidFill>
            </a:endParaRPr>
          </a:p>
          <a:p>
            <a:pPr>
              <a:defRPr/>
            </a:pPr>
            <a:endParaRPr lang="en-US" sz="2800"/>
          </a:p>
          <a:p>
            <a:pPr>
              <a:defRPr/>
            </a:pPr>
            <a:endParaRPr lang="en-US" sz="2800"/>
          </a:p>
          <a:p>
            <a:pPr>
              <a:defRPr/>
            </a:pPr>
            <a:r>
              <a:rPr lang="en-US" sz="2800" b="1">
                <a:solidFill>
                  <a:srgbClr val="17D0F5"/>
                </a:solidFill>
              </a:rPr>
              <a:t>Product Management Workflows</a:t>
            </a:r>
            <a:endParaRPr lang="en-US" sz="2800" b="1">
              <a:solidFill>
                <a:srgbClr val="17D0F5"/>
              </a:solidFill>
              <a:cs typeface="Calibri"/>
            </a:endParaRPr>
          </a:p>
          <a:p>
            <a:pPr>
              <a:defRPr/>
            </a:pPr>
            <a:endParaRPr lang="en-US" sz="2800" b="1">
              <a:solidFill>
                <a:srgbClr val="17D0F5"/>
              </a:solidFill>
              <a:cs typeface="Calibri"/>
            </a:endParaRPr>
          </a:p>
          <a:p>
            <a:pPr>
              <a:defRPr/>
            </a:pPr>
            <a:r>
              <a:rPr lang="en-US" sz="2800">
                <a:solidFill>
                  <a:srgbClr val="7030A0"/>
                </a:solidFill>
                <a:cs typeface="Calibri"/>
              </a:rPr>
              <a:t>Aug.2025</a:t>
            </a:r>
          </a:p>
          <a:p>
            <a:pPr>
              <a:defRPr/>
            </a:pPr>
            <a:endParaRPr lang="en-US" sz="2800">
              <a:solidFill>
                <a:srgbClr val="7030A0"/>
              </a:solidFill>
              <a:cs typeface="Calibri"/>
            </a:endParaRPr>
          </a:p>
          <a:p>
            <a:pPr>
              <a:defRPr/>
            </a:pPr>
            <a:r>
              <a:rPr lang="en-US" sz="2800">
                <a:solidFill>
                  <a:srgbClr val="7030A0"/>
                </a:solidFill>
                <a:cs typeface="Calibri"/>
              </a:rPr>
              <a:t>V 1.0</a:t>
            </a:r>
          </a:p>
        </p:txBody>
      </p:sp>
    </p:spTree>
    <p:extLst>
      <p:ext uri="{BB962C8B-B14F-4D97-AF65-F5344CB8AC3E}">
        <p14:creationId xmlns:p14="http://schemas.microsoft.com/office/powerpoint/2010/main" val="44899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A234046D-A248-47F3-9E97-493A7DE885F7}"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1E3A24CC-DE72-41E9-B869-97E1AB92FE6E}" type="slidenum">
              <a:rPr lang="en-GB" altLang="en-US" smtClean="0"/>
              <a:pPr>
                <a:defRPr/>
              </a:pPr>
              <a:t>2</a:t>
            </a:fld>
            <a:endParaRPr lang="en-GB" altLang="en-US"/>
          </a:p>
        </p:txBody>
      </p:sp>
      <p:sp>
        <p:nvSpPr>
          <p:cNvPr id="57" name="TextBox 4"/>
          <p:cNvSpPr txBox="1">
            <a:spLocks noChangeArrowheads="1"/>
          </p:cNvSpPr>
          <p:nvPr/>
        </p:nvSpPr>
        <p:spPr bwMode="auto">
          <a:xfrm>
            <a:off x="0" y="0"/>
            <a:ext cx="7143750" cy="1077218"/>
          </a:xfrm>
          <a:prstGeom prst="rect">
            <a:avLst/>
          </a:prstGeom>
          <a:noFill/>
          <a:ln w="9525">
            <a:noFill/>
            <a:miter lim="800000"/>
            <a:headEnd/>
            <a:tailEnd/>
          </a:ln>
        </p:spPr>
        <p:txBody>
          <a:bodyPr lIns="91440" tIns="45720" rIns="91440" bIns="45720" anchor="t">
            <a:spAutoFit/>
          </a:bodyPr>
          <a:lstStyle/>
          <a:p>
            <a:pPr>
              <a:defRPr/>
            </a:pPr>
            <a:r>
              <a:rPr lang="en-US" sz="3200" b="1">
                <a:solidFill>
                  <a:srgbClr val="6775FD"/>
                </a:solidFill>
                <a:latin typeface="+mj-lt"/>
                <a:ea typeface="Arial Unicode MS"/>
                <a:cs typeface="Arial Unicode MS"/>
              </a:rPr>
              <a:t>Objectives &amp; Benefits of Product Management workflow</a:t>
            </a:r>
            <a:endParaRPr lang="en-US" sz="3200" b="1">
              <a:solidFill>
                <a:srgbClr val="6775FD"/>
              </a:solidFill>
              <a:latin typeface="Calibri"/>
            </a:endParaRPr>
          </a:p>
        </p:txBody>
      </p:sp>
      <p:sp>
        <p:nvSpPr>
          <p:cNvPr id="3" name="TextBox 2">
            <a:extLst>
              <a:ext uri="{FF2B5EF4-FFF2-40B4-BE49-F238E27FC236}">
                <a16:creationId xmlns:a16="http://schemas.microsoft.com/office/drawing/2014/main" id="{CB36B866-009B-38C9-7EBF-EA48E02F6C22}"/>
              </a:ext>
            </a:extLst>
          </p:cNvPr>
          <p:cNvSpPr txBox="1"/>
          <p:nvPr/>
        </p:nvSpPr>
        <p:spPr>
          <a:xfrm>
            <a:off x="35496" y="1196752"/>
            <a:ext cx="2736304" cy="461665"/>
          </a:xfrm>
          <a:prstGeom prst="rect">
            <a:avLst/>
          </a:prstGeom>
          <a:noFill/>
        </p:spPr>
        <p:txBody>
          <a:bodyPr wrap="square" rtlCol="0">
            <a:spAutoFit/>
          </a:bodyPr>
          <a:lstStyle/>
          <a:p>
            <a:r>
              <a:rPr lang="en-US" sz="2400" b="1" u="sng">
                <a:solidFill>
                  <a:srgbClr val="7030A0"/>
                </a:solidFill>
              </a:rPr>
              <a:t>Objectives</a:t>
            </a:r>
          </a:p>
        </p:txBody>
      </p:sp>
      <p:sp>
        <p:nvSpPr>
          <p:cNvPr id="6" name="TextBox 5">
            <a:extLst>
              <a:ext uri="{FF2B5EF4-FFF2-40B4-BE49-F238E27FC236}">
                <a16:creationId xmlns:a16="http://schemas.microsoft.com/office/drawing/2014/main" id="{B6B6AD76-415E-92DC-718E-BA64A7173A93}"/>
              </a:ext>
            </a:extLst>
          </p:cNvPr>
          <p:cNvSpPr txBox="1"/>
          <p:nvPr/>
        </p:nvSpPr>
        <p:spPr>
          <a:xfrm>
            <a:off x="35496" y="3068960"/>
            <a:ext cx="4648200" cy="461665"/>
          </a:xfrm>
          <a:prstGeom prst="rect">
            <a:avLst/>
          </a:prstGeom>
          <a:noFill/>
        </p:spPr>
        <p:txBody>
          <a:bodyPr wrap="square">
            <a:spAutoFit/>
          </a:bodyPr>
          <a:lstStyle/>
          <a:p>
            <a:r>
              <a:rPr lang="en-US" sz="2400" b="1" u="sng">
                <a:solidFill>
                  <a:srgbClr val="7030A0"/>
                </a:solidFill>
              </a:rPr>
              <a:t>Benefits</a:t>
            </a:r>
          </a:p>
        </p:txBody>
      </p:sp>
      <p:sp>
        <p:nvSpPr>
          <p:cNvPr id="8" name="TextBox 7">
            <a:extLst>
              <a:ext uri="{FF2B5EF4-FFF2-40B4-BE49-F238E27FC236}">
                <a16:creationId xmlns:a16="http://schemas.microsoft.com/office/drawing/2014/main" id="{D1934A40-55D8-E19C-FC32-2084E3F677FF}"/>
              </a:ext>
            </a:extLst>
          </p:cNvPr>
          <p:cNvSpPr txBox="1"/>
          <p:nvPr/>
        </p:nvSpPr>
        <p:spPr>
          <a:xfrm>
            <a:off x="35496" y="1684303"/>
            <a:ext cx="8651304" cy="1323439"/>
          </a:xfrm>
          <a:prstGeom prst="rect">
            <a:avLst/>
          </a:prstGeom>
          <a:noFill/>
        </p:spPr>
        <p:txBody>
          <a:bodyPr wrap="square" rtlCol="0">
            <a:spAutoFit/>
          </a:bodyPr>
          <a:lstStyle/>
          <a:p>
            <a:pPr marL="285750" indent="-285750">
              <a:buFont typeface="Arial" panose="020B0604020202020204" pitchFamily="34" charset="0"/>
              <a:buChar char="•"/>
            </a:pPr>
            <a:r>
              <a:rPr lang="en-US" sz="2000">
                <a:solidFill>
                  <a:srgbClr val="1F1F1F"/>
                </a:solidFill>
                <a:latin typeface="Google Sans"/>
              </a:rPr>
              <a:t>S</a:t>
            </a:r>
            <a:r>
              <a:rPr lang="en-US" sz="2000" b="0" i="0">
                <a:solidFill>
                  <a:srgbClr val="1F1F1F"/>
                </a:solidFill>
                <a:effectLst/>
                <a:latin typeface="Google Sans"/>
              </a:rPr>
              <a:t>treamline the existing workflows by including all the missing workflows, and create a proper base line of the product</a:t>
            </a:r>
          </a:p>
          <a:p>
            <a:pPr marL="285750" indent="-285750">
              <a:buFont typeface="Arial" panose="020B0604020202020204" pitchFamily="34" charset="0"/>
              <a:buChar char="•"/>
            </a:pPr>
            <a:r>
              <a:rPr lang="en-US" sz="2000">
                <a:solidFill>
                  <a:srgbClr val="1F1F1F"/>
                </a:solidFill>
                <a:latin typeface="Google Sans"/>
              </a:rPr>
              <a:t>Keep updating the baselines as per the product changes / customization and do versioning</a:t>
            </a:r>
          </a:p>
        </p:txBody>
      </p:sp>
      <p:sp>
        <p:nvSpPr>
          <p:cNvPr id="9" name="TextBox 8">
            <a:extLst>
              <a:ext uri="{FF2B5EF4-FFF2-40B4-BE49-F238E27FC236}">
                <a16:creationId xmlns:a16="http://schemas.microsoft.com/office/drawing/2014/main" id="{393D61F8-262B-59A8-79F9-A261D4114A12}"/>
              </a:ext>
            </a:extLst>
          </p:cNvPr>
          <p:cNvSpPr txBox="1"/>
          <p:nvPr/>
        </p:nvSpPr>
        <p:spPr>
          <a:xfrm>
            <a:off x="63104" y="3702888"/>
            <a:ext cx="8651304" cy="2246769"/>
          </a:xfrm>
          <a:prstGeom prst="rect">
            <a:avLst/>
          </a:prstGeom>
          <a:noFill/>
        </p:spPr>
        <p:txBody>
          <a:bodyPr wrap="square" rtlCol="0">
            <a:spAutoFit/>
          </a:bodyPr>
          <a:lstStyle/>
          <a:p>
            <a:pPr marL="342900" indent="-342900">
              <a:buFont typeface="Arial" panose="020B0604020202020204" pitchFamily="34" charset="0"/>
              <a:buChar char="•"/>
            </a:pPr>
            <a:r>
              <a:rPr lang="en-US" sz="2000">
                <a:solidFill>
                  <a:srgbClr val="1F1F1F"/>
                </a:solidFill>
                <a:latin typeface="Google Sans"/>
              </a:rPr>
              <a:t>This PMWF can be used for presenting to the prospects or clients</a:t>
            </a:r>
          </a:p>
          <a:p>
            <a:pPr marL="342900" indent="-342900">
              <a:buFont typeface="Arial" panose="020B0604020202020204" pitchFamily="34" charset="0"/>
              <a:buChar char="•"/>
            </a:pPr>
            <a:r>
              <a:rPr lang="en-US" sz="2000">
                <a:solidFill>
                  <a:srgbClr val="1F1F1F"/>
                </a:solidFill>
                <a:latin typeface="Google Sans"/>
              </a:rPr>
              <a:t>It can be used as a ready reckoner or for understanding of the flows for those who are not familiar or for new joiners</a:t>
            </a:r>
          </a:p>
          <a:p>
            <a:pPr marL="342900" indent="-342900">
              <a:buFont typeface="Arial" panose="020B0604020202020204" pitchFamily="34" charset="0"/>
              <a:buChar char="•"/>
            </a:pPr>
            <a:r>
              <a:rPr lang="en-US" sz="2000">
                <a:solidFill>
                  <a:srgbClr val="1F1F1F"/>
                </a:solidFill>
                <a:latin typeface="Google Sans"/>
              </a:rPr>
              <a:t>Identifying the gaps or making product fitment analysis would become easier and quicker</a:t>
            </a:r>
          </a:p>
          <a:p>
            <a:pPr marL="342900" indent="-342900">
              <a:buFont typeface="Arial" panose="020B0604020202020204" pitchFamily="34" charset="0"/>
              <a:buChar char="•"/>
            </a:pPr>
            <a:r>
              <a:rPr lang="en-US" sz="2000">
                <a:solidFill>
                  <a:srgbClr val="1F1F1F"/>
                </a:solidFill>
                <a:latin typeface="Google Sans"/>
              </a:rPr>
              <a:t>Separate indication of client groups / entities and user groups in the flows will be useful to identify the applicability for clients &amp; users</a:t>
            </a:r>
          </a:p>
        </p:txBody>
      </p:sp>
    </p:spTree>
    <p:extLst>
      <p:ext uri="{BB962C8B-B14F-4D97-AF65-F5344CB8AC3E}">
        <p14:creationId xmlns:p14="http://schemas.microsoft.com/office/powerpoint/2010/main" val="353329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A234046D-A248-47F3-9E97-493A7DE885F7}"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1E3A24CC-DE72-41E9-B869-97E1AB92FE6E}" type="slidenum">
              <a:rPr lang="en-GB" altLang="en-US" smtClean="0"/>
              <a:pPr>
                <a:defRPr/>
              </a:pPr>
              <a:t>3</a:t>
            </a:fld>
            <a:endParaRPr lang="en-GB" altLang="en-US"/>
          </a:p>
        </p:txBody>
      </p:sp>
      <p:sp>
        <p:nvSpPr>
          <p:cNvPr id="95" name="Rectangle 94"/>
          <p:cNvSpPr/>
          <p:nvPr/>
        </p:nvSpPr>
        <p:spPr>
          <a:xfrm>
            <a:off x="3071813" y="5000625"/>
            <a:ext cx="2143125" cy="10715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7" name="TextBox 4"/>
          <p:cNvSpPr txBox="1">
            <a:spLocks noChangeArrowheads="1"/>
          </p:cNvSpPr>
          <p:nvPr/>
        </p:nvSpPr>
        <p:spPr bwMode="auto">
          <a:xfrm>
            <a:off x="0" y="0"/>
            <a:ext cx="7143750" cy="1323975"/>
          </a:xfrm>
          <a:prstGeom prst="rect">
            <a:avLst/>
          </a:prstGeom>
          <a:noFill/>
          <a:ln w="9525">
            <a:noFill/>
            <a:miter lim="800000"/>
            <a:headEnd/>
            <a:tailEnd/>
          </a:ln>
        </p:spPr>
        <p:txBody>
          <a:bodyPr>
            <a:spAutoFit/>
          </a:bodyPr>
          <a:lstStyle/>
          <a:p>
            <a:pPr>
              <a:defRPr/>
            </a:pPr>
            <a:r>
              <a:rPr lang="en-US" sz="3200" b="1">
                <a:solidFill>
                  <a:srgbClr val="6775FD"/>
                </a:solidFill>
                <a:latin typeface="+mj-lt"/>
              </a:rPr>
              <a:t>Equipment Lifecycle Management</a:t>
            </a:r>
          </a:p>
          <a:p>
            <a:pPr>
              <a:defRPr/>
            </a:pPr>
            <a:endParaRPr lang="en-US" sz="2000" b="1">
              <a:solidFill>
                <a:srgbClr val="FF6A47"/>
              </a:solidFill>
              <a:latin typeface="+mj-lt"/>
            </a:endParaRPr>
          </a:p>
          <a:p>
            <a:pPr>
              <a:defRPr/>
            </a:pPr>
            <a:endParaRPr lang="en-US" sz="2800">
              <a:solidFill>
                <a:srgbClr val="6775FD"/>
              </a:solidFill>
              <a:latin typeface="+mj-lt"/>
            </a:endParaRPr>
          </a:p>
        </p:txBody>
      </p:sp>
      <p:graphicFrame>
        <p:nvGraphicFramePr>
          <p:cNvPr id="58" name="Diagram 57"/>
          <p:cNvGraphicFramePr/>
          <p:nvPr>
            <p:extLst>
              <p:ext uri="{D42A27DB-BD31-4B8C-83A1-F6EECF244321}">
                <p14:modId xmlns:p14="http://schemas.microsoft.com/office/powerpoint/2010/main" val="3010392101"/>
              </p:ext>
            </p:extLst>
          </p:nvPr>
        </p:nvGraphicFramePr>
        <p:xfrm>
          <a:off x="428596" y="752037"/>
          <a:ext cx="8286808" cy="5429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8807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E512A7C-05BA-74E4-EA1F-3A6BE1FA67BF}"/>
              </a:ext>
            </a:extLst>
          </p:cNvPr>
          <p:cNvSpPr txBox="1"/>
          <p:nvPr/>
        </p:nvSpPr>
        <p:spPr>
          <a:xfrm>
            <a:off x="107504" y="44624"/>
            <a:ext cx="4572000" cy="584775"/>
          </a:xfrm>
          <a:prstGeom prst="rect">
            <a:avLst/>
          </a:prstGeom>
          <a:noFill/>
        </p:spPr>
        <p:txBody>
          <a:bodyPr wrap="square">
            <a:spAutoFit/>
          </a:bodyPr>
          <a:lstStyle/>
          <a:p>
            <a:pPr>
              <a:defRPr/>
            </a:pPr>
            <a:r>
              <a:rPr lang="en-US" sz="3200" b="1">
                <a:solidFill>
                  <a:srgbClr val="6775FD"/>
                </a:solidFill>
                <a:latin typeface="+mj-lt"/>
                <a:ea typeface="Arial Unicode MS"/>
              </a:rPr>
              <a:t>Module linkages</a:t>
            </a:r>
            <a:endParaRPr lang="en-US" sz="3200" b="1">
              <a:solidFill>
                <a:srgbClr val="6775FD"/>
              </a:solidFill>
              <a:latin typeface="Calibri"/>
            </a:endParaRPr>
          </a:p>
        </p:txBody>
      </p:sp>
      <p:sp>
        <p:nvSpPr>
          <p:cNvPr id="3" name="TextBox 2">
            <a:extLst>
              <a:ext uri="{FF2B5EF4-FFF2-40B4-BE49-F238E27FC236}">
                <a16:creationId xmlns:a16="http://schemas.microsoft.com/office/drawing/2014/main" id="{9700E17F-2D5B-32EE-FDAC-4EE2168E3DF5}"/>
              </a:ext>
            </a:extLst>
          </p:cNvPr>
          <p:cNvSpPr txBox="1"/>
          <p:nvPr/>
        </p:nvSpPr>
        <p:spPr>
          <a:xfrm>
            <a:off x="179512" y="764704"/>
            <a:ext cx="4896544" cy="338554"/>
          </a:xfrm>
          <a:prstGeom prst="rect">
            <a:avLst/>
          </a:prstGeom>
          <a:noFill/>
        </p:spPr>
        <p:txBody>
          <a:bodyPr wrap="square" rtlCol="0">
            <a:spAutoFit/>
          </a:bodyPr>
          <a:lstStyle/>
          <a:p>
            <a:r>
              <a:rPr lang="en-US" sz="1600" b="1">
                <a:solidFill>
                  <a:schemeClr val="accent6">
                    <a:lumMod val="50000"/>
                  </a:schemeClr>
                </a:solidFill>
              </a:rPr>
              <a:t>List of linkages between the different modules</a:t>
            </a:r>
          </a:p>
        </p:txBody>
      </p:sp>
      <p:sp>
        <p:nvSpPr>
          <p:cNvPr id="19" name="TextBox 18">
            <a:extLst>
              <a:ext uri="{FF2B5EF4-FFF2-40B4-BE49-F238E27FC236}">
                <a16:creationId xmlns:a16="http://schemas.microsoft.com/office/drawing/2014/main" id="{8C3D0670-1EC4-7F90-FA72-75F6C92DAF03}"/>
              </a:ext>
            </a:extLst>
          </p:cNvPr>
          <p:cNvSpPr txBox="1"/>
          <p:nvPr/>
        </p:nvSpPr>
        <p:spPr>
          <a:xfrm>
            <a:off x="251520" y="1484784"/>
            <a:ext cx="8640960" cy="4154984"/>
          </a:xfrm>
          <a:prstGeom prst="rect">
            <a:avLst/>
          </a:prstGeom>
          <a:noFill/>
        </p:spPr>
        <p:txBody>
          <a:bodyPr wrap="square" rtlCol="0">
            <a:spAutoFit/>
          </a:bodyPr>
          <a:lstStyle/>
          <a:p>
            <a:pPr marL="285750" indent="-285750">
              <a:buFont typeface="Arial" panose="020B0604020202020204" pitchFamily="34" charset="0"/>
              <a:buChar char="•"/>
            </a:pPr>
            <a:r>
              <a:rPr lang="en-US" sz="1200" b="1">
                <a:solidFill>
                  <a:srgbClr val="0070C0"/>
                </a:solidFill>
              </a:rPr>
              <a:t>Visit Schedule – </a:t>
            </a:r>
            <a:r>
              <a:rPr lang="en-US" sz="1200" b="1">
                <a:solidFill>
                  <a:srgbClr val="FF0000"/>
                </a:solidFill>
              </a:rPr>
              <a:t>Based on HMR or visit schedule - </a:t>
            </a:r>
            <a:r>
              <a:rPr lang="en-US" sz="1200" b="1">
                <a:solidFill>
                  <a:srgbClr val="0070C0"/>
                </a:solidFill>
              </a:rPr>
              <a:t>Auto creation of Scheduled maintenance call in Service module   </a:t>
            </a:r>
          </a:p>
          <a:p>
            <a:endParaRPr lang="en-US" sz="1200" b="1">
              <a:solidFill>
                <a:srgbClr val="0070C0"/>
              </a:solidFill>
            </a:endParaRPr>
          </a:p>
          <a:p>
            <a:pPr marL="285750" indent="-285750">
              <a:buFont typeface="Arial" panose="020B0604020202020204" pitchFamily="34" charset="0"/>
              <a:buChar char="•"/>
            </a:pPr>
            <a:r>
              <a:rPr lang="en-US" sz="1200" b="1">
                <a:solidFill>
                  <a:srgbClr val="0070C0"/>
                </a:solidFill>
              </a:rPr>
              <a:t>Service Module </a:t>
            </a:r>
            <a:r>
              <a:rPr lang="en-US" sz="1200"/>
              <a:t>– </a:t>
            </a:r>
            <a:r>
              <a:rPr lang="en-US" sz="1200" b="1">
                <a:solidFill>
                  <a:srgbClr val="FF0000"/>
                </a:solidFill>
              </a:rPr>
              <a:t>Parts recommendation in Service report </a:t>
            </a:r>
            <a:r>
              <a:rPr lang="en-US" sz="1200"/>
              <a:t>– </a:t>
            </a:r>
            <a:r>
              <a:rPr lang="en-US" sz="1200" b="1">
                <a:solidFill>
                  <a:srgbClr val="0070C0"/>
                </a:solidFill>
              </a:rPr>
              <a:t>Auto creation of PE ticket in Parts Enquiry module   </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a:solidFill>
                  <a:srgbClr val="0070C0"/>
                </a:solidFill>
              </a:rPr>
              <a:t>Service Module </a:t>
            </a:r>
            <a:r>
              <a:rPr lang="en-US" sz="1200"/>
              <a:t>– </a:t>
            </a:r>
            <a:r>
              <a:rPr lang="en-US" sz="1200" b="1">
                <a:solidFill>
                  <a:srgbClr val="FF0000"/>
                </a:solidFill>
              </a:rPr>
              <a:t>Parts replacement in service / PWC report - </a:t>
            </a:r>
            <a:r>
              <a:rPr lang="en-US" sz="1200"/>
              <a:t>– </a:t>
            </a:r>
            <a:r>
              <a:rPr lang="en-US" sz="1200" b="1">
                <a:solidFill>
                  <a:srgbClr val="0070C0"/>
                </a:solidFill>
              </a:rPr>
              <a:t>Auto creation of PWC ticket in PWC module   </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err="1">
                <a:solidFill>
                  <a:srgbClr val="0070C0"/>
                </a:solidFill>
              </a:rPr>
              <a:t>Mservice</a:t>
            </a:r>
            <a:r>
              <a:rPr lang="en-US" sz="1200" b="1">
                <a:solidFill>
                  <a:srgbClr val="0070C0"/>
                </a:solidFill>
              </a:rPr>
              <a:t> App  </a:t>
            </a:r>
            <a:r>
              <a:rPr lang="en-US" sz="1200"/>
              <a:t>– </a:t>
            </a:r>
            <a:r>
              <a:rPr lang="en-US" sz="1200" b="1">
                <a:solidFill>
                  <a:srgbClr val="FF0000"/>
                </a:solidFill>
              </a:rPr>
              <a:t>Meeting report </a:t>
            </a:r>
            <a:r>
              <a:rPr lang="en-US" sz="1200"/>
              <a:t>– </a:t>
            </a:r>
            <a:r>
              <a:rPr lang="en-US" sz="1200" b="1">
                <a:solidFill>
                  <a:srgbClr val="0070C0"/>
                </a:solidFill>
              </a:rPr>
              <a:t>Auto creation of Visit VI ticket in Sales Visit Module (if there is no requirement in report)</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err="1">
                <a:solidFill>
                  <a:srgbClr val="0070C0"/>
                </a:solidFill>
              </a:rPr>
              <a:t>Mservice</a:t>
            </a:r>
            <a:r>
              <a:rPr lang="en-US" sz="1200" b="1">
                <a:solidFill>
                  <a:srgbClr val="0070C0"/>
                </a:solidFill>
              </a:rPr>
              <a:t> App  </a:t>
            </a:r>
            <a:r>
              <a:rPr lang="en-US" sz="1200"/>
              <a:t>– </a:t>
            </a:r>
            <a:r>
              <a:rPr lang="en-US" sz="1200" b="1">
                <a:solidFill>
                  <a:srgbClr val="FF0000"/>
                </a:solidFill>
              </a:rPr>
              <a:t>Meeting report </a:t>
            </a:r>
            <a:r>
              <a:rPr lang="en-US" sz="1200"/>
              <a:t>– </a:t>
            </a:r>
            <a:r>
              <a:rPr lang="en-US" sz="1200" b="1">
                <a:solidFill>
                  <a:srgbClr val="0070C0"/>
                </a:solidFill>
              </a:rPr>
              <a:t>Auto creation of Sales SA ticket in Sales Visit Module (if there is a requirement in report)</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a:solidFill>
                  <a:srgbClr val="0070C0"/>
                </a:solidFill>
              </a:rPr>
              <a:t>Inspection Module </a:t>
            </a:r>
            <a:r>
              <a:rPr lang="en-US" sz="1200"/>
              <a:t>– </a:t>
            </a:r>
            <a:r>
              <a:rPr lang="en-US" sz="1200" b="1">
                <a:solidFill>
                  <a:srgbClr val="FF0000"/>
                </a:solidFill>
              </a:rPr>
              <a:t>Parts recommendation in Inspection report </a:t>
            </a:r>
            <a:r>
              <a:rPr lang="en-US" sz="1200"/>
              <a:t>– </a:t>
            </a:r>
            <a:r>
              <a:rPr lang="en-US" sz="1200" b="1">
                <a:solidFill>
                  <a:srgbClr val="0070C0"/>
                </a:solidFill>
              </a:rPr>
              <a:t>Auto creation of PE ticket in Parts Enquiry module   </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a:solidFill>
                  <a:srgbClr val="0070C0"/>
                </a:solidFill>
              </a:rPr>
              <a:t>Inspection Module </a:t>
            </a:r>
            <a:r>
              <a:rPr lang="en-US" sz="1200"/>
              <a:t>– </a:t>
            </a:r>
            <a:r>
              <a:rPr lang="en-US" sz="1200" b="1">
                <a:solidFill>
                  <a:srgbClr val="FF0000"/>
                </a:solidFill>
              </a:rPr>
              <a:t>Service recommendation in Inspection report </a:t>
            </a:r>
            <a:r>
              <a:rPr lang="en-US" sz="1200"/>
              <a:t>– </a:t>
            </a:r>
            <a:r>
              <a:rPr lang="en-US" sz="1200" b="1">
                <a:solidFill>
                  <a:srgbClr val="0070C0"/>
                </a:solidFill>
              </a:rPr>
              <a:t>Auto creation of Refurbishment or reconditioning calls in Service module   </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a:solidFill>
                  <a:srgbClr val="0070C0"/>
                </a:solidFill>
              </a:rPr>
              <a:t>Sales Invoice Module </a:t>
            </a:r>
            <a:r>
              <a:rPr lang="en-US" sz="1200"/>
              <a:t>– </a:t>
            </a:r>
            <a:r>
              <a:rPr lang="en-US" sz="1200" b="1">
                <a:solidFill>
                  <a:srgbClr val="FF0000"/>
                </a:solidFill>
              </a:rPr>
              <a:t>Sales invoice approval </a:t>
            </a:r>
            <a:r>
              <a:rPr lang="en-US" sz="1200"/>
              <a:t>– </a:t>
            </a:r>
            <a:r>
              <a:rPr lang="en-US" sz="1200" b="1">
                <a:solidFill>
                  <a:srgbClr val="0070C0"/>
                </a:solidFill>
              </a:rPr>
              <a:t>Stock update in Inventory module   </a:t>
            </a:r>
          </a:p>
          <a:p>
            <a:pPr marL="285750" indent="-285750">
              <a:buFont typeface="Arial" panose="020B0604020202020204" pitchFamily="34" charset="0"/>
              <a:buChar char="•"/>
            </a:pPr>
            <a:endParaRPr lang="en-US" sz="1200" b="1">
              <a:solidFill>
                <a:srgbClr val="0070C0"/>
              </a:solidFill>
            </a:endParaRPr>
          </a:p>
          <a:p>
            <a:pPr marL="285750" indent="-285750">
              <a:buFont typeface="Arial" panose="020B0604020202020204" pitchFamily="34" charset="0"/>
              <a:buChar char="•"/>
            </a:pPr>
            <a:r>
              <a:rPr lang="en-US" sz="1200" b="1">
                <a:solidFill>
                  <a:srgbClr val="0070C0"/>
                </a:solidFill>
              </a:rPr>
              <a:t>Inventory Module </a:t>
            </a:r>
            <a:r>
              <a:rPr lang="en-US" sz="1200"/>
              <a:t>– </a:t>
            </a:r>
            <a:r>
              <a:rPr lang="en-US" sz="1200" b="1">
                <a:solidFill>
                  <a:srgbClr val="FF0000"/>
                </a:solidFill>
              </a:rPr>
              <a:t>Stock re-order level</a:t>
            </a:r>
            <a:r>
              <a:rPr lang="en-US" sz="1200"/>
              <a:t>– </a:t>
            </a:r>
            <a:r>
              <a:rPr lang="en-US" sz="1200" b="1">
                <a:solidFill>
                  <a:srgbClr val="0070C0"/>
                </a:solidFill>
              </a:rPr>
              <a:t>Auto creation of Parts Order for re-order items</a:t>
            </a:r>
          </a:p>
        </p:txBody>
      </p:sp>
    </p:spTree>
    <p:extLst>
      <p:ext uri="{BB962C8B-B14F-4D97-AF65-F5344CB8AC3E}">
        <p14:creationId xmlns:p14="http://schemas.microsoft.com/office/powerpoint/2010/main" val="253267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A234046D-A248-47F3-9E97-493A7DE885F7}"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1E3A24CC-DE72-41E9-B869-97E1AB92FE6E}" type="slidenum">
              <a:rPr lang="en-GB" altLang="en-US" smtClean="0"/>
              <a:pPr>
                <a:defRPr/>
              </a:pPr>
              <a:t>5</a:t>
            </a:fld>
            <a:endParaRPr lang="en-GB" altLang="en-US"/>
          </a:p>
        </p:txBody>
      </p:sp>
      <p:sp>
        <p:nvSpPr>
          <p:cNvPr id="57" name="TextBox 4"/>
          <p:cNvSpPr txBox="1">
            <a:spLocks noChangeArrowheads="1"/>
          </p:cNvSpPr>
          <p:nvPr/>
        </p:nvSpPr>
        <p:spPr bwMode="auto">
          <a:xfrm>
            <a:off x="0" y="0"/>
            <a:ext cx="7143750" cy="584775"/>
          </a:xfrm>
          <a:prstGeom prst="rect">
            <a:avLst/>
          </a:prstGeom>
          <a:noFill/>
          <a:ln w="9525">
            <a:noFill/>
            <a:miter lim="800000"/>
            <a:headEnd/>
            <a:tailEnd/>
          </a:ln>
        </p:spPr>
        <p:txBody>
          <a:bodyPr lIns="91440" tIns="45720" rIns="91440" bIns="45720" anchor="t">
            <a:spAutoFit/>
          </a:bodyPr>
          <a:lstStyle/>
          <a:p>
            <a:pPr>
              <a:defRPr/>
            </a:pPr>
            <a:r>
              <a:rPr lang="en-US" sz="3200" b="1">
                <a:solidFill>
                  <a:srgbClr val="6775FD"/>
                </a:solidFill>
                <a:latin typeface="+mj-lt"/>
                <a:ea typeface="Arial Unicode MS"/>
                <a:cs typeface="Arial Unicode MS"/>
              </a:rPr>
              <a:t>Entities Covered</a:t>
            </a:r>
            <a:endParaRPr lang="en-US" sz="3200" b="1">
              <a:solidFill>
                <a:srgbClr val="6775FD"/>
              </a:solidFill>
              <a:latin typeface="Calibri"/>
            </a:endParaRPr>
          </a:p>
        </p:txBody>
      </p:sp>
      <p:sp>
        <p:nvSpPr>
          <p:cNvPr id="48" name="TextBox 47">
            <a:extLst>
              <a:ext uri="{FF2B5EF4-FFF2-40B4-BE49-F238E27FC236}">
                <a16:creationId xmlns:a16="http://schemas.microsoft.com/office/drawing/2014/main" id="{8085825E-EFE6-013D-22A1-46AF2A374485}"/>
              </a:ext>
            </a:extLst>
          </p:cNvPr>
          <p:cNvSpPr txBox="1"/>
          <p:nvPr/>
        </p:nvSpPr>
        <p:spPr>
          <a:xfrm>
            <a:off x="304800" y="1654511"/>
            <a:ext cx="86868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Arial"/>
                <a:ea typeface="Arial Unicode MS"/>
                <a:cs typeface="Arial Unicode MS"/>
              </a:rPr>
              <a:t>Direct – For Direct workforce management , customer communication</a:t>
            </a:r>
          </a:p>
          <a:p>
            <a:pPr marL="285750" indent="-285750">
              <a:buFont typeface="Arial"/>
              <a:buChar char="•"/>
            </a:pPr>
            <a:r>
              <a:rPr lang="en-US" sz="2000">
                <a:latin typeface="Arial"/>
                <a:ea typeface="Arial Unicode MS"/>
                <a:cs typeface="Arial Unicode MS"/>
              </a:rPr>
              <a:t>Indirect – For Indirect workforce management , customer </a:t>
            </a:r>
          </a:p>
          <a:p>
            <a:pPr marL="285750" indent="-285750">
              <a:buFont typeface="Arial"/>
              <a:buChar char="•"/>
            </a:pPr>
            <a:r>
              <a:rPr lang="en-US" sz="2000">
                <a:latin typeface="Arial"/>
                <a:ea typeface="Arial Unicode MS"/>
                <a:cs typeface="Arial Unicode MS"/>
              </a:rPr>
              <a:t>Smart – For customers to manage uptime of machinery with vendor performance tracking</a:t>
            </a:r>
          </a:p>
          <a:p>
            <a:pPr marL="285750" indent="-285750">
              <a:buFont typeface="Arial"/>
              <a:buChar char="•"/>
            </a:pPr>
            <a:r>
              <a:rPr lang="en-US" sz="2000">
                <a:latin typeface="Arial"/>
                <a:ea typeface="Arial Unicode MS"/>
                <a:cs typeface="Arial Unicode MS"/>
              </a:rPr>
              <a:t>ELM – Complete platform with direct, indirect, smart </a:t>
            </a:r>
          </a:p>
        </p:txBody>
      </p:sp>
    </p:spTree>
    <p:extLst>
      <p:ext uri="{BB962C8B-B14F-4D97-AF65-F5344CB8AC3E}">
        <p14:creationId xmlns:p14="http://schemas.microsoft.com/office/powerpoint/2010/main" val="183961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A234046D-A248-47F3-9E97-493A7DE885F7}"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1E3A24CC-DE72-41E9-B869-97E1AB92FE6E}" type="slidenum">
              <a:rPr lang="en-GB" altLang="en-US" smtClean="0"/>
              <a:pPr>
                <a:defRPr/>
              </a:pPr>
              <a:t>6</a:t>
            </a:fld>
            <a:endParaRPr lang="en-GB" altLang="en-US"/>
          </a:p>
        </p:txBody>
      </p:sp>
      <p:sp>
        <p:nvSpPr>
          <p:cNvPr id="57" name="TextBox 4"/>
          <p:cNvSpPr txBox="1">
            <a:spLocks noChangeArrowheads="1"/>
          </p:cNvSpPr>
          <p:nvPr/>
        </p:nvSpPr>
        <p:spPr bwMode="auto">
          <a:xfrm>
            <a:off x="0" y="0"/>
            <a:ext cx="7143750" cy="584775"/>
          </a:xfrm>
          <a:prstGeom prst="rect">
            <a:avLst/>
          </a:prstGeom>
          <a:noFill/>
          <a:ln w="9525">
            <a:noFill/>
            <a:miter lim="800000"/>
            <a:headEnd/>
            <a:tailEnd/>
          </a:ln>
        </p:spPr>
        <p:txBody>
          <a:bodyPr lIns="91440" tIns="45720" rIns="91440" bIns="45720" anchor="t">
            <a:spAutoFit/>
          </a:bodyPr>
          <a:lstStyle/>
          <a:p>
            <a:pPr>
              <a:defRPr/>
            </a:pPr>
            <a:r>
              <a:rPr lang="en-US" sz="3200" b="1">
                <a:solidFill>
                  <a:srgbClr val="6775FD"/>
                </a:solidFill>
                <a:latin typeface="+mj-lt"/>
                <a:ea typeface="Arial Unicode MS"/>
              </a:rPr>
              <a:t>Solutions</a:t>
            </a:r>
            <a:endParaRPr lang="en-US" sz="3200" b="1">
              <a:solidFill>
                <a:srgbClr val="6775FD"/>
              </a:solidFill>
              <a:latin typeface="Calibri"/>
            </a:endParaRPr>
          </a:p>
        </p:txBody>
      </p:sp>
      <p:sp>
        <p:nvSpPr>
          <p:cNvPr id="48" name="TextBox 47">
            <a:extLst>
              <a:ext uri="{FF2B5EF4-FFF2-40B4-BE49-F238E27FC236}">
                <a16:creationId xmlns:a16="http://schemas.microsoft.com/office/drawing/2014/main" id="{8085825E-EFE6-013D-22A1-46AF2A374485}"/>
              </a:ext>
            </a:extLst>
          </p:cNvPr>
          <p:cNvSpPr txBox="1"/>
          <p:nvPr/>
        </p:nvSpPr>
        <p:spPr>
          <a:xfrm>
            <a:off x="304800" y="1654511"/>
            <a:ext cx="86868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Arial"/>
                <a:ea typeface="Arial Unicode MS"/>
                <a:cs typeface="Arial Unicode MS"/>
              </a:rPr>
              <a:t>Direct – For Direct workforce management , customer communication</a:t>
            </a:r>
          </a:p>
          <a:p>
            <a:pPr marL="285750" indent="-285750">
              <a:buFont typeface="Arial"/>
              <a:buChar char="•"/>
            </a:pPr>
            <a:r>
              <a:rPr lang="en-US" sz="2000">
                <a:latin typeface="Arial"/>
                <a:ea typeface="Arial Unicode MS"/>
                <a:cs typeface="Arial Unicode MS"/>
              </a:rPr>
              <a:t>Indirect – For Indirect workforce management , customer </a:t>
            </a:r>
          </a:p>
          <a:p>
            <a:pPr marL="285750" indent="-285750">
              <a:buFont typeface="Arial"/>
              <a:buChar char="•"/>
            </a:pPr>
            <a:r>
              <a:rPr lang="en-US" sz="2000">
                <a:latin typeface="Arial"/>
                <a:ea typeface="Arial Unicode MS"/>
                <a:cs typeface="Arial Unicode MS"/>
              </a:rPr>
              <a:t>Smart – For customers to manage uptime of machinery with vendor performance tracking</a:t>
            </a:r>
          </a:p>
          <a:p>
            <a:pPr marL="285750" indent="-285750">
              <a:buFont typeface="Arial"/>
              <a:buChar char="•"/>
            </a:pPr>
            <a:r>
              <a:rPr lang="en-US" sz="2000">
                <a:latin typeface="Arial"/>
                <a:ea typeface="Arial Unicode MS"/>
                <a:cs typeface="Arial Unicode MS"/>
              </a:rPr>
              <a:t>ELM – Complete platform with direct, indirect, smart </a:t>
            </a:r>
          </a:p>
        </p:txBody>
      </p:sp>
    </p:spTree>
    <p:extLst>
      <p:ext uri="{BB962C8B-B14F-4D97-AF65-F5344CB8AC3E}">
        <p14:creationId xmlns:p14="http://schemas.microsoft.com/office/powerpoint/2010/main" val="1657913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A234046D-A248-47F3-9E97-493A7DE885F7}"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1E3A24CC-DE72-41E9-B869-97E1AB92FE6E}" type="slidenum">
              <a:rPr lang="en-GB" altLang="en-US" smtClean="0"/>
              <a:pPr>
                <a:defRPr/>
              </a:pPr>
              <a:t>7</a:t>
            </a:fld>
            <a:endParaRPr lang="en-GB" altLang="en-US"/>
          </a:p>
        </p:txBody>
      </p:sp>
      <p:sp>
        <p:nvSpPr>
          <p:cNvPr id="57" name="TextBox 4"/>
          <p:cNvSpPr txBox="1">
            <a:spLocks noChangeArrowheads="1"/>
          </p:cNvSpPr>
          <p:nvPr/>
        </p:nvSpPr>
        <p:spPr bwMode="auto">
          <a:xfrm>
            <a:off x="0" y="0"/>
            <a:ext cx="7143750" cy="584775"/>
          </a:xfrm>
          <a:prstGeom prst="rect">
            <a:avLst/>
          </a:prstGeom>
          <a:noFill/>
          <a:ln w="9525">
            <a:noFill/>
            <a:miter lim="800000"/>
            <a:headEnd/>
            <a:tailEnd/>
          </a:ln>
        </p:spPr>
        <p:txBody>
          <a:bodyPr lIns="91440" tIns="45720" rIns="91440" bIns="45720" anchor="t">
            <a:spAutoFit/>
          </a:bodyPr>
          <a:lstStyle/>
          <a:p>
            <a:pPr>
              <a:defRPr/>
            </a:pPr>
            <a:r>
              <a:rPr lang="en-US" sz="3200" b="1">
                <a:solidFill>
                  <a:srgbClr val="6775FD"/>
                </a:solidFill>
                <a:latin typeface="+mj-lt"/>
                <a:ea typeface="Arial Unicode MS"/>
              </a:rPr>
              <a:t>Applicability of the Modules</a:t>
            </a:r>
            <a:endParaRPr lang="en-US" sz="3200" b="1">
              <a:solidFill>
                <a:srgbClr val="6775FD"/>
              </a:solidFill>
              <a:latin typeface="Calibri"/>
            </a:endParaRPr>
          </a:p>
        </p:txBody>
      </p:sp>
      <p:sp>
        <p:nvSpPr>
          <p:cNvPr id="48" name="TextBox 47">
            <a:extLst>
              <a:ext uri="{FF2B5EF4-FFF2-40B4-BE49-F238E27FC236}">
                <a16:creationId xmlns:a16="http://schemas.microsoft.com/office/drawing/2014/main" id="{8085825E-EFE6-013D-22A1-46AF2A374485}"/>
              </a:ext>
            </a:extLst>
          </p:cNvPr>
          <p:cNvSpPr txBox="1"/>
          <p:nvPr/>
        </p:nvSpPr>
        <p:spPr>
          <a:xfrm>
            <a:off x="0" y="764704"/>
            <a:ext cx="89916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rial"/>
                <a:ea typeface="Arial Unicode MS"/>
                <a:cs typeface="Arial Unicode MS"/>
              </a:rPr>
              <a:t>The following are the modules exclusively for INDIRECT Entity, all other modules are applicable to all other entities (In </a:t>
            </a:r>
            <a:r>
              <a:rPr lang="en-US" sz="2000" err="1">
                <a:latin typeface="Arial"/>
                <a:ea typeface="Arial Unicode MS"/>
                <a:cs typeface="Arial Unicode MS"/>
              </a:rPr>
              <a:t>Mservice</a:t>
            </a:r>
            <a:r>
              <a:rPr lang="en-US" sz="2000">
                <a:latin typeface="Arial"/>
                <a:ea typeface="Arial Unicode MS"/>
                <a:cs typeface="Arial Unicode MS"/>
              </a:rPr>
              <a:t>)</a:t>
            </a:r>
          </a:p>
        </p:txBody>
      </p:sp>
      <p:sp>
        <p:nvSpPr>
          <p:cNvPr id="3" name="TextBox 2">
            <a:extLst>
              <a:ext uri="{FF2B5EF4-FFF2-40B4-BE49-F238E27FC236}">
                <a16:creationId xmlns:a16="http://schemas.microsoft.com/office/drawing/2014/main" id="{448FD1FF-2C9C-7191-FE29-409A6DF82676}"/>
              </a:ext>
            </a:extLst>
          </p:cNvPr>
          <p:cNvSpPr txBox="1"/>
          <p:nvPr/>
        </p:nvSpPr>
        <p:spPr>
          <a:xfrm>
            <a:off x="107504" y="1844824"/>
            <a:ext cx="8884096" cy="1692771"/>
          </a:xfrm>
          <a:prstGeom prst="rect">
            <a:avLst/>
          </a:prstGeom>
          <a:noFill/>
        </p:spPr>
        <p:txBody>
          <a:bodyPr wrap="square" rtlCol="0">
            <a:spAutoFit/>
          </a:bodyPr>
          <a:lstStyle/>
          <a:p>
            <a:pPr marL="285750" indent="-285750">
              <a:buFont typeface="Arial" panose="020B0604020202020204" pitchFamily="34" charset="0"/>
              <a:buChar char="•"/>
            </a:pPr>
            <a:r>
              <a:rPr lang="en-US" sz="1800"/>
              <a:t>Generation of dealers’ expense claim for Services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Generation of Service Invoice to OEM by Dealers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Generation of Parts Order by dealers to OEM</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251753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714A87BA-B9C0-48E1-A91D-755689B44630}" type="datetime1">
              <a:rPr lang="en-GB" smtClean="0"/>
              <a:pPr>
                <a:defRPr/>
              </a:pPr>
              <a:t>12/08/2025</a:t>
            </a:fld>
            <a:endParaRPr lang="en-GB"/>
          </a:p>
        </p:txBody>
      </p:sp>
      <p:sp>
        <p:nvSpPr>
          <p:cNvPr id="6" name="Slide Number Placeholder 5"/>
          <p:cNvSpPr>
            <a:spLocks noGrp="1"/>
          </p:cNvSpPr>
          <p:nvPr>
            <p:ph type="sldNum" sz="quarter" idx="12"/>
          </p:nvPr>
        </p:nvSpPr>
        <p:spPr/>
        <p:txBody>
          <a:bodyPr/>
          <a:lstStyle/>
          <a:p>
            <a:fld id="{22BAE270-6890-449A-98C6-E56B9AA88AFF}" type="slidenum">
              <a:rPr lang="en-GB" altLang="en-US" smtClean="0"/>
              <a:pPr/>
              <a:t>8</a:t>
            </a:fld>
            <a:endParaRPr lang="en-GB" altLang="en-US"/>
          </a:p>
        </p:txBody>
      </p:sp>
      <p:pic>
        <p:nvPicPr>
          <p:cNvPr id="2052" name="Picture 4" descr="technical sales engineer worker line icon vector illustration Stock Vector  Image &amp; Art - Alamy">
            <a:extLst>
              <a:ext uri="{FF2B5EF4-FFF2-40B4-BE49-F238E27FC236}">
                <a16:creationId xmlns:a16="http://schemas.microsoft.com/office/drawing/2014/main" id="{77F9C6E5-6CE5-F112-D4AE-18E87B687B0C}"/>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5656789" y="1085863"/>
            <a:ext cx="527438" cy="563897"/>
          </a:xfrm>
          <a:prstGeom prst="rect">
            <a:avLst/>
          </a:prstGeom>
          <a:noFill/>
          <a:ln w="28575">
            <a:solidFill>
              <a:srgbClr val="00B0F0"/>
            </a:solidFill>
          </a:ln>
          <a:extLst>
            <a:ext uri="{909E8E84-426E-40DD-AFC4-6F175D3DCCD1}">
              <a14:hiddenFill xmlns:a14="http://schemas.microsoft.com/office/drawing/2010/main">
                <a:solidFill>
                  <a:srgbClr val="FFFFFF"/>
                </a:solidFill>
              </a14:hiddenFill>
            </a:ext>
          </a:extLst>
        </p:spPr>
      </p:pic>
      <p:pic>
        <p:nvPicPr>
          <p:cNvPr id="2054" name="Picture 6" descr="Sales coordinator concept icon. Customer support representative idea thin  line illustration. Service specialist. Salesman, marketer, assistant.  Vector Stock Vector Image &amp; Art - Alamy">
            <a:extLst>
              <a:ext uri="{FF2B5EF4-FFF2-40B4-BE49-F238E27FC236}">
                <a16:creationId xmlns:a16="http://schemas.microsoft.com/office/drawing/2014/main" id="{EB268E31-5637-5F81-233C-939FFAF1AA7F}"/>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8809" b="19036"/>
          <a:stretch/>
        </p:blipFill>
        <p:spPr bwMode="auto">
          <a:xfrm>
            <a:off x="5615190" y="1988840"/>
            <a:ext cx="606271" cy="520928"/>
          </a:xfrm>
          <a:prstGeom prst="rect">
            <a:avLst/>
          </a:prstGeom>
          <a:noFill/>
          <a:ln w="28575">
            <a:solidFill>
              <a:srgbClr val="00B0F0"/>
            </a:solidFill>
          </a:ln>
          <a:extLst>
            <a:ext uri="{909E8E84-426E-40DD-AFC4-6F175D3DCCD1}">
              <a14:hiddenFill xmlns:a14="http://schemas.microsoft.com/office/drawing/2010/main">
                <a:solidFill>
                  <a:srgbClr val="FFFFFF"/>
                </a:solidFill>
              </a14:hiddenFill>
            </a:ext>
          </a:extLst>
        </p:spPr>
      </p:pic>
      <p:pic>
        <p:nvPicPr>
          <p:cNvPr id="2058" name="Picture 10" descr="Team Leader icon. Simple creative element. Filled monochrome Team Leader  icon for templates, infographics and banners Stock Vector Image &amp; Art -  Alamy">
            <a:extLst>
              <a:ext uri="{FF2B5EF4-FFF2-40B4-BE49-F238E27FC236}">
                <a16:creationId xmlns:a16="http://schemas.microsoft.com/office/drawing/2014/main" id="{CAF58274-189C-C69E-062D-B45E35127D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104" t="14376" r="22769" b="14156"/>
          <a:stretch/>
        </p:blipFill>
        <p:spPr bwMode="auto">
          <a:xfrm>
            <a:off x="2476732" y="4863230"/>
            <a:ext cx="432048" cy="676846"/>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pic>
        <p:nvPicPr>
          <p:cNvPr id="2064" name="Picture 16" descr="18 Mobile Application Icons Images - Mobile App Icon, Android Mobile App  Icons and Mobile App Icon / Newdesignfile.com">
            <a:extLst>
              <a:ext uri="{FF2B5EF4-FFF2-40B4-BE49-F238E27FC236}">
                <a16:creationId xmlns:a16="http://schemas.microsoft.com/office/drawing/2014/main" id="{771AFE3C-6F86-BF0A-D3B9-CA8D8029A15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382" r="23506"/>
          <a:stretch/>
        </p:blipFill>
        <p:spPr bwMode="auto">
          <a:xfrm>
            <a:off x="8370010" y="2113906"/>
            <a:ext cx="477625" cy="791724"/>
          </a:xfrm>
          <a:prstGeom prst="rect">
            <a:avLst/>
          </a:prstGeom>
          <a:noFill/>
          <a:ln w="19050">
            <a:solidFill>
              <a:srgbClr val="00B0F0"/>
            </a:solidFill>
          </a:ln>
          <a:extLst>
            <a:ext uri="{909E8E84-426E-40DD-AFC4-6F175D3DCCD1}">
              <a14:hiddenFill xmlns:a14="http://schemas.microsoft.com/office/drawing/2010/main">
                <a:solidFill>
                  <a:srgbClr val="FFFFFF"/>
                </a:solidFill>
              </a14:hiddenFill>
            </a:ext>
          </a:extLst>
        </p:spPr>
      </p:pic>
      <p:pic>
        <p:nvPicPr>
          <p:cNvPr id="2066" name="Picture 18" descr="Web App icon from mobile app development collection. Simple line Web App  icon for templates, web design and infographics 18782122 Vector Art at  Vecteezy">
            <a:extLst>
              <a:ext uri="{FF2B5EF4-FFF2-40B4-BE49-F238E27FC236}">
                <a16:creationId xmlns:a16="http://schemas.microsoft.com/office/drawing/2014/main" id="{149FC020-8F7A-F735-061A-9F4D4305989A}"/>
              </a:ext>
            </a:extLst>
          </p:cNvPr>
          <p:cNvPicPr>
            <a:picLocks noChangeAspect="1" noChangeArrowheads="1"/>
          </p:cNvPicPr>
          <p:nvPr/>
        </p:nvPicPr>
        <p:blipFill rotWithShape="1">
          <a:blip r:embed="rId6" cstate="hqprint">
            <a:extLst>
              <a:ext uri="{28A0092B-C50C-407E-A947-70E740481C1C}">
                <a14:useLocalDpi xmlns:a14="http://schemas.microsoft.com/office/drawing/2010/main" val="0"/>
              </a:ext>
            </a:extLst>
          </a:blip>
          <a:srcRect l="22193" r="25237" b="10436"/>
          <a:stretch/>
        </p:blipFill>
        <p:spPr bwMode="auto">
          <a:xfrm>
            <a:off x="8100392" y="899759"/>
            <a:ext cx="896888" cy="936104"/>
          </a:xfrm>
          <a:prstGeom prst="rect">
            <a:avLst/>
          </a:prstGeom>
          <a:noFill/>
          <a:ln w="19050">
            <a:solidFill>
              <a:srgbClr val="00B0F0"/>
            </a:solidFill>
          </a:ln>
          <a:extLst>
            <a:ext uri="{909E8E84-426E-40DD-AFC4-6F175D3DCCD1}">
              <a14:hiddenFill xmlns:a14="http://schemas.microsoft.com/office/drawing/2010/main">
                <a:solidFill>
                  <a:srgbClr val="FFFFFF"/>
                </a:solidFill>
              </a14:hiddenFill>
            </a:ext>
          </a:extLst>
        </p:spPr>
      </p:pic>
      <p:pic>
        <p:nvPicPr>
          <p:cNvPr id="2068" name="Picture 20" descr="Customers blue flat design web icon Stock Photo - Alamy">
            <a:extLst>
              <a:ext uri="{FF2B5EF4-FFF2-40B4-BE49-F238E27FC236}">
                <a16:creationId xmlns:a16="http://schemas.microsoft.com/office/drawing/2014/main" id="{98589703-959D-2FDB-99E8-848AD404C792}"/>
              </a:ext>
            </a:extLst>
          </p:cNvPr>
          <p:cNvPicPr>
            <a:picLocks noChangeAspect="1" noChangeArrowheads="1"/>
          </p:cNvPicPr>
          <p:nvPr/>
        </p:nvPicPr>
        <p:blipFill rotWithShape="1">
          <a:blip r:embed="rId7" cstate="hqprint">
            <a:extLst>
              <a:ext uri="{28A0092B-C50C-407E-A947-70E740481C1C}">
                <a14:useLocalDpi xmlns:a14="http://schemas.microsoft.com/office/drawing/2010/main" val="0"/>
              </a:ext>
            </a:extLst>
          </a:blip>
          <a:srcRect b="8649"/>
          <a:stretch/>
        </p:blipFill>
        <p:spPr bwMode="auto">
          <a:xfrm>
            <a:off x="2339752" y="2616299"/>
            <a:ext cx="684548" cy="66868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C7C5FD6-8411-9153-DEA2-4F03DDB7234C}"/>
              </a:ext>
            </a:extLst>
          </p:cNvPr>
          <p:cNvSpPr txBox="1"/>
          <p:nvPr/>
        </p:nvSpPr>
        <p:spPr>
          <a:xfrm>
            <a:off x="107504" y="69344"/>
            <a:ext cx="4572000" cy="584775"/>
          </a:xfrm>
          <a:prstGeom prst="rect">
            <a:avLst/>
          </a:prstGeom>
          <a:noFill/>
        </p:spPr>
        <p:txBody>
          <a:bodyPr wrap="square">
            <a:spAutoFit/>
          </a:bodyPr>
          <a:lstStyle/>
          <a:p>
            <a:pPr>
              <a:defRPr/>
            </a:pPr>
            <a:r>
              <a:rPr lang="en-US" sz="3200" b="1">
                <a:solidFill>
                  <a:srgbClr val="6775FD"/>
                </a:solidFill>
                <a:latin typeface="+mj-lt"/>
                <a:ea typeface="Arial Unicode MS"/>
              </a:rPr>
              <a:t>Notations</a:t>
            </a:r>
            <a:endParaRPr lang="en-US" sz="1400" b="1">
              <a:solidFill>
                <a:srgbClr val="6775FD"/>
              </a:solidFill>
              <a:latin typeface="Calibri"/>
            </a:endParaRPr>
          </a:p>
        </p:txBody>
      </p:sp>
      <p:sp>
        <p:nvSpPr>
          <p:cNvPr id="10" name="TextBox 9">
            <a:extLst>
              <a:ext uri="{FF2B5EF4-FFF2-40B4-BE49-F238E27FC236}">
                <a16:creationId xmlns:a16="http://schemas.microsoft.com/office/drawing/2014/main" id="{BD007A13-819B-866C-E306-51CFA1CDF273}"/>
              </a:ext>
            </a:extLst>
          </p:cNvPr>
          <p:cNvSpPr txBox="1"/>
          <p:nvPr/>
        </p:nvSpPr>
        <p:spPr>
          <a:xfrm>
            <a:off x="251520" y="1268760"/>
            <a:ext cx="720080" cy="307777"/>
          </a:xfrm>
          <a:prstGeom prst="rect">
            <a:avLst/>
          </a:prstGeom>
          <a:noFill/>
        </p:spPr>
        <p:txBody>
          <a:bodyPr wrap="square" rtlCol="0">
            <a:spAutoFit/>
          </a:bodyPr>
          <a:lstStyle/>
          <a:p>
            <a:r>
              <a:rPr lang="en-US"/>
              <a:t>OEM </a:t>
            </a:r>
          </a:p>
        </p:txBody>
      </p:sp>
      <p:pic>
        <p:nvPicPr>
          <p:cNvPr id="11" name="Picture 14" descr="Manufacturing Logo Vector Art, Icons, and Graphics for Free Download">
            <a:extLst>
              <a:ext uri="{FF2B5EF4-FFF2-40B4-BE49-F238E27FC236}">
                <a16:creationId xmlns:a16="http://schemas.microsoft.com/office/drawing/2014/main" id="{16EE0C37-9C4D-3F7D-CAD5-C483C7A46EA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5994" t="16425" r="27588" b="40338"/>
          <a:stretch/>
        </p:blipFill>
        <p:spPr bwMode="auto">
          <a:xfrm>
            <a:off x="2427844" y="1199269"/>
            <a:ext cx="524448" cy="488509"/>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9521C91-95E4-5305-5F74-8B1891933497}"/>
              </a:ext>
            </a:extLst>
          </p:cNvPr>
          <p:cNvSpPr txBox="1"/>
          <p:nvPr/>
        </p:nvSpPr>
        <p:spPr>
          <a:xfrm>
            <a:off x="251519" y="2796754"/>
            <a:ext cx="983777" cy="307777"/>
          </a:xfrm>
          <a:prstGeom prst="rect">
            <a:avLst/>
          </a:prstGeom>
          <a:noFill/>
        </p:spPr>
        <p:txBody>
          <a:bodyPr wrap="square" rtlCol="0">
            <a:spAutoFit/>
          </a:bodyPr>
          <a:lstStyle/>
          <a:p>
            <a:r>
              <a:rPr lang="en-US"/>
              <a:t>Customer </a:t>
            </a:r>
          </a:p>
        </p:txBody>
      </p:sp>
      <p:sp>
        <p:nvSpPr>
          <p:cNvPr id="14" name="TextBox 13">
            <a:extLst>
              <a:ext uri="{FF2B5EF4-FFF2-40B4-BE49-F238E27FC236}">
                <a16:creationId xmlns:a16="http://schemas.microsoft.com/office/drawing/2014/main" id="{24BDAAA7-9036-0834-0461-EDF8204B427C}"/>
              </a:ext>
            </a:extLst>
          </p:cNvPr>
          <p:cNvSpPr txBox="1"/>
          <p:nvPr/>
        </p:nvSpPr>
        <p:spPr>
          <a:xfrm>
            <a:off x="251518" y="3560511"/>
            <a:ext cx="1733853" cy="307777"/>
          </a:xfrm>
          <a:prstGeom prst="rect">
            <a:avLst/>
          </a:prstGeom>
          <a:noFill/>
        </p:spPr>
        <p:txBody>
          <a:bodyPr wrap="square" rtlCol="0">
            <a:spAutoFit/>
          </a:bodyPr>
          <a:lstStyle/>
          <a:p>
            <a:r>
              <a:rPr lang="en-US"/>
              <a:t>Service Engineer </a:t>
            </a:r>
          </a:p>
        </p:txBody>
      </p:sp>
      <p:pic>
        <p:nvPicPr>
          <p:cNvPr id="15" name="Picture 2" descr="Service engineer line icon linear concept Vector Image">
            <a:extLst>
              <a:ext uri="{FF2B5EF4-FFF2-40B4-BE49-F238E27FC236}">
                <a16:creationId xmlns:a16="http://schemas.microsoft.com/office/drawing/2014/main" id="{6256BCBC-9770-0CFD-72EC-9407EC3FB55E}"/>
              </a:ext>
            </a:extLst>
          </p:cNvPr>
          <p:cNvPicPr>
            <a:picLocks noChangeAspect="1" noChangeArrowheads="1"/>
          </p:cNvPicPr>
          <p:nvPr/>
        </p:nvPicPr>
        <p:blipFill rotWithShape="1">
          <a:blip r:embed="rId9" cstate="hqprint">
            <a:extLst>
              <a:ext uri="{28A0092B-C50C-407E-A947-70E740481C1C}">
                <a14:useLocalDpi xmlns:a14="http://schemas.microsoft.com/office/drawing/2010/main" val="0"/>
              </a:ext>
            </a:extLst>
          </a:blip>
          <a:srcRect l="14594" t="13043" r="17826" b="21739"/>
          <a:stretch/>
        </p:blipFill>
        <p:spPr bwMode="auto">
          <a:xfrm>
            <a:off x="2466823" y="3469025"/>
            <a:ext cx="413461" cy="430927"/>
          </a:xfrm>
          <a:prstGeom prst="rect">
            <a:avLst/>
          </a:prstGeom>
          <a:solidFill>
            <a:srgbClr val="00B0F0"/>
          </a:solidFill>
          <a:ln w="28575">
            <a:solidFill>
              <a:srgbClr val="0070C0"/>
            </a:solidFill>
          </a:ln>
        </p:spPr>
      </p:pic>
      <p:pic>
        <p:nvPicPr>
          <p:cNvPr id="16" name="Picture 12" descr="Coordinator Icon Images – Browse 1,490 Stock Photos, Vectors, and Video |  Adobe Stock">
            <a:extLst>
              <a:ext uri="{FF2B5EF4-FFF2-40B4-BE49-F238E27FC236}">
                <a16:creationId xmlns:a16="http://schemas.microsoft.com/office/drawing/2014/main" id="{945F2051-10DA-3761-8958-F8FFB6338A69}"/>
              </a:ext>
            </a:extLst>
          </p:cNvPr>
          <p:cNvPicPr>
            <a:picLocks noChangeAspect="1" noChangeArrowheads="1"/>
          </p:cNvPicPr>
          <p:nvPr/>
        </p:nvPicPr>
        <p:blipFill rotWithShape="1">
          <a:blip r:embed="rId10" cstate="hqprint">
            <a:extLst>
              <a:ext uri="{28A0092B-C50C-407E-A947-70E740481C1C}">
                <a14:useLocalDpi xmlns:a14="http://schemas.microsoft.com/office/drawing/2010/main" val="0"/>
              </a:ext>
            </a:extLst>
          </a:blip>
          <a:srcRect l="9557" t="6229" r="-1194" b="15923"/>
          <a:stretch/>
        </p:blipFill>
        <p:spPr bwMode="auto">
          <a:xfrm>
            <a:off x="2474667" y="4189105"/>
            <a:ext cx="477625" cy="405760"/>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34B9992-9BD1-A3F2-7FAB-71C42409CF0D}"/>
              </a:ext>
            </a:extLst>
          </p:cNvPr>
          <p:cNvSpPr txBox="1"/>
          <p:nvPr/>
        </p:nvSpPr>
        <p:spPr>
          <a:xfrm>
            <a:off x="263405" y="4213432"/>
            <a:ext cx="2133600" cy="307777"/>
          </a:xfrm>
          <a:prstGeom prst="rect">
            <a:avLst/>
          </a:prstGeom>
          <a:noFill/>
        </p:spPr>
        <p:txBody>
          <a:bodyPr wrap="square" rtlCol="0">
            <a:spAutoFit/>
          </a:bodyPr>
          <a:lstStyle/>
          <a:p>
            <a:r>
              <a:rPr lang="en-US"/>
              <a:t>Service Coordinator</a:t>
            </a:r>
          </a:p>
        </p:txBody>
      </p:sp>
      <p:pic>
        <p:nvPicPr>
          <p:cNvPr id="18" name="Picture 22" descr="Service Center Clipart Transparent Background, Manager Of Car Service  Center Icon, Car Icons, Service Icons, Manager Icons PNG Image For Free  Download">
            <a:extLst>
              <a:ext uri="{FF2B5EF4-FFF2-40B4-BE49-F238E27FC236}">
                <a16:creationId xmlns:a16="http://schemas.microsoft.com/office/drawing/2014/main" id="{5167B7AE-1532-0AE4-495C-E3A67689EEE0}"/>
              </a:ext>
            </a:extLst>
          </p:cNvPr>
          <p:cNvPicPr>
            <a:picLocks noChangeAspect="1" noChangeArrowheads="1"/>
          </p:cNvPicPr>
          <p:nvPr/>
        </p:nvPicPr>
        <p:blipFill rotWithShape="1">
          <a:blip r:embed="rId11" cstate="hqprint">
            <a:extLst>
              <a:ext uri="{28A0092B-C50C-407E-A947-70E740481C1C}">
                <a14:useLocalDpi xmlns:a14="http://schemas.microsoft.com/office/drawing/2010/main" val="0"/>
              </a:ext>
            </a:extLst>
          </a:blip>
          <a:srcRect l="25480" t="11135" r="2795" b="12358"/>
          <a:stretch/>
        </p:blipFill>
        <p:spPr bwMode="auto">
          <a:xfrm>
            <a:off x="2434315" y="5727845"/>
            <a:ext cx="477625" cy="509467"/>
          </a:xfrm>
          <a:prstGeom prst="rect">
            <a:avLst/>
          </a:prstGeom>
          <a:noFill/>
          <a:ln w="28575">
            <a:solidFill>
              <a:srgbClr val="00B0F0"/>
            </a:solidFill>
          </a:ln>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5FC05F8-93BE-6683-CD64-6D592A38B1C2}"/>
              </a:ext>
            </a:extLst>
          </p:cNvPr>
          <p:cNvSpPr txBox="1"/>
          <p:nvPr/>
        </p:nvSpPr>
        <p:spPr>
          <a:xfrm>
            <a:off x="226706" y="5918237"/>
            <a:ext cx="2133600" cy="307777"/>
          </a:xfrm>
          <a:prstGeom prst="rect">
            <a:avLst/>
          </a:prstGeom>
          <a:noFill/>
        </p:spPr>
        <p:txBody>
          <a:bodyPr wrap="square" rtlCol="0">
            <a:spAutoFit/>
          </a:bodyPr>
          <a:lstStyle/>
          <a:p>
            <a:r>
              <a:rPr lang="en-US"/>
              <a:t>Service Manager</a:t>
            </a:r>
          </a:p>
        </p:txBody>
      </p:sp>
      <p:sp>
        <p:nvSpPr>
          <p:cNvPr id="20" name="TextBox 19">
            <a:extLst>
              <a:ext uri="{FF2B5EF4-FFF2-40B4-BE49-F238E27FC236}">
                <a16:creationId xmlns:a16="http://schemas.microsoft.com/office/drawing/2014/main" id="{0E4B27A7-573A-A41B-C589-FDF798443500}"/>
              </a:ext>
            </a:extLst>
          </p:cNvPr>
          <p:cNvSpPr txBox="1"/>
          <p:nvPr/>
        </p:nvSpPr>
        <p:spPr>
          <a:xfrm>
            <a:off x="233862" y="5155798"/>
            <a:ext cx="2133600" cy="307777"/>
          </a:xfrm>
          <a:prstGeom prst="rect">
            <a:avLst/>
          </a:prstGeom>
          <a:noFill/>
        </p:spPr>
        <p:txBody>
          <a:bodyPr wrap="square" rtlCol="0">
            <a:spAutoFit/>
          </a:bodyPr>
          <a:lstStyle/>
          <a:p>
            <a:r>
              <a:rPr lang="en-US"/>
              <a:t>Team Leader</a:t>
            </a:r>
          </a:p>
        </p:txBody>
      </p:sp>
      <p:pic>
        <p:nvPicPr>
          <p:cNvPr id="21" name="Picture 24" descr="Logistics Manager Icon - Free PNG &amp; SVG 528419 - Noun Project">
            <a:extLst>
              <a:ext uri="{FF2B5EF4-FFF2-40B4-BE49-F238E27FC236}">
                <a16:creationId xmlns:a16="http://schemas.microsoft.com/office/drawing/2014/main" id="{C7C6741E-EB5A-8A5D-9431-259064B6D2EB}"/>
              </a:ext>
            </a:extLst>
          </p:cNvPr>
          <p:cNvPicPr>
            <a:picLocks noChangeAspect="1" noChangeArrowheads="1"/>
          </p:cNvPicPr>
          <p:nvPr/>
        </p:nvPicPr>
        <p:blipFill>
          <a:blip r:embed="rId12" cstate="hqprint">
            <a:extLst>
              <a:ext uri="{28A0092B-C50C-407E-A947-70E740481C1C}">
                <a14:useLocalDpi xmlns:a14="http://schemas.microsoft.com/office/drawing/2010/main" val="0"/>
              </a:ext>
            </a:extLst>
          </a:blip>
          <a:srcRect/>
          <a:stretch>
            <a:fillRect/>
          </a:stretch>
        </p:blipFill>
        <p:spPr bwMode="auto">
          <a:xfrm>
            <a:off x="5710294" y="4345706"/>
            <a:ext cx="439360" cy="439360"/>
          </a:xfrm>
          <a:prstGeom prst="rect">
            <a:avLst/>
          </a:prstGeom>
          <a:noFill/>
          <a:ln w="19050">
            <a:solidFill>
              <a:srgbClr val="00B0F0"/>
            </a:solidFill>
          </a:ln>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D8E7CA8A-A2C7-0B33-773F-4053EA6CF1EA}"/>
              </a:ext>
            </a:extLst>
          </p:cNvPr>
          <p:cNvSpPr txBox="1"/>
          <p:nvPr/>
        </p:nvSpPr>
        <p:spPr>
          <a:xfrm>
            <a:off x="3364469" y="5029792"/>
            <a:ext cx="2133600" cy="307777"/>
          </a:xfrm>
          <a:prstGeom prst="rect">
            <a:avLst/>
          </a:prstGeom>
          <a:noFill/>
        </p:spPr>
        <p:txBody>
          <a:bodyPr wrap="square" rtlCol="0">
            <a:spAutoFit/>
          </a:bodyPr>
          <a:lstStyle/>
          <a:p>
            <a:r>
              <a:rPr lang="en-US"/>
              <a:t>Store Manager</a:t>
            </a:r>
          </a:p>
        </p:txBody>
      </p:sp>
      <p:sp>
        <p:nvSpPr>
          <p:cNvPr id="23" name="TextBox 22">
            <a:extLst>
              <a:ext uri="{FF2B5EF4-FFF2-40B4-BE49-F238E27FC236}">
                <a16:creationId xmlns:a16="http://schemas.microsoft.com/office/drawing/2014/main" id="{DE555CF6-611A-A668-18CE-F94427CE06CD}"/>
              </a:ext>
            </a:extLst>
          </p:cNvPr>
          <p:cNvSpPr txBox="1"/>
          <p:nvPr/>
        </p:nvSpPr>
        <p:spPr>
          <a:xfrm>
            <a:off x="3364469" y="4415109"/>
            <a:ext cx="2133600" cy="307777"/>
          </a:xfrm>
          <a:prstGeom prst="rect">
            <a:avLst/>
          </a:prstGeom>
          <a:noFill/>
        </p:spPr>
        <p:txBody>
          <a:bodyPr wrap="square" rtlCol="0">
            <a:spAutoFit/>
          </a:bodyPr>
          <a:lstStyle/>
          <a:p>
            <a:r>
              <a:rPr lang="en-US"/>
              <a:t>Store Executive</a:t>
            </a:r>
          </a:p>
        </p:txBody>
      </p:sp>
      <p:pic>
        <p:nvPicPr>
          <p:cNvPr id="24" name="Picture 26" descr="Distribution manager flat icon Royalty Free Vector Image">
            <a:extLst>
              <a:ext uri="{FF2B5EF4-FFF2-40B4-BE49-F238E27FC236}">
                <a16:creationId xmlns:a16="http://schemas.microsoft.com/office/drawing/2014/main" id="{05E83039-724F-F3C0-0C13-8991E064DA1D}"/>
              </a:ext>
            </a:extLst>
          </p:cNvPr>
          <p:cNvPicPr>
            <a:picLocks noChangeAspect="1" noChangeArrowheads="1"/>
          </p:cNvPicPr>
          <p:nvPr/>
        </p:nvPicPr>
        <p:blipFill rotWithShape="1">
          <a:blip r:embed="rId13" cstate="hqprint">
            <a:extLst>
              <a:ext uri="{28A0092B-C50C-407E-A947-70E740481C1C}">
                <a14:useLocalDpi xmlns:a14="http://schemas.microsoft.com/office/drawing/2010/main" val="0"/>
              </a:ext>
            </a:extLst>
          </a:blip>
          <a:srcRect b="10164"/>
          <a:stretch/>
        </p:blipFill>
        <p:spPr bwMode="auto">
          <a:xfrm>
            <a:off x="5691151" y="4915540"/>
            <a:ext cx="511730" cy="457676"/>
          </a:xfrm>
          <a:prstGeom prst="rect">
            <a:avLst/>
          </a:prstGeom>
          <a:noFill/>
          <a:ln w="12700">
            <a:solidFill>
              <a:srgbClr val="00B0F0"/>
            </a:solidFill>
          </a:ln>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A69AA6EF-155E-750C-2BFD-806C97882C35}"/>
              </a:ext>
            </a:extLst>
          </p:cNvPr>
          <p:cNvSpPr txBox="1"/>
          <p:nvPr/>
        </p:nvSpPr>
        <p:spPr>
          <a:xfrm>
            <a:off x="3347864" y="1265597"/>
            <a:ext cx="1733853" cy="307777"/>
          </a:xfrm>
          <a:prstGeom prst="rect">
            <a:avLst/>
          </a:prstGeom>
          <a:noFill/>
        </p:spPr>
        <p:txBody>
          <a:bodyPr wrap="square" rtlCol="0">
            <a:spAutoFit/>
          </a:bodyPr>
          <a:lstStyle/>
          <a:p>
            <a:r>
              <a:rPr lang="en-US"/>
              <a:t>Sales Engineer </a:t>
            </a:r>
          </a:p>
        </p:txBody>
      </p:sp>
      <p:sp>
        <p:nvSpPr>
          <p:cNvPr id="27" name="TextBox 26">
            <a:extLst>
              <a:ext uri="{FF2B5EF4-FFF2-40B4-BE49-F238E27FC236}">
                <a16:creationId xmlns:a16="http://schemas.microsoft.com/office/drawing/2014/main" id="{039DE687-4F11-8FBF-F4B5-EA5744561AFF}"/>
              </a:ext>
            </a:extLst>
          </p:cNvPr>
          <p:cNvSpPr txBox="1"/>
          <p:nvPr/>
        </p:nvSpPr>
        <p:spPr>
          <a:xfrm>
            <a:off x="3347864" y="2047855"/>
            <a:ext cx="2133600" cy="307777"/>
          </a:xfrm>
          <a:prstGeom prst="rect">
            <a:avLst/>
          </a:prstGeom>
          <a:noFill/>
        </p:spPr>
        <p:txBody>
          <a:bodyPr wrap="square" rtlCol="0">
            <a:spAutoFit/>
          </a:bodyPr>
          <a:lstStyle/>
          <a:p>
            <a:r>
              <a:rPr lang="en-US"/>
              <a:t>Sales Coordinator</a:t>
            </a:r>
          </a:p>
        </p:txBody>
      </p:sp>
      <p:pic>
        <p:nvPicPr>
          <p:cNvPr id="2076" name="Picture 28" descr="Sales Manager Presentation Outline Icon Symbol Stock Vector (Royalty Free)  1620111322 | Shutterstock">
            <a:extLst>
              <a:ext uri="{FF2B5EF4-FFF2-40B4-BE49-F238E27FC236}">
                <a16:creationId xmlns:a16="http://schemas.microsoft.com/office/drawing/2014/main" id="{8B962226-3EE0-537B-36B4-2C053F4000E4}"/>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4506" r="16056" b="14886"/>
          <a:stretch/>
        </p:blipFill>
        <p:spPr bwMode="auto">
          <a:xfrm>
            <a:off x="5670101" y="2708920"/>
            <a:ext cx="530192" cy="616456"/>
          </a:xfrm>
          <a:prstGeom prst="rect">
            <a:avLst/>
          </a:prstGeom>
          <a:noFill/>
          <a:ln w="28575">
            <a:solidFill>
              <a:srgbClr val="00B0F0"/>
            </a:solidFill>
          </a:ln>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0B2FB6EE-E1A4-9757-8D61-4E71EBDECE1E}"/>
              </a:ext>
            </a:extLst>
          </p:cNvPr>
          <p:cNvSpPr txBox="1"/>
          <p:nvPr/>
        </p:nvSpPr>
        <p:spPr>
          <a:xfrm>
            <a:off x="3347864" y="2780928"/>
            <a:ext cx="2180305" cy="307777"/>
          </a:xfrm>
          <a:prstGeom prst="rect">
            <a:avLst/>
          </a:prstGeom>
          <a:noFill/>
        </p:spPr>
        <p:txBody>
          <a:bodyPr wrap="square" rtlCol="0">
            <a:spAutoFit/>
          </a:bodyPr>
          <a:lstStyle/>
          <a:p>
            <a:r>
              <a:rPr lang="en-US"/>
              <a:t>Sales Manager</a:t>
            </a:r>
          </a:p>
        </p:txBody>
      </p:sp>
      <p:pic>
        <p:nvPicPr>
          <p:cNvPr id="2078" name="Picture 30" descr="Introducing Office 365 Planner | Microsoft 365 Blog">
            <a:extLst>
              <a:ext uri="{FF2B5EF4-FFF2-40B4-BE49-F238E27FC236}">
                <a16:creationId xmlns:a16="http://schemas.microsoft.com/office/drawing/2014/main" id="{C5C15A06-5BCF-28A7-03BC-BA8F34AFB0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56790" y="3507681"/>
            <a:ext cx="616456" cy="616456"/>
          </a:xfrm>
          <a:prstGeom prst="rect">
            <a:avLst/>
          </a:prstGeom>
          <a:noFill/>
          <a:ln w="19050">
            <a:solidFill>
              <a:srgbClr val="00B0F0"/>
            </a:solidFill>
          </a:ln>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3B4F63DF-4C33-BD84-2D0D-C67F73344F80}"/>
              </a:ext>
            </a:extLst>
          </p:cNvPr>
          <p:cNvSpPr txBox="1"/>
          <p:nvPr/>
        </p:nvSpPr>
        <p:spPr>
          <a:xfrm>
            <a:off x="3364469" y="3701675"/>
            <a:ext cx="2180305" cy="307777"/>
          </a:xfrm>
          <a:prstGeom prst="rect">
            <a:avLst/>
          </a:prstGeom>
          <a:noFill/>
        </p:spPr>
        <p:txBody>
          <a:bodyPr wrap="square" rtlCol="0">
            <a:spAutoFit/>
          </a:bodyPr>
          <a:lstStyle/>
          <a:p>
            <a:r>
              <a:rPr lang="en-US"/>
              <a:t>Item Planner (OEM)</a:t>
            </a:r>
          </a:p>
        </p:txBody>
      </p:sp>
      <p:sp>
        <p:nvSpPr>
          <p:cNvPr id="30" name="TextBox 29">
            <a:extLst>
              <a:ext uri="{FF2B5EF4-FFF2-40B4-BE49-F238E27FC236}">
                <a16:creationId xmlns:a16="http://schemas.microsoft.com/office/drawing/2014/main" id="{53A5037C-A624-4E54-76D7-DD46D52142F1}"/>
              </a:ext>
            </a:extLst>
          </p:cNvPr>
          <p:cNvSpPr txBox="1"/>
          <p:nvPr/>
        </p:nvSpPr>
        <p:spPr>
          <a:xfrm>
            <a:off x="6553201" y="1213923"/>
            <a:ext cx="1547192" cy="307777"/>
          </a:xfrm>
          <a:prstGeom prst="rect">
            <a:avLst/>
          </a:prstGeom>
          <a:noFill/>
        </p:spPr>
        <p:txBody>
          <a:bodyPr wrap="square" rtlCol="0">
            <a:spAutoFit/>
          </a:bodyPr>
          <a:lstStyle/>
          <a:p>
            <a:r>
              <a:rPr lang="en-US"/>
              <a:t>Web app</a:t>
            </a:r>
          </a:p>
        </p:txBody>
      </p:sp>
      <p:sp>
        <p:nvSpPr>
          <p:cNvPr id="2048" name="TextBox 2047">
            <a:extLst>
              <a:ext uri="{FF2B5EF4-FFF2-40B4-BE49-F238E27FC236}">
                <a16:creationId xmlns:a16="http://schemas.microsoft.com/office/drawing/2014/main" id="{4E2D7AD8-F149-28ED-B241-3B52EC0D679D}"/>
              </a:ext>
            </a:extLst>
          </p:cNvPr>
          <p:cNvSpPr txBox="1"/>
          <p:nvPr/>
        </p:nvSpPr>
        <p:spPr>
          <a:xfrm>
            <a:off x="6553201" y="2217742"/>
            <a:ext cx="1547192" cy="307777"/>
          </a:xfrm>
          <a:prstGeom prst="rect">
            <a:avLst/>
          </a:prstGeom>
          <a:noFill/>
        </p:spPr>
        <p:txBody>
          <a:bodyPr wrap="square" rtlCol="0">
            <a:spAutoFit/>
          </a:bodyPr>
          <a:lstStyle/>
          <a:p>
            <a:r>
              <a:rPr lang="en-US"/>
              <a:t>Mobile app</a:t>
            </a:r>
          </a:p>
        </p:txBody>
      </p:sp>
      <p:pic>
        <p:nvPicPr>
          <p:cNvPr id="2080" name="Picture 32" descr="1,534 Authorized Dealer Images, Stock Photos, 3D objects, &amp; Vectors |  Shutterstock">
            <a:extLst>
              <a:ext uri="{FF2B5EF4-FFF2-40B4-BE49-F238E27FC236}">
                <a16:creationId xmlns:a16="http://schemas.microsoft.com/office/drawing/2014/main" id="{709227FD-F55A-6FF7-9327-9D42897953DB}"/>
              </a:ext>
            </a:extLst>
          </p:cNvPr>
          <p:cNvPicPr>
            <a:picLocks noChangeAspect="1" noChangeArrowheads="1"/>
          </p:cNvPicPr>
          <p:nvPr/>
        </p:nvPicPr>
        <p:blipFill>
          <a:blip r:embed="rId16" cstate="hqprint">
            <a:extLst>
              <a:ext uri="{28A0092B-C50C-407E-A947-70E740481C1C}">
                <a14:useLocalDpi xmlns:a14="http://schemas.microsoft.com/office/drawing/2010/main" val="0"/>
              </a:ext>
            </a:extLst>
          </a:blip>
          <a:srcRect/>
          <a:stretch>
            <a:fillRect/>
          </a:stretch>
        </p:blipFill>
        <p:spPr bwMode="auto">
          <a:xfrm>
            <a:off x="2422031" y="1857315"/>
            <a:ext cx="542109" cy="584775"/>
          </a:xfrm>
          <a:prstGeom prst="rect">
            <a:avLst/>
          </a:prstGeom>
          <a:noFill/>
          <a:ln w="28575">
            <a:solidFill>
              <a:srgbClr val="00B0F0"/>
            </a:solidFill>
          </a:ln>
          <a:extLst>
            <a:ext uri="{909E8E84-426E-40DD-AFC4-6F175D3DCCD1}">
              <a14:hiddenFill xmlns:a14="http://schemas.microsoft.com/office/drawing/2010/main">
                <a:solidFill>
                  <a:srgbClr val="FFFFFF"/>
                </a:solidFill>
              </a14:hiddenFill>
            </a:ext>
          </a:extLst>
        </p:spPr>
      </p:pic>
      <p:sp>
        <p:nvSpPr>
          <p:cNvPr id="2049" name="TextBox 2048">
            <a:extLst>
              <a:ext uri="{FF2B5EF4-FFF2-40B4-BE49-F238E27FC236}">
                <a16:creationId xmlns:a16="http://schemas.microsoft.com/office/drawing/2014/main" id="{6C10F371-708A-42A7-70AA-61582ECD388F}"/>
              </a:ext>
            </a:extLst>
          </p:cNvPr>
          <p:cNvSpPr txBox="1"/>
          <p:nvPr/>
        </p:nvSpPr>
        <p:spPr>
          <a:xfrm>
            <a:off x="251519" y="2001149"/>
            <a:ext cx="983777" cy="307777"/>
          </a:xfrm>
          <a:prstGeom prst="rect">
            <a:avLst/>
          </a:prstGeom>
          <a:noFill/>
        </p:spPr>
        <p:txBody>
          <a:bodyPr wrap="square" rtlCol="0">
            <a:spAutoFit/>
          </a:bodyPr>
          <a:lstStyle/>
          <a:p>
            <a:r>
              <a:rPr lang="en-US"/>
              <a:t>Dealer </a:t>
            </a:r>
          </a:p>
        </p:txBody>
      </p:sp>
      <p:pic>
        <p:nvPicPr>
          <p:cNvPr id="1026" name="Picture 2" descr="A Simple Guide to Spare Parts Management">
            <a:extLst>
              <a:ext uri="{FF2B5EF4-FFF2-40B4-BE49-F238E27FC236}">
                <a16:creationId xmlns:a16="http://schemas.microsoft.com/office/drawing/2014/main" id="{31956813-6D65-98D0-72E7-B17041915EEA}"/>
              </a:ext>
            </a:extLst>
          </p:cNvPr>
          <p:cNvPicPr>
            <a:picLocks noChangeAspect="1" noChangeArrowheads="1"/>
          </p:cNvPicPr>
          <p:nvPr/>
        </p:nvPicPr>
        <p:blipFill>
          <a:blip r:embed="rId17" cstate="hqprint">
            <a:extLst>
              <a:ext uri="{28A0092B-C50C-407E-A947-70E740481C1C}">
                <a14:useLocalDpi xmlns:a14="http://schemas.microsoft.com/office/drawing/2010/main" val="0"/>
              </a:ext>
            </a:extLst>
          </a:blip>
          <a:srcRect/>
          <a:stretch>
            <a:fillRect/>
          </a:stretch>
        </p:blipFill>
        <p:spPr bwMode="auto">
          <a:xfrm>
            <a:off x="5547906" y="5480756"/>
            <a:ext cx="684548" cy="6845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99D8E1B-A9EE-7A62-EF73-444D06E59550}"/>
              </a:ext>
            </a:extLst>
          </p:cNvPr>
          <p:cNvSpPr txBox="1"/>
          <p:nvPr/>
        </p:nvSpPr>
        <p:spPr>
          <a:xfrm>
            <a:off x="3347864" y="5641503"/>
            <a:ext cx="2133600" cy="307777"/>
          </a:xfrm>
          <a:prstGeom prst="rect">
            <a:avLst/>
          </a:prstGeom>
          <a:noFill/>
        </p:spPr>
        <p:txBody>
          <a:bodyPr wrap="square" rtlCol="0">
            <a:spAutoFit/>
          </a:bodyPr>
          <a:lstStyle/>
          <a:p>
            <a:r>
              <a:rPr lang="en-US"/>
              <a:t>Parts Coordinator</a:t>
            </a:r>
          </a:p>
        </p:txBody>
      </p:sp>
      <p:pic>
        <p:nvPicPr>
          <p:cNvPr id="1028" name="Picture 4" descr="Store manager - Free commerce and shopping icons">
            <a:extLst>
              <a:ext uri="{FF2B5EF4-FFF2-40B4-BE49-F238E27FC236}">
                <a16:creationId xmlns:a16="http://schemas.microsoft.com/office/drawing/2014/main" id="{8865A8B2-5EAE-22E9-76B8-400A975B6DAF}"/>
              </a:ext>
            </a:extLst>
          </p:cNvPr>
          <p:cNvPicPr>
            <a:picLocks noChangeAspect="1" noChangeArrowheads="1"/>
          </p:cNvPicPr>
          <p:nvPr/>
        </p:nvPicPr>
        <p:blipFill>
          <a:blip r:embed="rId18" cstate="hqprint">
            <a:extLst>
              <a:ext uri="{28A0092B-C50C-407E-A947-70E740481C1C}">
                <a14:useLocalDpi xmlns:a14="http://schemas.microsoft.com/office/drawing/2010/main" val="0"/>
              </a:ext>
            </a:extLst>
          </a:blip>
          <a:srcRect/>
          <a:stretch>
            <a:fillRect/>
          </a:stretch>
        </p:blipFill>
        <p:spPr bwMode="auto">
          <a:xfrm>
            <a:off x="8100392" y="5445224"/>
            <a:ext cx="684548" cy="6845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0A87D86-5B90-3F98-92FF-764D3AA29F0E}"/>
              </a:ext>
            </a:extLst>
          </p:cNvPr>
          <p:cNvSpPr txBox="1"/>
          <p:nvPr/>
        </p:nvSpPr>
        <p:spPr>
          <a:xfrm>
            <a:off x="6415236" y="5666694"/>
            <a:ext cx="2133600" cy="307777"/>
          </a:xfrm>
          <a:prstGeom prst="rect">
            <a:avLst/>
          </a:prstGeom>
          <a:noFill/>
        </p:spPr>
        <p:txBody>
          <a:bodyPr wrap="square" rtlCol="0">
            <a:spAutoFit/>
          </a:bodyPr>
          <a:lstStyle/>
          <a:p>
            <a:r>
              <a:rPr lang="en-US"/>
              <a:t>Parts Manager</a:t>
            </a:r>
          </a:p>
        </p:txBody>
      </p:sp>
    </p:spTree>
    <p:extLst>
      <p:ext uri="{BB962C8B-B14F-4D97-AF65-F5344CB8AC3E}">
        <p14:creationId xmlns:p14="http://schemas.microsoft.com/office/powerpoint/2010/main" val="444858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C7C5FD6-8411-9153-DEA2-4F03DDB7234C}"/>
              </a:ext>
            </a:extLst>
          </p:cNvPr>
          <p:cNvSpPr txBox="1"/>
          <p:nvPr/>
        </p:nvSpPr>
        <p:spPr>
          <a:xfrm>
            <a:off x="107504" y="69344"/>
            <a:ext cx="8280920" cy="523220"/>
          </a:xfrm>
          <a:prstGeom prst="rect">
            <a:avLst/>
          </a:prstGeom>
          <a:noFill/>
        </p:spPr>
        <p:txBody>
          <a:bodyPr wrap="square">
            <a:spAutoFit/>
          </a:bodyPr>
          <a:lstStyle/>
          <a:p>
            <a:pPr>
              <a:defRPr/>
            </a:pPr>
            <a:r>
              <a:rPr lang="en-US" sz="2800" b="1">
                <a:solidFill>
                  <a:srgbClr val="6775FD"/>
                </a:solidFill>
                <a:latin typeface="+mj-lt"/>
                <a:ea typeface="Arial Unicode MS"/>
              </a:rPr>
              <a:t>Color Indicators for modules / Sub modules</a:t>
            </a:r>
            <a:endParaRPr lang="en-US" sz="2800" b="1">
              <a:solidFill>
                <a:srgbClr val="6775FD"/>
              </a:solidFill>
              <a:latin typeface="Calibri"/>
            </a:endParaRPr>
          </a:p>
        </p:txBody>
      </p:sp>
      <p:sp>
        <p:nvSpPr>
          <p:cNvPr id="2" name="TextBox 1">
            <a:extLst>
              <a:ext uri="{FF2B5EF4-FFF2-40B4-BE49-F238E27FC236}">
                <a16:creationId xmlns:a16="http://schemas.microsoft.com/office/drawing/2014/main" id="{0E765832-59CD-EABB-495F-6D807A18932E}"/>
              </a:ext>
            </a:extLst>
          </p:cNvPr>
          <p:cNvSpPr txBox="1"/>
          <p:nvPr/>
        </p:nvSpPr>
        <p:spPr>
          <a:xfrm>
            <a:off x="251520" y="1262107"/>
            <a:ext cx="1872208" cy="307777"/>
          </a:xfrm>
          <a:prstGeom prst="rect">
            <a:avLst/>
          </a:prstGeom>
          <a:noFill/>
        </p:spPr>
        <p:txBody>
          <a:bodyPr wrap="square" rtlCol="0">
            <a:spAutoFit/>
          </a:bodyPr>
          <a:lstStyle/>
          <a:p>
            <a:r>
              <a:rPr lang="en-US"/>
              <a:t>Service call</a:t>
            </a:r>
          </a:p>
        </p:txBody>
      </p:sp>
      <p:sp>
        <p:nvSpPr>
          <p:cNvPr id="3" name="Oval 2">
            <a:extLst>
              <a:ext uri="{FF2B5EF4-FFF2-40B4-BE49-F238E27FC236}">
                <a16:creationId xmlns:a16="http://schemas.microsoft.com/office/drawing/2014/main" id="{98A01FBE-0198-2466-4730-324DDBD13035}"/>
              </a:ext>
            </a:extLst>
          </p:cNvPr>
          <p:cNvSpPr/>
          <p:nvPr/>
        </p:nvSpPr>
        <p:spPr>
          <a:xfrm>
            <a:off x="2627784" y="1005985"/>
            <a:ext cx="504056" cy="523220"/>
          </a:xfrm>
          <a:prstGeom prst="ellipse">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DB4C8AA-52C1-DDEE-5C41-EC0A41011EF6}"/>
              </a:ext>
            </a:extLst>
          </p:cNvPr>
          <p:cNvSpPr txBox="1"/>
          <p:nvPr/>
        </p:nvSpPr>
        <p:spPr>
          <a:xfrm>
            <a:off x="251520" y="1884338"/>
            <a:ext cx="1872208" cy="307777"/>
          </a:xfrm>
          <a:prstGeom prst="rect">
            <a:avLst/>
          </a:prstGeom>
          <a:noFill/>
        </p:spPr>
        <p:txBody>
          <a:bodyPr wrap="square" rtlCol="0">
            <a:spAutoFit/>
          </a:bodyPr>
          <a:lstStyle/>
          <a:p>
            <a:r>
              <a:rPr lang="en-US"/>
              <a:t>Parts Warranty Claim </a:t>
            </a:r>
          </a:p>
        </p:txBody>
      </p:sp>
      <p:sp>
        <p:nvSpPr>
          <p:cNvPr id="7" name="Oval 6">
            <a:extLst>
              <a:ext uri="{FF2B5EF4-FFF2-40B4-BE49-F238E27FC236}">
                <a16:creationId xmlns:a16="http://schemas.microsoft.com/office/drawing/2014/main" id="{8191C79E-2278-8A7B-8614-C07287A9D702}"/>
              </a:ext>
            </a:extLst>
          </p:cNvPr>
          <p:cNvSpPr/>
          <p:nvPr/>
        </p:nvSpPr>
        <p:spPr>
          <a:xfrm>
            <a:off x="2627784" y="1689771"/>
            <a:ext cx="504056" cy="523220"/>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3B93259-8A90-2266-1847-24CAE4F24E9C}"/>
              </a:ext>
            </a:extLst>
          </p:cNvPr>
          <p:cNvSpPr txBox="1"/>
          <p:nvPr/>
        </p:nvSpPr>
        <p:spPr>
          <a:xfrm>
            <a:off x="272024" y="2568124"/>
            <a:ext cx="1872208" cy="307777"/>
          </a:xfrm>
          <a:prstGeom prst="rect">
            <a:avLst/>
          </a:prstGeom>
          <a:noFill/>
        </p:spPr>
        <p:txBody>
          <a:bodyPr wrap="square" rtlCol="0">
            <a:spAutoFit/>
          </a:bodyPr>
          <a:lstStyle/>
          <a:p>
            <a:r>
              <a:rPr lang="en-US"/>
              <a:t>Expense Claim </a:t>
            </a:r>
          </a:p>
        </p:txBody>
      </p:sp>
      <p:sp>
        <p:nvSpPr>
          <p:cNvPr id="13" name="Oval 12">
            <a:extLst>
              <a:ext uri="{FF2B5EF4-FFF2-40B4-BE49-F238E27FC236}">
                <a16:creationId xmlns:a16="http://schemas.microsoft.com/office/drawing/2014/main" id="{1F4A49FC-2261-0F62-6A79-58B3FD25FA1C}"/>
              </a:ext>
            </a:extLst>
          </p:cNvPr>
          <p:cNvSpPr/>
          <p:nvPr/>
        </p:nvSpPr>
        <p:spPr>
          <a:xfrm>
            <a:off x="2627784" y="2374137"/>
            <a:ext cx="504056" cy="523220"/>
          </a:xfrm>
          <a:prstGeom prst="ellips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EAA4AA0-7787-20D4-E2BF-38383B1884A1}"/>
              </a:ext>
            </a:extLst>
          </p:cNvPr>
          <p:cNvSpPr txBox="1"/>
          <p:nvPr/>
        </p:nvSpPr>
        <p:spPr>
          <a:xfrm>
            <a:off x="251520" y="836712"/>
            <a:ext cx="2859816" cy="307777"/>
          </a:xfrm>
          <a:prstGeom prst="rect">
            <a:avLst/>
          </a:prstGeom>
          <a:noFill/>
        </p:spPr>
        <p:txBody>
          <a:bodyPr wrap="square" rtlCol="0">
            <a:spAutoFit/>
          </a:bodyPr>
          <a:lstStyle/>
          <a:p>
            <a:r>
              <a:rPr lang="en-US" b="1">
                <a:solidFill>
                  <a:schemeClr val="accent6">
                    <a:lumMod val="75000"/>
                  </a:schemeClr>
                </a:solidFill>
              </a:rPr>
              <a:t>Service Module</a:t>
            </a:r>
          </a:p>
        </p:txBody>
      </p:sp>
      <p:sp>
        <p:nvSpPr>
          <p:cNvPr id="31" name="TextBox 30">
            <a:extLst>
              <a:ext uri="{FF2B5EF4-FFF2-40B4-BE49-F238E27FC236}">
                <a16:creationId xmlns:a16="http://schemas.microsoft.com/office/drawing/2014/main" id="{EC5CF55C-1A5C-D140-75A5-661A5B619514}"/>
              </a:ext>
            </a:extLst>
          </p:cNvPr>
          <p:cNvSpPr txBox="1"/>
          <p:nvPr/>
        </p:nvSpPr>
        <p:spPr>
          <a:xfrm>
            <a:off x="4211960" y="1221428"/>
            <a:ext cx="1872208" cy="307777"/>
          </a:xfrm>
          <a:prstGeom prst="rect">
            <a:avLst/>
          </a:prstGeom>
          <a:noFill/>
        </p:spPr>
        <p:txBody>
          <a:bodyPr wrap="square" rtlCol="0">
            <a:spAutoFit/>
          </a:bodyPr>
          <a:lstStyle/>
          <a:p>
            <a:r>
              <a:rPr lang="en-US"/>
              <a:t>Parts Enquiry</a:t>
            </a:r>
          </a:p>
        </p:txBody>
      </p:sp>
      <p:sp>
        <p:nvSpPr>
          <p:cNvPr id="2050" name="Oval 2049">
            <a:extLst>
              <a:ext uri="{FF2B5EF4-FFF2-40B4-BE49-F238E27FC236}">
                <a16:creationId xmlns:a16="http://schemas.microsoft.com/office/drawing/2014/main" id="{57ED9374-3D4A-CF1F-0D77-8A45758FA1B3}"/>
              </a:ext>
            </a:extLst>
          </p:cNvPr>
          <p:cNvSpPr/>
          <p:nvPr/>
        </p:nvSpPr>
        <p:spPr>
          <a:xfrm>
            <a:off x="6588224" y="965306"/>
            <a:ext cx="504056" cy="523220"/>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 name="TextBox 2050">
            <a:extLst>
              <a:ext uri="{FF2B5EF4-FFF2-40B4-BE49-F238E27FC236}">
                <a16:creationId xmlns:a16="http://schemas.microsoft.com/office/drawing/2014/main" id="{7DAE9DC0-F654-8026-AA8D-1D5A4E31861F}"/>
              </a:ext>
            </a:extLst>
          </p:cNvPr>
          <p:cNvSpPr txBox="1"/>
          <p:nvPr/>
        </p:nvSpPr>
        <p:spPr>
          <a:xfrm>
            <a:off x="4211960" y="1843659"/>
            <a:ext cx="1872208" cy="307777"/>
          </a:xfrm>
          <a:prstGeom prst="rect">
            <a:avLst/>
          </a:prstGeom>
          <a:noFill/>
        </p:spPr>
        <p:txBody>
          <a:bodyPr wrap="square" rtlCol="0">
            <a:spAutoFit/>
          </a:bodyPr>
          <a:lstStyle/>
          <a:p>
            <a:r>
              <a:rPr lang="en-US"/>
              <a:t>Quotation </a:t>
            </a:r>
          </a:p>
        </p:txBody>
      </p:sp>
      <p:sp>
        <p:nvSpPr>
          <p:cNvPr id="2053" name="Oval 2052">
            <a:extLst>
              <a:ext uri="{FF2B5EF4-FFF2-40B4-BE49-F238E27FC236}">
                <a16:creationId xmlns:a16="http://schemas.microsoft.com/office/drawing/2014/main" id="{87AB20A8-3A00-6DAF-3174-D9B1388FF305}"/>
              </a:ext>
            </a:extLst>
          </p:cNvPr>
          <p:cNvSpPr/>
          <p:nvPr/>
        </p:nvSpPr>
        <p:spPr>
          <a:xfrm>
            <a:off x="6588224" y="1649092"/>
            <a:ext cx="504056" cy="52322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 name="TextBox 2054">
            <a:extLst>
              <a:ext uri="{FF2B5EF4-FFF2-40B4-BE49-F238E27FC236}">
                <a16:creationId xmlns:a16="http://schemas.microsoft.com/office/drawing/2014/main" id="{40E3EA07-5564-A103-FCE8-855FCEA6034D}"/>
              </a:ext>
            </a:extLst>
          </p:cNvPr>
          <p:cNvSpPr txBox="1"/>
          <p:nvPr/>
        </p:nvSpPr>
        <p:spPr>
          <a:xfrm>
            <a:off x="4232464" y="2527445"/>
            <a:ext cx="1872208" cy="307777"/>
          </a:xfrm>
          <a:prstGeom prst="rect">
            <a:avLst/>
          </a:prstGeom>
          <a:noFill/>
        </p:spPr>
        <p:txBody>
          <a:bodyPr wrap="square" rtlCol="0">
            <a:spAutoFit/>
          </a:bodyPr>
          <a:lstStyle/>
          <a:p>
            <a:r>
              <a:rPr lang="en-US"/>
              <a:t>Customer Order</a:t>
            </a:r>
          </a:p>
        </p:txBody>
      </p:sp>
      <p:sp>
        <p:nvSpPr>
          <p:cNvPr id="2056" name="Oval 2055">
            <a:extLst>
              <a:ext uri="{FF2B5EF4-FFF2-40B4-BE49-F238E27FC236}">
                <a16:creationId xmlns:a16="http://schemas.microsoft.com/office/drawing/2014/main" id="{FD261FAF-E9A8-E65C-03E8-C7145C50C8AC}"/>
              </a:ext>
            </a:extLst>
          </p:cNvPr>
          <p:cNvSpPr/>
          <p:nvPr/>
        </p:nvSpPr>
        <p:spPr>
          <a:xfrm>
            <a:off x="6588224" y="2333458"/>
            <a:ext cx="504056" cy="523220"/>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TextBox 2056">
            <a:extLst>
              <a:ext uri="{FF2B5EF4-FFF2-40B4-BE49-F238E27FC236}">
                <a16:creationId xmlns:a16="http://schemas.microsoft.com/office/drawing/2014/main" id="{4C0AF26E-B197-3C33-92B3-0201A0FA8916}"/>
              </a:ext>
            </a:extLst>
          </p:cNvPr>
          <p:cNvSpPr txBox="1"/>
          <p:nvPr/>
        </p:nvSpPr>
        <p:spPr>
          <a:xfrm>
            <a:off x="4211960" y="836712"/>
            <a:ext cx="2859816" cy="307777"/>
          </a:xfrm>
          <a:prstGeom prst="rect">
            <a:avLst/>
          </a:prstGeom>
          <a:noFill/>
        </p:spPr>
        <p:txBody>
          <a:bodyPr wrap="square" rtlCol="0">
            <a:spAutoFit/>
          </a:bodyPr>
          <a:lstStyle/>
          <a:p>
            <a:r>
              <a:rPr lang="en-US" b="1">
                <a:solidFill>
                  <a:schemeClr val="accent6">
                    <a:lumMod val="75000"/>
                  </a:schemeClr>
                </a:solidFill>
              </a:rPr>
              <a:t>Parts Sales Module</a:t>
            </a:r>
          </a:p>
        </p:txBody>
      </p:sp>
      <p:sp>
        <p:nvSpPr>
          <p:cNvPr id="2069" name="TextBox 2068">
            <a:extLst>
              <a:ext uri="{FF2B5EF4-FFF2-40B4-BE49-F238E27FC236}">
                <a16:creationId xmlns:a16="http://schemas.microsoft.com/office/drawing/2014/main" id="{48548B27-D406-4014-B5B6-F4BB2D14593D}"/>
              </a:ext>
            </a:extLst>
          </p:cNvPr>
          <p:cNvSpPr txBox="1"/>
          <p:nvPr/>
        </p:nvSpPr>
        <p:spPr>
          <a:xfrm>
            <a:off x="4255566" y="3167996"/>
            <a:ext cx="1872208" cy="307777"/>
          </a:xfrm>
          <a:prstGeom prst="rect">
            <a:avLst/>
          </a:prstGeom>
          <a:noFill/>
        </p:spPr>
        <p:txBody>
          <a:bodyPr wrap="square" rtlCol="0">
            <a:spAutoFit/>
          </a:bodyPr>
          <a:lstStyle/>
          <a:p>
            <a:r>
              <a:rPr lang="en-US"/>
              <a:t>Sales Invoicing</a:t>
            </a:r>
          </a:p>
        </p:txBody>
      </p:sp>
      <p:sp>
        <p:nvSpPr>
          <p:cNvPr id="2070" name="Oval 2069">
            <a:extLst>
              <a:ext uri="{FF2B5EF4-FFF2-40B4-BE49-F238E27FC236}">
                <a16:creationId xmlns:a16="http://schemas.microsoft.com/office/drawing/2014/main" id="{7B16370A-2EC2-2B41-FB6C-84827E82FEFB}"/>
              </a:ext>
            </a:extLst>
          </p:cNvPr>
          <p:cNvSpPr/>
          <p:nvPr/>
        </p:nvSpPr>
        <p:spPr>
          <a:xfrm>
            <a:off x="6588224" y="3014083"/>
            <a:ext cx="504056" cy="523220"/>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TextBox 2070">
            <a:extLst>
              <a:ext uri="{FF2B5EF4-FFF2-40B4-BE49-F238E27FC236}">
                <a16:creationId xmlns:a16="http://schemas.microsoft.com/office/drawing/2014/main" id="{3A14DA42-CE80-5E13-AE3F-ED4409725662}"/>
              </a:ext>
            </a:extLst>
          </p:cNvPr>
          <p:cNvSpPr txBox="1"/>
          <p:nvPr/>
        </p:nvSpPr>
        <p:spPr>
          <a:xfrm>
            <a:off x="272023" y="3121804"/>
            <a:ext cx="2283753" cy="307777"/>
          </a:xfrm>
          <a:prstGeom prst="rect">
            <a:avLst/>
          </a:prstGeom>
          <a:noFill/>
        </p:spPr>
        <p:txBody>
          <a:bodyPr wrap="square" rtlCol="0">
            <a:spAutoFit/>
          </a:bodyPr>
          <a:lstStyle/>
          <a:p>
            <a:r>
              <a:rPr lang="en-US"/>
              <a:t>Spare Request / Return</a:t>
            </a:r>
          </a:p>
        </p:txBody>
      </p:sp>
      <p:sp>
        <p:nvSpPr>
          <p:cNvPr id="2072" name="Oval 2071">
            <a:extLst>
              <a:ext uri="{FF2B5EF4-FFF2-40B4-BE49-F238E27FC236}">
                <a16:creationId xmlns:a16="http://schemas.microsoft.com/office/drawing/2014/main" id="{5F7C3CDC-4F5F-D80E-8D02-5A579BE969CF}"/>
              </a:ext>
            </a:extLst>
          </p:cNvPr>
          <p:cNvSpPr/>
          <p:nvPr/>
        </p:nvSpPr>
        <p:spPr>
          <a:xfrm>
            <a:off x="2627784" y="3014083"/>
            <a:ext cx="504056" cy="523220"/>
          </a:xfrm>
          <a:prstGeom prst="ellipse">
            <a:avLst/>
          </a:prstGeom>
          <a:solidFill>
            <a:schemeClr val="accent5">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solidFill>
                <a:schemeClr val="tx1"/>
              </a:solidFill>
            </a:endParaRPr>
          </a:p>
        </p:txBody>
      </p:sp>
      <p:sp>
        <p:nvSpPr>
          <p:cNvPr id="2073" name="TextBox 2072">
            <a:extLst>
              <a:ext uri="{FF2B5EF4-FFF2-40B4-BE49-F238E27FC236}">
                <a16:creationId xmlns:a16="http://schemas.microsoft.com/office/drawing/2014/main" id="{7266E109-C58A-18F8-195E-CA4AA03E3CDF}"/>
              </a:ext>
            </a:extLst>
          </p:cNvPr>
          <p:cNvSpPr txBox="1"/>
          <p:nvPr/>
        </p:nvSpPr>
        <p:spPr>
          <a:xfrm>
            <a:off x="251520" y="3769295"/>
            <a:ext cx="2283753" cy="307777"/>
          </a:xfrm>
          <a:prstGeom prst="rect">
            <a:avLst/>
          </a:prstGeom>
          <a:noFill/>
        </p:spPr>
        <p:txBody>
          <a:bodyPr wrap="square" rtlCol="0">
            <a:spAutoFit/>
          </a:bodyPr>
          <a:lstStyle/>
          <a:p>
            <a:r>
              <a:rPr lang="en-US"/>
              <a:t>Inspection</a:t>
            </a:r>
          </a:p>
        </p:txBody>
      </p:sp>
      <p:sp>
        <p:nvSpPr>
          <p:cNvPr id="2074" name="Oval 2073">
            <a:extLst>
              <a:ext uri="{FF2B5EF4-FFF2-40B4-BE49-F238E27FC236}">
                <a16:creationId xmlns:a16="http://schemas.microsoft.com/office/drawing/2014/main" id="{137E4A9E-4F26-3437-037A-E65EAB47CF58}"/>
              </a:ext>
            </a:extLst>
          </p:cNvPr>
          <p:cNvSpPr/>
          <p:nvPr/>
        </p:nvSpPr>
        <p:spPr>
          <a:xfrm>
            <a:off x="2627784" y="3641945"/>
            <a:ext cx="504056" cy="523220"/>
          </a:xfrm>
          <a:prstGeom prst="ellipse">
            <a:avLst/>
          </a:prstGeom>
          <a:solidFill>
            <a:srgbClr val="17D0F5"/>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solidFill>
                <a:schemeClr val="tx1"/>
              </a:solidFill>
            </a:endParaRPr>
          </a:p>
        </p:txBody>
      </p:sp>
      <p:sp>
        <p:nvSpPr>
          <p:cNvPr id="2075" name="TextBox 2074">
            <a:extLst>
              <a:ext uri="{FF2B5EF4-FFF2-40B4-BE49-F238E27FC236}">
                <a16:creationId xmlns:a16="http://schemas.microsoft.com/office/drawing/2014/main" id="{961F5C96-A3D5-FC46-C997-0AC57B837DD6}"/>
              </a:ext>
            </a:extLst>
          </p:cNvPr>
          <p:cNvSpPr txBox="1"/>
          <p:nvPr/>
        </p:nvSpPr>
        <p:spPr>
          <a:xfrm>
            <a:off x="4246398" y="4085745"/>
            <a:ext cx="1872208" cy="307777"/>
          </a:xfrm>
          <a:prstGeom prst="rect">
            <a:avLst/>
          </a:prstGeom>
          <a:noFill/>
        </p:spPr>
        <p:txBody>
          <a:bodyPr wrap="square" rtlCol="0">
            <a:spAutoFit/>
          </a:bodyPr>
          <a:lstStyle/>
          <a:p>
            <a:r>
              <a:rPr lang="en-US"/>
              <a:t>Parts Enquiry</a:t>
            </a:r>
          </a:p>
        </p:txBody>
      </p:sp>
      <p:sp>
        <p:nvSpPr>
          <p:cNvPr id="2079" name="TextBox 2078">
            <a:extLst>
              <a:ext uri="{FF2B5EF4-FFF2-40B4-BE49-F238E27FC236}">
                <a16:creationId xmlns:a16="http://schemas.microsoft.com/office/drawing/2014/main" id="{A2302378-DF88-567F-BB85-2348B386A1FC}"/>
              </a:ext>
            </a:extLst>
          </p:cNvPr>
          <p:cNvSpPr txBox="1"/>
          <p:nvPr/>
        </p:nvSpPr>
        <p:spPr>
          <a:xfrm>
            <a:off x="4246398" y="4707976"/>
            <a:ext cx="1872208" cy="307777"/>
          </a:xfrm>
          <a:prstGeom prst="rect">
            <a:avLst/>
          </a:prstGeom>
          <a:noFill/>
        </p:spPr>
        <p:txBody>
          <a:bodyPr wrap="square" rtlCol="0">
            <a:spAutoFit/>
          </a:bodyPr>
          <a:lstStyle/>
          <a:p>
            <a:r>
              <a:rPr lang="en-US"/>
              <a:t>Quotation </a:t>
            </a:r>
          </a:p>
        </p:txBody>
      </p:sp>
      <p:sp>
        <p:nvSpPr>
          <p:cNvPr id="2082" name="TextBox 2081">
            <a:extLst>
              <a:ext uri="{FF2B5EF4-FFF2-40B4-BE49-F238E27FC236}">
                <a16:creationId xmlns:a16="http://schemas.microsoft.com/office/drawing/2014/main" id="{B99820C6-C8C4-EBDC-8F69-598ED62A11F7}"/>
              </a:ext>
            </a:extLst>
          </p:cNvPr>
          <p:cNvSpPr txBox="1"/>
          <p:nvPr/>
        </p:nvSpPr>
        <p:spPr>
          <a:xfrm>
            <a:off x="4266902" y="5391762"/>
            <a:ext cx="1872208" cy="307777"/>
          </a:xfrm>
          <a:prstGeom prst="rect">
            <a:avLst/>
          </a:prstGeom>
          <a:noFill/>
        </p:spPr>
        <p:txBody>
          <a:bodyPr wrap="square" rtlCol="0">
            <a:spAutoFit/>
          </a:bodyPr>
          <a:lstStyle/>
          <a:p>
            <a:r>
              <a:rPr lang="en-US"/>
              <a:t>Customer Order</a:t>
            </a:r>
          </a:p>
        </p:txBody>
      </p:sp>
      <p:sp>
        <p:nvSpPr>
          <p:cNvPr id="2084" name="TextBox 2083">
            <a:extLst>
              <a:ext uri="{FF2B5EF4-FFF2-40B4-BE49-F238E27FC236}">
                <a16:creationId xmlns:a16="http://schemas.microsoft.com/office/drawing/2014/main" id="{CB5E5BA2-FEFF-FDD5-58FB-B4B725A8C4EC}"/>
              </a:ext>
            </a:extLst>
          </p:cNvPr>
          <p:cNvSpPr txBox="1"/>
          <p:nvPr/>
        </p:nvSpPr>
        <p:spPr>
          <a:xfrm>
            <a:off x="4266902" y="3701029"/>
            <a:ext cx="2859816" cy="307777"/>
          </a:xfrm>
          <a:prstGeom prst="rect">
            <a:avLst/>
          </a:prstGeom>
          <a:noFill/>
        </p:spPr>
        <p:txBody>
          <a:bodyPr wrap="square" rtlCol="0">
            <a:spAutoFit/>
          </a:bodyPr>
          <a:lstStyle/>
          <a:p>
            <a:r>
              <a:rPr lang="en-US" b="1">
                <a:solidFill>
                  <a:schemeClr val="accent6">
                    <a:lumMod val="75000"/>
                  </a:schemeClr>
                </a:solidFill>
              </a:rPr>
              <a:t>Equipment Sales Module</a:t>
            </a:r>
          </a:p>
        </p:txBody>
      </p:sp>
      <p:sp>
        <p:nvSpPr>
          <p:cNvPr id="2085" name="TextBox 2084">
            <a:extLst>
              <a:ext uri="{FF2B5EF4-FFF2-40B4-BE49-F238E27FC236}">
                <a16:creationId xmlns:a16="http://schemas.microsoft.com/office/drawing/2014/main" id="{B8DD5480-355F-0EDE-2469-DB1ED3C75318}"/>
              </a:ext>
            </a:extLst>
          </p:cNvPr>
          <p:cNvSpPr txBox="1"/>
          <p:nvPr/>
        </p:nvSpPr>
        <p:spPr>
          <a:xfrm>
            <a:off x="4290004" y="6032313"/>
            <a:ext cx="1872208" cy="307777"/>
          </a:xfrm>
          <a:prstGeom prst="rect">
            <a:avLst/>
          </a:prstGeom>
          <a:noFill/>
        </p:spPr>
        <p:txBody>
          <a:bodyPr wrap="square" rtlCol="0">
            <a:spAutoFit/>
          </a:bodyPr>
          <a:lstStyle/>
          <a:p>
            <a:r>
              <a:rPr lang="en-US"/>
              <a:t>Sales Invoicing</a:t>
            </a:r>
          </a:p>
        </p:txBody>
      </p:sp>
      <p:sp>
        <p:nvSpPr>
          <p:cNvPr id="2087" name="TextBox 2086">
            <a:extLst>
              <a:ext uri="{FF2B5EF4-FFF2-40B4-BE49-F238E27FC236}">
                <a16:creationId xmlns:a16="http://schemas.microsoft.com/office/drawing/2014/main" id="{0D9D2DC0-7783-A815-DE09-E59FDF5CCC4F}"/>
              </a:ext>
            </a:extLst>
          </p:cNvPr>
          <p:cNvSpPr txBox="1"/>
          <p:nvPr/>
        </p:nvSpPr>
        <p:spPr>
          <a:xfrm>
            <a:off x="238096" y="5438918"/>
            <a:ext cx="1872208" cy="307777"/>
          </a:xfrm>
          <a:prstGeom prst="rect">
            <a:avLst/>
          </a:prstGeom>
          <a:noFill/>
        </p:spPr>
        <p:txBody>
          <a:bodyPr wrap="square" rtlCol="0">
            <a:spAutoFit/>
          </a:bodyPr>
          <a:lstStyle/>
          <a:p>
            <a:r>
              <a:rPr lang="en-US"/>
              <a:t>Parts Order</a:t>
            </a:r>
          </a:p>
        </p:txBody>
      </p:sp>
      <p:sp>
        <p:nvSpPr>
          <p:cNvPr id="2088" name="TextBox 2087">
            <a:extLst>
              <a:ext uri="{FF2B5EF4-FFF2-40B4-BE49-F238E27FC236}">
                <a16:creationId xmlns:a16="http://schemas.microsoft.com/office/drawing/2014/main" id="{2B751F24-4DF1-B5C7-9B31-A4791F90E492}"/>
              </a:ext>
            </a:extLst>
          </p:cNvPr>
          <p:cNvSpPr txBox="1"/>
          <p:nvPr/>
        </p:nvSpPr>
        <p:spPr>
          <a:xfrm>
            <a:off x="238096" y="5951100"/>
            <a:ext cx="2389688" cy="523220"/>
          </a:xfrm>
          <a:prstGeom prst="rect">
            <a:avLst/>
          </a:prstGeom>
          <a:noFill/>
        </p:spPr>
        <p:txBody>
          <a:bodyPr wrap="square" rtlCol="0">
            <a:spAutoFit/>
          </a:bodyPr>
          <a:lstStyle/>
          <a:p>
            <a:r>
              <a:rPr lang="en-US"/>
              <a:t>Stock Inward / Outward / Adjustment</a:t>
            </a:r>
          </a:p>
        </p:txBody>
      </p:sp>
      <p:sp>
        <p:nvSpPr>
          <p:cNvPr id="2089" name="TextBox 2088">
            <a:extLst>
              <a:ext uri="{FF2B5EF4-FFF2-40B4-BE49-F238E27FC236}">
                <a16:creationId xmlns:a16="http://schemas.microsoft.com/office/drawing/2014/main" id="{E84B19CE-5188-B7CF-B8CA-27098BCFF9E3}"/>
              </a:ext>
            </a:extLst>
          </p:cNvPr>
          <p:cNvSpPr txBox="1"/>
          <p:nvPr/>
        </p:nvSpPr>
        <p:spPr>
          <a:xfrm>
            <a:off x="258600" y="5951027"/>
            <a:ext cx="1872208" cy="307777"/>
          </a:xfrm>
          <a:prstGeom prst="rect">
            <a:avLst/>
          </a:prstGeom>
          <a:noFill/>
        </p:spPr>
        <p:txBody>
          <a:bodyPr wrap="square" rtlCol="0">
            <a:spAutoFit/>
          </a:bodyPr>
          <a:lstStyle/>
          <a:p>
            <a:r>
              <a:rPr lang="en-US"/>
              <a:t> </a:t>
            </a:r>
          </a:p>
        </p:txBody>
      </p:sp>
      <p:sp>
        <p:nvSpPr>
          <p:cNvPr id="2090" name="TextBox 2089">
            <a:extLst>
              <a:ext uri="{FF2B5EF4-FFF2-40B4-BE49-F238E27FC236}">
                <a16:creationId xmlns:a16="http://schemas.microsoft.com/office/drawing/2014/main" id="{50911F1A-F210-CC8D-0640-AAC1305B19B0}"/>
              </a:ext>
            </a:extLst>
          </p:cNvPr>
          <p:cNvSpPr txBox="1"/>
          <p:nvPr/>
        </p:nvSpPr>
        <p:spPr>
          <a:xfrm>
            <a:off x="179512" y="4921423"/>
            <a:ext cx="2859816" cy="307777"/>
          </a:xfrm>
          <a:prstGeom prst="rect">
            <a:avLst/>
          </a:prstGeom>
          <a:noFill/>
        </p:spPr>
        <p:txBody>
          <a:bodyPr wrap="square" rtlCol="0">
            <a:spAutoFit/>
          </a:bodyPr>
          <a:lstStyle/>
          <a:p>
            <a:r>
              <a:rPr lang="en-US" b="1">
                <a:solidFill>
                  <a:schemeClr val="accent6">
                    <a:lumMod val="75000"/>
                  </a:schemeClr>
                </a:solidFill>
              </a:rPr>
              <a:t>Stock Inventory module</a:t>
            </a:r>
          </a:p>
        </p:txBody>
      </p:sp>
      <p:sp>
        <p:nvSpPr>
          <p:cNvPr id="2091" name="Oval 2090">
            <a:extLst>
              <a:ext uri="{FF2B5EF4-FFF2-40B4-BE49-F238E27FC236}">
                <a16:creationId xmlns:a16="http://schemas.microsoft.com/office/drawing/2014/main" id="{2DCEC798-CFA6-39AF-090C-C0CF0D9EBDA3}"/>
              </a:ext>
            </a:extLst>
          </p:cNvPr>
          <p:cNvSpPr/>
          <p:nvPr/>
        </p:nvSpPr>
        <p:spPr>
          <a:xfrm>
            <a:off x="2627784" y="5331196"/>
            <a:ext cx="504056" cy="52322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600">
              <a:solidFill>
                <a:schemeClr val="tx1"/>
              </a:solidFill>
            </a:endParaRPr>
          </a:p>
        </p:txBody>
      </p:sp>
      <p:sp>
        <p:nvSpPr>
          <p:cNvPr id="2092" name="Oval 2091">
            <a:extLst>
              <a:ext uri="{FF2B5EF4-FFF2-40B4-BE49-F238E27FC236}">
                <a16:creationId xmlns:a16="http://schemas.microsoft.com/office/drawing/2014/main" id="{4B0D83B5-8F00-20E9-EC59-47C55290B0FF}"/>
              </a:ext>
            </a:extLst>
          </p:cNvPr>
          <p:cNvSpPr/>
          <p:nvPr/>
        </p:nvSpPr>
        <p:spPr>
          <a:xfrm>
            <a:off x="2627784" y="6002124"/>
            <a:ext cx="504056" cy="523220"/>
          </a:xfrm>
          <a:prstGeom prst="ellipse">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2093" name="TextBox 2092">
            <a:extLst>
              <a:ext uri="{FF2B5EF4-FFF2-40B4-BE49-F238E27FC236}">
                <a16:creationId xmlns:a16="http://schemas.microsoft.com/office/drawing/2014/main" id="{BD4C7D3C-A32D-30FF-7ED1-8A9395AAA41A}"/>
              </a:ext>
            </a:extLst>
          </p:cNvPr>
          <p:cNvSpPr txBox="1"/>
          <p:nvPr/>
        </p:nvSpPr>
        <p:spPr>
          <a:xfrm>
            <a:off x="258600" y="4389199"/>
            <a:ext cx="2283753" cy="307777"/>
          </a:xfrm>
          <a:prstGeom prst="rect">
            <a:avLst/>
          </a:prstGeom>
          <a:noFill/>
        </p:spPr>
        <p:txBody>
          <a:bodyPr wrap="square" rtlCol="0">
            <a:spAutoFit/>
          </a:bodyPr>
          <a:lstStyle/>
          <a:p>
            <a:r>
              <a:rPr lang="en-US"/>
              <a:t>Customer Feedback</a:t>
            </a:r>
          </a:p>
        </p:txBody>
      </p:sp>
      <p:sp>
        <p:nvSpPr>
          <p:cNvPr id="2094" name="Oval 2093">
            <a:extLst>
              <a:ext uri="{FF2B5EF4-FFF2-40B4-BE49-F238E27FC236}">
                <a16:creationId xmlns:a16="http://schemas.microsoft.com/office/drawing/2014/main" id="{E2CFBC5B-2608-F8F3-D2BE-6D5CCF08DDB0}"/>
              </a:ext>
            </a:extLst>
          </p:cNvPr>
          <p:cNvSpPr/>
          <p:nvPr/>
        </p:nvSpPr>
        <p:spPr>
          <a:xfrm>
            <a:off x="2634864" y="4261849"/>
            <a:ext cx="504056" cy="523220"/>
          </a:xfrm>
          <a:prstGeom prst="ellipse">
            <a:avLst/>
          </a:prstGeom>
          <a:solidFill>
            <a:schemeClr val="accent4">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244956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ELM</a:t>
            </a:r>
            <a:endParaRPr lang="en-IN"/>
          </a:p>
        </p:txBody>
      </p:sp>
      <p:sp>
        <p:nvSpPr>
          <p:cNvPr id="3" name="Text Placeholder 2"/>
          <p:cNvSpPr>
            <a:spLocks noGrp="1"/>
          </p:cNvSpPr>
          <p:nvPr>
            <p:ph type="body" idx="1"/>
          </p:nvPr>
        </p:nvSpPr>
        <p:spPr/>
        <p:txBody>
          <a:bodyPr/>
          <a:lstStyle/>
          <a:p>
            <a:r>
              <a:rPr lang="en-US"/>
              <a:t>Workflows</a:t>
            </a:r>
            <a:endParaRPr lang="en-IN"/>
          </a:p>
        </p:txBody>
      </p:sp>
      <p:sp>
        <p:nvSpPr>
          <p:cNvPr id="4" name="Date Placeholder 3"/>
          <p:cNvSpPr>
            <a:spLocks noGrp="1"/>
          </p:cNvSpPr>
          <p:nvPr>
            <p:ph type="dt" sz="half" idx="10"/>
          </p:nvPr>
        </p:nvSpPr>
        <p:spPr/>
        <p:txBody>
          <a:bodyPr/>
          <a:lstStyle/>
          <a:p>
            <a:pPr>
              <a:defRPr/>
            </a:pPr>
            <a:fld id="{714A87BA-B9C0-48E1-A91D-755689B44630}" type="datetime1">
              <a:rPr lang="en-GB" smtClean="0"/>
              <a:pPr>
                <a:defRPr/>
              </a:pPr>
              <a:t>12/08/2025</a:t>
            </a:fld>
            <a:endParaRPr lang="en-GB"/>
          </a:p>
        </p:txBody>
      </p:sp>
      <p:sp>
        <p:nvSpPr>
          <p:cNvPr id="6" name="Slide Number Placeholder 5"/>
          <p:cNvSpPr>
            <a:spLocks noGrp="1"/>
          </p:cNvSpPr>
          <p:nvPr>
            <p:ph type="sldNum" sz="quarter" idx="12"/>
          </p:nvPr>
        </p:nvSpPr>
        <p:spPr/>
        <p:txBody>
          <a:bodyPr/>
          <a:lstStyle/>
          <a:p>
            <a:fld id="{22BAE270-6890-449A-98C6-E56B9AA88AFF}" type="slidenum">
              <a:rPr lang="en-GB" altLang="en-US" smtClean="0"/>
              <a:pPr/>
              <a:t>10</a:t>
            </a:fld>
            <a:endParaRPr lang="en-GB" altLang="en-US"/>
          </a:p>
        </p:txBody>
      </p:sp>
    </p:spTree>
    <p:extLst>
      <p:ext uri="{BB962C8B-B14F-4D97-AF65-F5344CB8AC3E}">
        <p14:creationId xmlns:p14="http://schemas.microsoft.com/office/powerpoint/2010/main" val="77468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a:xfrm>
            <a:off x="71406" y="71414"/>
            <a:ext cx="8229600" cy="11430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4400" b="0" i="0" u="none" strike="noStrike" kern="1200" cap="none" spc="0" normalizeH="0" baseline="0" noProof="0">
              <a:ln>
                <a:noFill/>
              </a:ln>
              <a:solidFill>
                <a:schemeClr val="tx1"/>
              </a:solidFill>
              <a:effectLst/>
              <a:uLnTx/>
              <a:uFillTx/>
              <a:latin typeface="+mj-lt"/>
              <a:ea typeface="+mj-ea"/>
              <a:cs typeface="+mj-cs"/>
            </a:endParaRPr>
          </a:p>
        </p:txBody>
      </p:sp>
      <p:sp>
        <p:nvSpPr>
          <p:cNvPr id="63" name="Date Placeholder 3"/>
          <p:cNvSpPr>
            <a:spLocks noGrp="1"/>
          </p:cNvSpPr>
          <p:nvPr>
            <p:ph type="dt" sz="half" idx="10"/>
          </p:nvPr>
        </p:nvSpPr>
        <p:spPr>
          <a:xfrm>
            <a:off x="457200" y="6448251"/>
            <a:ext cx="2133600" cy="365125"/>
          </a:xfrm>
        </p:spPr>
        <p:txBody>
          <a:bodyPr/>
          <a:lstStyle/>
          <a:p>
            <a:pPr>
              <a:defRPr/>
            </a:pPr>
            <a:fld id="{630C542A-B948-4A3F-A080-0E9672EA69CB}" type="datetime1">
              <a:rPr lang="en-GB" smtClean="0"/>
              <a:pPr>
                <a:defRPr/>
              </a:pPr>
              <a:t>12/08/2025</a:t>
            </a:fld>
            <a:endParaRPr lang="en-GB"/>
          </a:p>
        </p:txBody>
      </p:sp>
      <p:sp>
        <p:nvSpPr>
          <p:cNvPr id="64" name="Slide Number Placeholder 5"/>
          <p:cNvSpPr>
            <a:spLocks noGrp="1"/>
          </p:cNvSpPr>
          <p:nvPr>
            <p:ph type="sldNum" sz="quarter" idx="12"/>
          </p:nvPr>
        </p:nvSpPr>
        <p:spPr>
          <a:xfrm>
            <a:off x="6553200" y="6448251"/>
            <a:ext cx="2133600" cy="365125"/>
          </a:xfrm>
        </p:spPr>
        <p:txBody>
          <a:bodyPr/>
          <a:lstStyle/>
          <a:p>
            <a:fld id="{22C9AD5E-6243-442A-BEAD-F8D7DD620900}" type="slidenum">
              <a:rPr lang="en-GB" altLang="en-US" smtClean="0"/>
              <a:pPr/>
              <a:t>11</a:t>
            </a:fld>
            <a:endParaRPr lang="en-GB" altLang="en-US"/>
          </a:p>
        </p:txBody>
      </p:sp>
      <p:sp>
        <p:nvSpPr>
          <p:cNvPr id="30" name="TextBox 4"/>
          <p:cNvSpPr txBox="1">
            <a:spLocks noChangeArrowheads="1"/>
          </p:cNvSpPr>
          <p:nvPr/>
        </p:nvSpPr>
        <p:spPr bwMode="auto">
          <a:xfrm>
            <a:off x="26220" y="16168"/>
            <a:ext cx="7858148" cy="584775"/>
          </a:xfrm>
          <a:prstGeom prst="rect">
            <a:avLst/>
          </a:prstGeom>
          <a:noFill/>
          <a:ln w="9525">
            <a:noFill/>
            <a:miter lim="800000"/>
            <a:headEnd/>
            <a:tailEnd/>
          </a:ln>
        </p:spPr>
        <p:txBody>
          <a:bodyPr wrap="square">
            <a:spAutoFit/>
          </a:bodyPr>
          <a:lstStyle/>
          <a:p>
            <a:pPr>
              <a:defRPr/>
            </a:pPr>
            <a:r>
              <a:rPr lang="en-US" sz="3200" b="1">
                <a:solidFill>
                  <a:srgbClr val="6775FD"/>
                </a:solidFill>
                <a:latin typeface="+mj-lt"/>
              </a:rPr>
              <a:t>Service Job Management </a:t>
            </a:r>
          </a:p>
        </p:txBody>
      </p:sp>
      <p:sp>
        <p:nvSpPr>
          <p:cNvPr id="8" name="Content Placeholder 2"/>
          <p:cNvSpPr txBox="1">
            <a:spLocks/>
          </p:cNvSpPr>
          <p:nvPr/>
        </p:nvSpPr>
        <p:spPr>
          <a:xfrm>
            <a:off x="204664" y="656189"/>
            <a:ext cx="8327776" cy="5293091"/>
          </a:xfrm>
          <a:prstGeom prst="rect">
            <a:avLst/>
          </a:prstGeom>
        </p:spPr>
        <p:txBody>
          <a:bodyPr/>
          <a:lstStyle/>
          <a:p>
            <a:pPr marR="0" lvl="0" algn="l" defTabSz="914400" rtl="0" eaLnBrk="0" fontAlgn="base" latinLnBrk="0" hangingPunct="0">
              <a:lnSpc>
                <a:spcPct val="100000"/>
              </a:lnSpc>
              <a:spcBef>
                <a:spcPct val="20000"/>
              </a:spcBef>
              <a:spcAft>
                <a:spcPct val="0"/>
              </a:spcAft>
              <a:buClrTx/>
              <a:buSzTx/>
              <a:tabLst/>
              <a:defRPr/>
            </a:pPr>
            <a:r>
              <a:rPr kumimoji="0" lang="en-US" sz="1700" b="1" i="0" u="none" strike="noStrike" kern="1200" cap="none" spc="0" normalizeH="0" baseline="0" noProof="0">
                <a:ln>
                  <a:noFill/>
                </a:ln>
                <a:solidFill>
                  <a:srgbClr val="0070C0"/>
                </a:solidFill>
                <a:effectLst/>
                <a:uLnTx/>
                <a:uFillTx/>
                <a:latin typeface="+mn-lt"/>
                <a:ea typeface="+mn-ea"/>
                <a:cs typeface="+mn-cs"/>
              </a:rPr>
              <a:t>Applicable</a:t>
            </a:r>
            <a:r>
              <a:rPr kumimoji="0" lang="en-US" sz="1700" b="0" i="0" u="none" strike="noStrike" kern="1200" cap="none" spc="0" normalizeH="0" baseline="0" noProof="0">
                <a:ln>
                  <a:noFill/>
                </a:ln>
                <a:solidFill>
                  <a:schemeClr val="tx1"/>
                </a:solidFill>
                <a:effectLst/>
                <a:uLnTx/>
                <a:uFillTx/>
                <a:latin typeface="+mn-lt"/>
                <a:ea typeface="+mn-ea"/>
                <a:cs typeface="+mn-cs"/>
              </a:rPr>
              <a:t>: </a:t>
            </a:r>
            <a:r>
              <a:rPr kumimoji="0" lang="en-US" sz="1700" b="1" i="1" u="none" strike="noStrike" kern="1200" cap="none" spc="0" normalizeH="0" baseline="0" noProof="0">
                <a:ln>
                  <a:noFill/>
                </a:ln>
                <a:solidFill>
                  <a:schemeClr val="accent6">
                    <a:lumMod val="75000"/>
                  </a:schemeClr>
                </a:solidFill>
                <a:effectLst/>
                <a:uLnTx/>
                <a:uFillTx/>
                <a:latin typeface="+mn-lt"/>
                <a:ea typeface="+mn-ea"/>
                <a:cs typeface="+mn-cs"/>
              </a:rPr>
              <a:t>Direct / Indirect</a:t>
            </a:r>
          </a:p>
          <a:p>
            <a:pPr marR="0" lvl="0" algn="l" defTabSz="914400" rtl="0" eaLnBrk="0" fontAlgn="base" latinLnBrk="0" hangingPunct="0">
              <a:lnSpc>
                <a:spcPct val="100000"/>
              </a:lnSpc>
              <a:spcBef>
                <a:spcPct val="20000"/>
              </a:spcBef>
              <a:spcAft>
                <a:spcPct val="0"/>
              </a:spcAft>
              <a:buClrTx/>
              <a:buSzTx/>
              <a:tabLst/>
              <a:defRPr/>
            </a:pPr>
            <a:r>
              <a:rPr lang="en-US" sz="1700" b="1">
                <a:solidFill>
                  <a:srgbClr val="0070C0"/>
                </a:solidFill>
                <a:latin typeface="+mn-lt"/>
                <a:ea typeface="+mn-ea"/>
                <a:cs typeface="+mn-cs"/>
              </a:rPr>
              <a:t>Players</a:t>
            </a:r>
            <a:r>
              <a:rPr lang="en-US" sz="1700">
                <a:latin typeface="+mn-lt"/>
                <a:ea typeface="+mn-ea"/>
                <a:cs typeface="+mn-cs"/>
              </a:rPr>
              <a:t>: </a:t>
            </a:r>
            <a:r>
              <a:rPr kumimoji="0" lang="en-US" sz="1700" b="1" i="1" u="none" strike="noStrike" kern="1200" cap="none" spc="0" normalizeH="0" baseline="0" noProof="0">
                <a:ln>
                  <a:noFill/>
                </a:ln>
                <a:solidFill>
                  <a:schemeClr val="accent6">
                    <a:lumMod val="75000"/>
                  </a:schemeClr>
                </a:solidFill>
                <a:effectLst/>
                <a:uLnTx/>
                <a:uFillTx/>
                <a:latin typeface="+mn-lt"/>
                <a:ea typeface="+mn-ea"/>
                <a:cs typeface="+mn-cs"/>
              </a:rPr>
              <a:t>Customer Owner/Staff/Operator, Call center Agent, Service Coordinator, Service Engineer/Service Manager</a:t>
            </a:r>
          </a:p>
          <a:p>
            <a:pPr marR="0" lvl="0" algn="l" defTabSz="914400" rtl="0" eaLnBrk="0" fontAlgn="base" latinLnBrk="0" hangingPunct="0">
              <a:lnSpc>
                <a:spcPct val="100000"/>
              </a:lnSpc>
              <a:spcBef>
                <a:spcPct val="20000"/>
              </a:spcBef>
              <a:spcAft>
                <a:spcPct val="0"/>
              </a:spcAft>
              <a:buClrTx/>
              <a:buSzTx/>
              <a:tabLst/>
              <a:defRPr/>
            </a:pPr>
            <a:endParaRPr kumimoji="0" lang="en-US" sz="17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700" b="0" i="0" u="none" strike="noStrike" kern="1200" cap="none" spc="0" normalizeH="0" baseline="0" noProof="0">
                <a:ln>
                  <a:noFill/>
                </a:ln>
                <a:solidFill>
                  <a:schemeClr val="tx1"/>
                </a:solidFill>
                <a:effectLst/>
                <a:uLnTx/>
                <a:uFillTx/>
                <a:latin typeface="+mn-lt"/>
                <a:ea typeface="+mn-ea"/>
                <a:cs typeface="+mn-cs"/>
              </a:rPr>
              <a:t>This service job management will comprises of all activities involved in service lifecycle from Call creation to Close</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700" b="0" i="0" u="none" strike="noStrike" kern="1200" cap="none" spc="0" normalizeH="0" baseline="0" noProof="0">
                <a:ln>
                  <a:noFill/>
                </a:ln>
                <a:solidFill>
                  <a:schemeClr val="tx1"/>
                </a:solidFill>
                <a:effectLst/>
                <a:uLnTx/>
                <a:uFillTx/>
                <a:latin typeface="+mn-lt"/>
                <a:ea typeface="+mn-ea"/>
                <a:cs typeface="+mn-cs"/>
              </a:rPr>
              <a:t>The Service call can be created by the Customer Owner/Staff/Operator from the customer app or by the dealer coordinator from web, or by the service engineer from app/web, or by the call center agent. It can be system generated based on Service contract / Warranty schedule (time based or HMR whichever is earlier)</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700">
                <a:latin typeface="+mn-lt"/>
                <a:ea typeface="+mn-ea"/>
                <a:cs typeface="+mn-cs"/>
              </a:rPr>
              <a:t>The call types can be pre-commissioning, commissioning, schedule maintenance, break down, out of warranty/ paid calls etc.</a:t>
            </a:r>
            <a:endParaRPr kumimoji="0" lang="en-US" sz="17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700" b="0" i="0" u="none" strike="noStrike" kern="1200" cap="none" spc="0" normalizeH="0" baseline="0" noProof="0">
                <a:ln>
                  <a:noFill/>
                </a:ln>
                <a:solidFill>
                  <a:schemeClr val="tx1"/>
                </a:solidFill>
                <a:effectLst/>
                <a:uLnTx/>
                <a:uFillTx/>
                <a:latin typeface="+mn-lt"/>
                <a:ea typeface="+mn-ea"/>
                <a:cs typeface="+mn-cs"/>
              </a:rPr>
              <a:t>Upon creation of call, it will get auto assigned to Dealer / branch coordinator who will again assign the call to the respective Service Engineer/s</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700">
                <a:latin typeface="+mn-lt"/>
                <a:ea typeface="+mn-ea"/>
                <a:cs typeface="+mn-cs"/>
              </a:rPr>
              <a:t>The service engineer can resolve the issue over phone in case of minor issues, and foreclose the call,  otherwise he has to visit the site for resolution. </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700">
                <a:latin typeface="+mn-lt"/>
                <a:ea typeface="+mn-ea"/>
                <a:cs typeface="+mn-cs"/>
              </a:rPr>
              <a:t>In case he needs some tools or parts for the service, he can raise the requirements from by filling Spare request form from his </a:t>
            </a:r>
            <a:r>
              <a:rPr lang="en-US" sz="1700" err="1">
                <a:latin typeface="+mn-lt"/>
                <a:ea typeface="+mn-ea"/>
                <a:cs typeface="+mn-cs"/>
              </a:rPr>
              <a:t>Mservice</a:t>
            </a:r>
            <a:r>
              <a:rPr lang="en-US" sz="1700">
                <a:latin typeface="+mn-lt"/>
                <a:ea typeface="+mn-ea"/>
                <a:cs typeface="+mn-cs"/>
              </a:rPr>
              <a:t> app</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16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lang="en-US" sz="1600">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16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617369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a:xfrm>
            <a:off x="71406" y="71414"/>
            <a:ext cx="8229600" cy="11430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4400" b="0" i="0" u="none" strike="noStrike" kern="1200" cap="none" spc="0" normalizeH="0" baseline="0" noProof="0">
              <a:ln>
                <a:noFill/>
              </a:ln>
              <a:solidFill>
                <a:schemeClr val="tx1"/>
              </a:solidFill>
              <a:effectLst/>
              <a:uLnTx/>
              <a:uFillTx/>
              <a:latin typeface="+mj-lt"/>
              <a:ea typeface="+mj-ea"/>
              <a:cs typeface="+mj-cs"/>
            </a:endParaRPr>
          </a:p>
        </p:txBody>
      </p:sp>
      <p:sp>
        <p:nvSpPr>
          <p:cNvPr id="63" name="Date Placeholder 3"/>
          <p:cNvSpPr>
            <a:spLocks noGrp="1"/>
          </p:cNvSpPr>
          <p:nvPr>
            <p:ph type="dt" sz="half" idx="10"/>
          </p:nvPr>
        </p:nvSpPr>
        <p:spPr>
          <a:xfrm>
            <a:off x="457200" y="6448251"/>
            <a:ext cx="2133600" cy="365125"/>
          </a:xfrm>
        </p:spPr>
        <p:txBody>
          <a:bodyPr/>
          <a:lstStyle/>
          <a:p>
            <a:pPr>
              <a:defRPr/>
            </a:pPr>
            <a:fld id="{630C542A-B948-4A3F-A080-0E9672EA69CB}" type="datetime1">
              <a:rPr lang="en-GB" smtClean="0"/>
              <a:pPr>
                <a:defRPr/>
              </a:pPr>
              <a:t>12/08/2025</a:t>
            </a:fld>
            <a:endParaRPr lang="en-GB"/>
          </a:p>
        </p:txBody>
      </p:sp>
      <p:sp>
        <p:nvSpPr>
          <p:cNvPr id="64" name="Slide Number Placeholder 5"/>
          <p:cNvSpPr>
            <a:spLocks noGrp="1"/>
          </p:cNvSpPr>
          <p:nvPr>
            <p:ph type="sldNum" sz="quarter" idx="12"/>
          </p:nvPr>
        </p:nvSpPr>
        <p:spPr>
          <a:xfrm>
            <a:off x="6553200" y="6448251"/>
            <a:ext cx="2133600" cy="365125"/>
          </a:xfrm>
        </p:spPr>
        <p:txBody>
          <a:bodyPr/>
          <a:lstStyle/>
          <a:p>
            <a:fld id="{22C9AD5E-6243-442A-BEAD-F8D7DD620900}" type="slidenum">
              <a:rPr lang="en-GB" altLang="en-US" smtClean="0"/>
              <a:pPr/>
              <a:t>12</a:t>
            </a:fld>
            <a:endParaRPr lang="en-GB" altLang="en-US"/>
          </a:p>
        </p:txBody>
      </p:sp>
      <p:sp>
        <p:nvSpPr>
          <p:cNvPr id="30" name="TextBox 4"/>
          <p:cNvSpPr txBox="1">
            <a:spLocks noChangeArrowheads="1"/>
          </p:cNvSpPr>
          <p:nvPr/>
        </p:nvSpPr>
        <p:spPr bwMode="auto">
          <a:xfrm>
            <a:off x="26220" y="16168"/>
            <a:ext cx="7858148" cy="584775"/>
          </a:xfrm>
          <a:prstGeom prst="rect">
            <a:avLst/>
          </a:prstGeom>
          <a:noFill/>
          <a:ln w="9525">
            <a:noFill/>
            <a:miter lim="800000"/>
            <a:headEnd/>
            <a:tailEnd/>
          </a:ln>
        </p:spPr>
        <p:txBody>
          <a:bodyPr wrap="square">
            <a:spAutoFit/>
          </a:bodyPr>
          <a:lstStyle/>
          <a:p>
            <a:pPr>
              <a:defRPr/>
            </a:pPr>
            <a:r>
              <a:rPr lang="en-US" sz="3200" b="1">
                <a:solidFill>
                  <a:srgbClr val="6775FD"/>
                </a:solidFill>
                <a:latin typeface="+mj-lt"/>
              </a:rPr>
              <a:t>Service Job Management </a:t>
            </a:r>
          </a:p>
        </p:txBody>
      </p:sp>
      <p:sp>
        <p:nvSpPr>
          <p:cNvPr id="8" name="Content Placeholder 2"/>
          <p:cNvSpPr txBox="1">
            <a:spLocks/>
          </p:cNvSpPr>
          <p:nvPr/>
        </p:nvSpPr>
        <p:spPr>
          <a:xfrm>
            <a:off x="204664" y="600943"/>
            <a:ext cx="8327776" cy="4844281"/>
          </a:xfrm>
          <a:prstGeom prst="rect">
            <a:avLst/>
          </a:prstGeom>
        </p:spPr>
        <p:txBody>
          <a:bodyPr/>
          <a:lstStyle/>
          <a:p>
            <a:pPr marL="342900" indent="-342900" eaLnBrk="0" hangingPunct="0">
              <a:spcBef>
                <a:spcPct val="20000"/>
              </a:spcBef>
              <a:buFont typeface="Arial" charset="0"/>
              <a:buChar char="•"/>
              <a:defRPr/>
            </a:pPr>
            <a:r>
              <a:rPr lang="en-US" sz="1600">
                <a:latin typeface="+mn-lt"/>
                <a:ea typeface="+mn-ea"/>
                <a:cs typeface="+mn-cs"/>
              </a:rPr>
              <a:t>From the app, he will do the travel recording, job recording, update service reports with customer signature and can complete the call, if the job is finished, otherwise he will do the multiple visits to resolve the issue and once the issue is resolved he can complete the call</a:t>
            </a:r>
          </a:p>
          <a:p>
            <a:pPr marL="342900" indent="-342900" eaLnBrk="0" hangingPunct="0">
              <a:spcBef>
                <a:spcPct val="20000"/>
              </a:spcBef>
              <a:buFont typeface="Arial" charset="0"/>
              <a:buChar char="•"/>
              <a:defRPr/>
            </a:pPr>
            <a:r>
              <a:rPr lang="en-US" sz="1600">
                <a:latin typeface="+mn-lt"/>
                <a:ea typeface="+mn-ea"/>
                <a:cs typeface="+mn-cs"/>
              </a:rPr>
              <a:t>In service report, the engineer will update the no. of hours worked on the different predefined activity codes, which will later will be helpful in deriving the commission</a:t>
            </a:r>
            <a:endParaRPr kumimoji="0" lang="en-US" sz="16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600" b="0" i="0" u="none" strike="noStrike" kern="1200" cap="none" spc="0" normalizeH="0" baseline="0" noProof="0">
                <a:ln>
                  <a:noFill/>
                </a:ln>
                <a:solidFill>
                  <a:schemeClr val="tx1"/>
                </a:solidFill>
                <a:effectLst/>
                <a:uLnTx/>
                <a:uFillTx/>
                <a:latin typeface="+mn-lt"/>
                <a:ea typeface="+mn-ea"/>
                <a:cs typeface="+mn-cs"/>
              </a:rPr>
              <a:t>Parts recommendation for future replacement, replacement of parts or parts required by OEM to progress the call</a:t>
            </a:r>
            <a:r>
              <a:rPr lang="en-US" sz="1600">
                <a:latin typeface="+mn-lt"/>
                <a:ea typeface="+mn-ea"/>
                <a:cs typeface="+mn-cs"/>
              </a:rPr>
              <a:t> will be updated in the service report, which will eventually trigger Parts opportunity and Parts warranty Claim tickets respectively in respective modules</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600" b="0" i="0" u="none" strike="noStrike" kern="1200" cap="none" spc="0" normalizeH="0" baseline="0" noProof="0">
                <a:ln>
                  <a:noFill/>
                </a:ln>
                <a:solidFill>
                  <a:schemeClr val="tx1"/>
                </a:solidFill>
                <a:effectLst/>
                <a:uLnTx/>
                <a:uFillTx/>
                <a:latin typeface="+mn-lt"/>
                <a:ea typeface="+mn-ea"/>
                <a:cs typeface="+mn-cs"/>
              </a:rPr>
              <a:t>Once the job is completed</a:t>
            </a:r>
            <a:r>
              <a:rPr lang="en-US" sz="1600">
                <a:latin typeface="+mn-lt"/>
                <a:ea typeface="+mn-ea"/>
                <a:cs typeface="+mn-cs"/>
              </a:rPr>
              <a:t>, the customer representative will give customer feedback from his app or through feedback link which will be sent through email.</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600">
                <a:latin typeface="+mn-lt"/>
                <a:ea typeface="+mn-ea"/>
                <a:cs typeface="+mn-cs"/>
              </a:rPr>
              <a:t>Based on the customer feedback, NPS will get created and can be seen in dashboard</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600" b="0" i="0" u="none" strike="noStrike" kern="1200" cap="none" spc="0" normalizeH="0" baseline="0" noProof="0">
                <a:ln>
                  <a:noFill/>
                </a:ln>
                <a:solidFill>
                  <a:schemeClr val="tx1"/>
                </a:solidFill>
                <a:effectLst/>
                <a:uLnTx/>
                <a:uFillTx/>
                <a:latin typeface="+mn-lt"/>
                <a:ea typeface="+mn-ea"/>
                <a:cs typeface="+mn-cs"/>
              </a:rPr>
              <a:t>Service Coordinator can close the call forever, once the feedback is received from the customer</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1600">
                <a:latin typeface="+mn-lt"/>
                <a:ea typeface="+mn-ea"/>
                <a:cs typeface="+mn-cs"/>
              </a:rPr>
              <a:t>The different status of calls are Open-Assign-in-progress-Hold-Foreclosure-Complete-Close</a:t>
            </a:r>
            <a:endParaRPr kumimoji="0" lang="en-US" sz="16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1600" b="0" i="0" u="none" strike="noStrike" kern="1200" cap="none" spc="0" normalizeH="0" baseline="0" noProof="0">
                <a:ln>
                  <a:noFill/>
                </a:ln>
                <a:solidFill>
                  <a:schemeClr val="tx1"/>
                </a:solidFill>
                <a:effectLst/>
                <a:uLnTx/>
                <a:uFillTx/>
                <a:latin typeface="+mn-lt"/>
                <a:ea typeface="+mn-ea"/>
                <a:cs typeface="+mn-cs"/>
              </a:rPr>
              <a:t>In Service module, several reports and dashboards are available like Engineer Performance report, Engineer Trip sheet report, Open calls, Call Analysis, MTTR analysis report, MTTF, NPS, Service Efficiency report etc. </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lang="en-US" sz="1600">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16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462633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6697CCB-1493-48DB-A8CB-E39F7B05EA15}" type="datetime1">
              <a:rPr lang="en-GB" smtClean="0"/>
              <a:pPr>
                <a:defRPr/>
              </a:pPr>
              <a:t>12/08/2025</a:t>
            </a:fld>
            <a:endParaRPr lang="en-GB"/>
          </a:p>
        </p:txBody>
      </p:sp>
      <p:sp>
        <p:nvSpPr>
          <p:cNvPr id="4" name="Slide Number Placeholder 3"/>
          <p:cNvSpPr>
            <a:spLocks noGrp="1"/>
          </p:cNvSpPr>
          <p:nvPr>
            <p:ph type="sldNum" sz="quarter" idx="12"/>
          </p:nvPr>
        </p:nvSpPr>
        <p:spPr>
          <a:xfrm>
            <a:off x="2679853" y="4529795"/>
            <a:ext cx="2133600" cy="365125"/>
          </a:xfrm>
        </p:spPr>
        <p:txBody>
          <a:bodyPr/>
          <a:lstStyle/>
          <a:p>
            <a:pPr>
              <a:defRPr/>
            </a:pPr>
            <a:fld id="{48105B54-7B77-40A7-BAEE-F8AAFA2C864F}" type="slidenum">
              <a:rPr lang="en-GB" smtClean="0"/>
              <a:pPr>
                <a:defRPr/>
              </a:pPr>
              <a:t>13</a:t>
            </a:fld>
            <a:endParaRPr lang="en-GB"/>
          </a:p>
        </p:txBody>
      </p:sp>
      <p:sp>
        <p:nvSpPr>
          <p:cNvPr id="39" name="Title 1"/>
          <p:cNvSpPr txBox="1">
            <a:spLocks/>
          </p:cNvSpPr>
          <p:nvPr/>
        </p:nvSpPr>
        <p:spPr>
          <a:xfrm>
            <a:off x="71406" y="71414"/>
            <a:ext cx="8229600" cy="11430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4400" b="0" i="0" u="none" strike="noStrike" kern="1200" cap="none" spc="0" normalizeH="0" baseline="0" noProof="0">
              <a:ln>
                <a:noFill/>
              </a:ln>
              <a:solidFill>
                <a:schemeClr val="tx1"/>
              </a:solidFill>
              <a:effectLst/>
              <a:uLnTx/>
              <a:uFillTx/>
              <a:latin typeface="+mj-lt"/>
              <a:ea typeface="+mj-ea"/>
              <a:cs typeface="+mj-cs"/>
            </a:endParaRPr>
          </a:p>
        </p:txBody>
      </p:sp>
      <p:sp>
        <p:nvSpPr>
          <p:cNvPr id="18" name="TextBox 4"/>
          <p:cNvSpPr txBox="1">
            <a:spLocks noChangeArrowheads="1"/>
          </p:cNvSpPr>
          <p:nvPr/>
        </p:nvSpPr>
        <p:spPr bwMode="auto">
          <a:xfrm>
            <a:off x="0" y="0"/>
            <a:ext cx="7143750" cy="1323975"/>
          </a:xfrm>
          <a:prstGeom prst="rect">
            <a:avLst/>
          </a:prstGeom>
          <a:noFill/>
          <a:ln w="9525">
            <a:noFill/>
            <a:miter lim="800000"/>
            <a:headEnd/>
            <a:tailEnd/>
          </a:ln>
        </p:spPr>
        <p:txBody>
          <a:bodyPr>
            <a:spAutoFit/>
          </a:bodyPr>
          <a:lstStyle/>
          <a:p>
            <a:pPr>
              <a:defRPr/>
            </a:pPr>
            <a:r>
              <a:rPr lang="en-US" sz="3200" b="1">
                <a:solidFill>
                  <a:srgbClr val="6775FD"/>
                </a:solidFill>
                <a:latin typeface="+mj-lt"/>
              </a:rPr>
              <a:t>Service Job Management </a:t>
            </a:r>
          </a:p>
          <a:p>
            <a:pPr>
              <a:defRPr/>
            </a:pPr>
            <a:endParaRPr lang="en-US" sz="2000" b="1">
              <a:solidFill>
                <a:srgbClr val="FF6A47"/>
              </a:solidFill>
              <a:latin typeface="+mj-lt"/>
            </a:endParaRPr>
          </a:p>
          <a:p>
            <a:pPr>
              <a:defRPr/>
            </a:pPr>
            <a:endParaRPr lang="en-US" sz="2800">
              <a:solidFill>
                <a:srgbClr val="6775FD"/>
              </a:solidFill>
              <a:latin typeface="+mj-lt"/>
            </a:endParaRPr>
          </a:p>
        </p:txBody>
      </p:sp>
      <p:cxnSp>
        <p:nvCxnSpPr>
          <p:cNvPr id="304" name="Connector: Curved 303">
            <a:extLst>
              <a:ext uri="{FF2B5EF4-FFF2-40B4-BE49-F238E27FC236}">
                <a16:creationId xmlns:a16="http://schemas.microsoft.com/office/drawing/2014/main" id="{6495414E-1985-4EC6-A0AF-A4E3AFFF8ACF}"/>
              </a:ext>
            </a:extLst>
          </p:cNvPr>
          <p:cNvCxnSpPr>
            <a:stCxn id="47" idx="3"/>
            <a:endCxn id="305" idx="0"/>
          </p:cNvCxnSpPr>
          <p:nvPr/>
        </p:nvCxnSpPr>
        <p:spPr>
          <a:xfrm rot="5400000">
            <a:off x="1477468" y="2185171"/>
            <a:ext cx="270659" cy="1537876"/>
          </a:xfrm>
          <a:prstGeom prst="curvedConnector3">
            <a:avLst>
              <a:gd name="adj1" fmla="val 50000"/>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5" name="Rectangle: Rounded Corners 304">
            <a:extLst>
              <a:ext uri="{FF2B5EF4-FFF2-40B4-BE49-F238E27FC236}">
                <a16:creationId xmlns:a16="http://schemas.microsoft.com/office/drawing/2014/main" id="{E27A722B-0502-4315-B4E9-1A6C9EDDC251}"/>
              </a:ext>
            </a:extLst>
          </p:cNvPr>
          <p:cNvSpPr/>
          <p:nvPr/>
        </p:nvSpPr>
        <p:spPr>
          <a:xfrm>
            <a:off x="107504" y="3089439"/>
            <a:ext cx="1472710" cy="483577"/>
          </a:xfrm>
          <a:prstGeom prst="roundRect">
            <a:avLst/>
          </a:prstGeom>
          <a:solidFill>
            <a:schemeClr val="bg1">
              <a:lumMod val="9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cs typeface="Calibri"/>
              </a:rPr>
              <a:t>Team Lead / Service Manager</a:t>
            </a:r>
          </a:p>
        </p:txBody>
      </p:sp>
      <p:cxnSp>
        <p:nvCxnSpPr>
          <p:cNvPr id="327" name="Connector: Curved 326">
            <a:extLst>
              <a:ext uri="{FF2B5EF4-FFF2-40B4-BE49-F238E27FC236}">
                <a16:creationId xmlns:a16="http://schemas.microsoft.com/office/drawing/2014/main" id="{85700C9E-A497-4812-9E7C-FDCC9D85DDA7}"/>
              </a:ext>
            </a:extLst>
          </p:cNvPr>
          <p:cNvCxnSpPr>
            <a:cxnSpLocks/>
            <a:stCxn id="305" idx="3"/>
            <a:endCxn id="47" idx="4"/>
          </p:cNvCxnSpPr>
          <p:nvPr/>
        </p:nvCxnSpPr>
        <p:spPr>
          <a:xfrm flipV="1">
            <a:off x="1580214" y="2869315"/>
            <a:ext cx="1237703" cy="461913"/>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9" name="Connector: Curved 328">
            <a:extLst>
              <a:ext uri="{FF2B5EF4-FFF2-40B4-BE49-F238E27FC236}">
                <a16:creationId xmlns:a16="http://schemas.microsoft.com/office/drawing/2014/main" id="{BFDD400A-E41B-4FEF-804E-A47B06D9353B}"/>
              </a:ext>
            </a:extLst>
          </p:cNvPr>
          <p:cNvCxnSpPr>
            <a:cxnSpLocks/>
            <a:stCxn id="42" idx="6"/>
            <a:endCxn id="358" idx="1"/>
          </p:cNvCxnSpPr>
          <p:nvPr/>
        </p:nvCxnSpPr>
        <p:spPr>
          <a:xfrm flipH="1" flipV="1">
            <a:off x="7524328" y="2113743"/>
            <a:ext cx="72008" cy="2006336"/>
          </a:xfrm>
          <a:prstGeom prst="curvedConnector5">
            <a:avLst>
              <a:gd name="adj1" fmla="val -317465"/>
              <a:gd name="adj2" fmla="val 37232"/>
              <a:gd name="adj3" fmla="val 417465"/>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5" name="Rectangle: Rounded Corners 354">
            <a:extLst>
              <a:ext uri="{FF2B5EF4-FFF2-40B4-BE49-F238E27FC236}">
                <a16:creationId xmlns:a16="http://schemas.microsoft.com/office/drawing/2014/main" id="{2ADBD17C-985D-4A16-9C9A-408EA23DA87D}"/>
              </a:ext>
            </a:extLst>
          </p:cNvPr>
          <p:cNvSpPr/>
          <p:nvPr/>
        </p:nvSpPr>
        <p:spPr>
          <a:xfrm>
            <a:off x="7996188" y="3095323"/>
            <a:ext cx="1112316" cy="477693"/>
          </a:xfrm>
          <a:prstGeom prst="roundRect">
            <a:avLst/>
          </a:prstGeom>
          <a:solidFill>
            <a:schemeClr val="accent4">
              <a:lumMod val="60000"/>
              <a:lumOff val="40000"/>
            </a:schemeClr>
          </a:solidFill>
          <a:ln>
            <a:solidFill>
              <a:srgbClr val="00206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b="1">
                <a:solidFill>
                  <a:schemeClr val="tx1"/>
                </a:solidFill>
              </a:rPr>
              <a:t>Customer Feedback</a:t>
            </a:r>
          </a:p>
        </p:txBody>
      </p:sp>
      <p:cxnSp>
        <p:nvCxnSpPr>
          <p:cNvPr id="356" name="Connector: Curved 355">
            <a:extLst>
              <a:ext uri="{FF2B5EF4-FFF2-40B4-BE49-F238E27FC236}">
                <a16:creationId xmlns:a16="http://schemas.microsoft.com/office/drawing/2014/main" id="{305F0301-7F65-4D07-8C45-0E584432827D}"/>
              </a:ext>
            </a:extLst>
          </p:cNvPr>
          <p:cNvCxnSpPr>
            <a:cxnSpLocks/>
            <a:stCxn id="42" idx="6"/>
            <a:endCxn id="355" idx="1"/>
          </p:cNvCxnSpPr>
          <p:nvPr/>
        </p:nvCxnSpPr>
        <p:spPr>
          <a:xfrm flipV="1">
            <a:off x="7596336" y="3334170"/>
            <a:ext cx="399852" cy="785909"/>
          </a:xfrm>
          <a:prstGeom prst="curvedConnector3">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8" name="Rectangle: Rounded Corners 357">
            <a:extLst>
              <a:ext uri="{FF2B5EF4-FFF2-40B4-BE49-F238E27FC236}">
                <a16:creationId xmlns:a16="http://schemas.microsoft.com/office/drawing/2014/main" id="{120EFDE9-87ED-4EED-A132-2DF666FFDDE3}"/>
              </a:ext>
            </a:extLst>
          </p:cNvPr>
          <p:cNvSpPr/>
          <p:nvPr/>
        </p:nvSpPr>
        <p:spPr>
          <a:xfrm>
            <a:off x="7524328" y="1446557"/>
            <a:ext cx="1444677" cy="1334371"/>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Parts Opportunity [Created from Parts Recommended</a:t>
            </a:r>
            <a:r>
              <a:rPr lang="en-US"/>
              <a:t>]</a:t>
            </a:r>
          </a:p>
        </p:txBody>
      </p:sp>
      <p:sp>
        <p:nvSpPr>
          <p:cNvPr id="359" name="Rectangle: Rounded Corners 358">
            <a:extLst>
              <a:ext uri="{FF2B5EF4-FFF2-40B4-BE49-F238E27FC236}">
                <a16:creationId xmlns:a16="http://schemas.microsoft.com/office/drawing/2014/main" id="{892A878C-5D61-4039-8CD1-7FBEA89B5F44}"/>
              </a:ext>
            </a:extLst>
          </p:cNvPr>
          <p:cNvSpPr/>
          <p:nvPr/>
        </p:nvSpPr>
        <p:spPr>
          <a:xfrm>
            <a:off x="3022963" y="932134"/>
            <a:ext cx="1066066" cy="483577"/>
          </a:xfrm>
          <a:prstGeom prst="roundRect">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Warranty</a:t>
            </a:r>
          </a:p>
          <a:p>
            <a:pPr algn="ctr"/>
            <a:r>
              <a:rPr lang="en-US" sz="1200" b="1">
                <a:solidFill>
                  <a:schemeClr val="bg1"/>
                </a:solidFill>
                <a:cs typeface="Calibri"/>
              </a:rPr>
              <a:t>Schedule</a:t>
            </a:r>
          </a:p>
        </p:txBody>
      </p:sp>
      <p:sp>
        <p:nvSpPr>
          <p:cNvPr id="361" name="Rectangle: Rounded Corners 360">
            <a:extLst>
              <a:ext uri="{FF2B5EF4-FFF2-40B4-BE49-F238E27FC236}">
                <a16:creationId xmlns:a16="http://schemas.microsoft.com/office/drawing/2014/main" id="{92003B4A-45CA-46AF-888D-C89160B039D5}"/>
              </a:ext>
            </a:extLst>
          </p:cNvPr>
          <p:cNvSpPr/>
          <p:nvPr/>
        </p:nvSpPr>
        <p:spPr>
          <a:xfrm>
            <a:off x="4280418" y="877182"/>
            <a:ext cx="1371701" cy="593480"/>
          </a:xfrm>
          <a:prstGeom prst="roundRect">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Service Contract</a:t>
            </a:r>
            <a:endParaRPr lang="en-US" b="1">
              <a:solidFill>
                <a:schemeClr val="bg1"/>
              </a:solidFill>
              <a:cs typeface="Calibri"/>
            </a:endParaRPr>
          </a:p>
          <a:p>
            <a:pPr algn="ctr"/>
            <a:r>
              <a:rPr lang="en-US" sz="1200" b="1">
                <a:solidFill>
                  <a:schemeClr val="bg1"/>
                </a:solidFill>
                <a:cs typeface="Calibri"/>
              </a:rPr>
              <a:t>Visit Schedule</a:t>
            </a:r>
          </a:p>
        </p:txBody>
      </p:sp>
      <p:grpSp>
        <p:nvGrpSpPr>
          <p:cNvPr id="7" name="Group 6"/>
          <p:cNvGrpSpPr/>
          <p:nvPr/>
        </p:nvGrpSpPr>
        <p:grpSpPr>
          <a:xfrm>
            <a:off x="76200" y="1143000"/>
            <a:ext cx="2355790" cy="829473"/>
            <a:chOff x="102819" y="1487272"/>
            <a:chExt cx="2355790" cy="829473"/>
          </a:xfrm>
        </p:grpSpPr>
        <p:sp>
          <p:nvSpPr>
            <p:cNvPr id="6" name="Oval 5"/>
            <p:cNvSpPr/>
            <p:nvPr/>
          </p:nvSpPr>
          <p:spPr>
            <a:xfrm>
              <a:off x="1405044" y="2007061"/>
              <a:ext cx="955141" cy="309684"/>
            </a:xfrm>
            <a:prstGeom prst="ellipse">
              <a:avLst/>
            </a:prstGeom>
            <a:solidFill>
              <a:schemeClr val="tx2">
                <a:lumMod val="60000"/>
                <a:lumOff val="40000"/>
              </a:schemeClr>
            </a:solidFill>
            <a:ln w="3175">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Create</a:t>
              </a:r>
              <a:endParaRPr lang="en-IN" b="1">
                <a:solidFill>
                  <a:schemeClr val="bg1"/>
                </a:solidFill>
              </a:endParaRPr>
            </a:p>
          </p:txBody>
        </p:sp>
        <p:sp>
          <p:nvSpPr>
            <p:cNvPr id="3" name="Rectangle 2"/>
            <p:cNvSpPr/>
            <p:nvPr/>
          </p:nvSpPr>
          <p:spPr>
            <a:xfrm>
              <a:off x="102819" y="1487272"/>
              <a:ext cx="2355790" cy="674631"/>
            </a:xfrm>
            <a:prstGeom prst="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533400">
                <a:lnSpc>
                  <a:spcPct val="90000"/>
                </a:lnSpc>
                <a:spcAft>
                  <a:spcPct val="15000"/>
                </a:spcAft>
                <a:buChar char="••"/>
              </a:pPr>
              <a:r>
                <a:rPr lang="en-US" sz="1200" b="1">
                  <a:solidFill>
                    <a:srgbClr val="002060"/>
                  </a:solidFill>
                </a:rPr>
                <a:t>Mobile or Web</a:t>
              </a:r>
            </a:p>
            <a:p>
              <a:pPr marL="114300" lvl="1" indent="-114300" defTabSz="533400">
                <a:lnSpc>
                  <a:spcPct val="90000"/>
                </a:lnSpc>
                <a:spcAft>
                  <a:spcPct val="15000"/>
                </a:spcAft>
                <a:buChar char="••"/>
              </a:pPr>
              <a:r>
                <a:rPr lang="en-US" sz="1200" b="1">
                  <a:solidFill>
                    <a:srgbClr val="002060"/>
                  </a:solidFill>
                </a:rPr>
                <a:t>By Own, Dealer, Customer Staff</a:t>
              </a:r>
            </a:p>
            <a:p>
              <a:pPr marL="114300" lvl="1" indent="-114300" defTabSz="533400">
                <a:lnSpc>
                  <a:spcPct val="90000"/>
                </a:lnSpc>
                <a:spcAft>
                  <a:spcPct val="15000"/>
                </a:spcAft>
                <a:buChar char="••"/>
              </a:pPr>
              <a:r>
                <a:rPr lang="en-US" sz="1200" b="1">
                  <a:solidFill>
                    <a:srgbClr val="002060"/>
                  </a:solidFill>
                </a:rPr>
                <a:t>System Generated</a:t>
              </a:r>
              <a:endParaRPr lang="en-IN" sz="1200" b="1">
                <a:solidFill>
                  <a:srgbClr val="002060"/>
                </a:solidFill>
              </a:endParaRPr>
            </a:p>
          </p:txBody>
        </p:sp>
      </p:grpSp>
      <p:grpSp>
        <p:nvGrpSpPr>
          <p:cNvPr id="72" name="Group 71"/>
          <p:cNvGrpSpPr/>
          <p:nvPr/>
        </p:nvGrpSpPr>
        <p:grpSpPr>
          <a:xfrm>
            <a:off x="7740353" y="5013174"/>
            <a:ext cx="1400161" cy="1056478"/>
            <a:chOff x="7897377" y="4749310"/>
            <a:chExt cx="1667398" cy="893097"/>
          </a:xfrm>
        </p:grpSpPr>
        <p:sp>
          <p:nvSpPr>
            <p:cNvPr id="28" name="Rounded Rectangle 27"/>
            <p:cNvSpPr/>
            <p:nvPr/>
          </p:nvSpPr>
          <p:spPr>
            <a:xfrm>
              <a:off x="8154633" y="5100191"/>
              <a:ext cx="1410142" cy="542216"/>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533400">
                <a:lnSpc>
                  <a:spcPct val="90000"/>
                </a:lnSpc>
                <a:spcAft>
                  <a:spcPct val="15000"/>
                </a:spcAft>
                <a:buChar char="••"/>
              </a:pPr>
              <a:r>
                <a:rPr lang="en-US" sz="1200">
                  <a:solidFill>
                    <a:schemeClr val="tx1"/>
                  </a:solidFill>
                </a:rPr>
                <a:t>Web</a:t>
              </a:r>
            </a:p>
            <a:p>
              <a:pPr marL="114300" lvl="1" indent="-114300" defTabSz="533400">
                <a:lnSpc>
                  <a:spcPct val="90000"/>
                </a:lnSpc>
                <a:spcAft>
                  <a:spcPct val="15000"/>
                </a:spcAft>
                <a:buChar char="••"/>
              </a:pPr>
              <a:r>
                <a:rPr lang="en-US" sz="1200">
                  <a:solidFill>
                    <a:schemeClr val="tx1"/>
                  </a:solidFill>
                </a:rPr>
                <a:t>By Coordinator</a:t>
              </a:r>
            </a:p>
          </p:txBody>
        </p:sp>
        <p:sp>
          <p:nvSpPr>
            <p:cNvPr id="36" name="Oval 35"/>
            <p:cNvSpPr/>
            <p:nvPr/>
          </p:nvSpPr>
          <p:spPr>
            <a:xfrm>
              <a:off x="7897377" y="4749310"/>
              <a:ext cx="1074388" cy="415827"/>
            </a:xfrm>
            <a:prstGeom prst="ellipse">
              <a:avLst/>
            </a:prstGeom>
            <a:solidFill>
              <a:schemeClr val="tx2">
                <a:lumMod val="60000"/>
                <a:lumOff val="40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Close</a:t>
              </a:r>
              <a:endParaRPr lang="en-IN" b="1">
                <a:solidFill>
                  <a:schemeClr val="bg1"/>
                </a:solidFill>
              </a:endParaRPr>
            </a:p>
          </p:txBody>
        </p:sp>
      </p:grpSp>
      <p:sp>
        <p:nvSpPr>
          <p:cNvPr id="40" name="Oval 39"/>
          <p:cNvSpPr/>
          <p:nvPr/>
        </p:nvSpPr>
        <p:spPr>
          <a:xfrm>
            <a:off x="5354515" y="3810000"/>
            <a:ext cx="1233709" cy="402126"/>
          </a:xfrm>
          <a:prstGeom prst="ellipse">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Work Start</a:t>
            </a:r>
            <a:endParaRPr lang="en-IN" sz="1200" b="1">
              <a:solidFill>
                <a:schemeClr val="bg1"/>
              </a:solidFill>
              <a:cs typeface="Calibri"/>
            </a:endParaRPr>
          </a:p>
        </p:txBody>
      </p:sp>
      <p:sp>
        <p:nvSpPr>
          <p:cNvPr id="42" name="Oval 41"/>
          <p:cNvSpPr/>
          <p:nvPr/>
        </p:nvSpPr>
        <p:spPr>
          <a:xfrm>
            <a:off x="6641195" y="3965237"/>
            <a:ext cx="955141" cy="309684"/>
          </a:xfrm>
          <a:prstGeom prst="ellipse">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Finish</a:t>
            </a:r>
            <a:endParaRPr lang="en-IN" sz="1200" b="1">
              <a:solidFill>
                <a:schemeClr val="bg1"/>
              </a:solidFill>
              <a:cs typeface="Calibri"/>
            </a:endParaRPr>
          </a:p>
        </p:txBody>
      </p:sp>
      <p:sp>
        <p:nvSpPr>
          <p:cNvPr id="43" name="Oval 42"/>
          <p:cNvSpPr/>
          <p:nvPr/>
        </p:nvSpPr>
        <p:spPr>
          <a:xfrm>
            <a:off x="3671158" y="3839236"/>
            <a:ext cx="1310741" cy="393212"/>
          </a:xfrm>
          <a:prstGeom prst="ellipse">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Work Complete</a:t>
            </a:r>
            <a:endParaRPr lang="en-IN" sz="1200" b="1">
              <a:solidFill>
                <a:schemeClr val="bg1"/>
              </a:solidFill>
              <a:cs typeface="Calibri"/>
            </a:endParaRPr>
          </a:p>
        </p:txBody>
      </p:sp>
      <p:sp>
        <p:nvSpPr>
          <p:cNvPr id="44" name="Oval 43"/>
          <p:cNvSpPr/>
          <p:nvPr/>
        </p:nvSpPr>
        <p:spPr>
          <a:xfrm>
            <a:off x="3926130" y="3229575"/>
            <a:ext cx="1120217" cy="402126"/>
          </a:xfrm>
          <a:prstGeom prst="ellipse">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Travel Start</a:t>
            </a:r>
            <a:endParaRPr lang="en-IN" sz="1200" b="1">
              <a:solidFill>
                <a:schemeClr val="bg1"/>
              </a:solidFill>
              <a:cs typeface="Calibri"/>
            </a:endParaRPr>
          </a:p>
        </p:txBody>
      </p:sp>
      <p:sp>
        <p:nvSpPr>
          <p:cNvPr id="45" name="Oval 44"/>
          <p:cNvSpPr/>
          <p:nvPr/>
        </p:nvSpPr>
        <p:spPr>
          <a:xfrm>
            <a:off x="5489414" y="3229576"/>
            <a:ext cx="1098810" cy="402126"/>
          </a:xfrm>
          <a:prstGeom prst="ellipse">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Travel Finish</a:t>
            </a:r>
            <a:endParaRPr lang="en-IN" sz="1200" b="1">
              <a:solidFill>
                <a:schemeClr val="bg1"/>
              </a:solidFill>
              <a:cs typeface="Calibri"/>
            </a:endParaRPr>
          </a:p>
        </p:txBody>
      </p:sp>
      <p:grpSp>
        <p:nvGrpSpPr>
          <p:cNvPr id="8" name="Group 7"/>
          <p:cNvGrpSpPr/>
          <p:nvPr/>
        </p:nvGrpSpPr>
        <p:grpSpPr>
          <a:xfrm>
            <a:off x="552305" y="2327099"/>
            <a:ext cx="2882466" cy="542216"/>
            <a:chOff x="-687926" y="2670446"/>
            <a:chExt cx="2882466" cy="542216"/>
          </a:xfrm>
        </p:grpSpPr>
        <p:sp>
          <p:nvSpPr>
            <p:cNvPr id="47" name="Oval 46"/>
            <p:cNvSpPr/>
            <p:nvPr/>
          </p:nvSpPr>
          <p:spPr>
            <a:xfrm>
              <a:off x="960831" y="2867589"/>
              <a:ext cx="1233709" cy="345073"/>
            </a:xfrm>
            <a:prstGeom prst="ellipse">
              <a:avLst/>
            </a:prstGeom>
            <a:solidFill>
              <a:schemeClr val="tx2">
                <a:lumMod val="60000"/>
                <a:lumOff val="40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Assign</a:t>
              </a:r>
              <a:endParaRPr lang="en-IN" b="1">
                <a:solidFill>
                  <a:schemeClr val="bg1"/>
                </a:solidFill>
              </a:endParaRPr>
            </a:p>
          </p:txBody>
        </p:sp>
        <p:sp>
          <p:nvSpPr>
            <p:cNvPr id="27" name="Rounded Rectangle 26"/>
            <p:cNvSpPr/>
            <p:nvPr/>
          </p:nvSpPr>
          <p:spPr>
            <a:xfrm>
              <a:off x="-687926" y="2670446"/>
              <a:ext cx="1822714" cy="542216"/>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533400">
                <a:lnSpc>
                  <a:spcPct val="90000"/>
                </a:lnSpc>
                <a:spcAft>
                  <a:spcPct val="15000"/>
                </a:spcAft>
                <a:buChar char="••"/>
              </a:pPr>
              <a:r>
                <a:rPr lang="en-US" sz="1200" b="1">
                  <a:solidFill>
                    <a:srgbClr val="002060"/>
                  </a:solidFill>
                </a:rPr>
                <a:t>Mobile or Web</a:t>
              </a:r>
            </a:p>
            <a:p>
              <a:pPr marL="114300" lvl="1" indent="-114300" defTabSz="533400">
                <a:lnSpc>
                  <a:spcPct val="90000"/>
                </a:lnSpc>
                <a:spcAft>
                  <a:spcPct val="15000"/>
                </a:spcAft>
                <a:buChar char="••"/>
              </a:pPr>
              <a:r>
                <a:rPr lang="en-US" sz="1200" b="1">
                  <a:solidFill>
                    <a:srgbClr val="002060"/>
                  </a:solidFill>
                </a:rPr>
                <a:t>Manual / Auto Assign</a:t>
              </a:r>
            </a:p>
            <a:p>
              <a:pPr marL="114300" lvl="1" indent="-114300" defTabSz="533400">
                <a:lnSpc>
                  <a:spcPct val="90000"/>
                </a:lnSpc>
                <a:spcAft>
                  <a:spcPct val="15000"/>
                </a:spcAft>
                <a:buChar char="••"/>
              </a:pPr>
              <a:r>
                <a:rPr lang="en-US" sz="1200" b="1">
                  <a:solidFill>
                    <a:srgbClr val="002060"/>
                  </a:solidFill>
                </a:rPr>
                <a:t>Coordinator, Lead</a:t>
              </a:r>
            </a:p>
          </p:txBody>
        </p:sp>
      </p:grpSp>
      <p:sp>
        <p:nvSpPr>
          <p:cNvPr id="48" name="Oval 47"/>
          <p:cNvSpPr/>
          <p:nvPr/>
        </p:nvSpPr>
        <p:spPr>
          <a:xfrm>
            <a:off x="4100176" y="4431042"/>
            <a:ext cx="2450853" cy="826758"/>
          </a:xfrm>
          <a:prstGeom prst="ellipse">
            <a:avLst/>
          </a:prstGeom>
          <a:solidFill>
            <a:schemeClr val="accent1"/>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Report preparation</a:t>
            </a:r>
          </a:p>
          <a:p>
            <a:pPr algn="ctr"/>
            <a:r>
              <a:rPr lang="en-US" sz="1200" b="1">
                <a:solidFill>
                  <a:schemeClr val="bg1"/>
                </a:solidFill>
                <a:cs typeface="Calibri"/>
              </a:rPr>
              <a:t>[DSR, FSR, </a:t>
            </a:r>
            <a:r>
              <a:rPr lang="en-US" sz="1200" b="1" err="1">
                <a:solidFill>
                  <a:schemeClr val="bg1"/>
                </a:solidFill>
                <a:cs typeface="Calibri"/>
              </a:rPr>
              <a:t>PWClaim</a:t>
            </a:r>
            <a:r>
              <a:rPr lang="en-US" sz="1200" b="1">
                <a:solidFill>
                  <a:schemeClr val="bg1"/>
                </a:solidFill>
                <a:cs typeface="Calibri"/>
              </a:rPr>
              <a:t>]</a:t>
            </a:r>
            <a:endParaRPr lang="en-IN" sz="1200" b="1">
              <a:solidFill>
                <a:schemeClr val="bg1"/>
              </a:solidFill>
              <a:cs typeface="Calibri"/>
            </a:endParaRPr>
          </a:p>
        </p:txBody>
      </p:sp>
      <p:cxnSp>
        <p:nvCxnSpPr>
          <p:cNvPr id="10" name="Straight Arrow Connector 9"/>
          <p:cNvCxnSpPr>
            <a:cxnSpLocks/>
          </p:cNvCxnSpPr>
          <p:nvPr/>
        </p:nvCxnSpPr>
        <p:spPr>
          <a:xfrm flipV="1">
            <a:off x="2535355" y="3127251"/>
            <a:ext cx="5110020" cy="47222"/>
          </a:xfrm>
          <a:prstGeom prst="straightConnector1">
            <a:avLst/>
          </a:prstGeom>
          <a:ln w="38100">
            <a:solidFill>
              <a:schemeClr val="accent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cxnSpLocks/>
          </p:cNvCxnSpPr>
          <p:nvPr/>
        </p:nvCxnSpPr>
        <p:spPr>
          <a:xfrm flipH="1">
            <a:off x="7633802" y="3151103"/>
            <a:ext cx="20160" cy="2273466"/>
          </a:xfrm>
          <a:prstGeom prst="straightConnector1">
            <a:avLst/>
          </a:prstGeom>
          <a:ln w="38100">
            <a:solidFill>
              <a:schemeClr val="accent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p:cNvCxnSpPr>
          <p:nvPr/>
        </p:nvCxnSpPr>
        <p:spPr>
          <a:xfrm flipH="1" flipV="1">
            <a:off x="2431990" y="5387338"/>
            <a:ext cx="5181781" cy="3824"/>
          </a:xfrm>
          <a:prstGeom prst="straightConnector1">
            <a:avLst/>
          </a:prstGeom>
          <a:ln w="38100">
            <a:solidFill>
              <a:schemeClr val="accent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cxnSpLocks/>
          </p:cNvCxnSpPr>
          <p:nvPr/>
        </p:nvCxnSpPr>
        <p:spPr>
          <a:xfrm flipH="1" flipV="1">
            <a:off x="2483768" y="3174475"/>
            <a:ext cx="30832" cy="2212863"/>
          </a:xfrm>
          <a:prstGeom prst="straightConnector1">
            <a:avLst/>
          </a:prstGeom>
          <a:ln w="38100">
            <a:solidFill>
              <a:schemeClr val="accent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cxnSpLocks/>
            <a:stCxn id="44" idx="6"/>
            <a:endCxn id="45" idx="2"/>
          </p:cNvCxnSpPr>
          <p:nvPr/>
        </p:nvCxnSpPr>
        <p:spPr>
          <a:xfrm>
            <a:off x="5046347" y="3430638"/>
            <a:ext cx="443067" cy="1"/>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cxnSpLocks/>
            <a:stCxn id="45" idx="4"/>
          </p:cNvCxnSpPr>
          <p:nvPr/>
        </p:nvCxnSpPr>
        <p:spPr>
          <a:xfrm>
            <a:off x="6038819" y="3631702"/>
            <a:ext cx="15640" cy="178298"/>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40" idx="2"/>
            <a:endCxn id="43" idx="6"/>
          </p:cNvCxnSpPr>
          <p:nvPr/>
        </p:nvCxnSpPr>
        <p:spPr>
          <a:xfrm flipH="1">
            <a:off x="4981899" y="4011063"/>
            <a:ext cx="372616" cy="24779"/>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95" name="Elbow Connector 294"/>
          <p:cNvCxnSpPr>
            <a:stCxn id="43" idx="4"/>
            <a:endCxn id="48" idx="2"/>
          </p:cNvCxnSpPr>
          <p:nvPr/>
        </p:nvCxnSpPr>
        <p:spPr>
          <a:xfrm rot="5400000">
            <a:off x="3907367" y="4425258"/>
            <a:ext cx="611973" cy="226353"/>
          </a:xfrm>
          <a:prstGeom prst="bentConnector4">
            <a:avLst>
              <a:gd name="adj1" fmla="val 16226"/>
              <a:gd name="adj2" fmla="val 200993"/>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6" name="Elbow Connector 95"/>
          <p:cNvCxnSpPr>
            <a:stCxn id="48" idx="6"/>
            <a:endCxn id="42" idx="4"/>
          </p:cNvCxnSpPr>
          <p:nvPr/>
        </p:nvCxnSpPr>
        <p:spPr>
          <a:xfrm flipV="1">
            <a:off x="6551029" y="4274921"/>
            <a:ext cx="567737" cy="569500"/>
          </a:xfrm>
          <a:prstGeom prst="bentConnector2">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13" name="Connector: Curved 328">
            <a:extLst>
              <a:ext uri="{FF2B5EF4-FFF2-40B4-BE49-F238E27FC236}">
                <a16:creationId xmlns:a16="http://schemas.microsoft.com/office/drawing/2014/main" id="{BFDD400A-E41B-4FEF-804E-A47B06D9353B}"/>
              </a:ext>
            </a:extLst>
          </p:cNvPr>
          <p:cNvCxnSpPr>
            <a:cxnSpLocks/>
            <a:stCxn id="359" idx="1"/>
            <a:endCxn id="6" idx="6"/>
          </p:cNvCxnSpPr>
          <p:nvPr/>
        </p:nvCxnSpPr>
        <p:spPr>
          <a:xfrm rot="10800000" flipV="1">
            <a:off x="2333567" y="1173923"/>
            <a:ext cx="689397" cy="643708"/>
          </a:xfrm>
          <a:prstGeom prst="curvedConnector3">
            <a:avLst>
              <a:gd name="adj1" fmla="val 50000"/>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328">
            <a:extLst>
              <a:ext uri="{FF2B5EF4-FFF2-40B4-BE49-F238E27FC236}">
                <a16:creationId xmlns:a16="http://schemas.microsoft.com/office/drawing/2014/main" id="{BFDD400A-E41B-4FEF-804E-A47B06D9353B}"/>
              </a:ext>
            </a:extLst>
          </p:cNvPr>
          <p:cNvCxnSpPr>
            <a:cxnSpLocks/>
            <a:stCxn id="361" idx="2"/>
            <a:endCxn id="6" idx="6"/>
          </p:cNvCxnSpPr>
          <p:nvPr/>
        </p:nvCxnSpPr>
        <p:spPr>
          <a:xfrm rot="5400000">
            <a:off x="3476434" y="327795"/>
            <a:ext cx="346969" cy="2632703"/>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Rectangle: Rounded Corners 357">
            <a:extLst>
              <a:ext uri="{FF2B5EF4-FFF2-40B4-BE49-F238E27FC236}">
                <a16:creationId xmlns:a16="http://schemas.microsoft.com/office/drawing/2014/main" id="{120EFDE9-87ED-4EED-A132-2DF666FFDDE3}"/>
              </a:ext>
            </a:extLst>
          </p:cNvPr>
          <p:cNvSpPr/>
          <p:nvPr/>
        </p:nvSpPr>
        <p:spPr>
          <a:xfrm>
            <a:off x="756032" y="4797152"/>
            <a:ext cx="1329835" cy="1000125"/>
          </a:xfrm>
          <a:prstGeom prst="roundRect">
            <a:avLst/>
          </a:prstGeom>
          <a:solidFill>
            <a:schemeClr val="accent4">
              <a:lumMod val="75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chemeClr val="bg1"/>
                </a:solidFill>
              </a:rPr>
              <a:t>Parts Warranty Claim Via Hold or After Close</a:t>
            </a:r>
          </a:p>
        </p:txBody>
      </p:sp>
      <p:cxnSp>
        <p:nvCxnSpPr>
          <p:cNvPr id="121" name="Connector: Curved 328">
            <a:extLst>
              <a:ext uri="{FF2B5EF4-FFF2-40B4-BE49-F238E27FC236}">
                <a16:creationId xmlns:a16="http://schemas.microsoft.com/office/drawing/2014/main" id="{BFDD400A-E41B-4FEF-804E-A47B06D9353B}"/>
              </a:ext>
            </a:extLst>
          </p:cNvPr>
          <p:cNvCxnSpPr>
            <a:cxnSpLocks/>
            <a:stCxn id="48" idx="3"/>
            <a:endCxn id="120" idx="3"/>
          </p:cNvCxnSpPr>
          <p:nvPr/>
        </p:nvCxnSpPr>
        <p:spPr>
          <a:xfrm rot="5400000">
            <a:off x="3192236" y="4030355"/>
            <a:ext cx="160491" cy="2373228"/>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2349381" y="2133600"/>
            <a:ext cx="165219" cy="187967"/>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p:nvPr/>
        </p:nvCxnSpPr>
        <p:spPr>
          <a:xfrm>
            <a:off x="2892297" y="2939320"/>
            <a:ext cx="165219" cy="187967"/>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cxnSpLocks/>
          </p:cNvCxnSpPr>
          <p:nvPr/>
        </p:nvCxnSpPr>
        <p:spPr>
          <a:xfrm>
            <a:off x="7308304" y="4844421"/>
            <a:ext cx="288032" cy="239106"/>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46" name="Rectangle: Rounded Corners 304">
            <a:extLst>
              <a:ext uri="{FF2B5EF4-FFF2-40B4-BE49-F238E27FC236}">
                <a16:creationId xmlns:a16="http://schemas.microsoft.com/office/drawing/2014/main" id="{E27A722B-0502-4315-B4E9-1A6C9EDDC251}"/>
              </a:ext>
            </a:extLst>
          </p:cNvPr>
          <p:cNvSpPr/>
          <p:nvPr/>
        </p:nvSpPr>
        <p:spPr>
          <a:xfrm>
            <a:off x="4186206" y="1981200"/>
            <a:ext cx="2155271" cy="514771"/>
          </a:xfrm>
          <a:prstGeom prst="roundRect">
            <a:avLst/>
          </a:prstGeom>
          <a:solidFill>
            <a:schemeClr val="bg1">
              <a:lumMod val="9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2060"/>
                </a:solidFill>
                <a:cs typeface="Calibri"/>
              </a:rPr>
              <a:t>Out of warranty</a:t>
            </a:r>
          </a:p>
          <a:p>
            <a:pPr algn="ctr"/>
            <a:r>
              <a:rPr lang="en-US" sz="1200" b="1">
                <a:solidFill>
                  <a:srgbClr val="002060"/>
                </a:solidFill>
                <a:cs typeface="Calibri"/>
              </a:rPr>
              <a:t>Chargeable – Quote -&gt; Sale Order Confirmation Flow</a:t>
            </a:r>
          </a:p>
        </p:txBody>
      </p:sp>
      <p:cxnSp>
        <p:nvCxnSpPr>
          <p:cNvPr id="155" name="Connector: Curved 303">
            <a:extLst>
              <a:ext uri="{FF2B5EF4-FFF2-40B4-BE49-F238E27FC236}">
                <a16:creationId xmlns:a16="http://schemas.microsoft.com/office/drawing/2014/main" id="{6495414E-1985-4EC6-A0AF-A4E3AFFF8ACF}"/>
              </a:ext>
            </a:extLst>
          </p:cNvPr>
          <p:cNvCxnSpPr>
            <a:stCxn id="47" idx="7"/>
            <a:endCxn id="146" idx="1"/>
          </p:cNvCxnSpPr>
          <p:nvPr/>
        </p:nvCxnSpPr>
        <p:spPr>
          <a:xfrm rot="5400000" flipH="1" flipV="1">
            <a:off x="3552057" y="1940628"/>
            <a:ext cx="336191" cy="932108"/>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8" name="Connector: Curved 303">
            <a:extLst>
              <a:ext uri="{FF2B5EF4-FFF2-40B4-BE49-F238E27FC236}">
                <a16:creationId xmlns:a16="http://schemas.microsoft.com/office/drawing/2014/main" id="{6495414E-1985-4EC6-A0AF-A4E3AFFF8ACF}"/>
              </a:ext>
            </a:extLst>
          </p:cNvPr>
          <p:cNvCxnSpPr>
            <a:stCxn id="146" idx="2"/>
            <a:endCxn id="47" idx="6"/>
          </p:cNvCxnSpPr>
          <p:nvPr/>
        </p:nvCxnSpPr>
        <p:spPr>
          <a:xfrm rot="5400000">
            <a:off x="4248903" y="1681840"/>
            <a:ext cx="200808" cy="1829071"/>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3" name="Rectangle 332"/>
          <p:cNvSpPr/>
          <p:nvPr/>
        </p:nvSpPr>
        <p:spPr>
          <a:xfrm>
            <a:off x="4232619" y="5357737"/>
            <a:ext cx="1992170" cy="411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u="sng">
                <a:solidFill>
                  <a:schemeClr val="tx1"/>
                </a:solidFill>
              </a:rPr>
              <a:t>Multiple Days, Multiple Engineers</a:t>
            </a:r>
            <a:endParaRPr lang="en-IN" b="1" i="1" u="sng">
              <a:solidFill>
                <a:schemeClr val="tx1"/>
              </a:solidFill>
            </a:endParaRPr>
          </a:p>
        </p:txBody>
      </p:sp>
      <p:cxnSp>
        <p:nvCxnSpPr>
          <p:cNvPr id="52" name="Connector: Curved 328">
            <a:extLst>
              <a:ext uri="{FF2B5EF4-FFF2-40B4-BE49-F238E27FC236}">
                <a16:creationId xmlns:a16="http://schemas.microsoft.com/office/drawing/2014/main" id="{BFDD400A-E41B-4FEF-804E-A47B06D9353B}"/>
              </a:ext>
            </a:extLst>
          </p:cNvPr>
          <p:cNvCxnSpPr>
            <a:cxnSpLocks/>
            <a:stCxn id="36" idx="3"/>
          </p:cNvCxnSpPr>
          <p:nvPr/>
        </p:nvCxnSpPr>
        <p:spPr>
          <a:xfrm rot="5400000">
            <a:off x="4562932" y="2512971"/>
            <a:ext cx="389481" cy="6229609"/>
          </a:xfrm>
          <a:prstGeom prst="curvedConnector2">
            <a:avLst/>
          </a:prstGeom>
          <a:ln w="1905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13D6B646-8388-49F6-65FA-81ED900C8777}"/>
              </a:ext>
            </a:extLst>
          </p:cNvPr>
          <p:cNvSpPr/>
          <p:nvPr/>
        </p:nvSpPr>
        <p:spPr>
          <a:xfrm>
            <a:off x="2555776" y="3207610"/>
            <a:ext cx="1175737" cy="653438"/>
          </a:xfrm>
          <a:prstGeom prst="ellipse">
            <a:avLst/>
          </a:prstGeom>
          <a:solidFill>
            <a:schemeClr val="tx2">
              <a:lumMod val="60000"/>
              <a:lumOff val="40000"/>
            </a:schemeClr>
          </a:solidFill>
          <a:ln w="285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bg1"/>
                </a:solidFill>
                <a:cs typeface="Calibri"/>
              </a:rPr>
              <a:t>Spare parts req approval</a:t>
            </a:r>
            <a:endParaRPr lang="en-IN" sz="1200" b="1">
              <a:solidFill>
                <a:schemeClr val="bg1"/>
              </a:solidFill>
              <a:cs typeface="Calibri"/>
            </a:endParaRPr>
          </a:p>
        </p:txBody>
      </p:sp>
      <p:cxnSp>
        <p:nvCxnSpPr>
          <p:cNvPr id="38" name="Straight Arrow Connector 37">
            <a:extLst>
              <a:ext uri="{FF2B5EF4-FFF2-40B4-BE49-F238E27FC236}">
                <a16:creationId xmlns:a16="http://schemas.microsoft.com/office/drawing/2014/main" id="{E074D30B-8F50-69EA-1E5F-967166F1516D}"/>
              </a:ext>
            </a:extLst>
          </p:cNvPr>
          <p:cNvCxnSpPr>
            <a:cxnSpLocks/>
            <a:endCxn id="44" idx="2"/>
          </p:cNvCxnSpPr>
          <p:nvPr/>
        </p:nvCxnSpPr>
        <p:spPr>
          <a:xfrm flipV="1">
            <a:off x="3680284" y="3430638"/>
            <a:ext cx="245846" cy="17399"/>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85BC9C4-9887-BA4E-A5F0-83F8B702D5E6}"/>
              </a:ext>
            </a:extLst>
          </p:cNvPr>
          <p:cNvSpPr txBox="1"/>
          <p:nvPr/>
        </p:nvSpPr>
        <p:spPr>
          <a:xfrm>
            <a:off x="2771800" y="3789040"/>
            <a:ext cx="1047707" cy="215444"/>
          </a:xfrm>
          <a:prstGeom prst="rect">
            <a:avLst/>
          </a:prstGeom>
          <a:noFill/>
        </p:spPr>
        <p:txBody>
          <a:bodyPr wrap="square" rtlCol="0">
            <a:spAutoFit/>
          </a:bodyPr>
          <a:lstStyle/>
          <a:p>
            <a:r>
              <a:rPr lang="en-US" sz="800">
                <a:solidFill>
                  <a:srgbClr val="FF0000"/>
                </a:solidFill>
              </a:rPr>
              <a:t>(Optional)</a:t>
            </a:r>
          </a:p>
        </p:txBody>
      </p:sp>
      <p:pic>
        <p:nvPicPr>
          <p:cNvPr id="12" name="Picture 2" descr="Service engineer line icon linear concept Vector Image">
            <a:extLst>
              <a:ext uri="{FF2B5EF4-FFF2-40B4-BE49-F238E27FC236}">
                <a16:creationId xmlns:a16="http://schemas.microsoft.com/office/drawing/2014/main" id="{F4A1DDD8-957F-E3E6-AA82-19D92681B08B}"/>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l="14594" t="13043" r="17826" b="21739"/>
          <a:stretch/>
        </p:blipFill>
        <p:spPr bwMode="auto">
          <a:xfrm>
            <a:off x="2561445" y="4653136"/>
            <a:ext cx="413461" cy="430927"/>
          </a:xfrm>
          <a:prstGeom prst="rect">
            <a:avLst/>
          </a:prstGeom>
          <a:solidFill>
            <a:srgbClr val="00B0F0"/>
          </a:solidFill>
          <a:ln w="28575">
            <a:solidFill>
              <a:srgbClr val="0070C0"/>
            </a:solidFill>
          </a:ln>
        </p:spPr>
      </p:pic>
      <p:pic>
        <p:nvPicPr>
          <p:cNvPr id="14" name="Picture 12" descr="Coordinator Icon Images – Browse 1,490 Stock Photos, Vectors, and Video |  Adobe Stock">
            <a:extLst>
              <a:ext uri="{FF2B5EF4-FFF2-40B4-BE49-F238E27FC236}">
                <a16:creationId xmlns:a16="http://schemas.microsoft.com/office/drawing/2014/main" id="{F5AE3BE3-75C6-53C5-F46E-4EE7F8D372F5}"/>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l="9557" t="6229" r="-1194" b="15923"/>
          <a:stretch/>
        </p:blipFill>
        <p:spPr bwMode="auto">
          <a:xfrm>
            <a:off x="107504" y="2312857"/>
            <a:ext cx="477625" cy="405760"/>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pic>
        <p:nvPicPr>
          <p:cNvPr id="15" name="Picture 12" descr="Coordinator Icon Images – Browse 1,490 Stock Photos, Vectors, and Video |  Adobe Stock">
            <a:extLst>
              <a:ext uri="{FF2B5EF4-FFF2-40B4-BE49-F238E27FC236}">
                <a16:creationId xmlns:a16="http://schemas.microsoft.com/office/drawing/2014/main" id="{CCFA0B88-02D9-2A67-349E-35E70CFA6675}"/>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l="9557" t="6229" r="-1194" b="15923"/>
          <a:stretch/>
        </p:blipFill>
        <p:spPr bwMode="auto">
          <a:xfrm>
            <a:off x="180853" y="5237445"/>
            <a:ext cx="477625" cy="405760"/>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pic>
        <p:nvPicPr>
          <p:cNvPr id="16" name="Picture 14" descr="Manufacturing Logo Vector Art, Icons, and Graphics for Free Download">
            <a:extLst>
              <a:ext uri="{FF2B5EF4-FFF2-40B4-BE49-F238E27FC236}">
                <a16:creationId xmlns:a16="http://schemas.microsoft.com/office/drawing/2014/main" id="{C1DA0115-DD1D-5800-63CD-CD3AF7FD7BF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94" t="16425" r="27588" b="40338"/>
          <a:stretch/>
        </p:blipFill>
        <p:spPr bwMode="auto">
          <a:xfrm>
            <a:off x="5724128" y="836712"/>
            <a:ext cx="577405" cy="537837"/>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F569902D-A910-F689-DE0C-B65218965394}"/>
              </a:ext>
            </a:extLst>
          </p:cNvPr>
          <p:cNvSpPr/>
          <p:nvPr/>
        </p:nvSpPr>
        <p:spPr>
          <a:xfrm>
            <a:off x="3022963" y="786035"/>
            <a:ext cx="2701165" cy="745475"/>
          </a:xfrm>
          <a:prstGeom prst="rect">
            <a:avLst/>
          </a:prstGeom>
          <a:noFill/>
          <a:ln w="31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pic>
        <p:nvPicPr>
          <p:cNvPr id="19" name="Picture 12" descr="Coordinator Icon Images – Browse 1,490 Stock Photos, Vectors, and Video |  Adobe Stock">
            <a:extLst>
              <a:ext uri="{FF2B5EF4-FFF2-40B4-BE49-F238E27FC236}">
                <a16:creationId xmlns:a16="http://schemas.microsoft.com/office/drawing/2014/main" id="{A13D47F1-EA5B-3783-DBDB-3DE0CFE90BBE}"/>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l="9557" t="6229" r="-1194" b="15923"/>
          <a:stretch/>
        </p:blipFill>
        <p:spPr bwMode="auto">
          <a:xfrm>
            <a:off x="8606052" y="5151554"/>
            <a:ext cx="430444" cy="365678"/>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pic>
        <p:nvPicPr>
          <p:cNvPr id="20" name="Picture 16" descr="18 Mobile Application Icons Images - Mobile App Icon, Android Mobile App  Icons and Mobile App Icon / Newdesignfile.com">
            <a:extLst>
              <a:ext uri="{FF2B5EF4-FFF2-40B4-BE49-F238E27FC236}">
                <a16:creationId xmlns:a16="http://schemas.microsoft.com/office/drawing/2014/main" id="{871CDD17-5BCB-C42D-3F60-55E3FB3CDCB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382" r="23506"/>
          <a:stretch/>
        </p:blipFill>
        <p:spPr bwMode="auto">
          <a:xfrm>
            <a:off x="3143644" y="4572382"/>
            <a:ext cx="477625" cy="7917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Customers blue flat design web icon Stock Photo - Alamy">
            <a:extLst>
              <a:ext uri="{FF2B5EF4-FFF2-40B4-BE49-F238E27FC236}">
                <a16:creationId xmlns:a16="http://schemas.microsoft.com/office/drawing/2014/main" id="{DDE7BAAA-086B-2139-6FC9-E78D50D3A2F3}"/>
              </a:ext>
            </a:extLst>
          </p:cNvPr>
          <p:cNvPicPr>
            <a:picLocks noChangeAspect="1" noChangeArrowheads="1"/>
          </p:cNvPicPr>
          <p:nvPr/>
        </p:nvPicPr>
        <p:blipFill rotWithShape="1">
          <a:blip r:embed="rId7" cstate="hqprint">
            <a:extLst>
              <a:ext uri="{28A0092B-C50C-407E-A947-70E740481C1C}">
                <a14:useLocalDpi xmlns:a14="http://schemas.microsoft.com/office/drawing/2010/main" val="0"/>
              </a:ext>
            </a:extLst>
          </a:blip>
          <a:srcRect b="8649"/>
          <a:stretch/>
        </p:blipFill>
        <p:spPr bwMode="auto">
          <a:xfrm>
            <a:off x="8316416" y="3534329"/>
            <a:ext cx="462990" cy="452261"/>
          </a:xfrm>
          <a:prstGeom prst="rect">
            <a:avLst/>
          </a:prstGeom>
          <a:noFill/>
          <a:extLst>
            <a:ext uri="{909E8E84-426E-40DD-AFC4-6F175D3DCCD1}">
              <a14:hiddenFill xmlns:a14="http://schemas.microsoft.com/office/drawing/2010/main">
                <a:solidFill>
                  <a:srgbClr val="FFFFFF"/>
                </a:solidFill>
              </a14:hiddenFill>
            </a:ext>
          </a:extLst>
        </p:spPr>
      </p:pic>
      <p:sp>
        <p:nvSpPr>
          <p:cNvPr id="5" name="Flowchart: Multidocument 4">
            <a:extLst>
              <a:ext uri="{FF2B5EF4-FFF2-40B4-BE49-F238E27FC236}">
                <a16:creationId xmlns:a16="http://schemas.microsoft.com/office/drawing/2014/main" id="{4B5191CF-351C-8C37-3965-4BDE9F6DDC66}"/>
              </a:ext>
            </a:extLst>
          </p:cNvPr>
          <p:cNvSpPr/>
          <p:nvPr/>
        </p:nvSpPr>
        <p:spPr>
          <a:xfrm>
            <a:off x="7891438" y="4041121"/>
            <a:ext cx="1144118" cy="687941"/>
          </a:xfrm>
          <a:prstGeom prst="flowChartMultidocumen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Reports/Dashboard</a:t>
            </a:r>
          </a:p>
        </p:txBody>
      </p:sp>
    </p:spTree>
    <p:extLst>
      <p:ext uri="{BB962C8B-B14F-4D97-AF65-F5344CB8AC3E}">
        <p14:creationId xmlns:p14="http://schemas.microsoft.com/office/powerpoint/2010/main" val="1236109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976A8FD0-4060-4308-B8BF-7F61222B08C8}"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3180A74D-974E-4339-B9C0-5A861C2528B8}" type="slidenum">
              <a:rPr lang="en-GB" smtClean="0"/>
              <a:pPr>
                <a:defRPr/>
              </a:pPr>
              <a:t>14</a:t>
            </a:fld>
            <a:endParaRPr lang="en-GB"/>
          </a:p>
        </p:txBody>
      </p:sp>
      <p:sp>
        <p:nvSpPr>
          <p:cNvPr id="10" name="TextBox 4"/>
          <p:cNvSpPr txBox="1">
            <a:spLocks noChangeArrowheads="1"/>
          </p:cNvSpPr>
          <p:nvPr/>
        </p:nvSpPr>
        <p:spPr bwMode="auto">
          <a:xfrm>
            <a:off x="0" y="0"/>
            <a:ext cx="7143750" cy="1323975"/>
          </a:xfrm>
          <a:prstGeom prst="rect">
            <a:avLst/>
          </a:prstGeom>
          <a:noFill/>
          <a:ln w="9525">
            <a:noFill/>
            <a:miter lim="800000"/>
            <a:headEnd/>
            <a:tailEnd/>
          </a:ln>
        </p:spPr>
        <p:txBody>
          <a:bodyPr>
            <a:spAutoFit/>
          </a:bodyPr>
          <a:lstStyle/>
          <a:p>
            <a:pPr>
              <a:defRPr/>
            </a:pPr>
            <a:r>
              <a:rPr lang="en-US" sz="3200" b="1">
                <a:solidFill>
                  <a:srgbClr val="6775FD"/>
                </a:solidFill>
                <a:latin typeface="+mj-lt"/>
              </a:rPr>
              <a:t>Field Engineer Performance</a:t>
            </a:r>
          </a:p>
          <a:p>
            <a:pPr>
              <a:defRPr/>
            </a:pPr>
            <a:r>
              <a:rPr lang="en-US" sz="2000" b="1">
                <a:solidFill>
                  <a:srgbClr val="FF6A47"/>
                </a:solidFill>
                <a:latin typeface="+mj-lt"/>
              </a:rPr>
              <a:t>Capture real-time performance of your engineers</a:t>
            </a:r>
            <a:endParaRPr lang="en-US" sz="3200" b="1">
              <a:solidFill>
                <a:srgbClr val="FF6A47"/>
              </a:solidFill>
              <a:latin typeface="+mj-lt"/>
            </a:endParaRPr>
          </a:p>
          <a:p>
            <a:pPr>
              <a:defRPr/>
            </a:pPr>
            <a:endParaRPr lang="en-US" sz="2800">
              <a:solidFill>
                <a:srgbClr val="6775FD"/>
              </a:solidFill>
              <a:latin typeface="+mj-lt"/>
            </a:endParaRPr>
          </a:p>
        </p:txBody>
      </p:sp>
      <p:pic>
        <p:nvPicPr>
          <p:cNvPr id="23557" name="Picture 4" descr="mobile_update.png"/>
          <p:cNvPicPr>
            <a:picLocks noChangeAspect="1"/>
          </p:cNvPicPr>
          <p:nvPr/>
        </p:nvPicPr>
        <p:blipFill>
          <a:blip r:embed="rId2"/>
          <a:srcRect/>
          <a:stretch>
            <a:fillRect/>
          </a:stretch>
        </p:blipFill>
        <p:spPr bwMode="auto">
          <a:xfrm>
            <a:off x="428625" y="4071938"/>
            <a:ext cx="2143125" cy="1558925"/>
          </a:xfrm>
          <a:prstGeom prst="rect">
            <a:avLst/>
          </a:prstGeom>
          <a:noFill/>
          <a:ln w="9525">
            <a:noFill/>
            <a:miter lim="800000"/>
            <a:headEnd/>
            <a:tailEnd/>
          </a:ln>
        </p:spPr>
      </p:pic>
      <p:sp>
        <p:nvSpPr>
          <p:cNvPr id="7" name="Rounded Rectangle 6"/>
          <p:cNvSpPr/>
          <p:nvPr/>
        </p:nvSpPr>
        <p:spPr>
          <a:xfrm>
            <a:off x="142875" y="2786063"/>
            <a:ext cx="8715375" cy="3286125"/>
          </a:xfrm>
          <a:prstGeom prst="roundRect">
            <a:avLst/>
          </a:prstGeom>
          <a:noFill/>
          <a:ln w="285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23559" name="Picture 2"/>
          <p:cNvPicPr>
            <a:picLocks noChangeAspect="1" noChangeArrowheads="1"/>
          </p:cNvPicPr>
          <p:nvPr/>
        </p:nvPicPr>
        <p:blipFill>
          <a:blip r:embed="rId3"/>
          <a:srcRect/>
          <a:stretch>
            <a:fillRect/>
          </a:stretch>
        </p:blipFill>
        <p:spPr bwMode="auto">
          <a:xfrm>
            <a:off x="185738" y="3222625"/>
            <a:ext cx="1385887" cy="563563"/>
          </a:xfrm>
          <a:prstGeom prst="rect">
            <a:avLst/>
          </a:prstGeom>
          <a:noFill/>
          <a:ln w="9525">
            <a:noFill/>
            <a:miter lim="800000"/>
            <a:headEnd/>
            <a:tailEnd/>
          </a:ln>
        </p:spPr>
      </p:pic>
      <p:pic>
        <p:nvPicPr>
          <p:cNvPr id="23560" name="Picture 3"/>
          <p:cNvPicPr>
            <a:picLocks noChangeAspect="1" noChangeArrowheads="1"/>
          </p:cNvPicPr>
          <p:nvPr/>
        </p:nvPicPr>
        <p:blipFill>
          <a:blip r:embed="rId4"/>
          <a:srcRect/>
          <a:stretch>
            <a:fillRect/>
          </a:stretch>
        </p:blipFill>
        <p:spPr bwMode="auto">
          <a:xfrm>
            <a:off x="2857500" y="5572125"/>
            <a:ext cx="1300163" cy="487363"/>
          </a:xfrm>
          <a:prstGeom prst="rect">
            <a:avLst/>
          </a:prstGeom>
          <a:noFill/>
          <a:ln w="9525">
            <a:noFill/>
            <a:miter lim="800000"/>
            <a:headEnd/>
            <a:tailEnd/>
          </a:ln>
        </p:spPr>
      </p:pic>
      <p:cxnSp>
        <p:nvCxnSpPr>
          <p:cNvPr id="11" name="Straight Arrow Connector 10"/>
          <p:cNvCxnSpPr/>
          <p:nvPr/>
        </p:nvCxnSpPr>
        <p:spPr>
          <a:xfrm rot="10800000">
            <a:off x="2619375" y="3519488"/>
            <a:ext cx="1381125" cy="349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a:off x="1726406" y="3631407"/>
            <a:ext cx="214313" cy="6667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3563" name="Picture 4"/>
          <p:cNvPicPr>
            <a:picLocks noChangeAspect="1" noChangeArrowheads="1"/>
          </p:cNvPicPr>
          <p:nvPr/>
        </p:nvPicPr>
        <p:blipFill>
          <a:blip r:embed="rId5"/>
          <a:srcRect/>
          <a:stretch>
            <a:fillRect/>
          </a:stretch>
        </p:blipFill>
        <p:spPr bwMode="auto">
          <a:xfrm>
            <a:off x="1714500" y="3181350"/>
            <a:ext cx="904875" cy="676275"/>
          </a:xfrm>
          <a:prstGeom prst="rect">
            <a:avLst/>
          </a:prstGeom>
          <a:noFill/>
          <a:ln w="9525">
            <a:noFill/>
            <a:miter lim="800000"/>
            <a:headEnd/>
            <a:tailEnd/>
          </a:ln>
        </p:spPr>
      </p:pic>
      <p:pic>
        <p:nvPicPr>
          <p:cNvPr id="23564" name="Picture 5"/>
          <p:cNvPicPr>
            <a:picLocks noChangeAspect="1" noChangeArrowheads="1"/>
          </p:cNvPicPr>
          <p:nvPr/>
        </p:nvPicPr>
        <p:blipFill>
          <a:blip r:embed="rId6"/>
          <a:srcRect/>
          <a:stretch>
            <a:fillRect/>
          </a:stretch>
        </p:blipFill>
        <p:spPr bwMode="auto">
          <a:xfrm>
            <a:off x="4095750" y="3100388"/>
            <a:ext cx="952500" cy="657225"/>
          </a:xfrm>
          <a:prstGeom prst="rect">
            <a:avLst/>
          </a:prstGeom>
          <a:noFill/>
          <a:ln w="9525">
            <a:noFill/>
            <a:miter lim="800000"/>
            <a:headEnd/>
            <a:tailEnd/>
          </a:ln>
        </p:spPr>
      </p:pic>
      <p:cxnSp>
        <p:nvCxnSpPr>
          <p:cNvPr id="15" name="Straight Arrow Connector 14"/>
          <p:cNvCxnSpPr/>
          <p:nvPr/>
        </p:nvCxnSpPr>
        <p:spPr>
          <a:xfrm flipV="1">
            <a:off x="2571750" y="4819650"/>
            <a:ext cx="911225" cy="317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566" name="TextBox 15"/>
          <p:cNvSpPr txBox="1">
            <a:spLocks noChangeArrowheads="1"/>
          </p:cNvSpPr>
          <p:nvPr/>
        </p:nvSpPr>
        <p:spPr bwMode="auto">
          <a:xfrm>
            <a:off x="2643188" y="4929188"/>
            <a:ext cx="842962" cy="261937"/>
          </a:xfrm>
          <a:prstGeom prst="rect">
            <a:avLst/>
          </a:prstGeom>
          <a:noFill/>
          <a:ln w="9525">
            <a:noFill/>
            <a:miter lim="800000"/>
            <a:headEnd/>
            <a:tailEnd/>
          </a:ln>
        </p:spPr>
        <p:txBody>
          <a:bodyPr wrap="none">
            <a:spAutoFit/>
          </a:bodyPr>
          <a:lstStyle/>
          <a:p>
            <a:r>
              <a:rPr lang="en-US" sz="1100"/>
              <a:t>FSR , JSA</a:t>
            </a:r>
            <a:endParaRPr lang="en-IN" sz="1200"/>
          </a:p>
        </p:txBody>
      </p:sp>
      <p:pic>
        <p:nvPicPr>
          <p:cNvPr id="23567" name="Picture 2"/>
          <p:cNvPicPr>
            <a:picLocks noChangeAspect="1" noChangeArrowheads="1"/>
          </p:cNvPicPr>
          <p:nvPr/>
        </p:nvPicPr>
        <p:blipFill>
          <a:blip r:embed="rId7"/>
          <a:srcRect/>
          <a:stretch>
            <a:fillRect/>
          </a:stretch>
        </p:blipFill>
        <p:spPr bwMode="auto">
          <a:xfrm>
            <a:off x="4714875" y="5143500"/>
            <a:ext cx="638175" cy="762000"/>
          </a:xfrm>
          <a:prstGeom prst="rect">
            <a:avLst/>
          </a:prstGeom>
          <a:noFill/>
          <a:ln w="9525">
            <a:noFill/>
            <a:miter lim="800000"/>
            <a:headEnd/>
            <a:tailEnd/>
          </a:ln>
        </p:spPr>
      </p:pic>
      <p:cxnSp>
        <p:nvCxnSpPr>
          <p:cNvPr id="18" name="Straight Connector 17"/>
          <p:cNvCxnSpPr/>
          <p:nvPr/>
        </p:nvCxnSpPr>
        <p:spPr>
          <a:xfrm rot="5400000">
            <a:off x="4072732" y="4499769"/>
            <a:ext cx="2857500" cy="158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3569" name="TextBox 18"/>
          <p:cNvSpPr txBox="1">
            <a:spLocks noChangeArrowheads="1"/>
          </p:cNvSpPr>
          <p:nvPr/>
        </p:nvSpPr>
        <p:spPr bwMode="auto">
          <a:xfrm>
            <a:off x="5795963" y="4310063"/>
            <a:ext cx="776287" cy="261937"/>
          </a:xfrm>
          <a:prstGeom prst="rect">
            <a:avLst/>
          </a:prstGeom>
          <a:noFill/>
          <a:ln w="9525">
            <a:noFill/>
            <a:miter lim="800000"/>
            <a:headEnd/>
            <a:tailEnd/>
          </a:ln>
        </p:spPr>
        <p:txBody>
          <a:bodyPr wrap="none">
            <a:spAutoFit/>
          </a:bodyPr>
          <a:lstStyle/>
          <a:p>
            <a:r>
              <a:rPr lang="en-US" sz="1100"/>
              <a:t>Call View</a:t>
            </a:r>
            <a:endParaRPr lang="en-IN" sz="1100"/>
          </a:p>
        </p:txBody>
      </p:sp>
      <p:sp>
        <p:nvSpPr>
          <p:cNvPr id="23570" name="TextBox 19"/>
          <p:cNvSpPr txBox="1">
            <a:spLocks noChangeArrowheads="1"/>
          </p:cNvSpPr>
          <p:nvPr/>
        </p:nvSpPr>
        <p:spPr bwMode="auto">
          <a:xfrm>
            <a:off x="6115050" y="5570538"/>
            <a:ext cx="1671638" cy="430212"/>
          </a:xfrm>
          <a:prstGeom prst="rect">
            <a:avLst/>
          </a:prstGeom>
          <a:noFill/>
          <a:ln w="9525">
            <a:noFill/>
            <a:miter lim="800000"/>
            <a:headEnd/>
            <a:tailEnd/>
          </a:ln>
        </p:spPr>
        <p:txBody>
          <a:bodyPr wrap="none">
            <a:spAutoFit/>
          </a:bodyPr>
          <a:lstStyle/>
          <a:p>
            <a:r>
              <a:rPr lang="en-US" sz="1100"/>
              <a:t>Engineer Performance, </a:t>
            </a:r>
          </a:p>
          <a:p>
            <a:r>
              <a:rPr lang="en-US" sz="1100"/>
              <a:t>Attendance, </a:t>
            </a:r>
            <a:r>
              <a:rPr lang="en-US" sz="1100" err="1"/>
              <a:t>Utilisation</a:t>
            </a:r>
            <a:endParaRPr lang="en-IN" sz="1100" err="1"/>
          </a:p>
        </p:txBody>
      </p:sp>
      <p:pic>
        <p:nvPicPr>
          <p:cNvPr id="23571" name="Picture 4"/>
          <p:cNvPicPr>
            <a:picLocks noChangeAspect="1" noChangeArrowheads="1"/>
          </p:cNvPicPr>
          <p:nvPr/>
        </p:nvPicPr>
        <p:blipFill>
          <a:blip r:embed="rId8"/>
          <a:srcRect/>
          <a:stretch>
            <a:fillRect/>
          </a:stretch>
        </p:blipFill>
        <p:spPr bwMode="auto">
          <a:xfrm>
            <a:off x="5715000" y="3298825"/>
            <a:ext cx="962025" cy="1011238"/>
          </a:xfrm>
          <a:prstGeom prst="rect">
            <a:avLst/>
          </a:prstGeom>
          <a:noFill/>
          <a:ln w="9525">
            <a:noFill/>
            <a:miter lim="800000"/>
            <a:headEnd/>
            <a:tailEnd/>
          </a:ln>
        </p:spPr>
      </p:pic>
      <p:pic>
        <p:nvPicPr>
          <p:cNvPr id="23572" name="Picture 7"/>
          <p:cNvPicPr>
            <a:picLocks noChangeAspect="1" noChangeArrowheads="1"/>
          </p:cNvPicPr>
          <p:nvPr/>
        </p:nvPicPr>
        <p:blipFill>
          <a:blip r:embed="rId9"/>
          <a:srcRect/>
          <a:stretch>
            <a:fillRect/>
          </a:stretch>
        </p:blipFill>
        <p:spPr bwMode="auto">
          <a:xfrm>
            <a:off x="7059613" y="3381375"/>
            <a:ext cx="1512887" cy="850900"/>
          </a:xfrm>
          <a:prstGeom prst="rect">
            <a:avLst/>
          </a:prstGeom>
          <a:noFill/>
          <a:ln w="9525">
            <a:noFill/>
            <a:miter lim="800000"/>
            <a:headEnd/>
            <a:tailEnd/>
          </a:ln>
        </p:spPr>
      </p:pic>
      <p:sp>
        <p:nvSpPr>
          <p:cNvPr id="23573" name="TextBox 22"/>
          <p:cNvSpPr txBox="1">
            <a:spLocks noChangeArrowheads="1"/>
          </p:cNvSpPr>
          <p:nvPr/>
        </p:nvSpPr>
        <p:spPr bwMode="auto">
          <a:xfrm>
            <a:off x="7215188" y="4310063"/>
            <a:ext cx="1022350" cy="261937"/>
          </a:xfrm>
          <a:prstGeom prst="rect">
            <a:avLst/>
          </a:prstGeom>
          <a:noFill/>
          <a:ln w="9525">
            <a:noFill/>
            <a:miter lim="800000"/>
            <a:headEnd/>
            <a:tailEnd/>
          </a:ln>
        </p:spPr>
        <p:txBody>
          <a:bodyPr wrap="none">
            <a:spAutoFit/>
          </a:bodyPr>
          <a:lstStyle/>
          <a:p>
            <a:r>
              <a:rPr lang="en-US" sz="1100"/>
              <a:t>Geo Location</a:t>
            </a:r>
            <a:endParaRPr lang="en-IN" sz="1100"/>
          </a:p>
        </p:txBody>
      </p:sp>
      <p:pic>
        <p:nvPicPr>
          <p:cNvPr id="23574" name="Picture 8"/>
          <p:cNvPicPr>
            <a:picLocks noChangeAspect="1" noChangeArrowheads="1"/>
          </p:cNvPicPr>
          <p:nvPr/>
        </p:nvPicPr>
        <p:blipFill>
          <a:blip r:embed="rId10"/>
          <a:srcRect/>
          <a:stretch>
            <a:fillRect/>
          </a:stretch>
        </p:blipFill>
        <p:spPr bwMode="auto">
          <a:xfrm>
            <a:off x="6357938" y="4614863"/>
            <a:ext cx="1114425" cy="957262"/>
          </a:xfrm>
          <a:prstGeom prst="rect">
            <a:avLst/>
          </a:prstGeom>
          <a:noFill/>
          <a:ln w="9525">
            <a:noFill/>
            <a:miter lim="800000"/>
            <a:headEnd/>
            <a:tailEnd/>
          </a:ln>
        </p:spPr>
      </p:pic>
      <p:sp>
        <p:nvSpPr>
          <p:cNvPr id="23575" name="TextBox 24"/>
          <p:cNvSpPr txBox="1">
            <a:spLocks noChangeArrowheads="1"/>
          </p:cNvSpPr>
          <p:nvPr/>
        </p:nvSpPr>
        <p:spPr bwMode="auto">
          <a:xfrm>
            <a:off x="2428875" y="2938463"/>
            <a:ext cx="942975" cy="276225"/>
          </a:xfrm>
          <a:prstGeom prst="rect">
            <a:avLst/>
          </a:prstGeom>
          <a:noFill/>
          <a:ln w="9525">
            <a:noFill/>
            <a:miter lim="800000"/>
            <a:headEnd/>
            <a:tailEnd/>
          </a:ln>
        </p:spPr>
        <p:txBody>
          <a:bodyPr wrap="none">
            <a:spAutoFit/>
          </a:bodyPr>
          <a:lstStyle/>
          <a:p>
            <a:r>
              <a:rPr lang="en-US" sz="1200" u="sng"/>
              <a:t>Mobile App</a:t>
            </a:r>
            <a:endParaRPr lang="en-IN" sz="1200" u="sng"/>
          </a:p>
        </p:txBody>
      </p:sp>
      <p:sp>
        <p:nvSpPr>
          <p:cNvPr id="23576" name="TextBox 25"/>
          <p:cNvSpPr txBox="1">
            <a:spLocks noChangeArrowheads="1"/>
          </p:cNvSpPr>
          <p:nvPr/>
        </p:nvSpPr>
        <p:spPr bwMode="auto">
          <a:xfrm>
            <a:off x="6343650" y="2867025"/>
            <a:ext cx="804863" cy="276225"/>
          </a:xfrm>
          <a:prstGeom prst="rect">
            <a:avLst/>
          </a:prstGeom>
          <a:noFill/>
          <a:ln w="9525">
            <a:noFill/>
            <a:miter lim="800000"/>
            <a:headEnd/>
            <a:tailEnd/>
          </a:ln>
        </p:spPr>
        <p:txBody>
          <a:bodyPr wrap="none">
            <a:spAutoFit/>
          </a:bodyPr>
          <a:lstStyle/>
          <a:p>
            <a:r>
              <a:rPr lang="en-US" sz="1200" u="sng"/>
              <a:t>Web App</a:t>
            </a:r>
            <a:endParaRPr lang="en-IN" sz="1200" u="sng"/>
          </a:p>
        </p:txBody>
      </p:sp>
      <p:pic>
        <p:nvPicPr>
          <p:cNvPr id="23577" name="Picture 26"/>
          <p:cNvPicPr>
            <a:picLocks noChangeAspect="1" noChangeArrowheads="1"/>
          </p:cNvPicPr>
          <p:nvPr/>
        </p:nvPicPr>
        <p:blipFill>
          <a:blip r:embed="rId11"/>
          <a:srcRect/>
          <a:stretch>
            <a:fillRect/>
          </a:stretch>
        </p:blipFill>
        <p:spPr bwMode="auto">
          <a:xfrm>
            <a:off x="3717925" y="2028825"/>
            <a:ext cx="1068388" cy="900113"/>
          </a:xfrm>
          <a:prstGeom prst="rect">
            <a:avLst/>
          </a:prstGeom>
          <a:solidFill>
            <a:srgbClr val="FF6A47"/>
          </a:solidFill>
          <a:ln w="19050">
            <a:solidFill>
              <a:srgbClr val="FF9B09"/>
            </a:solidFill>
            <a:miter lim="800000"/>
            <a:headEnd/>
            <a:tailEnd/>
          </a:ln>
        </p:spPr>
      </p:pic>
      <p:pic>
        <p:nvPicPr>
          <p:cNvPr id="23578" name="Picture 32"/>
          <p:cNvPicPr>
            <a:picLocks noChangeAspect="1" noChangeArrowheads="1"/>
          </p:cNvPicPr>
          <p:nvPr/>
        </p:nvPicPr>
        <p:blipFill>
          <a:blip r:embed="rId12"/>
          <a:srcRect/>
          <a:stretch>
            <a:fillRect/>
          </a:stretch>
        </p:blipFill>
        <p:spPr bwMode="auto">
          <a:xfrm>
            <a:off x="3500438" y="4286250"/>
            <a:ext cx="866775" cy="1200150"/>
          </a:xfrm>
          <a:prstGeom prst="rect">
            <a:avLst/>
          </a:prstGeom>
          <a:noFill/>
          <a:ln w="9525">
            <a:noFill/>
            <a:miter lim="800000"/>
            <a:headEnd/>
            <a:tailEnd/>
          </a:ln>
        </p:spPr>
      </p:pic>
      <p:pic>
        <p:nvPicPr>
          <p:cNvPr id="3" name="Picture 18" descr="Web App icon from mobile app development collection. Simple line Web App  icon for templates, web design and infographics 18782122 Vector Art at  Vecteezy">
            <a:extLst>
              <a:ext uri="{FF2B5EF4-FFF2-40B4-BE49-F238E27FC236}">
                <a16:creationId xmlns:a16="http://schemas.microsoft.com/office/drawing/2014/main" id="{7EA17212-214A-51AC-A99F-F146F7BAE74C}"/>
              </a:ext>
            </a:extLst>
          </p:cNvPr>
          <p:cNvPicPr>
            <a:picLocks noChangeAspect="1" noChangeArrowheads="1"/>
          </p:cNvPicPr>
          <p:nvPr/>
        </p:nvPicPr>
        <p:blipFill rotWithShape="1">
          <a:blip r:embed="rId13" cstate="hqprint">
            <a:extLst>
              <a:ext uri="{28A0092B-C50C-407E-A947-70E740481C1C}">
                <a14:useLocalDpi xmlns:a14="http://schemas.microsoft.com/office/drawing/2010/main" val="0"/>
              </a:ext>
            </a:extLst>
          </a:blip>
          <a:srcRect l="22193" r="25237" b="10436"/>
          <a:stretch/>
        </p:blipFill>
        <p:spPr bwMode="auto">
          <a:xfrm>
            <a:off x="7816056" y="2441856"/>
            <a:ext cx="603565" cy="629955"/>
          </a:xfrm>
          <a:prstGeom prst="rect">
            <a:avLst/>
          </a:prstGeom>
          <a:noFill/>
          <a:ln w="19050">
            <a:solidFill>
              <a:srgbClr val="00B0F0"/>
            </a:solidFill>
          </a:ln>
          <a:extLst>
            <a:ext uri="{909E8E84-426E-40DD-AFC4-6F175D3DCCD1}">
              <a14:hiddenFill xmlns:a14="http://schemas.microsoft.com/office/drawing/2010/main">
                <a:solidFill>
                  <a:srgbClr val="FFFFFF"/>
                </a:solidFill>
              </a14:hiddenFill>
            </a:ext>
          </a:extLst>
        </p:spPr>
      </p:pic>
      <p:pic>
        <p:nvPicPr>
          <p:cNvPr id="5" name="Picture 16" descr="18 Mobile Application Icons Images - Mobile App Icon, Android Mobile App  Icons and Mobile App Icon / Newdesignfile.com">
            <a:extLst>
              <a:ext uri="{FF2B5EF4-FFF2-40B4-BE49-F238E27FC236}">
                <a16:creationId xmlns:a16="http://schemas.microsoft.com/office/drawing/2014/main" id="{9485F0DF-51E6-D1BA-CC42-627A8D93846D}"/>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27382" r="23506"/>
          <a:stretch/>
        </p:blipFill>
        <p:spPr bwMode="auto">
          <a:xfrm>
            <a:off x="1963844" y="2321886"/>
            <a:ext cx="477625" cy="791724"/>
          </a:xfrm>
          <a:prstGeom prst="rect">
            <a:avLst/>
          </a:prstGeom>
          <a:noFill/>
          <a:ln w="19050">
            <a:solidFill>
              <a:srgbClr val="00B0F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102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976A8FD0-4060-4308-B8BF-7F61222B08C8}" type="datetime1">
              <a:rPr lang="en-GB" smtClean="0"/>
              <a:pPr>
                <a:defRPr/>
              </a:pPr>
              <a:t>12/08/2025</a:t>
            </a:fld>
            <a:endParaRPr lang="en-GB"/>
          </a:p>
        </p:txBody>
      </p:sp>
      <p:sp>
        <p:nvSpPr>
          <p:cNvPr id="4" name="Slide Number Placeholder 3"/>
          <p:cNvSpPr>
            <a:spLocks noGrp="1"/>
          </p:cNvSpPr>
          <p:nvPr>
            <p:ph type="sldNum" sz="quarter" idx="12"/>
          </p:nvPr>
        </p:nvSpPr>
        <p:spPr/>
        <p:txBody>
          <a:bodyPr/>
          <a:lstStyle/>
          <a:p>
            <a:pPr>
              <a:defRPr/>
            </a:pPr>
            <a:fld id="{F241DFC8-A150-45CB-8B64-3B3FD4DA4201}" type="slidenum">
              <a:rPr lang="en-GB" smtClean="0"/>
              <a:pPr>
                <a:defRPr/>
              </a:pPr>
              <a:t>15</a:t>
            </a:fld>
            <a:endParaRPr lang="en-GB"/>
          </a:p>
        </p:txBody>
      </p:sp>
      <p:sp>
        <p:nvSpPr>
          <p:cNvPr id="10" name="TextBox 4"/>
          <p:cNvSpPr txBox="1">
            <a:spLocks noChangeArrowheads="1"/>
          </p:cNvSpPr>
          <p:nvPr/>
        </p:nvSpPr>
        <p:spPr bwMode="auto">
          <a:xfrm>
            <a:off x="6523672" y="-1613699"/>
            <a:ext cx="2596222" cy="2000548"/>
          </a:xfrm>
          <a:prstGeom prst="rect">
            <a:avLst/>
          </a:prstGeom>
          <a:noFill/>
          <a:ln w="9525">
            <a:noFill/>
            <a:miter lim="800000"/>
            <a:headEnd/>
            <a:tailEnd/>
          </a:ln>
        </p:spPr>
        <p:txBody>
          <a:bodyPr wrap="square">
            <a:spAutoFit/>
          </a:bodyPr>
          <a:lstStyle/>
          <a:p>
            <a:pPr>
              <a:defRPr/>
            </a:pPr>
            <a:r>
              <a:rPr lang="en-US" sz="3200" b="1">
                <a:solidFill>
                  <a:srgbClr val="6775FD"/>
                </a:solidFill>
                <a:latin typeface="+mj-lt"/>
              </a:rPr>
              <a:t>Single Engineer Flow – One Visit</a:t>
            </a:r>
          </a:p>
          <a:p>
            <a:pPr>
              <a:defRPr/>
            </a:pPr>
            <a:endParaRPr lang="en-US" sz="2800">
              <a:solidFill>
                <a:srgbClr val="6775FD"/>
              </a:solidFill>
              <a:latin typeface="+mj-lt"/>
            </a:endParaRPr>
          </a:p>
        </p:txBody>
      </p:sp>
      <p:cxnSp>
        <p:nvCxnSpPr>
          <p:cNvPr id="27" name="Straight Connector 26"/>
          <p:cNvCxnSpPr/>
          <p:nvPr/>
        </p:nvCxnSpPr>
        <p:spPr>
          <a:xfrm>
            <a:off x="4419600" y="4800600"/>
            <a:ext cx="0" cy="1219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1038164" y="2895584"/>
            <a:ext cx="1019236"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TRIP START</a:t>
            </a:r>
          </a:p>
        </p:txBody>
      </p:sp>
      <p:sp>
        <p:nvSpPr>
          <p:cNvPr id="29" name="Rounded Rectangle 28"/>
          <p:cNvSpPr/>
          <p:nvPr/>
        </p:nvSpPr>
        <p:spPr>
          <a:xfrm>
            <a:off x="2667000" y="2895584"/>
            <a:ext cx="990600"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TRIP FINISH</a:t>
            </a:r>
          </a:p>
        </p:txBody>
      </p:sp>
      <p:sp>
        <p:nvSpPr>
          <p:cNvPr id="30" name="Rounded Rectangle 29"/>
          <p:cNvSpPr/>
          <p:nvPr/>
        </p:nvSpPr>
        <p:spPr>
          <a:xfrm>
            <a:off x="7286644" y="4195754"/>
            <a:ext cx="914400"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WORK FINISH</a:t>
            </a:r>
          </a:p>
        </p:txBody>
      </p:sp>
      <p:cxnSp>
        <p:nvCxnSpPr>
          <p:cNvPr id="32" name="Straight Arrow Connector 31"/>
          <p:cNvCxnSpPr/>
          <p:nvPr/>
        </p:nvCxnSpPr>
        <p:spPr>
          <a:xfrm>
            <a:off x="2057400" y="3200400"/>
            <a:ext cx="6096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a:endCxn id="53" idx="1"/>
          </p:cNvCxnSpPr>
          <p:nvPr/>
        </p:nvCxnSpPr>
        <p:spPr>
          <a:xfrm flipV="1">
            <a:off x="3657600" y="3200384"/>
            <a:ext cx="2105044" cy="1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4" name="Shape 40"/>
          <p:cNvCxnSpPr/>
          <p:nvPr/>
        </p:nvCxnSpPr>
        <p:spPr>
          <a:xfrm>
            <a:off x="6786563" y="3195638"/>
            <a:ext cx="1366837" cy="1300162"/>
          </a:xfrm>
          <a:prstGeom prst="bentConnector3">
            <a:avLst>
              <a:gd name="adj1" fmla="val 119024"/>
            </a:avLst>
          </a:prstGeom>
          <a:ln>
            <a:tailEnd type="arrow"/>
          </a:ln>
        </p:spPr>
        <p:style>
          <a:lnRef idx="2">
            <a:schemeClr val="dk1"/>
          </a:lnRef>
          <a:fillRef idx="0">
            <a:schemeClr val="dk1"/>
          </a:fillRef>
          <a:effectRef idx="1">
            <a:schemeClr val="dk1"/>
          </a:effectRef>
          <a:fontRef idx="minor">
            <a:schemeClr val="tx1"/>
          </a:fontRef>
        </p:style>
      </p:cxnSp>
      <p:sp>
        <p:nvSpPr>
          <p:cNvPr id="35" name="Rounded Rectangle 34"/>
          <p:cNvSpPr/>
          <p:nvPr/>
        </p:nvSpPr>
        <p:spPr>
          <a:xfrm>
            <a:off x="2667000" y="4190984"/>
            <a:ext cx="1143000"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TRIP START</a:t>
            </a:r>
          </a:p>
        </p:txBody>
      </p:sp>
      <p:sp>
        <p:nvSpPr>
          <p:cNvPr id="36" name="Rounded Rectangle 35"/>
          <p:cNvSpPr/>
          <p:nvPr/>
        </p:nvSpPr>
        <p:spPr>
          <a:xfrm>
            <a:off x="990600" y="4190984"/>
            <a:ext cx="1066800"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TRIP FINISH</a:t>
            </a:r>
          </a:p>
        </p:txBody>
      </p:sp>
      <p:cxnSp>
        <p:nvCxnSpPr>
          <p:cNvPr id="37" name="Straight Arrow Connector 36"/>
          <p:cNvCxnSpPr/>
          <p:nvPr/>
        </p:nvCxnSpPr>
        <p:spPr>
          <a:xfrm flipH="1">
            <a:off x="3810000" y="4495800"/>
            <a:ext cx="5334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8" name="Straight Arrow Connector 37"/>
          <p:cNvCxnSpPr/>
          <p:nvPr/>
        </p:nvCxnSpPr>
        <p:spPr>
          <a:xfrm flipH="1">
            <a:off x="2057400" y="4495800"/>
            <a:ext cx="6096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363" name="TextBox 38"/>
          <p:cNvSpPr txBox="1">
            <a:spLocks noChangeArrowheads="1"/>
          </p:cNvSpPr>
          <p:nvPr/>
        </p:nvSpPr>
        <p:spPr bwMode="auto">
          <a:xfrm>
            <a:off x="5638800" y="2057400"/>
            <a:ext cx="1333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charset="0"/>
                <a:ea typeface="Arial Unicode MS" pitchFamily="34" charset="-128"/>
                <a:cs typeface="Arial Unicode MS" pitchFamily="34" charset="-128"/>
              </a:defRPr>
            </a:lvl1pPr>
            <a:lvl2pPr marL="742950" indent="-285750" eaLnBrk="0" hangingPunct="0">
              <a:defRPr sz="1400">
                <a:solidFill>
                  <a:schemeClr val="tx1"/>
                </a:solidFill>
                <a:latin typeface="Arial" charset="0"/>
                <a:ea typeface="Arial Unicode MS" pitchFamily="34" charset="-128"/>
                <a:cs typeface="Arial Unicode MS" pitchFamily="34" charset="-128"/>
              </a:defRPr>
            </a:lvl2pPr>
            <a:lvl3pPr marL="1143000" indent="-228600" eaLnBrk="0" hangingPunct="0">
              <a:defRPr sz="1400">
                <a:solidFill>
                  <a:schemeClr val="tx1"/>
                </a:solidFill>
                <a:latin typeface="Arial" charset="0"/>
                <a:ea typeface="Arial Unicode MS" pitchFamily="34" charset="-128"/>
                <a:cs typeface="Arial Unicode MS" pitchFamily="34" charset="-128"/>
              </a:defRPr>
            </a:lvl3pPr>
            <a:lvl4pPr marL="1600200" indent="-228600" eaLnBrk="0" hangingPunct="0">
              <a:defRPr sz="1400">
                <a:solidFill>
                  <a:schemeClr val="tx1"/>
                </a:solidFill>
                <a:latin typeface="Arial" charset="0"/>
                <a:ea typeface="Arial Unicode MS" pitchFamily="34" charset="-128"/>
                <a:cs typeface="Arial Unicode MS" pitchFamily="34" charset="-128"/>
              </a:defRPr>
            </a:lvl4pPr>
            <a:lvl5pPr marL="2057400" indent="-228600" eaLnBrk="0" hangingPunct="0">
              <a:defRPr sz="1400">
                <a:solidFill>
                  <a:schemeClr val="tx1"/>
                </a:solidFill>
                <a:latin typeface="Arial" charset="0"/>
                <a:ea typeface="Arial Unicode MS" pitchFamily="34" charset="-128"/>
                <a:cs typeface="Arial Unicode MS" pitchFamily="34" charset="-128"/>
              </a:defRPr>
            </a:lvl5pPr>
            <a:lvl6pPr marL="25146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6pPr>
            <a:lvl7pPr marL="29718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7pPr>
            <a:lvl8pPr marL="34290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8pPr>
            <a:lvl9pPr marL="38862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9pPr>
          </a:lstStyle>
          <a:p>
            <a:pPr eaLnBrk="1" hangingPunct="1"/>
            <a:r>
              <a:rPr lang="en-US" sz="1600" b="1" i="1"/>
              <a:t>IN-PROGRESS</a:t>
            </a:r>
          </a:p>
        </p:txBody>
      </p:sp>
      <p:sp>
        <p:nvSpPr>
          <p:cNvPr id="14364" name="TextBox 39"/>
          <p:cNvSpPr txBox="1">
            <a:spLocks noChangeArrowheads="1"/>
          </p:cNvSpPr>
          <p:nvPr/>
        </p:nvSpPr>
        <p:spPr bwMode="auto">
          <a:xfrm>
            <a:off x="962025" y="2057400"/>
            <a:ext cx="10525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charset="0"/>
                <a:ea typeface="Arial Unicode MS" pitchFamily="34" charset="-128"/>
                <a:cs typeface="Arial Unicode MS" pitchFamily="34" charset="-128"/>
              </a:defRPr>
            </a:lvl1pPr>
            <a:lvl2pPr marL="742950" indent="-285750" eaLnBrk="0" hangingPunct="0">
              <a:defRPr sz="1400">
                <a:solidFill>
                  <a:schemeClr val="tx1"/>
                </a:solidFill>
                <a:latin typeface="Arial" charset="0"/>
                <a:ea typeface="Arial Unicode MS" pitchFamily="34" charset="-128"/>
                <a:cs typeface="Arial Unicode MS" pitchFamily="34" charset="-128"/>
              </a:defRPr>
            </a:lvl2pPr>
            <a:lvl3pPr marL="1143000" indent="-228600" eaLnBrk="0" hangingPunct="0">
              <a:defRPr sz="1400">
                <a:solidFill>
                  <a:schemeClr val="tx1"/>
                </a:solidFill>
                <a:latin typeface="Arial" charset="0"/>
                <a:ea typeface="Arial Unicode MS" pitchFamily="34" charset="-128"/>
                <a:cs typeface="Arial Unicode MS" pitchFamily="34" charset="-128"/>
              </a:defRPr>
            </a:lvl3pPr>
            <a:lvl4pPr marL="1600200" indent="-228600" eaLnBrk="0" hangingPunct="0">
              <a:defRPr sz="1400">
                <a:solidFill>
                  <a:schemeClr val="tx1"/>
                </a:solidFill>
                <a:latin typeface="Arial" charset="0"/>
                <a:ea typeface="Arial Unicode MS" pitchFamily="34" charset="-128"/>
                <a:cs typeface="Arial Unicode MS" pitchFamily="34" charset="-128"/>
              </a:defRPr>
            </a:lvl4pPr>
            <a:lvl5pPr marL="2057400" indent="-228600" eaLnBrk="0" hangingPunct="0">
              <a:defRPr sz="1400">
                <a:solidFill>
                  <a:schemeClr val="tx1"/>
                </a:solidFill>
                <a:latin typeface="Arial" charset="0"/>
                <a:ea typeface="Arial Unicode MS" pitchFamily="34" charset="-128"/>
                <a:cs typeface="Arial Unicode MS" pitchFamily="34" charset="-128"/>
              </a:defRPr>
            </a:lvl5pPr>
            <a:lvl6pPr marL="25146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6pPr>
            <a:lvl7pPr marL="29718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7pPr>
            <a:lvl8pPr marL="34290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8pPr>
            <a:lvl9pPr marL="38862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9pPr>
          </a:lstStyle>
          <a:p>
            <a:pPr eaLnBrk="1" hangingPunct="1"/>
            <a:r>
              <a:rPr lang="en-US" sz="1600" b="1" i="1"/>
              <a:t>ASSIGNED</a:t>
            </a:r>
          </a:p>
        </p:txBody>
      </p:sp>
      <p:cxnSp>
        <p:nvCxnSpPr>
          <p:cNvPr id="41" name="Straight Connector 40"/>
          <p:cNvCxnSpPr/>
          <p:nvPr/>
        </p:nvCxnSpPr>
        <p:spPr>
          <a:xfrm>
            <a:off x="5334000" y="1828800"/>
            <a:ext cx="0" cy="990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962025" y="1828800"/>
            <a:ext cx="28575" cy="838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00335" y="2895584"/>
            <a:ext cx="461665" cy="1981200"/>
          </a:xfrm>
          <a:prstGeom prst="rect">
            <a:avLst/>
          </a:prstGeom>
          <a:solidFill>
            <a:schemeClr val="accent5">
              <a:lumMod val="60000"/>
              <a:lumOff val="40000"/>
            </a:schemeClr>
          </a:solidFill>
        </p:spPr>
        <p:txBody>
          <a:bodyPr vert="vert270">
            <a:spAutoFit/>
          </a:bodyPr>
          <a:lstStyle/>
          <a:p>
            <a:pPr>
              <a:defRPr/>
            </a:pPr>
            <a:r>
              <a:rPr lang="en-US" b="1">
                <a:solidFill>
                  <a:schemeClr val="accent2">
                    <a:lumMod val="50000"/>
                  </a:schemeClr>
                </a:solidFill>
              </a:rPr>
              <a:t>       SRN STATUS</a:t>
            </a:r>
          </a:p>
        </p:txBody>
      </p:sp>
      <p:sp>
        <p:nvSpPr>
          <p:cNvPr id="44" name="Rounded Rectangle 43"/>
          <p:cNvSpPr/>
          <p:nvPr/>
        </p:nvSpPr>
        <p:spPr>
          <a:xfrm>
            <a:off x="733425" y="2590800"/>
            <a:ext cx="8001000" cy="2819400"/>
          </a:xfrm>
          <a:prstGeom prst="round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5" name="Rounded Rectangle 44"/>
          <p:cNvSpPr/>
          <p:nvPr/>
        </p:nvSpPr>
        <p:spPr>
          <a:xfrm>
            <a:off x="276225" y="1828800"/>
            <a:ext cx="8791575" cy="4191000"/>
          </a:xfrm>
          <a:prstGeom prst="roundRect">
            <a:avLst/>
          </a:prstGeom>
          <a:noFill/>
          <a:ln w="571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46" name="Straight Arrow Connector 45"/>
          <p:cNvCxnSpPr/>
          <p:nvPr/>
        </p:nvCxnSpPr>
        <p:spPr>
          <a:xfrm>
            <a:off x="5181600" y="2209800"/>
            <a:ext cx="3810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7" name="Rounded Rectangle 46"/>
          <p:cNvSpPr/>
          <p:nvPr/>
        </p:nvSpPr>
        <p:spPr>
          <a:xfrm>
            <a:off x="4343400" y="4190984"/>
            <a:ext cx="1066800"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SRN FINISH</a:t>
            </a:r>
          </a:p>
        </p:txBody>
      </p:sp>
      <p:cxnSp>
        <p:nvCxnSpPr>
          <p:cNvPr id="48" name="Straight Arrow Connector 47"/>
          <p:cNvCxnSpPr>
            <a:stCxn id="55" idx="2"/>
          </p:cNvCxnSpPr>
          <p:nvPr/>
        </p:nvCxnSpPr>
        <p:spPr>
          <a:xfrm rot="10800000">
            <a:off x="5410200" y="4495800"/>
            <a:ext cx="519113" cy="142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9" name="TextBox 48"/>
          <p:cNvSpPr txBox="1"/>
          <p:nvPr/>
        </p:nvSpPr>
        <p:spPr>
          <a:xfrm>
            <a:off x="3352800" y="5029200"/>
            <a:ext cx="3048000" cy="369888"/>
          </a:xfrm>
          <a:prstGeom prst="rect">
            <a:avLst/>
          </a:prstGeom>
          <a:solidFill>
            <a:schemeClr val="accent5">
              <a:lumMod val="60000"/>
              <a:lumOff val="40000"/>
            </a:schemeClr>
          </a:solidFill>
        </p:spPr>
        <p:txBody>
          <a:bodyPr>
            <a:spAutoFit/>
          </a:bodyPr>
          <a:lstStyle/>
          <a:p>
            <a:pPr>
              <a:defRPr/>
            </a:pPr>
            <a:r>
              <a:rPr lang="en-US" b="1">
                <a:solidFill>
                  <a:schemeClr val="accent2">
                    <a:lumMod val="50000"/>
                  </a:schemeClr>
                </a:solidFill>
              </a:rPr>
              <a:t>   ENGINEER PERFORMANCE</a:t>
            </a:r>
          </a:p>
        </p:txBody>
      </p:sp>
      <p:cxnSp>
        <p:nvCxnSpPr>
          <p:cNvPr id="50" name="Straight Arrow Connector 49"/>
          <p:cNvCxnSpPr/>
          <p:nvPr/>
        </p:nvCxnSpPr>
        <p:spPr>
          <a:xfrm flipH="1">
            <a:off x="4267200" y="5638800"/>
            <a:ext cx="3048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377" name="TextBox 50"/>
          <p:cNvSpPr txBox="1">
            <a:spLocks noChangeArrowheads="1"/>
          </p:cNvSpPr>
          <p:nvPr/>
        </p:nvSpPr>
        <p:spPr bwMode="auto">
          <a:xfrm>
            <a:off x="2819400" y="5486400"/>
            <a:ext cx="1828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Unicode MS" pitchFamily="34" charset="-128"/>
                <a:cs typeface="Arial Unicode MS" pitchFamily="34" charset="-128"/>
              </a:defRPr>
            </a:lvl1pPr>
            <a:lvl2pPr marL="742950" indent="-285750" eaLnBrk="0" hangingPunct="0">
              <a:defRPr sz="1400">
                <a:solidFill>
                  <a:schemeClr val="tx1"/>
                </a:solidFill>
                <a:latin typeface="Arial" charset="0"/>
                <a:ea typeface="Arial Unicode MS" pitchFamily="34" charset="-128"/>
                <a:cs typeface="Arial Unicode MS" pitchFamily="34" charset="-128"/>
              </a:defRPr>
            </a:lvl2pPr>
            <a:lvl3pPr marL="1143000" indent="-228600" eaLnBrk="0" hangingPunct="0">
              <a:defRPr sz="1400">
                <a:solidFill>
                  <a:schemeClr val="tx1"/>
                </a:solidFill>
                <a:latin typeface="Arial" charset="0"/>
                <a:ea typeface="Arial Unicode MS" pitchFamily="34" charset="-128"/>
                <a:cs typeface="Arial Unicode MS" pitchFamily="34" charset="-128"/>
              </a:defRPr>
            </a:lvl3pPr>
            <a:lvl4pPr marL="1600200" indent="-228600" eaLnBrk="0" hangingPunct="0">
              <a:defRPr sz="1400">
                <a:solidFill>
                  <a:schemeClr val="tx1"/>
                </a:solidFill>
                <a:latin typeface="Arial" charset="0"/>
                <a:ea typeface="Arial Unicode MS" pitchFamily="34" charset="-128"/>
                <a:cs typeface="Arial Unicode MS" pitchFamily="34" charset="-128"/>
              </a:defRPr>
            </a:lvl4pPr>
            <a:lvl5pPr marL="2057400" indent="-228600" eaLnBrk="0" hangingPunct="0">
              <a:defRPr sz="1400">
                <a:solidFill>
                  <a:schemeClr val="tx1"/>
                </a:solidFill>
                <a:latin typeface="Arial" charset="0"/>
                <a:ea typeface="Arial Unicode MS" pitchFamily="34" charset="-128"/>
                <a:cs typeface="Arial Unicode MS" pitchFamily="34" charset="-128"/>
              </a:defRPr>
            </a:lvl5pPr>
            <a:lvl6pPr marL="25146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6pPr>
            <a:lvl7pPr marL="29718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7pPr>
            <a:lvl8pPr marL="34290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8pPr>
            <a:lvl9pPr marL="38862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9pPr>
          </a:lstStyle>
          <a:p>
            <a:pPr eaLnBrk="1" hangingPunct="1"/>
            <a:r>
              <a:rPr lang="en-US" sz="1600" b="1" i="1"/>
              <a:t>COMPLETED</a:t>
            </a:r>
          </a:p>
        </p:txBody>
      </p:sp>
      <p:sp>
        <p:nvSpPr>
          <p:cNvPr id="14378" name="TextBox 51"/>
          <p:cNvSpPr txBox="1">
            <a:spLocks noChangeArrowheads="1"/>
          </p:cNvSpPr>
          <p:nvPr/>
        </p:nvSpPr>
        <p:spPr bwMode="auto">
          <a:xfrm>
            <a:off x="381000" y="1143000"/>
            <a:ext cx="4632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charset="0"/>
                <a:ea typeface="Arial Unicode MS" pitchFamily="34" charset="-128"/>
                <a:cs typeface="Arial Unicode MS" pitchFamily="34" charset="-128"/>
              </a:defRPr>
            </a:lvl1pPr>
            <a:lvl2pPr marL="742950" indent="-285750" eaLnBrk="0" hangingPunct="0">
              <a:defRPr sz="1400">
                <a:solidFill>
                  <a:schemeClr val="tx1"/>
                </a:solidFill>
                <a:latin typeface="Arial" charset="0"/>
                <a:ea typeface="Arial Unicode MS" pitchFamily="34" charset="-128"/>
                <a:cs typeface="Arial Unicode MS" pitchFamily="34" charset="-128"/>
              </a:defRPr>
            </a:lvl2pPr>
            <a:lvl3pPr marL="1143000" indent="-228600" eaLnBrk="0" hangingPunct="0">
              <a:defRPr sz="1400">
                <a:solidFill>
                  <a:schemeClr val="tx1"/>
                </a:solidFill>
                <a:latin typeface="Arial" charset="0"/>
                <a:ea typeface="Arial Unicode MS" pitchFamily="34" charset="-128"/>
                <a:cs typeface="Arial Unicode MS" pitchFamily="34" charset="-128"/>
              </a:defRPr>
            </a:lvl3pPr>
            <a:lvl4pPr marL="1600200" indent="-228600" eaLnBrk="0" hangingPunct="0">
              <a:defRPr sz="1400">
                <a:solidFill>
                  <a:schemeClr val="tx1"/>
                </a:solidFill>
                <a:latin typeface="Arial" charset="0"/>
                <a:ea typeface="Arial Unicode MS" pitchFamily="34" charset="-128"/>
                <a:cs typeface="Arial Unicode MS" pitchFamily="34" charset="-128"/>
              </a:defRPr>
            </a:lvl4pPr>
            <a:lvl5pPr marL="2057400" indent="-228600" eaLnBrk="0" hangingPunct="0">
              <a:defRPr sz="1400">
                <a:solidFill>
                  <a:schemeClr val="tx1"/>
                </a:solidFill>
                <a:latin typeface="Arial" charset="0"/>
                <a:ea typeface="Arial Unicode MS" pitchFamily="34" charset="-128"/>
                <a:cs typeface="Arial Unicode MS" pitchFamily="34" charset="-128"/>
              </a:defRPr>
            </a:lvl5pPr>
            <a:lvl6pPr marL="25146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6pPr>
            <a:lvl7pPr marL="29718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7pPr>
            <a:lvl8pPr marL="34290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8pPr>
            <a:lvl9pPr marL="3886200" indent="-228600" eaLnBrk="0" fontAlgn="base" hangingPunct="0">
              <a:spcBef>
                <a:spcPct val="0"/>
              </a:spcBef>
              <a:spcAft>
                <a:spcPct val="0"/>
              </a:spcAft>
              <a:defRPr sz="1400">
                <a:solidFill>
                  <a:schemeClr val="tx1"/>
                </a:solidFill>
                <a:latin typeface="Arial" charset="0"/>
                <a:ea typeface="Arial Unicode MS" pitchFamily="34" charset="-128"/>
                <a:cs typeface="Arial Unicode MS" pitchFamily="34" charset="-128"/>
              </a:defRPr>
            </a:lvl9pPr>
          </a:lstStyle>
          <a:p>
            <a:pPr eaLnBrk="1" hangingPunct="1"/>
            <a:r>
              <a:rPr lang="en-US" sz="2400" b="1" i="1" u="sng"/>
              <a:t>Service Request No (SRN) 01 :</a:t>
            </a:r>
          </a:p>
        </p:txBody>
      </p:sp>
      <p:sp>
        <p:nvSpPr>
          <p:cNvPr id="53" name="Rounded Rectangle 52"/>
          <p:cNvSpPr/>
          <p:nvPr/>
        </p:nvSpPr>
        <p:spPr>
          <a:xfrm>
            <a:off x="5762644" y="2895584"/>
            <a:ext cx="990600" cy="6096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US" sz="1600" b="1">
                <a:solidFill>
                  <a:schemeClr val="bg1"/>
                </a:solidFill>
              </a:rPr>
              <a:t>WORK START</a:t>
            </a:r>
          </a:p>
        </p:txBody>
      </p:sp>
      <p:sp>
        <p:nvSpPr>
          <p:cNvPr id="55" name="Snip Single Corner Rectangle 54"/>
          <p:cNvSpPr/>
          <p:nvPr/>
        </p:nvSpPr>
        <p:spPr>
          <a:xfrm>
            <a:off x="5929313" y="4052888"/>
            <a:ext cx="762000" cy="914400"/>
          </a:xfrm>
          <a:prstGeom prst="snip1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solidFill>
                  <a:schemeClr val="tx1"/>
                </a:solidFill>
              </a:rPr>
              <a:t>FSR</a:t>
            </a:r>
          </a:p>
        </p:txBody>
      </p:sp>
      <p:cxnSp>
        <p:nvCxnSpPr>
          <p:cNvPr id="56" name="Straight Arrow Connector 55"/>
          <p:cNvCxnSpPr>
            <a:endCxn id="55" idx="0"/>
          </p:cNvCxnSpPr>
          <p:nvPr/>
        </p:nvCxnSpPr>
        <p:spPr>
          <a:xfrm rot="10800000" flipV="1">
            <a:off x="6691313" y="4500563"/>
            <a:ext cx="595312" cy="952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3" name="Picture 2" descr="Service engineer line icon linear concept Vector Image">
            <a:extLst>
              <a:ext uri="{FF2B5EF4-FFF2-40B4-BE49-F238E27FC236}">
                <a16:creationId xmlns:a16="http://schemas.microsoft.com/office/drawing/2014/main" id="{FA9433E3-2400-B6BC-1625-AE845E35A5C1}"/>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l="14594" t="13043" r="17826" b="21739"/>
          <a:stretch/>
        </p:blipFill>
        <p:spPr bwMode="auto">
          <a:xfrm>
            <a:off x="4362395" y="3443907"/>
            <a:ext cx="378623" cy="394617"/>
          </a:xfrm>
          <a:prstGeom prst="rect">
            <a:avLst/>
          </a:prstGeom>
          <a:solidFill>
            <a:srgbClr val="00B0F0"/>
          </a:solidFill>
          <a:ln w="28575">
            <a:solidFill>
              <a:srgbClr val="0070C0"/>
            </a:solidFill>
          </a:ln>
        </p:spPr>
      </p:pic>
    </p:spTree>
    <p:extLst>
      <p:ext uri="{BB962C8B-B14F-4D97-AF65-F5344CB8AC3E}">
        <p14:creationId xmlns:p14="http://schemas.microsoft.com/office/powerpoint/2010/main" val="3005087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718821" y="44624"/>
            <a:ext cx="2826327" cy="511628"/>
          </a:xfrm>
          <a:prstGeom prst="ellipse">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rgbClr val="000000"/>
                </a:solidFill>
                <a:latin typeface="Calibri"/>
              </a:rPr>
              <a:t>Engineer at Site</a:t>
            </a:r>
            <a:endParaRPr sz="1200" b="1">
              <a:solidFill>
                <a:srgbClr val="000000"/>
              </a:solidFill>
              <a:latin typeface="Calibri"/>
            </a:endParaRPr>
          </a:p>
        </p:txBody>
      </p:sp>
      <p:sp>
        <p:nvSpPr>
          <p:cNvPr id="3" name="Diamond 2"/>
          <p:cNvSpPr/>
          <p:nvPr/>
        </p:nvSpPr>
        <p:spPr>
          <a:xfrm>
            <a:off x="2524859" y="760906"/>
            <a:ext cx="3200400" cy="914400"/>
          </a:xfrm>
          <a:prstGeom prst="diamond">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Part Required in Report?</a:t>
            </a:r>
          </a:p>
        </p:txBody>
      </p:sp>
      <p:sp>
        <p:nvSpPr>
          <p:cNvPr id="4" name="Rectangle 3"/>
          <p:cNvSpPr/>
          <p:nvPr/>
        </p:nvSpPr>
        <p:spPr>
          <a:xfrm>
            <a:off x="499333" y="805244"/>
            <a:ext cx="1512911" cy="985731"/>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NO → Job Completed
If no PWC → Job Finished</a:t>
            </a:r>
          </a:p>
        </p:txBody>
      </p:sp>
      <p:sp>
        <p:nvSpPr>
          <p:cNvPr id="5" name="Rectangle 4"/>
          <p:cNvSpPr/>
          <p:nvPr/>
        </p:nvSpPr>
        <p:spPr>
          <a:xfrm>
            <a:off x="6016203" y="929939"/>
            <a:ext cx="2673930" cy="640080"/>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YES → System</a:t>
            </a:r>
            <a:r>
              <a:rPr lang="en-US" sz="1200" b="1">
                <a:solidFill>
                  <a:srgbClr val="000000"/>
                </a:solidFill>
                <a:latin typeface="Calibri"/>
              </a:rPr>
              <a:t> puts Job</a:t>
            </a:r>
            <a:r>
              <a:rPr sz="1200" b="1">
                <a:solidFill>
                  <a:srgbClr val="000000"/>
                </a:solidFill>
                <a:latin typeface="Calibri"/>
              </a:rPr>
              <a:t> ON HOLD
Coordinator Generates PWC</a:t>
            </a:r>
          </a:p>
        </p:txBody>
      </p:sp>
      <p:sp>
        <p:nvSpPr>
          <p:cNvPr id="6" name="Rectangle 5"/>
          <p:cNvSpPr/>
          <p:nvPr/>
        </p:nvSpPr>
        <p:spPr>
          <a:xfrm>
            <a:off x="5780677" y="1915670"/>
            <a:ext cx="2874824" cy="559761"/>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Fill </a:t>
            </a:r>
            <a:r>
              <a:rPr lang="en-US" sz="1200" b="1">
                <a:solidFill>
                  <a:srgbClr val="000000"/>
                </a:solidFill>
                <a:latin typeface="Calibri"/>
              </a:rPr>
              <a:t>the details </a:t>
            </a:r>
            <a:r>
              <a:rPr sz="1200" b="1">
                <a:solidFill>
                  <a:srgbClr val="000000"/>
                </a:solidFill>
                <a:latin typeface="Calibri"/>
              </a:rPr>
              <a:t>&amp; Submit PWC</a:t>
            </a:r>
          </a:p>
        </p:txBody>
      </p:sp>
      <p:sp>
        <p:nvSpPr>
          <p:cNvPr id="7" name="Diamond 6"/>
          <p:cNvSpPr/>
          <p:nvPr/>
        </p:nvSpPr>
        <p:spPr>
          <a:xfrm>
            <a:off x="5081024" y="2798272"/>
            <a:ext cx="3803068" cy="822960"/>
          </a:xfrm>
          <a:prstGeom prst="diamond">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Approver</a:t>
            </a:r>
            <a:r>
              <a:rPr lang="en-US" sz="1200" b="1">
                <a:solidFill>
                  <a:srgbClr val="000000"/>
                </a:solidFill>
                <a:latin typeface="Calibri"/>
              </a:rPr>
              <a:t>(s)</a:t>
            </a:r>
            <a:r>
              <a:rPr sz="1200" b="1">
                <a:solidFill>
                  <a:srgbClr val="000000"/>
                </a:solidFill>
                <a:latin typeface="Calibri"/>
              </a:rPr>
              <a:t>: Approve / Return / Reject</a:t>
            </a:r>
          </a:p>
        </p:txBody>
      </p:sp>
      <p:sp>
        <p:nvSpPr>
          <p:cNvPr id="9" name="Rectangle 8"/>
          <p:cNvSpPr/>
          <p:nvPr/>
        </p:nvSpPr>
        <p:spPr>
          <a:xfrm>
            <a:off x="5351187" y="3935437"/>
            <a:ext cx="2355270" cy="616867"/>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If Rejected → PWC Closed → Job Finished</a:t>
            </a:r>
          </a:p>
        </p:txBody>
      </p:sp>
      <p:sp>
        <p:nvSpPr>
          <p:cNvPr id="10" name="Rectangle 9"/>
          <p:cNvSpPr/>
          <p:nvPr/>
        </p:nvSpPr>
        <p:spPr>
          <a:xfrm>
            <a:off x="1336138" y="2903983"/>
            <a:ext cx="3543295" cy="453009"/>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If Approved</a:t>
            </a:r>
            <a:r>
              <a:rPr lang="en-US" sz="1200" b="1">
                <a:solidFill>
                  <a:srgbClr val="000000"/>
                </a:solidFill>
                <a:latin typeface="Calibri"/>
              </a:rPr>
              <a:t> &amp; Part not available in Inventory</a:t>
            </a:r>
            <a:r>
              <a:rPr sz="1200" b="1">
                <a:solidFill>
                  <a:srgbClr val="000000"/>
                </a:solidFill>
                <a:latin typeface="Calibri"/>
              </a:rPr>
              <a:t> → Create Parts Order (ERP</a:t>
            </a:r>
            <a:r>
              <a:rPr lang="en-US" sz="1200" b="1">
                <a:solidFill>
                  <a:srgbClr val="000000"/>
                </a:solidFill>
                <a:latin typeface="Calibri"/>
              </a:rPr>
              <a:t>/SAP</a:t>
            </a:r>
            <a:r>
              <a:rPr sz="1200" b="1">
                <a:solidFill>
                  <a:srgbClr val="000000"/>
                </a:solidFill>
                <a:latin typeface="Calibri"/>
              </a:rPr>
              <a:t>)</a:t>
            </a:r>
          </a:p>
        </p:txBody>
      </p:sp>
      <p:sp>
        <p:nvSpPr>
          <p:cNvPr id="11" name="Rectangle 10"/>
          <p:cNvSpPr/>
          <p:nvPr/>
        </p:nvSpPr>
        <p:spPr>
          <a:xfrm>
            <a:off x="1336139" y="3621266"/>
            <a:ext cx="3567539" cy="383798"/>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Update Order &amp; Dispatch</a:t>
            </a:r>
            <a:r>
              <a:rPr lang="en-US" sz="1200" b="1">
                <a:solidFill>
                  <a:srgbClr val="000000"/>
                </a:solidFill>
                <a:latin typeface="Calibri"/>
              </a:rPr>
              <a:t> Status</a:t>
            </a:r>
            <a:endParaRPr sz="1200" b="1">
              <a:solidFill>
                <a:srgbClr val="000000"/>
              </a:solidFill>
              <a:latin typeface="Calibri"/>
            </a:endParaRPr>
          </a:p>
        </p:txBody>
      </p:sp>
      <p:sp>
        <p:nvSpPr>
          <p:cNvPr id="12" name="Rectangle 11"/>
          <p:cNvSpPr/>
          <p:nvPr/>
        </p:nvSpPr>
        <p:spPr>
          <a:xfrm>
            <a:off x="1336139" y="4236567"/>
            <a:ext cx="3567539" cy="380070"/>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Parts Received → Mark Received</a:t>
            </a:r>
          </a:p>
        </p:txBody>
      </p:sp>
      <p:sp>
        <p:nvSpPr>
          <p:cNvPr id="13" name="Diamond 12"/>
          <p:cNvSpPr/>
          <p:nvPr/>
        </p:nvSpPr>
        <p:spPr>
          <a:xfrm>
            <a:off x="1408874" y="4830437"/>
            <a:ext cx="3494803" cy="717272"/>
          </a:xfrm>
          <a:prstGeom prst="diamond">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Any Part Marked for Return</a:t>
            </a:r>
            <a:r>
              <a:rPr lang="en-US" sz="1200" b="1">
                <a:solidFill>
                  <a:srgbClr val="000000"/>
                </a:solidFill>
                <a:latin typeface="Calibri"/>
              </a:rPr>
              <a:t> during Approval</a:t>
            </a:r>
            <a:r>
              <a:rPr sz="1200" b="1">
                <a:solidFill>
                  <a:srgbClr val="000000"/>
                </a:solidFill>
                <a:latin typeface="Calibri"/>
              </a:rPr>
              <a:t>?</a:t>
            </a:r>
          </a:p>
        </p:txBody>
      </p:sp>
      <p:sp>
        <p:nvSpPr>
          <p:cNvPr id="14" name="Rectangle 13"/>
          <p:cNvSpPr/>
          <p:nvPr/>
        </p:nvSpPr>
        <p:spPr>
          <a:xfrm>
            <a:off x="1951017" y="5802399"/>
            <a:ext cx="2330809" cy="290897"/>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NO → Close PWC → Job Finished</a:t>
            </a:r>
          </a:p>
        </p:txBody>
      </p:sp>
      <p:sp>
        <p:nvSpPr>
          <p:cNvPr id="15" name="Rectangle 14"/>
          <p:cNvSpPr/>
          <p:nvPr/>
        </p:nvSpPr>
        <p:spPr>
          <a:xfrm>
            <a:off x="5351186" y="4998350"/>
            <a:ext cx="2355270" cy="549359"/>
          </a:xfrm>
          <a:prstGeom prst="rect">
            <a:avLst/>
          </a:prstGeom>
          <a:solidFill>
            <a:srgbClr val="DDEBF7"/>
          </a:solidFill>
          <a:ln>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00000"/>
                </a:solidFill>
                <a:latin typeface="Calibri"/>
              </a:rPr>
              <a:t>YES → Engineer Returns Parts (LR)</a:t>
            </a:r>
          </a:p>
        </p:txBody>
      </p:sp>
      <p:cxnSp>
        <p:nvCxnSpPr>
          <p:cNvPr id="18" name="Elbow Connector 17"/>
          <p:cNvCxnSpPr>
            <a:stCxn id="7" idx="3"/>
            <a:endCxn id="6" idx="3"/>
          </p:cNvCxnSpPr>
          <p:nvPr/>
        </p:nvCxnSpPr>
        <p:spPr>
          <a:xfrm flipH="1" flipV="1">
            <a:off x="8655501" y="2195551"/>
            <a:ext cx="228591" cy="1014201"/>
          </a:xfrm>
          <a:prstGeom prst="bentConnector3">
            <a:avLst>
              <a:gd name="adj1" fmla="val -100004"/>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p:cNvSpPr txBox="1"/>
          <p:nvPr/>
        </p:nvSpPr>
        <p:spPr>
          <a:xfrm>
            <a:off x="7983551" y="2585384"/>
            <a:ext cx="1052945" cy="27699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200" b="1"/>
              <a:t>If Returned</a:t>
            </a:r>
            <a:endParaRPr lang="en-IN" sz="1200" b="1"/>
          </a:p>
        </p:txBody>
      </p:sp>
      <p:cxnSp>
        <p:nvCxnSpPr>
          <p:cNvPr id="24" name="Straight Arrow Connector 23"/>
          <p:cNvCxnSpPr>
            <a:endCxn id="7" idx="0"/>
          </p:cNvCxnSpPr>
          <p:nvPr/>
        </p:nvCxnSpPr>
        <p:spPr>
          <a:xfrm>
            <a:off x="6982558" y="2475431"/>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p:cNvCxnSpPr/>
          <p:nvPr/>
        </p:nvCxnSpPr>
        <p:spPr>
          <a:xfrm>
            <a:off x="6968698" y="1616446"/>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p:cNvCxnSpPr/>
          <p:nvPr/>
        </p:nvCxnSpPr>
        <p:spPr>
          <a:xfrm>
            <a:off x="3085275" y="3322183"/>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p:cNvCxnSpPr/>
          <p:nvPr/>
        </p:nvCxnSpPr>
        <p:spPr>
          <a:xfrm>
            <a:off x="3099125" y="3939554"/>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p:cNvCxnSpPr/>
          <p:nvPr/>
        </p:nvCxnSpPr>
        <p:spPr>
          <a:xfrm>
            <a:off x="3154540" y="4549159"/>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p:cNvCxnSpPr/>
          <p:nvPr/>
        </p:nvCxnSpPr>
        <p:spPr>
          <a:xfrm>
            <a:off x="3182250" y="5532826"/>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Elbow Connector 30"/>
          <p:cNvCxnSpPr>
            <a:stCxn id="15" idx="2"/>
            <a:endCxn id="14" idx="3"/>
          </p:cNvCxnSpPr>
          <p:nvPr/>
        </p:nvCxnSpPr>
        <p:spPr>
          <a:xfrm rot="5400000">
            <a:off x="5205255" y="4624281"/>
            <a:ext cx="400139" cy="224699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p:cNvCxnSpPr/>
          <p:nvPr/>
        </p:nvCxnSpPr>
        <p:spPr>
          <a:xfrm>
            <a:off x="6997801" y="3612596"/>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p:cNvCxnSpPr>
            <a:stCxn id="3" idx="1"/>
          </p:cNvCxnSpPr>
          <p:nvPr/>
        </p:nvCxnSpPr>
        <p:spPr>
          <a:xfrm flipH="1">
            <a:off x="2039947" y="1218106"/>
            <a:ext cx="484912" cy="4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p:cNvCxnSpPr/>
          <p:nvPr/>
        </p:nvCxnSpPr>
        <p:spPr>
          <a:xfrm>
            <a:off x="4136653" y="556252"/>
            <a:ext cx="0" cy="3228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p:cNvCxnSpPr>
            <a:stCxn id="3" idx="3"/>
          </p:cNvCxnSpPr>
          <p:nvPr/>
        </p:nvCxnSpPr>
        <p:spPr>
          <a:xfrm flipV="1">
            <a:off x="5725259" y="1204009"/>
            <a:ext cx="290944" cy="140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20"/>
          <p:cNvSpPr/>
          <p:nvPr/>
        </p:nvSpPr>
        <p:spPr>
          <a:xfrm>
            <a:off x="35496" y="91238"/>
            <a:ext cx="2636043"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N" sz="1800" b="1" spc="-5">
                <a:latin typeface="Calibri" panose="020F0502020204030204"/>
                <a:cs typeface="Calibri" panose="020F0502020204030204"/>
              </a:rPr>
              <a:t>Parts</a:t>
            </a:r>
            <a:r>
              <a:rPr lang="en-IN" sz="1800" b="1" spc="-155">
                <a:latin typeface="Calibri" panose="020F0502020204030204"/>
                <a:cs typeface="Calibri" panose="020F0502020204030204"/>
              </a:rPr>
              <a:t> </a:t>
            </a:r>
            <a:r>
              <a:rPr lang="en-IN" sz="1800" b="1" spc="-35">
                <a:latin typeface="Calibri" panose="020F0502020204030204"/>
                <a:cs typeface="Calibri" panose="020F0502020204030204"/>
              </a:rPr>
              <a:t>Warranty </a:t>
            </a:r>
            <a:r>
              <a:rPr lang="en-IN" sz="1800" b="1" spc="-710">
                <a:latin typeface="Calibri" panose="020F0502020204030204"/>
                <a:cs typeface="Calibri" panose="020F0502020204030204"/>
              </a:rPr>
              <a:t> </a:t>
            </a:r>
            <a:r>
              <a:rPr lang="en-IN" sz="1800" b="1" spc="-5">
                <a:latin typeface="Calibri" panose="020F0502020204030204"/>
                <a:cs typeface="Calibri" panose="020F0502020204030204"/>
              </a:rPr>
              <a:t>Claim</a:t>
            </a:r>
            <a:r>
              <a:rPr lang="en-IN" sz="1800" b="1" spc="-70">
                <a:latin typeface="Calibri" panose="020F0502020204030204"/>
                <a:cs typeface="Calibri" panose="020F0502020204030204"/>
              </a:rPr>
              <a:t> </a:t>
            </a:r>
            <a:r>
              <a:rPr lang="en-IN" sz="1800" b="1" spc="-15">
                <a:latin typeface="Calibri" panose="020F0502020204030204"/>
                <a:cs typeface="Calibri" panose="020F0502020204030204"/>
              </a:rPr>
              <a:t>Flow</a:t>
            </a:r>
            <a:endParaRPr lang="en-IN" sz="1800"/>
          </a:p>
        </p:txBody>
      </p:sp>
    </p:spTree>
    <p:extLst>
      <p:ext uri="{BB962C8B-B14F-4D97-AF65-F5344CB8AC3E}">
        <p14:creationId xmlns:p14="http://schemas.microsoft.com/office/powerpoint/2010/main" val="473920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95536" y="6142870"/>
            <a:ext cx="2133600" cy="365125"/>
          </a:xfrm>
        </p:spPr>
        <p:txBody>
          <a:bodyPr/>
          <a:lstStyle/>
          <a:p>
            <a:pPr>
              <a:defRPr/>
            </a:pPr>
            <a:fld id="{95B8914C-303E-4E84-8B34-1A31B99B164F}" type="datetime1">
              <a:rPr lang="en-GB" sz="1000" smtClean="0">
                <a:latin typeface="Arial" panose="020B0604020202020204" pitchFamily="34" charset="0"/>
                <a:cs typeface="Arial" panose="020B0604020202020204" pitchFamily="34" charset="0"/>
              </a:rPr>
              <a:pPr>
                <a:defRPr/>
              </a:pPr>
              <a:t>12/08/2025</a:t>
            </a:fld>
            <a:endParaRPr lang="en-GB" sz="1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a:xfrm>
            <a:off x="3062536" y="6142870"/>
            <a:ext cx="2895600" cy="365125"/>
          </a:xfrm>
        </p:spPr>
        <p:txBody>
          <a:bodyPr/>
          <a:lstStyle/>
          <a:p>
            <a:pPr>
              <a:defRPr/>
            </a:pPr>
            <a:r>
              <a:rPr lang="en-US" sz="1000">
                <a:latin typeface="Arial" panose="020B0604020202020204" pitchFamily="34" charset="0"/>
                <a:cs typeface="Arial" panose="020B0604020202020204" pitchFamily="34" charset="0"/>
              </a:rPr>
              <a:t>Confidential to Selfservit, TVS &amp; Sons</a:t>
            </a:r>
          </a:p>
        </p:txBody>
      </p:sp>
      <p:sp>
        <p:nvSpPr>
          <p:cNvPr id="4" name="Slide Number Placeholder 3"/>
          <p:cNvSpPr>
            <a:spLocks noGrp="1"/>
          </p:cNvSpPr>
          <p:nvPr>
            <p:ph type="sldNum" sz="quarter" idx="12"/>
          </p:nvPr>
        </p:nvSpPr>
        <p:spPr>
          <a:xfrm>
            <a:off x="6491536" y="6142870"/>
            <a:ext cx="2133600" cy="365125"/>
          </a:xfrm>
        </p:spPr>
        <p:txBody>
          <a:bodyPr/>
          <a:lstStyle/>
          <a:p>
            <a:fld id="{3E6E0AAA-CD81-4600-8AFF-1AFB757A6F8D}" type="slidenum">
              <a:rPr lang="en-GB" altLang="en-US" sz="1000" smtClean="0">
                <a:cs typeface="Arial" panose="020B0604020202020204" pitchFamily="34" charset="0"/>
              </a:rPr>
              <a:pPr/>
              <a:t>17</a:t>
            </a:fld>
            <a:endParaRPr lang="en-GB" altLang="en-US" sz="1000">
              <a:cs typeface="Arial" panose="020B0604020202020204" pitchFamily="34" charset="0"/>
            </a:endParaRPr>
          </a:p>
        </p:txBody>
      </p:sp>
      <p:sp>
        <p:nvSpPr>
          <p:cNvPr id="5" name="Rectangle 4"/>
          <p:cNvSpPr/>
          <p:nvPr/>
        </p:nvSpPr>
        <p:spPr>
          <a:xfrm>
            <a:off x="562831" y="620688"/>
            <a:ext cx="1931213" cy="432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 </a:t>
            </a:r>
            <a:r>
              <a:rPr sz="1000">
                <a:latin typeface="Arial" panose="020B0604020202020204" pitchFamily="34" charset="0"/>
                <a:cs typeface="Arial" panose="020B0604020202020204" pitchFamily="34" charset="0"/>
              </a:rPr>
              <a:t>Service call assigned to engineer</a:t>
            </a:r>
          </a:p>
        </p:txBody>
      </p:sp>
      <p:sp>
        <p:nvSpPr>
          <p:cNvPr id="6" name="Rectangle 5"/>
          <p:cNvSpPr/>
          <p:nvPr/>
        </p:nvSpPr>
        <p:spPr>
          <a:xfrm>
            <a:off x="3054437" y="620688"/>
            <a:ext cx="1931213" cy="432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2 </a:t>
            </a:r>
            <a:r>
              <a:rPr sz="1000">
                <a:latin typeface="Arial" panose="020B0604020202020204" pitchFamily="34" charset="0"/>
                <a:cs typeface="Arial" panose="020B0604020202020204" pitchFamily="34" charset="0"/>
              </a:rPr>
              <a:t>Engineer visits site using app</a:t>
            </a:r>
          </a:p>
        </p:txBody>
      </p:sp>
      <p:sp>
        <p:nvSpPr>
          <p:cNvPr id="7" name="Diamond 6"/>
          <p:cNvSpPr/>
          <p:nvPr/>
        </p:nvSpPr>
        <p:spPr>
          <a:xfrm>
            <a:off x="3247558" y="1268760"/>
            <a:ext cx="1544970" cy="772485"/>
          </a:xfrm>
          <a:prstGeom prst="diamond">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3 </a:t>
            </a:r>
            <a:r>
              <a:rPr sz="1000">
                <a:latin typeface="Arial" panose="020B0604020202020204" pitchFamily="34" charset="0"/>
                <a:cs typeface="Arial" panose="020B0604020202020204" pitchFamily="34" charset="0"/>
              </a:rPr>
              <a:t>Is spare required?</a:t>
            </a:r>
          </a:p>
        </p:txBody>
      </p:sp>
      <p:sp>
        <p:nvSpPr>
          <p:cNvPr id="10" name="Rectangle 9"/>
          <p:cNvSpPr/>
          <p:nvPr/>
        </p:nvSpPr>
        <p:spPr>
          <a:xfrm>
            <a:off x="2861316" y="2168442"/>
            <a:ext cx="2317455" cy="396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6 </a:t>
            </a:r>
            <a:r>
              <a:rPr sz="1000">
                <a:latin typeface="Arial" panose="020B0604020202020204" pitchFamily="34" charset="0"/>
                <a:cs typeface="Arial" panose="020B0604020202020204" pitchFamily="34" charset="0"/>
              </a:rPr>
              <a:t>Coordinator reviews, edits &amp; submits</a:t>
            </a:r>
          </a:p>
        </p:txBody>
      </p:sp>
      <p:sp>
        <p:nvSpPr>
          <p:cNvPr id="11" name="Diamond 10"/>
          <p:cNvSpPr/>
          <p:nvPr/>
        </p:nvSpPr>
        <p:spPr>
          <a:xfrm>
            <a:off x="3009234" y="2790049"/>
            <a:ext cx="2021617" cy="926983"/>
          </a:xfrm>
          <a:prstGeom prst="diamond">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7 </a:t>
            </a:r>
            <a:r>
              <a:rPr sz="1000">
                <a:latin typeface="Arial" panose="020B0604020202020204" pitchFamily="34" charset="0"/>
                <a:cs typeface="Arial" panose="020B0604020202020204" pitchFamily="34" charset="0"/>
              </a:rPr>
              <a:t>Approver reviews claim
(Return/Scrap decision)</a:t>
            </a:r>
          </a:p>
        </p:txBody>
      </p:sp>
      <p:sp>
        <p:nvSpPr>
          <p:cNvPr id="12" name="Diamond 11"/>
          <p:cNvSpPr/>
          <p:nvPr/>
        </p:nvSpPr>
        <p:spPr>
          <a:xfrm>
            <a:off x="655425" y="2867298"/>
            <a:ext cx="1931213" cy="772485"/>
          </a:xfrm>
          <a:prstGeom prst="diamond">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8b </a:t>
            </a:r>
            <a:r>
              <a:rPr sz="1000">
                <a:latin typeface="Arial" panose="020B0604020202020204" pitchFamily="34" charset="0"/>
                <a:cs typeface="Arial" panose="020B0604020202020204" pitchFamily="34" charset="0"/>
              </a:rPr>
              <a:t>Parts need dispatch?</a:t>
            </a:r>
          </a:p>
        </p:txBody>
      </p:sp>
      <p:sp>
        <p:nvSpPr>
          <p:cNvPr id="13" name="Rectangle 12"/>
          <p:cNvSpPr/>
          <p:nvPr/>
        </p:nvSpPr>
        <p:spPr>
          <a:xfrm>
            <a:off x="655425" y="3884152"/>
            <a:ext cx="1931213" cy="55296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9a Claim forwarded to </a:t>
            </a:r>
            <a:r>
              <a:rPr sz="1000">
                <a:latin typeface="Arial" panose="020B0604020202020204" pitchFamily="34" charset="0"/>
                <a:cs typeface="Arial" panose="020B0604020202020204" pitchFamily="34" charset="0"/>
              </a:rPr>
              <a:t>Warehouse Coordinator</a:t>
            </a:r>
            <a:r>
              <a:rPr lang="en-IN" sz="1000">
                <a:latin typeface="Arial" panose="020B0604020202020204" pitchFamily="34" charset="0"/>
                <a:cs typeface="Arial" panose="020B0604020202020204" pitchFamily="34" charset="0"/>
              </a:rPr>
              <a:t>, who then </a:t>
            </a:r>
            <a:r>
              <a:rPr sz="1000">
                <a:latin typeface="Arial" panose="020B0604020202020204" pitchFamily="34" charset="0"/>
                <a:cs typeface="Arial" panose="020B0604020202020204" pitchFamily="34" charset="0"/>
              </a:rPr>
              <a:t>dispatches spare</a:t>
            </a:r>
          </a:p>
        </p:txBody>
      </p:sp>
      <p:sp>
        <p:nvSpPr>
          <p:cNvPr id="14" name="Rectangle 13"/>
          <p:cNvSpPr/>
          <p:nvPr/>
        </p:nvSpPr>
        <p:spPr>
          <a:xfrm>
            <a:off x="320809" y="4689184"/>
            <a:ext cx="2162959" cy="396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10 Service coordinator releases Hol</a:t>
            </a:r>
            <a:r>
              <a:rPr sz="1000">
                <a:latin typeface="Arial" panose="020B0604020202020204" pitchFamily="34" charset="0"/>
                <a:cs typeface="Arial" panose="020B0604020202020204" pitchFamily="34" charset="0"/>
              </a:rPr>
              <a:t>d</a:t>
            </a:r>
            <a:r>
              <a:rPr lang="en-IN" sz="1000">
                <a:latin typeface="Arial" panose="020B0604020202020204" pitchFamily="34" charset="0"/>
                <a:cs typeface="Arial" panose="020B0604020202020204" pitchFamily="34" charset="0"/>
              </a:rPr>
              <a:t>, and </a:t>
            </a:r>
            <a:r>
              <a:rPr sz="1000">
                <a:latin typeface="Arial" panose="020B0604020202020204" pitchFamily="34" charset="0"/>
                <a:cs typeface="Arial" panose="020B0604020202020204" pitchFamily="34" charset="0"/>
              </a:rPr>
              <a:t>Engineer </a:t>
            </a:r>
            <a:r>
              <a:rPr lang="en-IN" sz="1000">
                <a:latin typeface="Arial" panose="020B0604020202020204" pitchFamily="34" charset="0"/>
                <a:cs typeface="Arial" panose="020B0604020202020204" pitchFamily="34" charset="0"/>
              </a:rPr>
              <a:t>is </a:t>
            </a:r>
            <a:r>
              <a:rPr sz="1000">
                <a:latin typeface="Arial" panose="020B0604020202020204" pitchFamily="34" charset="0"/>
                <a:cs typeface="Arial" panose="020B0604020202020204" pitchFamily="34" charset="0"/>
              </a:rPr>
              <a:t>re-assigned</a:t>
            </a:r>
          </a:p>
        </p:txBody>
      </p:sp>
      <p:sp>
        <p:nvSpPr>
          <p:cNvPr id="15" name="Rectangle 14"/>
          <p:cNvSpPr/>
          <p:nvPr/>
        </p:nvSpPr>
        <p:spPr>
          <a:xfrm>
            <a:off x="2771800" y="4689184"/>
            <a:ext cx="1872000" cy="396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11 </a:t>
            </a:r>
            <a:r>
              <a:rPr sz="1000">
                <a:latin typeface="Arial" panose="020B0604020202020204" pitchFamily="34" charset="0"/>
                <a:cs typeface="Arial" panose="020B0604020202020204" pitchFamily="34" charset="0"/>
              </a:rPr>
              <a:t>Engineer installs spare
&amp; completes service</a:t>
            </a:r>
          </a:p>
        </p:txBody>
      </p:sp>
      <p:sp>
        <p:nvSpPr>
          <p:cNvPr id="16" name="Diamond 15"/>
          <p:cNvSpPr/>
          <p:nvPr/>
        </p:nvSpPr>
        <p:spPr>
          <a:xfrm>
            <a:off x="5602023" y="2867298"/>
            <a:ext cx="1931213" cy="772485"/>
          </a:xfrm>
          <a:prstGeom prst="diamond">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8a </a:t>
            </a:r>
            <a:r>
              <a:rPr sz="1000">
                <a:latin typeface="Arial" panose="020B0604020202020204" pitchFamily="34" charset="0"/>
                <a:cs typeface="Arial" panose="020B0604020202020204" pitchFamily="34" charset="0"/>
              </a:rPr>
              <a:t>Is failed part return requested?</a:t>
            </a:r>
          </a:p>
        </p:txBody>
      </p:sp>
      <p:sp>
        <p:nvSpPr>
          <p:cNvPr id="17" name="Rectangle 16"/>
          <p:cNvSpPr/>
          <p:nvPr/>
        </p:nvSpPr>
        <p:spPr>
          <a:xfrm>
            <a:off x="6876256" y="4684534"/>
            <a:ext cx="1986223" cy="396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13 </a:t>
            </a:r>
            <a:r>
              <a:rPr sz="1000">
                <a:latin typeface="Arial" panose="020B0604020202020204" pitchFamily="34" charset="0"/>
                <a:cs typeface="Arial" panose="020B0604020202020204" pitchFamily="34" charset="0"/>
              </a:rPr>
              <a:t>Return request assigned
to Coordinator</a:t>
            </a:r>
          </a:p>
        </p:txBody>
      </p:sp>
      <p:sp>
        <p:nvSpPr>
          <p:cNvPr id="19" name="Rectangle 18"/>
          <p:cNvSpPr/>
          <p:nvPr/>
        </p:nvSpPr>
        <p:spPr>
          <a:xfrm>
            <a:off x="4931832" y="4684534"/>
            <a:ext cx="1728000" cy="396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12 </a:t>
            </a:r>
            <a:r>
              <a:rPr sz="1000">
                <a:latin typeface="Arial" panose="020B0604020202020204" pitchFamily="34" charset="0"/>
                <a:cs typeface="Arial" panose="020B0604020202020204" pitchFamily="34" charset="0"/>
              </a:rPr>
              <a:t>Engineer tags part</a:t>
            </a:r>
            <a:r>
              <a:rPr lang="en-US" sz="1000">
                <a:latin typeface="Arial" panose="020B0604020202020204" pitchFamily="34" charset="0"/>
                <a:cs typeface="Arial" panose="020B0604020202020204" pitchFamily="34" charset="0"/>
              </a:rPr>
              <a:t> as failed/Consumed in report</a:t>
            </a:r>
            <a:endParaRPr sz="1000">
              <a:latin typeface="Arial" panose="020B0604020202020204" pitchFamily="34" charset="0"/>
              <a:cs typeface="Arial" panose="020B0604020202020204" pitchFamily="34" charset="0"/>
            </a:endParaRPr>
          </a:p>
        </p:txBody>
      </p:sp>
      <p:sp>
        <p:nvSpPr>
          <p:cNvPr id="20" name="Rectangle 19"/>
          <p:cNvSpPr/>
          <p:nvPr/>
        </p:nvSpPr>
        <p:spPr>
          <a:xfrm>
            <a:off x="4680224" y="5517280"/>
            <a:ext cx="1908000" cy="432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15 </a:t>
            </a:r>
            <a:r>
              <a:rPr sz="1000">
                <a:latin typeface="Arial" panose="020B0604020202020204" pitchFamily="34" charset="0"/>
                <a:cs typeface="Arial" panose="020B0604020202020204" pitchFamily="34" charset="0"/>
              </a:rPr>
              <a:t>Customer</a:t>
            </a:r>
            <a:r>
              <a:rPr lang="en-US" sz="1000">
                <a:latin typeface="Arial" panose="020B0604020202020204" pitchFamily="34" charset="0"/>
                <a:cs typeface="Arial" panose="020B0604020202020204" pitchFamily="34" charset="0"/>
              </a:rPr>
              <a:t>/Dealer</a:t>
            </a:r>
            <a:r>
              <a:rPr sz="1000">
                <a:latin typeface="Arial" panose="020B0604020202020204" pitchFamily="34" charset="0"/>
                <a:cs typeface="Arial" panose="020B0604020202020204" pitchFamily="34" charset="0"/>
              </a:rPr>
              <a:t> sends failed part to OEM</a:t>
            </a:r>
          </a:p>
        </p:txBody>
      </p:sp>
      <p:sp>
        <p:nvSpPr>
          <p:cNvPr id="22" name="Rectangle 21"/>
          <p:cNvSpPr/>
          <p:nvPr/>
        </p:nvSpPr>
        <p:spPr>
          <a:xfrm>
            <a:off x="2110529" y="5517280"/>
            <a:ext cx="2317455" cy="432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16 </a:t>
            </a:r>
            <a:r>
              <a:rPr sz="1000">
                <a:latin typeface="Arial" panose="020B0604020202020204" pitchFamily="34" charset="0"/>
                <a:cs typeface="Arial" panose="020B0604020202020204" pitchFamily="34" charset="0"/>
              </a:rPr>
              <a:t>Warehouse Coordinator
performs GRN</a:t>
            </a:r>
            <a:r>
              <a:rPr lang="en-IN" sz="1000">
                <a:latin typeface="Arial" panose="020B0604020202020204" pitchFamily="34" charset="0"/>
                <a:cs typeface="Arial" panose="020B0604020202020204" pitchFamily="34" charset="0"/>
              </a:rPr>
              <a:t> for failed part</a:t>
            </a:r>
            <a:endParaRPr sz="1000">
              <a:latin typeface="Arial" panose="020B0604020202020204" pitchFamily="34" charset="0"/>
              <a:cs typeface="Arial" panose="020B0604020202020204" pitchFamily="34" charset="0"/>
            </a:endParaRPr>
          </a:p>
        </p:txBody>
      </p:sp>
      <p:sp>
        <p:nvSpPr>
          <p:cNvPr id="23" name="Rectangle 22"/>
          <p:cNvSpPr/>
          <p:nvPr/>
        </p:nvSpPr>
        <p:spPr>
          <a:xfrm>
            <a:off x="251520" y="5517280"/>
            <a:ext cx="1544970" cy="432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17 </a:t>
            </a:r>
            <a:r>
              <a:rPr sz="1000">
                <a:latin typeface="Arial" panose="020B0604020202020204" pitchFamily="34" charset="0"/>
                <a:cs typeface="Arial" panose="020B0604020202020204" pitchFamily="34" charset="0"/>
              </a:rPr>
              <a:t>Failed part </a:t>
            </a:r>
            <a:r>
              <a:rPr sz="1000" err="1">
                <a:latin typeface="Arial" panose="020B0604020202020204" pitchFamily="34" charset="0"/>
                <a:cs typeface="Arial" panose="020B0604020202020204" pitchFamily="34" charset="0"/>
              </a:rPr>
              <a:t>inwarded</a:t>
            </a:r>
            <a:endParaRPr sz="1000">
              <a:latin typeface="Arial" panose="020B0604020202020204" pitchFamily="34" charset="0"/>
              <a:cs typeface="Arial" panose="020B0604020202020204" pitchFamily="34" charset="0"/>
            </a:endParaRPr>
          </a:p>
        </p:txBody>
      </p:sp>
      <p:cxnSp>
        <p:nvCxnSpPr>
          <p:cNvPr id="25" name="Straight Arrow Connector 24">
            <a:extLst>
              <a:ext uri="{FF2B5EF4-FFF2-40B4-BE49-F238E27FC236}">
                <a16:creationId xmlns:a16="http://schemas.microsoft.com/office/drawing/2014/main" id="{3CF7D52E-8E1E-5355-427A-D857166C5632}"/>
              </a:ext>
            </a:extLst>
          </p:cNvPr>
          <p:cNvCxnSpPr>
            <a:cxnSpLocks/>
            <a:stCxn id="5" idx="3"/>
            <a:endCxn id="6" idx="1"/>
          </p:cNvCxnSpPr>
          <p:nvPr/>
        </p:nvCxnSpPr>
        <p:spPr>
          <a:xfrm>
            <a:off x="2494044" y="836688"/>
            <a:ext cx="5603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154F3DB-AAE0-0FB5-A56D-8C729B536A2F}"/>
              </a:ext>
            </a:extLst>
          </p:cNvPr>
          <p:cNvCxnSpPr>
            <a:cxnSpLocks/>
            <a:stCxn id="6" idx="2"/>
            <a:endCxn id="7" idx="0"/>
          </p:cNvCxnSpPr>
          <p:nvPr/>
        </p:nvCxnSpPr>
        <p:spPr>
          <a:xfrm flipH="1">
            <a:off x="4020043" y="1052688"/>
            <a:ext cx="1" cy="216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BD84639-B03A-C789-F557-0D1D2B5993D0}"/>
              </a:ext>
            </a:extLst>
          </p:cNvPr>
          <p:cNvCxnSpPr>
            <a:cxnSpLocks/>
            <a:stCxn id="7" idx="3"/>
            <a:endCxn id="33" idx="1"/>
          </p:cNvCxnSpPr>
          <p:nvPr/>
        </p:nvCxnSpPr>
        <p:spPr>
          <a:xfrm flipV="1">
            <a:off x="4792528" y="1646633"/>
            <a:ext cx="1092610" cy="8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5885138" y="1414887"/>
            <a:ext cx="1931213" cy="463491"/>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4 </a:t>
            </a:r>
            <a:r>
              <a:rPr sz="1000">
                <a:latin typeface="Arial" panose="020B0604020202020204" pitchFamily="34" charset="0"/>
                <a:cs typeface="Arial" panose="020B0604020202020204" pitchFamily="34" charset="0"/>
              </a:rPr>
              <a:t>Service call put on hold</a:t>
            </a:r>
          </a:p>
        </p:txBody>
      </p:sp>
      <p:sp>
        <p:nvSpPr>
          <p:cNvPr id="37" name="Parallelogram 36">
            <a:extLst>
              <a:ext uri="{FF2B5EF4-FFF2-40B4-BE49-F238E27FC236}">
                <a16:creationId xmlns:a16="http://schemas.microsoft.com/office/drawing/2014/main" id="{9766AF8B-3CAB-5315-AB7F-3091D0090207}"/>
              </a:ext>
            </a:extLst>
          </p:cNvPr>
          <p:cNvSpPr/>
          <p:nvPr/>
        </p:nvSpPr>
        <p:spPr>
          <a:xfrm>
            <a:off x="6162172" y="2095973"/>
            <a:ext cx="2462961" cy="540939"/>
          </a:xfrm>
          <a:prstGeom prst="parallelogram">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a:latin typeface="Arial" panose="020B0604020202020204" pitchFamily="34" charset="0"/>
                <a:cs typeface="Arial" panose="020B0604020202020204" pitchFamily="34" charset="0"/>
              </a:rPr>
              <a:t>5 System generates Spare Request assigned to Coordinator</a:t>
            </a:r>
          </a:p>
        </p:txBody>
      </p:sp>
      <p:cxnSp>
        <p:nvCxnSpPr>
          <p:cNvPr id="39" name="Connector: Elbow 38">
            <a:extLst>
              <a:ext uri="{FF2B5EF4-FFF2-40B4-BE49-F238E27FC236}">
                <a16:creationId xmlns:a16="http://schemas.microsoft.com/office/drawing/2014/main" id="{F0E4D36D-1C8C-49C0-11E9-7CC02A3A041E}"/>
              </a:ext>
            </a:extLst>
          </p:cNvPr>
          <p:cNvCxnSpPr>
            <a:cxnSpLocks/>
            <a:stCxn id="33" idx="3"/>
            <a:endCxn id="37" idx="2"/>
          </p:cNvCxnSpPr>
          <p:nvPr/>
        </p:nvCxnSpPr>
        <p:spPr>
          <a:xfrm>
            <a:off x="7816351" y="1646633"/>
            <a:ext cx="741165" cy="719810"/>
          </a:xfrm>
          <a:prstGeom prst="bentConnector3">
            <a:avLst>
              <a:gd name="adj1" fmla="val 13996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BCDB20F-43FB-28BE-1627-F5C0C48825DD}"/>
              </a:ext>
            </a:extLst>
          </p:cNvPr>
          <p:cNvCxnSpPr>
            <a:cxnSpLocks/>
            <a:stCxn id="37" idx="5"/>
            <a:endCxn id="10" idx="3"/>
          </p:cNvCxnSpPr>
          <p:nvPr/>
        </p:nvCxnSpPr>
        <p:spPr>
          <a:xfrm flipH="1" flipV="1">
            <a:off x="5178771" y="2366442"/>
            <a:ext cx="105101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88B9418-FC17-1987-2A41-4EEF6B625FDC}"/>
              </a:ext>
            </a:extLst>
          </p:cNvPr>
          <p:cNvCxnSpPr>
            <a:cxnSpLocks/>
            <a:stCxn id="10" idx="2"/>
            <a:endCxn id="11" idx="0"/>
          </p:cNvCxnSpPr>
          <p:nvPr/>
        </p:nvCxnSpPr>
        <p:spPr>
          <a:xfrm flipH="1">
            <a:off x="4020043" y="2564442"/>
            <a:ext cx="1" cy="225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F115182-5743-E8C3-3DBF-B1496A5A0959}"/>
              </a:ext>
            </a:extLst>
          </p:cNvPr>
          <p:cNvCxnSpPr>
            <a:cxnSpLocks/>
            <a:stCxn id="12" idx="2"/>
            <a:endCxn id="13" idx="0"/>
          </p:cNvCxnSpPr>
          <p:nvPr/>
        </p:nvCxnSpPr>
        <p:spPr>
          <a:xfrm>
            <a:off x="1621032" y="3639783"/>
            <a:ext cx="0" cy="244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08E2741-9756-D0F7-C16E-E5F437FD0C61}"/>
              </a:ext>
            </a:extLst>
          </p:cNvPr>
          <p:cNvCxnSpPr>
            <a:stCxn id="14" idx="3"/>
            <a:endCxn id="15" idx="1"/>
          </p:cNvCxnSpPr>
          <p:nvPr/>
        </p:nvCxnSpPr>
        <p:spPr>
          <a:xfrm>
            <a:off x="2483768" y="4887184"/>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Parallelogram 60">
            <a:extLst>
              <a:ext uri="{FF2B5EF4-FFF2-40B4-BE49-F238E27FC236}">
                <a16:creationId xmlns:a16="http://schemas.microsoft.com/office/drawing/2014/main" id="{EBB29E37-DCEA-BCC1-4724-0DCC99F1A19C}"/>
              </a:ext>
            </a:extLst>
          </p:cNvPr>
          <p:cNvSpPr/>
          <p:nvPr/>
        </p:nvSpPr>
        <p:spPr>
          <a:xfrm>
            <a:off x="5560239" y="3892534"/>
            <a:ext cx="2014780" cy="540939"/>
          </a:xfrm>
          <a:prstGeom prst="parallelogram">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Arial" panose="020B0604020202020204" pitchFamily="34" charset="0"/>
                <a:cs typeface="Arial" panose="020B0604020202020204" pitchFamily="34" charset="0"/>
              </a:rPr>
              <a:t>9b System generates FPR</a:t>
            </a:r>
          </a:p>
        </p:txBody>
      </p:sp>
      <p:cxnSp>
        <p:nvCxnSpPr>
          <p:cNvPr id="62" name="Straight Arrow Connector 61">
            <a:extLst>
              <a:ext uri="{FF2B5EF4-FFF2-40B4-BE49-F238E27FC236}">
                <a16:creationId xmlns:a16="http://schemas.microsoft.com/office/drawing/2014/main" id="{F3CC0326-8995-3CCF-2186-C8BCA1AA55EE}"/>
              </a:ext>
            </a:extLst>
          </p:cNvPr>
          <p:cNvCxnSpPr>
            <a:cxnSpLocks/>
            <a:stCxn id="16" idx="2"/>
            <a:endCxn id="61" idx="0"/>
          </p:cNvCxnSpPr>
          <p:nvPr/>
        </p:nvCxnSpPr>
        <p:spPr>
          <a:xfrm flipH="1">
            <a:off x="6567629" y="3639783"/>
            <a:ext cx="1" cy="252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7AFD2F2E-A516-2F6F-6332-F2443028B5A3}"/>
              </a:ext>
            </a:extLst>
          </p:cNvPr>
          <p:cNvCxnSpPr>
            <a:cxnSpLocks/>
            <a:stCxn id="61" idx="2"/>
            <a:endCxn id="17" idx="3"/>
          </p:cNvCxnSpPr>
          <p:nvPr/>
        </p:nvCxnSpPr>
        <p:spPr>
          <a:xfrm>
            <a:off x="7507402" y="4163004"/>
            <a:ext cx="1355077" cy="719530"/>
          </a:xfrm>
          <a:prstGeom prst="bentConnector3">
            <a:avLst>
              <a:gd name="adj1" fmla="val 116870"/>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71" name="TextBox 4">
            <a:extLst>
              <a:ext uri="{FF2B5EF4-FFF2-40B4-BE49-F238E27FC236}">
                <a16:creationId xmlns:a16="http://schemas.microsoft.com/office/drawing/2014/main" id="{E0ABEAD3-E798-9500-BC27-6A0D2538A4CC}"/>
              </a:ext>
            </a:extLst>
          </p:cNvPr>
          <p:cNvSpPr txBox="1">
            <a:spLocks noChangeArrowheads="1"/>
          </p:cNvSpPr>
          <p:nvPr/>
        </p:nvSpPr>
        <p:spPr bwMode="auto">
          <a:xfrm>
            <a:off x="26220" y="16168"/>
            <a:ext cx="7858148" cy="584775"/>
          </a:xfrm>
          <a:prstGeom prst="rect">
            <a:avLst/>
          </a:prstGeom>
          <a:noFill/>
          <a:ln w="9525">
            <a:noFill/>
            <a:miter lim="800000"/>
            <a:headEnd/>
            <a:tailEnd/>
          </a:ln>
        </p:spPr>
        <p:txBody>
          <a:bodyPr wrap="square">
            <a:spAutoFit/>
          </a:bodyPr>
          <a:lstStyle/>
          <a:p>
            <a:pPr>
              <a:defRPr/>
            </a:pPr>
            <a:r>
              <a:rPr lang="en-US" sz="3200" b="1">
                <a:solidFill>
                  <a:srgbClr val="6775FD"/>
                </a:solidFill>
                <a:latin typeface="+mj-lt"/>
              </a:rPr>
              <a:t>Failed Part Return Process</a:t>
            </a:r>
          </a:p>
        </p:txBody>
      </p:sp>
      <p:sp>
        <p:nvSpPr>
          <p:cNvPr id="87" name="Rectangle 86">
            <a:extLst>
              <a:ext uri="{FF2B5EF4-FFF2-40B4-BE49-F238E27FC236}">
                <a16:creationId xmlns:a16="http://schemas.microsoft.com/office/drawing/2014/main" id="{4C2E0F09-69AD-E416-C481-B4D8A14DC01B}"/>
              </a:ext>
            </a:extLst>
          </p:cNvPr>
          <p:cNvSpPr/>
          <p:nvPr/>
        </p:nvSpPr>
        <p:spPr>
          <a:xfrm>
            <a:off x="6876256" y="5517280"/>
            <a:ext cx="1986223" cy="432000"/>
          </a:xfrm>
          <a:prstGeom prst="rect">
            <a:avLst/>
          </a:prstGeom>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a:latin typeface="Arial" panose="020B0604020202020204" pitchFamily="34" charset="0"/>
                <a:cs typeface="Arial" panose="020B0604020202020204" pitchFamily="34" charset="0"/>
              </a:rPr>
              <a:t>14 LR number entered for each  line item</a:t>
            </a:r>
          </a:p>
        </p:txBody>
      </p:sp>
      <p:cxnSp>
        <p:nvCxnSpPr>
          <p:cNvPr id="91" name="Connector: Elbow 90">
            <a:extLst>
              <a:ext uri="{FF2B5EF4-FFF2-40B4-BE49-F238E27FC236}">
                <a16:creationId xmlns:a16="http://schemas.microsoft.com/office/drawing/2014/main" id="{223F5E95-38B3-C670-EB24-B5EA2CE9BC24}"/>
              </a:ext>
            </a:extLst>
          </p:cNvPr>
          <p:cNvCxnSpPr>
            <a:stCxn id="17" idx="2"/>
            <a:endCxn id="87" idx="3"/>
          </p:cNvCxnSpPr>
          <p:nvPr/>
        </p:nvCxnSpPr>
        <p:spPr>
          <a:xfrm rot="16200000" flipH="1">
            <a:off x="8039550" y="4910351"/>
            <a:ext cx="652746" cy="993111"/>
          </a:xfrm>
          <a:prstGeom prst="bentConnector4">
            <a:avLst>
              <a:gd name="adj1" fmla="val 33455"/>
              <a:gd name="adj2" fmla="val 12301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66283D0D-719E-DE84-1B25-C6DD20721052}"/>
              </a:ext>
            </a:extLst>
          </p:cNvPr>
          <p:cNvCxnSpPr>
            <a:cxnSpLocks/>
            <a:stCxn id="87" idx="1"/>
            <a:endCxn id="20" idx="3"/>
          </p:cNvCxnSpPr>
          <p:nvPr/>
        </p:nvCxnSpPr>
        <p:spPr>
          <a:xfrm flipH="1">
            <a:off x="6588224" y="5733280"/>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FB69388A-6798-7C78-BB7E-F3E832F2BD61}"/>
              </a:ext>
            </a:extLst>
          </p:cNvPr>
          <p:cNvCxnSpPr>
            <a:stCxn id="13" idx="1"/>
            <a:endCxn id="14" idx="1"/>
          </p:cNvCxnSpPr>
          <p:nvPr/>
        </p:nvCxnSpPr>
        <p:spPr>
          <a:xfrm rot="10800000" flipV="1">
            <a:off x="320809" y="4160632"/>
            <a:ext cx="334616" cy="726552"/>
          </a:xfrm>
          <a:prstGeom prst="bentConnector3">
            <a:avLst>
              <a:gd name="adj1" fmla="val 1683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3761C3A-941B-05FA-5155-6DBCA2154536}"/>
              </a:ext>
            </a:extLst>
          </p:cNvPr>
          <p:cNvCxnSpPr>
            <a:stCxn id="15" idx="3"/>
            <a:endCxn id="19" idx="1"/>
          </p:cNvCxnSpPr>
          <p:nvPr/>
        </p:nvCxnSpPr>
        <p:spPr>
          <a:xfrm flipV="1">
            <a:off x="4643800" y="4882534"/>
            <a:ext cx="288032" cy="4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875CC86B-30B2-9051-D840-D837E374A7F7}"/>
              </a:ext>
            </a:extLst>
          </p:cNvPr>
          <p:cNvCxnSpPr>
            <a:cxnSpLocks/>
            <a:stCxn id="19" idx="3"/>
            <a:endCxn id="17" idx="1"/>
          </p:cNvCxnSpPr>
          <p:nvPr/>
        </p:nvCxnSpPr>
        <p:spPr>
          <a:xfrm>
            <a:off x="6659832" y="4882534"/>
            <a:ext cx="216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90222299-A4C9-5505-D525-8789A38DEB4D}"/>
              </a:ext>
            </a:extLst>
          </p:cNvPr>
          <p:cNvCxnSpPr>
            <a:stCxn id="20" idx="1"/>
            <a:endCxn id="22" idx="3"/>
          </p:cNvCxnSpPr>
          <p:nvPr/>
        </p:nvCxnSpPr>
        <p:spPr>
          <a:xfrm flipH="1">
            <a:off x="4427984" y="5733280"/>
            <a:ext cx="252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DDC8CB1D-5545-D355-553F-3577D785CDE9}"/>
              </a:ext>
            </a:extLst>
          </p:cNvPr>
          <p:cNvCxnSpPr>
            <a:stCxn id="22" idx="1"/>
            <a:endCxn id="23" idx="3"/>
          </p:cNvCxnSpPr>
          <p:nvPr/>
        </p:nvCxnSpPr>
        <p:spPr>
          <a:xfrm flipH="1">
            <a:off x="1796490" y="5733280"/>
            <a:ext cx="3140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8F9188C2-42CA-3B91-201B-952DCE794A99}"/>
              </a:ext>
            </a:extLst>
          </p:cNvPr>
          <p:cNvSpPr txBox="1"/>
          <p:nvPr/>
        </p:nvSpPr>
        <p:spPr>
          <a:xfrm>
            <a:off x="1582329" y="3645024"/>
            <a:ext cx="428322" cy="261610"/>
          </a:xfrm>
          <a:prstGeom prst="rect">
            <a:avLst/>
          </a:prstGeom>
          <a:noFill/>
        </p:spPr>
        <p:txBody>
          <a:bodyPr wrap="none" rtlCol="0">
            <a:spAutoFit/>
          </a:bodyPr>
          <a:lstStyle/>
          <a:p>
            <a:r>
              <a:rPr lang="en-US" sz="1100"/>
              <a:t>Yes</a:t>
            </a:r>
            <a:endParaRPr lang="en-IN" sz="1100"/>
          </a:p>
        </p:txBody>
      </p:sp>
      <p:sp>
        <p:nvSpPr>
          <p:cNvPr id="107" name="TextBox 106">
            <a:extLst>
              <a:ext uri="{FF2B5EF4-FFF2-40B4-BE49-F238E27FC236}">
                <a16:creationId xmlns:a16="http://schemas.microsoft.com/office/drawing/2014/main" id="{37D27803-85C1-F64B-9235-9620EF734566}"/>
              </a:ext>
            </a:extLst>
          </p:cNvPr>
          <p:cNvSpPr txBox="1"/>
          <p:nvPr/>
        </p:nvSpPr>
        <p:spPr>
          <a:xfrm>
            <a:off x="6588224" y="3645024"/>
            <a:ext cx="428322" cy="261610"/>
          </a:xfrm>
          <a:prstGeom prst="rect">
            <a:avLst/>
          </a:prstGeom>
          <a:noFill/>
        </p:spPr>
        <p:txBody>
          <a:bodyPr wrap="none" rtlCol="0">
            <a:spAutoFit/>
          </a:bodyPr>
          <a:lstStyle/>
          <a:p>
            <a:r>
              <a:rPr lang="en-US" sz="1100"/>
              <a:t>Yes</a:t>
            </a:r>
            <a:endParaRPr lang="en-IN" sz="1100"/>
          </a:p>
        </p:txBody>
      </p:sp>
      <p:cxnSp>
        <p:nvCxnSpPr>
          <p:cNvPr id="109" name="Straight Arrow Connector 108">
            <a:extLst>
              <a:ext uri="{FF2B5EF4-FFF2-40B4-BE49-F238E27FC236}">
                <a16:creationId xmlns:a16="http://schemas.microsoft.com/office/drawing/2014/main" id="{0BABD2D3-D779-26B6-A292-9686B9A6072C}"/>
              </a:ext>
            </a:extLst>
          </p:cNvPr>
          <p:cNvCxnSpPr>
            <a:stCxn id="11" idx="1"/>
            <a:endCxn id="12" idx="3"/>
          </p:cNvCxnSpPr>
          <p:nvPr/>
        </p:nvCxnSpPr>
        <p:spPr>
          <a:xfrm flipH="1">
            <a:off x="2586638" y="3253541"/>
            <a:ext cx="422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44D2170-4E51-ABA4-71F1-4B0B2DDDF6E1}"/>
              </a:ext>
            </a:extLst>
          </p:cNvPr>
          <p:cNvCxnSpPr>
            <a:stCxn id="11" idx="3"/>
            <a:endCxn id="16" idx="1"/>
          </p:cNvCxnSpPr>
          <p:nvPr/>
        </p:nvCxnSpPr>
        <p:spPr>
          <a:xfrm>
            <a:off x="5030851" y="3253541"/>
            <a:ext cx="5711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088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D8BA00C-B08B-3524-062A-CB9EC8C3FBA1}"/>
              </a:ext>
            </a:extLst>
          </p:cNvPr>
          <p:cNvSpPr txBox="1"/>
          <p:nvPr/>
        </p:nvSpPr>
        <p:spPr>
          <a:xfrm>
            <a:off x="-1" y="0"/>
            <a:ext cx="7912100" cy="523220"/>
          </a:xfrm>
          <a:prstGeom prst="rect">
            <a:avLst/>
          </a:prstGeom>
          <a:noFill/>
        </p:spPr>
        <p:txBody>
          <a:bodyPr wrap="square">
            <a:spAutoFit/>
          </a:bodyPr>
          <a:lstStyle/>
          <a:p>
            <a:r>
              <a:rPr lang="en-IN" sz="2800" b="1" spc="-5">
                <a:latin typeface="Calibri" panose="020F0502020204030204"/>
                <a:cs typeface="Calibri" panose="020F0502020204030204"/>
              </a:rPr>
              <a:t>Supplier Warranty Claim (SWC) Flow</a:t>
            </a:r>
            <a:endParaRPr lang="en-IN" sz="2800"/>
          </a:p>
        </p:txBody>
      </p:sp>
      <p:sp>
        <p:nvSpPr>
          <p:cNvPr id="12" name="TextBox 11">
            <a:extLst>
              <a:ext uri="{FF2B5EF4-FFF2-40B4-BE49-F238E27FC236}">
                <a16:creationId xmlns:a16="http://schemas.microsoft.com/office/drawing/2014/main" id="{F8D3D2F9-A5A7-422A-59CD-CC06C173EFA3}"/>
              </a:ext>
            </a:extLst>
          </p:cNvPr>
          <p:cNvSpPr txBox="1"/>
          <p:nvPr/>
        </p:nvSpPr>
        <p:spPr>
          <a:xfrm>
            <a:off x="2596234" y="1234979"/>
            <a:ext cx="1903758" cy="646331"/>
          </a:xfrm>
          <a:prstGeom prst="rect">
            <a:avLst/>
          </a:prstGeom>
          <a:solidFill>
            <a:schemeClr val="tx2">
              <a:lumMod val="20000"/>
              <a:lumOff val="80000"/>
            </a:schemeClr>
          </a:solidFill>
        </p:spPr>
        <p:txBody>
          <a:bodyPr wrap="square" rtlCol="0">
            <a:spAutoFit/>
          </a:bodyPr>
          <a:lstStyle/>
          <a:p>
            <a:r>
              <a:rPr lang="en-US" sz="1200"/>
              <a:t>Branch Coordinator Generate SWC (Supplier Warranty Claim)</a:t>
            </a:r>
            <a:endParaRPr lang="en-IN" sz="1200"/>
          </a:p>
        </p:txBody>
      </p:sp>
      <p:sp>
        <p:nvSpPr>
          <p:cNvPr id="14" name="TextBox 13">
            <a:extLst>
              <a:ext uri="{FF2B5EF4-FFF2-40B4-BE49-F238E27FC236}">
                <a16:creationId xmlns:a16="http://schemas.microsoft.com/office/drawing/2014/main" id="{C39BB4EB-2073-A668-1F99-F5DC32C88028}"/>
              </a:ext>
            </a:extLst>
          </p:cNvPr>
          <p:cNvSpPr txBox="1"/>
          <p:nvPr/>
        </p:nvSpPr>
        <p:spPr>
          <a:xfrm>
            <a:off x="5038931" y="1249697"/>
            <a:ext cx="1535373" cy="830997"/>
          </a:xfrm>
          <a:prstGeom prst="rect">
            <a:avLst/>
          </a:prstGeom>
          <a:solidFill>
            <a:schemeClr val="tx2">
              <a:lumMod val="20000"/>
              <a:lumOff val="80000"/>
            </a:schemeClr>
          </a:solidFill>
        </p:spPr>
        <p:txBody>
          <a:bodyPr wrap="square" rtlCol="0">
            <a:spAutoFit/>
          </a:bodyPr>
          <a:lstStyle/>
          <a:p>
            <a:r>
              <a:rPr lang="en-US" sz="1200"/>
              <a:t>Fills in Required Claim Details (Item, Issue, Supporting Docs)</a:t>
            </a:r>
            <a:endParaRPr lang="en-IN" sz="1200"/>
          </a:p>
        </p:txBody>
      </p:sp>
      <p:sp>
        <p:nvSpPr>
          <p:cNvPr id="15" name="TextBox 14">
            <a:extLst>
              <a:ext uri="{FF2B5EF4-FFF2-40B4-BE49-F238E27FC236}">
                <a16:creationId xmlns:a16="http://schemas.microsoft.com/office/drawing/2014/main" id="{3CB80A76-C360-C99B-B428-7CF34439DE4C}"/>
              </a:ext>
            </a:extLst>
          </p:cNvPr>
          <p:cNvSpPr txBox="1"/>
          <p:nvPr/>
        </p:nvSpPr>
        <p:spPr>
          <a:xfrm>
            <a:off x="4955444" y="3453345"/>
            <a:ext cx="1657115" cy="461665"/>
          </a:xfrm>
          <a:prstGeom prst="rect">
            <a:avLst/>
          </a:prstGeom>
          <a:solidFill>
            <a:schemeClr val="tx2">
              <a:lumMod val="20000"/>
              <a:lumOff val="80000"/>
            </a:schemeClr>
          </a:solidFill>
        </p:spPr>
        <p:txBody>
          <a:bodyPr wrap="square" rtlCol="0">
            <a:spAutoFit/>
          </a:bodyPr>
          <a:lstStyle>
            <a:defPPr lvl="0">
              <a:defRPr lang="en-GB"/>
            </a:defPPr>
            <a:lvl1pPr>
              <a:defRPr sz="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r>
              <a:rPr lang="en-US"/>
              <a:t>Submit Claim to Supplier</a:t>
            </a:r>
            <a:endParaRPr lang="en-IN"/>
          </a:p>
        </p:txBody>
      </p:sp>
      <p:cxnSp>
        <p:nvCxnSpPr>
          <p:cNvPr id="23" name="Straight Arrow Connector 22">
            <a:extLst>
              <a:ext uri="{FF2B5EF4-FFF2-40B4-BE49-F238E27FC236}">
                <a16:creationId xmlns:a16="http://schemas.microsoft.com/office/drawing/2014/main" id="{5206CD0E-30DD-5379-4378-2FDE4C2E20D7}"/>
              </a:ext>
            </a:extLst>
          </p:cNvPr>
          <p:cNvCxnSpPr>
            <a:cxnSpLocks/>
            <a:stCxn id="12" idx="3"/>
            <a:endCxn id="14" idx="1"/>
          </p:cNvCxnSpPr>
          <p:nvPr/>
        </p:nvCxnSpPr>
        <p:spPr>
          <a:xfrm>
            <a:off x="4425703" y="1650478"/>
            <a:ext cx="613228" cy="14718"/>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AB5CC6-8F5F-D2B7-CC8A-49B9123AE3B3}"/>
              </a:ext>
            </a:extLst>
          </p:cNvPr>
          <p:cNvCxnSpPr>
            <a:cxnSpLocks/>
            <a:stCxn id="15" idx="2"/>
            <a:endCxn id="7" idx="0"/>
          </p:cNvCxnSpPr>
          <p:nvPr/>
        </p:nvCxnSpPr>
        <p:spPr>
          <a:xfrm>
            <a:off x="5784002" y="3915010"/>
            <a:ext cx="8433" cy="1945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414FB70-43FE-C1D7-F1E2-D9BE715781CC}"/>
              </a:ext>
            </a:extLst>
          </p:cNvPr>
          <p:cNvSpPr txBox="1"/>
          <p:nvPr/>
        </p:nvSpPr>
        <p:spPr>
          <a:xfrm>
            <a:off x="2015354" y="4143846"/>
            <a:ext cx="1597675" cy="1015663"/>
          </a:xfrm>
          <a:prstGeom prst="rect">
            <a:avLst/>
          </a:prstGeom>
          <a:solidFill>
            <a:schemeClr val="tx2">
              <a:lumMod val="20000"/>
              <a:lumOff val="80000"/>
            </a:schemeClr>
          </a:solidFill>
        </p:spPr>
        <p:txBody>
          <a:bodyPr wrap="square" rtlCol="0">
            <a:spAutoFit/>
          </a:bodyPr>
          <a:lstStyle/>
          <a:p>
            <a:r>
              <a:rPr lang="en-US" sz="1200"/>
              <a:t>Coordinator updates status as Parts Received/ Credit note / Invoice Ref to Supplier</a:t>
            </a:r>
            <a:endParaRPr lang="en-IN" sz="1200"/>
          </a:p>
        </p:txBody>
      </p:sp>
      <p:cxnSp>
        <p:nvCxnSpPr>
          <p:cNvPr id="31" name="Straight Arrow Connector 30">
            <a:extLst>
              <a:ext uri="{FF2B5EF4-FFF2-40B4-BE49-F238E27FC236}">
                <a16:creationId xmlns:a16="http://schemas.microsoft.com/office/drawing/2014/main" id="{552EB9AA-8741-32F5-C676-8E7DBD300EFE}"/>
              </a:ext>
            </a:extLst>
          </p:cNvPr>
          <p:cNvCxnSpPr>
            <a:cxnSpLocks/>
            <a:stCxn id="7" idx="1"/>
            <a:endCxn id="29" idx="3"/>
          </p:cNvCxnSpPr>
          <p:nvPr/>
        </p:nvCxnSpPr>
        <p:spPr>
          <a:xfrm flipH="1">
            <a:off x="3613029" y="4716239"/>
            <a:ext cx="1363226" cy="2777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17C7651-5B31-46E6-FB74-A33EE96BB827}"/>
              </a:ext>
            </a:extLst>
          </p:cNvPr>
          <p:cNvCxnSpPr/>
          <p:nvPr/>
        </p:nvCxnSpPr>
        <p:spPr>
          <a:xfrm flipV="1">
            <a:off x="6580908" y="4680845"/>
            <a:ext cx="721059" cy="2"/>
          </a:xfrm>
          <a:prstGeom prst="straightConnector1">
            <a:avLst/>
          </a:prstGeom>
          <a:ln w="12700">
            <a:prstDash val="sysDash"/>
            <a:tailEnd type="triangle"/>
          </a:ln>
        </p:spPr>
        <p:style>
          <a:lnRef idx="1">
            <a:schemeClr val="accent1"/>
          </a:lnRef>
          <a:fillRef idx="0">
            <a:schemeClr val="accent1"/>
          </a:fillRef>
          <a:effectRef idx="0">
            <a:schemeClr val="accent1"/>
          </a:effectRef>
          <a:fontRef idx="minor">
            <a:schemeClr val="tx1"/>
          </a:fontRef>
        </p:style>
      </p:cxnSp>
      <p:sp>
        <p:nvSpPr>
          <p:cNvPr id="8" name="object 14">
            <a:extLst>
              <a:ext uri="{FF2B5EF4-FFF2-40B4-BE49-F238E27FC236}">
                <a16:creationId xmlns:a16="http://schemas.microsoft.com/office/drawing/2014/main" id="{7A1F6F72-9C69-313C-B5FF-F9D530A2BE42}"/>
              </a:ext>
            </a:extLst>
          </p:cNvPr>
          <p:cNvSpPr txBox="1">
            <a:spLocks noGrp="1"/>
          </p:cNvSpPr>
          <p:nvPr>
            <p:ph type="dt" sz="half" idx="4294967295"/>
          </p:nvPr>
        </p:nvSpPr>
        <p:spPr>
          <a:xfrm>
            <a:off x="536854" y="6490623"/>
            <a:ext cx="777875" cy="179536"/>
          </a:xfrm>
          <a:prstGeom prst="rect">
            <a:avLst/>
          </a:prstGeom>
        </p:spPr>
        <p:txBody>
          <a:bodyPr vert="horz" wrap="square" lIns="0" tIns="0" rIns="0" bIns="0" rtlCol="0">
            <a:spAutoFit/>
          </a:bodyPr>
          <a:lstStyle/>
          <a:p>
            <a:pPr marL="12700">
              <a:lnSpc>
                <a:spcPts val="1425"/>
              </a:lnSpc>
            </a:pPr>
            <a:fld id="{E4E2D7D7-E29A-49B9-BA2B-4367087C0E59}" type="datetime1">
              <a:rPr lang="en-US" sz="1200" spc="-15" smtClean="0"/>
              <a:t>8/12/2025</a:t>
            </a:fld>
            <a:endParaRPr sz="1200" spc="-15"/>
          </a:p>
        </p:txBody>
      </p:sp>
      <p:sp>
        <p:nvSpPr>
          <p:cNvPr id="3" name="Slide Number Placeholder 2"/>
          <p:cNvSpPr>
            <a:spLocks noGrp="1"/>
          </p:cNvSpPr>
          <p:nvPr>
            <p:ph type="sldNum" sz="quarter" idx="4294967295"/>
          </p:nvPr>
        </p:nvSpPr>
        <p:spPr/>
        <p:txBody>
          <a:bodyPr/>
          <a:lstStyle/>
          <a:p>
            <a:fld id="{A00CF1EF-E4EA-4033-B4F7-F014E1B0907A}" type="slidenum">
              <a:rPr lang="en-GB" altLang="en-US" smtClean="0"/>
              <a:t>18</a:t>
            </a:fld>
            <a:endParaRPr lang="en-GB" altLang="en-US"/>
          </a:p>
        </p:txBody>
      </p:sp>
      <p:sp>
        <p:nvSpPr>
          <p:cNvPr id="7" name="Diamond 6"/>
          <p:cNvSpPr/>
          <p:nvPr/>
        </p:nvSpPr>
        <p:spPr>
          <a:xfrm>
            <a:off x="4976255" y="4109572"/>
            <a:ext cx="1632359" cy="121333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t>Pending with Supplier</a:t>
            </a:r>
          </a:p>
        </p:txBody>
      </p:sp>
      <p:sp>
        <p:nvSpPr>
          <p:cNvPr id="30" name="TextBox 29">
            <a:extLst>
              <a:ext uri="{FF2B5EF4-FFF2-40B4-BE49-F238E27FC236}">
                <a16:creationId xmlns:a16="http://schemas.microsoft.com/office/drawing/2014/main" id="{D414FB70-43FE-C1D7-F1E2-D9BE715781CC}"/>
              </a:ext>
            </a:extLst>
          </p:cNvPr>
          <p:cNvSpPr txBox="1"/>
          <p:nvPr/>
        </p:nvSpPr>
        <p:spPr>
          <a:xfrm>
            <a:off x="7346991" y="4415914"/>
            <a:ext cx="1545773" cy="461665"/>
          </a:xfrm>
          <a:prstGeom prst="rect">
            <a:avLst/>
          </a:prstGeom>
          <a:solidFill>
            <a:schemeClr val="tx2">
              <a:lumMod val="20000"/>
              <a:lumOff val="80000"/>
            </a:schemeClr>
          </a:solidFill>
        </p:spPr>
        <p:txBody>
          <a:bodyPr wrap="square" rtlCol="0">
            <a:spAutoFit/>
          </a:bodyPr>
          <a:lstStyle/>
          <a:p>
            <a:r>
              <a:rPr lang="en-US" sz="1200"/>
              <a:t>Coordinator review and resubmit</a:t>
            </a:r>
            <a:endParaRPr lang="en-IN" sz="1200"/>
          </a:p>
        </p:txBody>
      </p:sp>
      <p:sp>
        <p:nvSpPr>
          <p:cNvPr id="33" name="TextBox 32">
            <a:extLst>
              <a:ext uri="{FF2B5EF4-FFF2-40B4-BE49-F238E27FC236}">
                <a16:creationId xmlns:a16="http://schemas.microsoft.com/office/drawing/2014/main" id="{D414FB70-43FE-C1D7-F1E2-D9BE715781CC}"/>
              </a:ext>
            </a:extLst>
          </p:cNvPr>
          <p:cNvSpPr txBox="1"/>
          <p:nvPr/>
        </p:nvSpPr>
        <p:spPr>
          <a:xfrm>
            <a:off x="3994211" y="5344175"/>
            <a:ext cx="896447" cy="58477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1600" b="1">
                <a:solidFill>
                  <a:schemeClr val="tx1"/>
                </a:solidFill>
              </a:rPr>
              <a:t>SWC Close</a:t>
            </a:r>
            <a:endParaRPr lang="en-IN" sz="1600" b="1">
              <a:solidFill>
                <a:schemeClr val="tx1"/>
              </a:solidFill>
            </a:endParaRPr>
          </a:p>
        </p:txBody>
      </p:sp>
      <p:cxnSp>
        <p:nvCxnSpPr>
          <p:cNvPr id="10" name="Elbow Connector 9"/>
          <p:cNvCxnSpPr>
            <a:stCxn id="29" idx="2"/>
            <a:endCxn id="33" idx="1"/>
          </p:cNvCxnSpPr>
          <p:nvPr/>
        </p:nvCxnSpPr>
        <p:spPr>
          <a:xfrm rot="16200000" flipH="1">
            <a:off x="3258007" y="4900359"/>
            <a:ext cx="292388" cy="11800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rot="5400000">
            <a:off x="6190399" y="3804069"/>
            <a:ext cx="629738" cy="322922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284912" y="4314196"/>
            <a:ext cx="902811" cy="276999"/>
          </a:xfrm>
          <a:prstGeom prst="rect">
            <a:avLst/>
          </a:prstGeom>
        </p:spPr>
        <p:txBody>
          <a:bodyPr wrap="none">
            <a:spAutoFit/>
          </a:bodyPr>
          <a:lstStyle/>
          <a:p>
            <a:r>
              <a:rPr lang="en-US" sz="1200" b="1"/>
              <a:t>Approved</a:t>
            </a:r>
            <a:endParaRPr lang="en-IN" sz="1200" b="1"/>
          </a:p>
        </p:txBody>
      </p:sp>
      <p:sp>
        <p:nvSpPr>
          <p:cNvPr id="34" name="Rectangle 33"/>
          <p:cNvSpPr/>
          <p:nvPr/>
        </p:nvSpPr>
        <p:spPr>
          <a:xfrm>
            <a:off x="6487780" y="4314193"/>
            <a:ext cx="859531" cy="276999"/>
          </a:xfrm>
          <a:prstGeom prst="rect">
            <a:avLst/>
          </a:prstGeom>
        </p:spPr>
        <p:txBody>
          <a:bodyPr wrap="none">
            <a:spAutoFit/>
          </a:bodyPr>
          <a:lstStyle/>
          <a:p>
            <a:r>
              <a:rPr lang="en-US" sz="1200" b="1"/>
              <a:t>Returned</a:t>
            </a:r>
            <a:endParaRPr lang="en-IN" sz="1200" b="1"/>
          </a:p>
        </p:txBody>
      </p:sp>
      <p:sp>
        <p:nvSpPr>
          <p:cNvPr id="35" name="Rectangle 34"/>
          <p:cNvSpPr/>
          <p:nvPr/>
        </p:nvSpPr>
        <p:spPr>
          <a:xfrm>
            <a:off x="5850469" y="5242452"/>
            <a:ext cx="824265" cy="276999"/>
          </a:xfrm>
          <a:prstGeom prst="rect">
            <a:avLst/>
          </a:prstGeom>
        </p:spPr>
        <p:txBody>
          <a:bodyPr wrap="none">
            <a:spAutoFit/>
          </a:bodyPr>
          <a:lstStyle/>
          <a:p>
            <a:r>
              <a:rPr lang="en-US" sz="1200" b="1"/>
              <a:t>Rejected</a:t>
            </a:r>
            <a:endParaRPr lang="en-IN" sz="1200" b="1"/>
          </a:p>
        </p:txBody>
      </p:sp>
      <p:cxnSp>
        <p:nvCxnSpPr>
          <p:cNvPr id="25" name="Elbow Connector 24"/>
          <p:cNvCxnSpPr/>
          <p:nvPr/>
        </p:nvCxnSpPr>
        <p:spPr>
          <a:xfrm rot="5400000">
            <a:off x="5215206" y="4942223"/>
            <a:ext cx="227027" cy="92743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1DFDA78-4B21-C285-222B-1E9C059295CD}"/>
              </a:ext>
            </a:extLst>
          </p:cNvPr>
          <p:cNvCxnSpPr>
            <a:cxnSpLocks/>
          </p:cNvCxnSpPr>
          <p:nvPr/>
        </p:nvCxnSpPr>
        <p:spPr>
          <a:xfrm>
            <a:off x="1798112" y="1556792"/>
            <a:ext cx="757664" cy="1353"/>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4" name="Diamond 53">
            <a:extLst>
              <a:ext uri="{FF2B5EF4-FFF2-40B4-BE49-F238E27FC236}">
                <a16:creationId xmlns:a16="http://schemas.microsoft.com/office/drawing/2014/main" id="{2E2DD7E4-85A1-FD17-29CE-539D15EE2B6A}"/>
              </a:ext>
            </a:extLst>
          </p:cNvPr>
          <p:cNvSpPr/>
          <p:nvPr/>
        </p:nvSpPr>
        <p:spPr>
          <a:xfrm>
            <a:off x="6781132" y="964911"/>
            <a:ext cx="1952595" cy="133605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t>Failed Part Mandatory to send</a:t>
            </a:r>
          </a:p>
        </p:txBody>
      </p:sp>
      <p:cxnSp>
        <p:nvCxnSpPr>
          <p:cNvPr id="55" name="Straight Arrow Connector 54">
            <a:extLst>
              <a:ext uri="{FF2B5EF4-FFF2-40B4-BE49-F238E27FC236}">
                <a16:creationId xmlns:a16="http://schemas.microsoft.com/office/drawing/2014/main" id="{FA8F01D1-9B26-39A6-1224-29A315263F3E}"/>
              </a:ext>
            </a:extLst>
          </p:cNvPr>
          <p:cNvCxnSpPr>
            <a:cxnSpLocks/>
            <a:stCxn id="14" idx="3"/>
            <a:endCxn id="54" idx="1"/>
          </p:cNvCxnSpPr>
          <p:nvPr/>
        </p:nvCxnSpPr>
        <p:spPr>
          <a:xfrm flipV="1">
            <a:off x="6574304" y="1632937"/>
            <a:ext cx="206828" cy="3225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CA2D7A02-E39E-5129-6566-3A0EF78EB390}"/>
              </a:ext>
            </a:extLst>
          </p:cNvPr>
          <p:cNvSpPr txBox="1"/>
          <p:nvPr/>
        </p:nvSpPr>
        <p:spPr>
          <a:xfrm>
            <a:off x="1347406" y="2744879"/>
            <a:ext cx="1535373" cy="646331"/>
          </a:xfrm>
          <a:prstGeom prst="rect">
            <a:avLst/>
          </a:prstGeom>
          <a:solidFill>
            <a:schemeClr val="tx2">
              <a:lumMod val="20000"/>
              <a:lumOff val="80000"/>
            </a:schemeClr>
          </a:solidFill>
        </p:spPr>
        <p:txBody>
          <a:bodyPr wrap="square" rtlCol="0">
            <a:spAutoFit/>
          </a:bodyPr>
          <a:lstStyle/>
          <a:p>
            <a:r>
              <a:rPr lang="en-US" sz="1200"/>
              <a:t>Cannot Submit Claim and Refer to FPR Workflow</a:t>
            </a:r>
            <a:endParaRPr lang="en-IN" sz="1200"/>
          </a:p>
        </p:txBody>
      </p:sp>
      <p:sp>
        <p:nvSpPr>
          <p:cNvPr id="86" name="Diamond 85">
            <a:extLst>
              <a:ext uri="{FF2B5EF4-FFF2-40B4-BE49-F238E27FC236}">
                <a16:creationId xmlns:a16="http://schemas.microsoft.com/office/drawing/2014/main" id="{262DC489-2898-533C-6AC6-AD6D0CD7ADFD}"/>
              </a:ext>
            </a:extLst>
          </p:cNvPr>
          <p:cNvSpPr/>
          <p:nvPr/>
        </p:nvSpPr>
        <p:spPr>
          <a:xfrm>
            <a:off x="3421990" y="2517551"/>
            <a:ext cx="1829469" cy="107495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a:t>Failed Part Despatched to Supplier</a:t>
            </a:r>
          </a:p>
        </p:txBody>
      </p:sp>
      <p:cxnSp>
        <p:nvCxnSpPr>
          <p:cNvPr id="93" name="Connector: Elbow 92">
            <a:extLst>
              <a:ext uri="{FF2B5EF4-FFF2-40B4-BE49-F238E27FC236}">
                <a16:creationId xmlns:a16="http://schemas.microsoft.com/office/drawing/2014/main" id="{67A3F6A1-3D54-1248-D642-BF7EE032CA52}"/>
              </a:ext>
            </a:extLst>
          </p:cNvPr>
          <p:cNvCxnSpPr>
            <a:cxnSpLocks/>
            <a:stCxn id="54" idx="2"/>
            <a:endCxn id="86" idx="0"/>
          </p:cNvCxnSpPr>
          <p:nvPr/>
        </p:nvCxnSpPr>
        <p:spPr>
          <a:xfrm rot="5400000">
            <a:off x="5938784" y="698905"/>
            <a:ext cx="216588" cy="34207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014EB879-9499-2415-05BC-73B94421B72C}"/>
              </a:ext>
            </a:extLst>
          </p:cNvPr>
          <p:cNvSpPr txBox="1"/>
          <p:nvPr/>
        </p:nvSpPr>
        <p:spPr>
          <a:xfrm>
            <a:off x="5742998" y="2424010"/>
            <a:ext cx="428322" cy="261610"/>
          </a:xfrm>
          <a:prstGeom prst="rect">
            <a:avLst/>
          </a:prstGeom>
          <a:noFill/>
        </p:spPr>
        <p:txBody>
          <a:bodyPr wrap="none" rtlCol="0">
            <a:spAutoFit/>
          </a:bodyPr>
          <a:lstStyle/>
          <a:p>
            <a:r>
              <a:rPr lang="en-US" sz="1100"/>
              <a:t>Yes</a:t>
            </a:r>
            <a:endParaRPr lang="en-IN" sz="1100"/>
          </a:p>
        </p:txBody>
      </p:sp>
      <p:cxnSp>
        <p:nvCxnSpPr>
          <p:cNvPr id="98" name="Connector: Elbow 97">
            <a:extLst>
              <a:ext uri="{FF2B5EF4-FFF2-40B4-BE49-F238E27FC236}">
                <a16:creationId xmlns:a16="http://schemas.microsoft.com/office/drawing/2014/main" id="{C43183EB-71EF-93E0-CABA-B6BFAB11FE60}"/>
              </a:ext>
            </a:extLst>
          </p:cNvPr>
          <p:cNvCxnSpPr>
            <a:cxnSpLocks/>
            <a:stCxn id="86" idx="3"/>
            <a:endCxn id="15" idx="0"/>
          </p:cNvCxnSpPr>
          <p:nvPr/>
        </p:nvCxnSpPr>
        <p:spPr>
          <a:xfrm>
            <a:off x="5251459" y="3055027"/>
            <a:ext cx="532543" cy="3983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5E66674C-1CF3-0F5E-CE20-43570772EBD4}"/>
              </a:ext>
            </a:extLst>
          </p:cNvPr>
          <p:cNvCxnSpPr>
            <a:cxnSpLocks/>
            <a:stCxn id="54" idx="2"/>
            <a:endCxn id="15" idx="3"/>
          </p:cNvCxnSpPr>
          <p:nvPr/>
        </p:nvCxnSpPr>
        <p:spPr>
          <a:xfrm rot="5400000">
            <a:off x="6493388" y="2420135"/>
            <a:ext cx="1383215" cy="11448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51083675-48C8-1EAE-B77F-30C5A62BEDC8}"/>
              </a:ext>
            </a:extLst>
          </p:cNvPr>
          <p:cNvSpPr txBox="1"/>
          <p:nvPr/>
        </p:nvSpPr>
        <p:spPr>
          <a:xfrm>
            <a:off x="7705675" y="2887119"/>
            <a:ext cx="365806" cy="261610"/>
          </a:xfrm>
          <a:prstGeom prst="rect">
            <a:avLst/>
          </a:prstGeom>
          <a:noFill/>
        </p:spPr>
        <p:txBody>
          <a:bodyPr wrap="none" rtlCol="0">
            <a:spAutoFit/>
          </a:bodyPr>
          <a:lstStyle/>
          <a:p>
            <a:r>
              <a:rPr lang="en-US" sz="1100"/>
              <a:t>No</a:t>
            </a:r>
            <a:endParaRPr lang="en-IN" sz="1100"/>
          </a:p>
        </p:txBody>
      </p:sp>
      <p:sp>
        <p:nvSpPr>
          <p:cNvPr id="105" name="TextBox 104">
            <a:extLst>
              <a:ext uri="{FF2B5EF4-FFF2-40B4-BE49-F238E27FC236}">
                <a16:creationId xmlns:a16="http://schemas.microsoft.com/office/drawing/2014/main" id="{D0C8D98A-48F8-B49C-BF39-D6EC0686E5BD}"/>
              </a:ext>
            </a:extLst>
          </p:cNvPr>
          <p:cNvSpPr txBox="1"/>
          <p:nvPr/>
        </p:nvSpPr>
        <p:spPr>
          <a:xfrm>
            <a:off x="5413659" y="3013974"/>
            <a:ext cx="428322" cy="261610"/>
          </a:xfrm>
          <a:prstGeom prst="rect">
            <a:avLst/>
          </a:prstGeom>
          <a:noFill/>
        </p:spPr>
        <p:txBody>
          <a:bodyPr wrap="none" rtlCol="0">
            <a:spAutoFit/>
          </a:bodyPr>
          <a:lstStyle/>
          <a:p>
            <a:r>
              <a:rPr lang="en-US" sz="1100"/>
              <a:t>Yes</a:t>
            </a:r>
            <a:endParaRPr lang="en-IN" sz="1100"/>
          </a:p>
        </p:txBody>
      </p:sp>
      <p:sp>
        <p:nvSpPr>
          <p:cNvPr id="106" name="TextBox 105">
            <a:extLst>
              <a:ext uri="{FF2B5EF4-FFF2-40B4-BE49-F238E27FC236}">
                <a16:creationId xmlns:a16="http://schemas.microsoft.com/office/drawing/2014/main" id="{FB4F0D62-AB3B-C714-37A7-9582D135B082}"/>
              </a:ext>
            </a:extLst>
          </p:cNvPr>
          <p:cNvSpPr txBox="1"/>
          <p:nvPr/>
        </p:nvSpPr>
        <p:spPr>
          <a:xfrm>
            <a:off x="2970486" y="3067151"/>
            <a:ext cx="365806" cy="261610"/>
          </a:xfrm>
          <a:prstGeom prst="rect">
            <a:avLst/>
          </a:prstGeom>
          <a:noFill/>
        </p:spPr>
        <p:txBody>
          <a:bodyPr wrap="none" rtlCol="0">
            <a:spAutoFit/>
          </a:bodyPr>
          <a:lstStyle/>
          <a:p>
            <a:r>
              <a:rPr lang="en-US" sz="1100"/>
              <a:t>No</a:t>
            </a:r>
            <a:endParaRPr lang="en-IN" sz="1100"/>
          </a:p>
        </p:txBody>
      </p:sp>
      <p:cxnSp>
        <p:nvCxnSpPr>
          <p:cNvPr id="108" name="Straight Arrow Connector 107">
            <a:extLst>
              <a:ext uri="{FF2B5EF4-FFF2-40B4-BE49-F238E27FC236}">
                <a16:creationId xmlns:a16="http://schemas.microsoft.com/office/drawing/2014/main" id="{EE505681-B703-2487-48B3-174C38B418D0}"/>
              </a:ext>
            </a:extLst>
          </p:cNvPr>
          <p:cNvCxnSpPr>
            <a:stCxn id="86" idx="1"/>
            <a:endCxn id="83" idx="3"/>
          </p:cNvCxnSpPr>
          <p:nvPr/>
        </p:nvCxnSpPr>
        <p:spPr>
          <a:xfrm flipH="1">
            <a:off x="2882779" y="3055027"/>
            <a:ext cx="539211" cy="13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AEC5BE90-0AA2-1C1B-13AA-BDCFC0CB83AF}"/>
              </a:ext>
            </a:extLst>
          </p:cNvPr>
          <p:cNvCxnSpPr>
            <a:stCxn id="30" idx="3"/>
            <a:endCxn id="14" idx="0"/>
          </p:cNvCxnSpPr>
          <p:nvPr/>
        </p:nvCxnSpPr>
        <p:spPr>
          <a:xfrm flipH="1" flipV="1">
            <a:off x="5806618" y="1249697"/>
            <a:ext cx="3086146" cy="3489383"/>
          </a:xfrm>
          <a:prstGeom prst="bentConnector4">
            <a:avLst>
              <a:gd name="adj1" fmla="val -5432"/>
              <a:gd name="adj2" fmla="val 11179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8D3D2F9-A5A7-422A-59CD-CC06C173EFA3}"/>
              </a:ext>
            </a:extLst>
          </p:cNvPr>
          <p:cNvSpPr txBox="1"/>
          <p:nvPr/>
        </p:nvSpPr>
        <p:spPr>
          <a:xfrm>
            <a:off x="179511" y="1161246"/>
            <a:ext cx="1725821" cy="830997"/>
          </a:xfrm>
          <a:prstGeom prst="rect">
            <a:avLst/>
          </a:prstGeom>
          <a:solidFill>
            <a:schemeClr val="tx2">
              <a:lumMod val="20000"/>
              <a:lumOff val="80000"/>
            </a:schemeClr>
          </a:solidFill>
        </p:spPr>
        <p:txBody>
          <a:bodyPr wrap="square" rtlCol="0">
            <a:spAutoFit/>
          </a:bodyPr>
          <a:lstStyle/>
          <a:p>
            <a:r>
              <a:rPr lang="en-US" sz="1200"/>
              <a:t>Pre-Condition: Service Job is closed and Failed Parts are received (FPR Ticket)</a:t>
            </a:r>
            <a:endParaRPr lang="en-IN" sz="1200"/>
          </a:p>
        </p:txBody>
      </p:sp>
    </p:spTree>
    <p:extLst>
      <p:ext uri="{BB962C8B-B14F-4D97-AF65-F5344CB8AC3E}">
        <p14:creationId xmlns:p14="http://schemas.microsoft.com/office/powerpoint/2010/main" val="400534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95B8914C-303E-4E84-8B34-1A31B99B164F}" type="datetime1">
              <a:rPr lang="en-GB" smtClean="0"/>
              <a:pPr>
                <a:defRPr/>
              </a:pPr>
              <a:t>12/08/2025</a:t>
            </a:fld>
            <a:endParaRPr lang="en-GB"/>
          </a:p>
        </p:txBody>
      </p:sp>
      <p:sp>
        <p:nvSpPr>
          <p:cNvPr id="3" name="Footer Placeholder 2"/>
          <p:cNvSpPr>
            <a:spLocks noGrp="1"/>
          </p:cNvSpPr>
          <p:nvPr>
            <p:ph type="ftr" sz="quarter" idx="11"/>
          </p:nvPr>
        </p:nvSpPr>
        <p:spPr/>
        <p:txBody>
          <a:bodyPr/>
          <a:lstStyle/>
          <a:p>
            <a:pPr>
              <a:defRPr/>
            </a:pPr>
            <a:r>
              <a:rPr lang="en-US"/>
              <a:t>Confidential to Selfservit, TVS &amp; Sons</a:t>
            </a:r>
          </a:p>
        </p:txBody>
      </p:sp>
      <p:sp>
        <p:nvSpPr>
          <p:cNvPr id="4" name="Slide Number Placeholder 3"/>
          <p:cNvSpPr>
            <a:spLocks noGrp="1"/>
          </p:cNvSpPr>
          <p:nvPr>
            <p:ph type="sldNum" sz="quarter" idx="12"/>
          </p:nvPr>
        </p:nvSpPr>
        <p:spPr/>
        <p:txBody>
          <a:bodyPr/>
          <a:lstStyle/>
          <a:p>
            <a:fld id="{3E6E0AAA-CD81-4600-8AFF-1AFB757A6F8D}" type="slidenum">
              <a:rPr lang="en-GB" altLang="en-US" smtClean="0"/>
              <a:pPr/>
              <a:t>19</a:t>
            </a:fld>
            <a:endParaRPr lang="en-GB" altLang="en-US"/>
          </a:p>
        </p:txBody>
      </p:sp>
      <p:sp>
        <p:nvSpPr>
          <p:cNvPr id="9" name="Oval 8">
            <a:extLst>
              <a:ext uri="{FF2B5EF4-FFF2-40B4-BE49-F238E27FC236}">
                <a16:creationId xmlns:a16="http://schemas.microsoft.com/office/drawing/2014/main" id="{0ED7F00E-B0B2-D50D-5ECC-85192F04E59E}"/>
              </a:ext>
            </a:extLst>
          </p:cNvPr>
          <p:cNvSpPr/>
          <p:nvPr/>
        </p:nvSpPr>
        <p:spPr>
          <a:xfrm>
            <a:off x="457156" y="985482"/>
            <a:ext cx="1477283" cy="9718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t> Internal Service Request</a:t>
            </a:r>
            <a:r>
              <a:rPr lang="en-US" b="1"/>
              <a:t> </a:t>
            </a:r>
            <a:r>
              <a:rPr lang="en-US" sz="1000" b="1"/>
              <a:t>Raised</a:t>
            </a:r>
            <a:endParaRPr lang="en-US"/>
          </a:p>
        </p:txBody>
      </p:sp>
      <p:sp>
        <p:nvSpPr>
          <p:cNvPr id="10" name="Rectangle 9">
            <a:extLst>
              <a:ext uri="{FF2B5EF4-FFF2-40B4-BE49-F238E27FC236}">
                <a16:creationId xmlns:a16="http://schemas.microsoft.com/office/drawing/2014/main" id="{9844988C-CE8E-73D2-B211-ACAC2092074C}"/>
              </a:ext>
            </a:extLst>
          </p:cNvPr>
          <p:cNvSpPr/>
          <p:nvPr/>
        </p:nvSpPr>
        <p:spPr>
          <a:xfrm>
            <a:off x="2583841" y="1194919"/>
            <a:ext cx="1718519" cy="742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Receive Internal Service Request</a:t>
            </a:r>
            <a:endParaRPr lang="en-US"/>
          </a:p>
        </p:txBody>
      </p:sp>
      <p:cxnSp>
        <p:nvCxnSpPr>
          <p:cNvPr id="12" name="Connector: Elbow 11">
            <a:extLst>
              <a:ext uri="{FF2B5EF4-FFF2-40B4-BE49-F238E27FC236}">
                <a16:creationId xmlns:a16="http://schemas.microsoft.com/office/drawing/2014/main" id="{70FE82F0-4D52-7CCA-2FB5-8AF858B9868E}"/>
              </a:ext>
            </a:extLst>
          </p:cNvPr>
          <p:cNvCxnSpPr/>
          <p:nvPr/>
        </p:nvCxnSpPr>
        <p:spPr>
          <a:xfrm>
            <a:off x="1929922" y="1542975"/>
            <a:ext cx="638701" cy="68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2C500242-6CA0-BC71-1019-36C0847A0557}"/>
              </a:ext>
            </a:extLst>
          </p:cNvPr>
          <p:cNvSpPr/>
          <p:nvPr/>
        </p:nvSpPr>
        <p:spPr>
          <a:xfrm>
            <a:off x="4823732" y="1198351"/>
            <a:ext cx="1936780" cy="7306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Verify Required Parts in Inventory</a:t>
            </a:r>
          </a:p>
        </p:txBody>
      </p:sp>
      <p:cxnSp>
        <p:nvCxnSpPr>
          <p:cNvPr id="14" name="Connector: Elbow 13">
            <a:extLst>
              <a:ext uri="{FF2B5EF4-FFF2-40B4-BE49-F238E27FC236}">
                <a16:creationId xmlns:a16="http://schemas.microsoft.com/office/drawing/2014/main" id="{A4CF3479-4675-95BE-16FE-6DDED1DFB360}"/>
              </a:ext>
            </a:extLst>
          </p:cNvPr>
          <p:cNvCxnSpPr/>
          <p:nvPr/>
        </p:nvCxnSpPr>
        <p:spPr>
          <a:xfrm flipV="1">
            <a:off x="4312380" y="1536712"/>
            <a:ext cx="535314"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Diamond 14">
            <a:extLst>
              <a:ext uri="{FF2B5EF4-FFF2-40B4-BE49-F238E27FC236}">
                <a16:creationId xmlns:a16="http://schemas.microsoft.com/office/drawing/2014/main" id="{CF491263-7E59-C5DC-AA16-5FF55DBE45F3}"/>
              </a:ext>
            </a:extLst>
          </p:cNvPr>
          <p:cNvSpPr/>
          <p:nvPr/>
        </p:nvSpPr>
        <p:spPr>
          <a:xfrm>
            <a:off x="7251756" y="960357"/>
            <a:ext cx="1707030" cy="121307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Are Parts Available?</a:t>
            </a:r>
          </a:p>
        </p:txBody>
      </p:sp>
      <p:cxnSp>
        <p:nvCxnSpPr>
          <p:cNvPr id="16" name="Connector: Elbow 15">
            <a:extLst>
              <a:ext uri="{FF2B5EF4-FFF2-40B4-BE49-F238E27FC236}">
                <a16:creationId xmlns:a16="http://schemas.microsoft.com/office/drawing/2014/main" id="{AAFA7F3B-89F9-CF4A-1EE7-E4773D1DC820}"/>
              </a:ext>
            </a:extLst>
          </p:cNvPr>
          <p:cNvCxnSpPr/>
          <p:nvPr/>
        </p:nvCxnSpPr>
        <p:spPr>
          <a:xfrm flipV="1">
            <a:off x="6770246" y="1554777"/>
            <a:ext cx="466388"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8DFCDCE-9379-ECBF-846F-CA4DEBE533FA}"/>
              </a:ext>
            </a:extLst>
          </p:cNvPr>
          <p:cNvSpPr/>
          <p:nvPr/>
        </p:nvSpPr>
        <p:spPr>
          <a:xfrm>
            <a:off x="4848183" y="2838426"/>
            <a:ext cx="1925293" cy="730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Pick Parts from Inventory</a:t>
            </a:r>
          </a:p>
        </p:txBody>
      </p:sp>
      <p:sp>
        <p:nvSpPr>
          <p:cNvPr id="22" name="Rectangle 21">
            <a:extLst>
              <a:ext uri="{FF2B5EF4-FFF2-40B4-BE49-F238E27FC236}">
                <a16:creationId xmlns:a16="http://schemas.microsoft.com/office/drawing/2014/main" id="{BADCBFB8-5603-EB34-9F81-CFED2A278617}"/>
              </a:ext>
            </a:extLst>
          </p:cNvPr>
          <p:cNvSpPr/>
          <p:nvPr/>
        </p:nvSpPr>
        <p:spPr>
          <a:xfrm>
            <a:off x="2629694" y="2836276"/>
            <a:ext cx="1936781" cy="742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Record Issuance in System (Internal Service Mode)</a:t>
            </a:r>
          </a:p>
        </p:txBody>
      </p:sp>
      <p:sp>
        <p:nvSpPr>
          <p:cNvPr id="23" name="Rectangle 22">
            <a:extLst>
              <a:ext uri="{FF2B5EF4-FFF2-40B4-BE49-F238E27FC236}">
                <a16:creationId xmlns:a16="http://schemas.microsoft.com/office/drawing/2014/main" id="{CB9B0444-7EA3-7E1C-24F4-BD5E5B724FAD}"/>
              </a:ext>
            </a:extLst>
          </p:cNvPr>
          <p:cNvSpPr/>
          <p:nvPr/>
        </p:nvSpPr>
        <p:spPr>
          <a:xfrm>
            <a:off x="461776" y="2839901"/>
            <a:ext cx="1810416" cy="730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Hand Over Parts to Service Team</a:t>
            </a:r>
            <a:endParaRPr lang="en-US"/>
          </a:p>
        </p:txBody>
      </p:sp>
      <p:sp>
        <p:nvSpPr>
          <p:cNvPr id="24" name="Oval 23">
            <a:extLst>
              <a:ext uri="{FF2B5EF4-FFF2-40B4-BE49-F238E27FC236}">
                <a16:creationId xmlns:a16="http://schemas.microsoft.com/office/drawing/2014/main" id="{6EABCEC4-9C24-7F5A-16B1-EF7E4C313834}"/>
              </a:ext>
            </a:extLst>
          </p:cNvPr>
          <p:cNvSpPr/>
          <p:nvPr/>
        </p:nvSpPr>
        <p:spPr>
          <a:xfrm>
            <a:off x="624078" y="4162852"/>
            <a:ext cx="1465795" cy="11441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 Internal Service Issuance Completed</a:t>
            </a:r>
            <a:endParaRPr lang="en-US"/>
          </a:p>
        </p:txBody>
      </p:sp>
      <p:sp>
        <p:nvSpPr>
          <p:cNvPr id="26" name="Rectangle 25">
            <a:extLst>
              <a:ext uri="{FF2B5EF4-FFF2-40B4-BE49-F238E27FC236}">
                <a16:creationId xmlns:a16="http://schemas.microsoft.com/office/drawing/2014/main" id="{AB36F09B-0B99-273E-2222-FB7887166783}"/>
              </a:ext>
            </a:extLst>
          </p:cNvPr>
          <p:cNvSpPr/>
          <p:nvPr/>
        </p:nvSpPr>
        <p:spPr>
          <a:xfrm>
            <a:off x="7009813" y="3936536"/>
            <a:ext cx="1913804" cy="8110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Raise Purchase Request or Transfer Reques</a:t>
            </a:r>
          </a:p>
        </p:txBody>
      </p:sp>
      <p:cxnSp>
        <p:nvCxnSpPr>
          <p:cNvPr id="27" name="Connector: Elbow 26">
            <a:extLst>
              <a:ext uri="{FF2B5EF4-FFF2-40B4-BE49-F238E27FC236}">
                <a16:creationId xmlns:a16="http://schemas.microsoft.com/office/drawing/2014/main" id="{6FDDB2BA-DFE3-846B-D15A-6E710E8DD49B}"/>
              </a:ext>
            </a:extLst>
          </p:cNvPr>
          <p:cNvCxnSpPr/>
          <p:nvPr/>
        </p:nvCxnSpPr>
        <p:spPr>
          <a:xfrm flipH="1">
            <a:off x="8100374" y="2149660"/>
            <a:ext cx="16083" cy="177595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1A94CF5E-368F-D440-44AF-7E936926A97C}"/>
              </a:ext>
            </a:extLst>
          </p:cNvPr>
          <p:cNvCxnSpPr/>
          <p:nvPr/>
        </p:nvCxnSpPr>
        <p:spPr>
          <a:xfrm flipH="1">
            <a:off x="6790806" y="3189336"/>
            <a:ext cx="1302676" cy="18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5463DA19-AC57-179C-8621-3054F5E2E4B5}"/>
              </a:ext>
            </a:extLst>
          </p:cNvPr>
          <p:cNvCxnSpPr/>
          <p:nvPr/>
        </p:nvCxnSpPr>
        <p:spPr>
          <a:xfrm flipH="1" flipV="1">
            <a:off x="4578093" y="3209194"/>
            <a:ext cx="280294"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F61FCCB9-88E8-3C03-5863-02118EC27E73}"/>
              </a:ext>
            </a:extLst>
          </p:cNvPr>
          <p:cNvCxnSpPr/>
          <p:nvPr/>
        </p:nvCxnSpPr>
        <p:spPr>
          <a:xfrm flipH="1">
            <a:off x="2326810" y="3203969"/>
            <a:ext cx="268807"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C0EB9368-0444-3DF0-6EA5-82809C8BAEC6}"/>
              </a:ext>
            </a:extLst>
          </p:cNvPr>
          <p:cNvCxnSpPr/>
          <p:nvPr/>
        </p:nvCxnSpPr>
        <p:spPr>
          <a:xfrm>
            <a:off x="1205124" y="3569610"/>
            <a:ext cx="18379" cy="58126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EA473D6-0414-24B2-D17E-86466569B962}"/>
              </a:ext>
            </a:extLst>
          </p:cNvPr>
          <p:cNvSpPr txBox="1"/>
          <p:nvPr/>
        </p:nvSpPr>
        <p:spPr>
          <a:xfrm>
            <a:off x="8121175" y="3430767"/>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Arial Unicode MS"/>
                <a:cs typeface="Arial Unicode MS"/>
              </a:rPr>
              <a:t>NO</a:t>
            </a:r>
            <a:endParaRPr lang="en-US"/>
          </a:p>
          <a:p>
            <a:pPr algn="l"/>
            <a:endParaRPr lang="en-US"/>
          </a:p>
        </p:txBody>
      </p:sp>
      <p:sp>
        <p:nvSpPr>
          <p:cNvPr id="33" name="TextBox 32">
            <a:extLst>
              <a:ext uri="{FF2B5EF4-FFF2-40B4-BE49-F238E27FC236}">
                <a16:creationId xmlns:a16="http://schemas.microsoft.com/office/drawing/2014/main" id="{864A054B-805F-762D-913A-072B58C869C2}"/>
              </a:ext>
            </a:extLst>
          </p:cNvPr>
          <p:cNvSpPr txBox="1"/>
          <p:nvPr/>
        </p:nvSpPr>
        <p:spPr>
          <a:xfrm>
            <a:off x="7220857" y="2902857"/>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Yes</a:t>
            </a:r>
          </a:p>
          <a:p>
            <a:endParaRPr lang="en-US"/>
          </a:p>
        </p:txBody>
      </p:sp>
      <p:sp>
        <p:nvSpPr>
          <p:cNvPr id="36" name="TextBox 35">
            <a:extLst>
              <a:ext uri="{FF2B5EF4-FFF2-40B4-BE49-F238E27FC236}">
                <a16:creationId xmlns:a16="http://schemas.microsoft.com/office/drawing/2014/main" id="{B56DE835-9F72-84C2-257C-8E5A667AA9D1}"/>
              </a:ext>
            </a:extLst>
          </p:cNvPr>
          <p:cNvSpPr txBox="1"/>
          <p:nvPr/>
        </p:nvSpPr>
        <p:spPr>
          <a:xfrm>
            <a:off x="454903" y="19069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latin typeface="Times New Roman"/>
                <a:ea typeface="Arial Unicode MS"/>
                <a:cs typeface="Arial Unicode MS"/>
              </a:rPr>
              <a:t>Internal Service Issuance</a:t>
            </a:r>
            <a:endParaRPr lang="en-US" sz="1800">
              <a:latin typeface="Times New Roman"/>
              <a:ea typeface="Arial Unicode MS"/>
              <a:cs typeface="Arial Unicode MS"/>
            </a:endParaRPr>
          </a:p>
        </p:txBody>
      </p:sp>
    </p:spTree>
    <p:extLst>
      <p:ext uri="{BB962C8B-B14F-4D97-AF65-F5344CB8AC3E}">
        <p14:creationId xmlns:p14="http://schemas.microsoft.com/office/powerpoint/2010/main" val="2478732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FF97F-32E2-280D-4900-B532F46AED0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8F2A4BA-5FE1-D258-D678-4694964034C0}"/>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CA16BA24-4E89-4192-8E88-39976C44B49C}"/>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5B0E6265-950D-1F54-DC91-9A5E9D83930B}"/>
              </a:ext>
            </a:extLst>
          </p:cNvPr>
          <p:cNvSpPr>
            <a:spLocks noGrp="1"/>
          </p:cNvSpPr>
          <p:nvPr>
            <p:ph type="sldNum" sz="quarter" idx="12"/>
          </p:nvPr>
        </p:nvSpPr>
        <p:spPr/>
        <p:txBody>
          <a:bodyPr/>
          <a:lstStyle/>
          <a:p>
            <a:fld id="{3E6E0AAA-CD81-4600-8AFF-1AFB757A6F8D}" type="slidenum">
              <a:rPr lang="en-GB" altLang="en-US"/>
              <a:pPr/>
              <a:t>20</a:t>
            </a:fld>
            <a:endParaRPr lang="en-GB" altLang="en-US"/>
          </a:p>
        </p:txBody>
      </p:sp>
      <p:sp>
        <p:nvSpPr>
          <p:cNvPr id="5" name="Oval 4">
            <a:extLst>
              <a:ext uri="{FF2B5EF4-FFF2-40B4-BE49-F238E27FC236}">
                <a16:creationId xmlns:a16="http://schemas.microsoft.com/office/drawing/2014/main" id="{705D518E-2DA0-F17A-12C6-719ADF455352}"/>
              </a:ext>
            </a:extLst>
          </p:cNvPr>
          <p:cNvSpPr/>
          <p:nvPr/>
        </p:nvSpPr>
        <p:spPr>
          <a:xfrm>
            <a:off x="463326" y="1160411"/>
            <a:ext cx="1546207" cy="10752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Sales Order Received</a:t>
            </a:r>
            <a:endParaRPr lang="en-US"/>
          </a:p>
        </p:txBody>
      </p:sp>
      <p:sp>
        <p:nvSpPr>
          <p:cNvPr id="6" name="Rectangle 5">
            <a:extLst>
              <a:ext uri="{FF2B5EF4-FFF2-40B4-BE49-F238E27FC236}">
                <a16:creationId xmlns:a16="http://schemas.microsoft.com/office/drawing/2014/main" id="{57895965-7A6B-B758-225A-66041983958B}"/>
              </a:ext>
            </a:extLst>
          </p:cNvPr>
          <p:cNvSpPr/>
          <p:nvPr/>
        </p:nvSpPr>
        <p:spPr>
          <a:xfrm>
            <a:off x="2665268" y="1332270"/>
            <a:ext cx="1672568" cy="753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Verify Sales Order Details</a:t>
            </a:r>
          </a:p>
        </p:txBody>
      </p:sp>
      <p:sp>
        <p:nvSpPr>
          <p:cNvPr id="7" name="Rectangle 6">
            <a:extLst>
              <a:ext uri="{FF2B5EF4-FFF2-40B4-BE49-F238E27FC236}">
                <a16:creationId xmlns:a16="http://schemas.microsoft.com/office/drawing/2014/main" id="{5AA2AE6A-019B-B385-2969-C4E6E024512A}"/>
              </a:ext>
            </a:extLst>
          </p:cNvPr>
          <p:cNvSpPr/>
          <p:nvPr/>
        </p:nvSpPr>
        <p:spPr>
          <a:xfrm>
            <a:off x="4874776" y="1321967"/>
            <a:ext cx="1833394" cy="765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Check Stock Availability</a:t>
            </a:r>
          </a:p>
        </p:txBody>
      </p:sp>
      <p:sp>
        <p:nvSpPr>
          <p:cNvPr id="8" name="Diamond 7">
            <a:extLst>
              <a:ext uri="{FF2B5EF4-FFF2-40B4-BE49-F238E27FC236}">
                <a16:creationId xmlns:a16="http://schemas.microsoft.com/office/drawing/2014/main" id="{86E0BD00-BA7A-67F7-F59D-01813DB315E4}"/>
              </a:ext>
            </a:extLst>
          </p:cNvPr>
          <p:cNvSpPr/>
          <p:nvPr/>
        </p:nvSpPr>
        <p:spPr>
          <a:xfrm>
            <a:off x="7000953" y="1162782"/>
            <a:ext cx="1638108" cy="1132661"/>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Are Parts Available?</a:t>
            </a:r>
          </a:p>
        </p:txBody>
      </p:sp>
      <p:sp>
        <p:nvSpPr>
          <p:cNvPr id="9" name="Rectangle 8">
            <a:extLst>
              <a:ext uri="{FF2B5EF4-FFF2-40B4-BE49-F238E27FC236}">
                <a16:creationId xmlns:a16="http://schemas.microsoft.com/office/drawing/2014/main" id="{A02110C0-9558-E600-B03C-6BE30A39AA0F}"/>
              </a:ext>
            </a:extLst>
          </p:cNvPr>
          <p:cNvSpPr/>
          <p:nvPr/>
        </p:nvSpPr>
        <p:spPr>
          <a:xfrm>
            <a:off x="2118399" y="4718479"/>
            <a:ext cx="1844882"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Dispatch to Customer</a:t>
            </a:r>
          </a:p>
        </p:txBody>
      </p:sp>
      <p:sp>
        <p:nvSpPr>
          <p:cNvPr id="10" name="Rectangle 9">
            <a:extLst>
              <a:ext uri="{FF2B5EF4-FFF2-40B4-BE49-F238E27FC236}">
                <a16:creationId xmlns:a16="http://schemas.microsoft.com/office/drawing/2014/main" id="{4246ACB5-D925-1419-AE47-A429FB256EEE}"/>
              </a:ext>
            </a:extLst>
          </p:cNvPr>
          <p:cNvSpPr/>
          <p:nvPr/>
        </p:nvSpPr>
        <p:spPr>
          <a:xfrm>
            <a:off x="4879518" y="2973878"/>
            <a:ext cx="1844879" cy="7765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Pick Parts from Inventory</a:t>
            </a:r>
          </a:p>
        </p:txBody>
      </p:sp>
      <p:sp>
        <p:nvSpPr>
          <p:cNvPr id="11" name="Rectangle 10">
            <a:extLst>
              <a:ext uri="{FF2B5EF4-FFF2-40B4-BE49-F238E27FC236}">
                <a16:creationId xmlns:a16="http://schemas.microsoft.com/office/drawing/2014/main" id="{F4EEF2C1-6A40-563C-4713-FF08B40F7611}"/>
              </a:ext>
            </a:extLst>
          </p:cNvPr>
          <p:cNvSpPr/>
          <p:nvPr/>
        </p:nvSpPr>
        <p:spPr>
          <a:xfrm>
            <a:off x="4733826" y="4653687"/>
            <a:ext cx="1844880"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Raise Procurement Request</a:t>
            </a:r>
          </a:p>
        </p:txBody>
      </p:sp>
      <p:sp>
        <p:nvSpPr>
          <p:cNvPr id="12" name="Oval 11">
            <a:extLst>
              <a:ext uri="{FF2B5EF4-FFF2-40B4-BE49-F238E27FC236}">
                <a16:creationId xmlns:a16="http://schemas.microsoft.com/office/drawing/2014/main" id="{AB3634AC-B540-026F-A2E3-E14E62F9F611}"/>
              </a:ext>
            </a:extLst>
          </p:cNvPr>
          <p:cNvSpPr/>
          <p:nvPr/>
        </p:nvSpPr>
        <p:spPr>
          <a:xfrm>
            <a:off x="7137133" y="4652077"/>
            <a:ext cx="1442820" cy="9143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Sales Issuance Completed</a:t>
            </a:r>
            <a:endParaRPr lang="en-US"/>
          </a:p>
        </p:txBody>
      </p:sp>
      <p:sp>
        <p:nvSpPr>
          <p:cNvPr id="13" name="Parallelogram 12">
            <a:extLst>
              <a:ext uri="{FF2B5EF4-FFF2-40B4-BE49-F238E27FC236}">
                <a16:creationId xmlns:a16="http://schemas.microsoft.com/office/drawing/2014/main" id="{2060FA97-686A-4D85-5FE3-F2038A98D44F}"/>
              </a:ext>
            </a:extLst>
          </p:cNvPr>
          <p:cNvSpPr/>
          <p:nvPr/>
        </p:nvSpPr>
        <p:spPr>
          <a:xfrm>
            <a:off x="2491863" y="2966858"/>
            <a:ext cx="2043246" cy="914399"/>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Generate Delivery Note</a:t>
            </a:r>
            <a:endParaRPr lang="en-US"/>
          </a:p>
        </p:txBody>
      </p:sp>
      <p:sp>
        <p:nvSpPr>
          <p:cNvPr id="14" name="Flowchart: Data 13">
            <a:extLst>
              <a:ext uri="{FF2B5EF4-FFF2-40B4-BE49-F238E27FC236}">
                <a16:creationId xmlns:a16="http://schemas.microsoft.com/office/drawing/2014/main" id="{D67A5DC6-4E2B-DFF7-61DE-950887FA85A1}"/>
              </a:ext>
            </a:extLst>
          </p:cNvPr>
          <p:cNvSpPr/>
          <p:nvPr/>
        </p:nvSpPr>
        <p:spPr>
          <a:xfrm>
            <a:off x="217228" y="3004086"/>
            <a:ext cx="2028679" cy="911321"/>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Generate Sales Invoice</a:t>
            </a:r>
            <a:endParaRPr lang="en-US"/>
          </a:p>
        </p:txBody>
      </p:sp>
      <p:cxnSp>
        <p:nvCxnSpPr>
          <p:cNvPr id="33" name="Connector: Elbow 32">
            <a:extLst>
              <a:ext uri="{FF2B5EF4-FFF2-40B4-BE49-F238E27FC236}">
                <a16:creationId xmlns:a16="http://schemas.microsoft.com/office/drawing/2014/main" id="{9D8F7B2E-E60D-3715-4984-C51544DB65FF}"/>
              </a:ext>
            </a:extLst>
          </p:cNvPr>
          <p:cNvCxnSpPr/>
          <p:nvPr/>
        </p:nvCxnSpPr>
        <p:spPr>
          <a:xfrm>
            <a:off x="1993890" y="1678806"/>
            <a:ext cx="661676"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A75D7EE-C572-F13E-28D1-6E260A17280F}"/>
              </a:ext>
            </a:extLst>
          </p:cNvPr>
          <p:cNvCxnSpPr>
            <a:cxnSpLocks/>
          </p:cNvCxnSpPr>
          <p:nvPr/>
        </p:nvCxnSpPr>
        <p:spPr>
          <a:xfrm flipV="1">
            <a:off x="4337326" y="1685700"/>
            <a:ext cx="523827" cy="459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652CF71-2EBE-8977-8898-3CAD49401D12}"/>
              </a:ext>
            </a:extLst>
          </p:cNvPr>
          <p:cNvCxnSpPr>
            <a:cxnSpLocks/>
          </p:cNvCxnSpPr>
          <p:nvPr/>
        </p:nvCxnSpPr>
        <p:spPr>
          <a:xfrm>
            <a:off x="6726713" y="1713268"/>
            <a:ext cx="259617"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7436D77-CB8F-AF2E-2061-B66D0B9A3D76}"/>
              </a:ext>
            </a:extLst>
          </p:cNvPr>
          <p:cNvCxnSpPr>
            <a:cxnSpLocks/>
          </p:cNvCxnSpPr>
          <p:nvPr/>
        </p:nvCxnSpPr>
        <p:spPr>
          <a:xfrm flipH="1">
            <a:off x="6732997" y="3311237"/>
            <a:ext cx="1054207" cy="68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A67EF3EF-9F42-3983-8BDE-33BAF69F4385}"/>
              </a:ext>
            </a:extLst>
          </p:cNvPr>
          <p:cNvCxnSpPr>
            <a:cxnSpLocks/>
          </p:cNvCxnSpPr>
          <p:nvPr/>
        </p:nvCxnSpPr>
        <p:spPr>
          <a:xfrm flipH="1">
            <a:off x="4493555" y="3459358"/>
            <a:ext cx="452604"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1F10B25-370B-4E87-F8E3-C15983D932C2}"/>
              </a:ext>
            </a:extLst>
          </p:cNvPr>
          <p:cNvCxnSpPr>
            <a:cxnSpLocks/>
          </p:cNvCxnSpPr>
          <p:nvPr/>
        </p:nvCxnSpPr>
        <p:spPr>
          <a:xfrm flipH="1">
            <a:off x="2123374" y="3468902"/>
            <a:ext cx="487370" cy="1898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F41831F3-BEAC-CC1B-44F8-8D66E5BA4B13}"/>
              </a:ext>
            </a:extLst>
          </p:cNvPr>
          <p:cNvCxnSpPr/>
          <p:nvPr/>
        </p:nvCxnSpPr>
        <p:spPr>
          <a:xfrm>
            <a:off x="7809780" y="2291110"/>
            <a:ext cx="31448" cy="159173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859892AC-B180-93F7-2819-D2F78A3C52FC}"/>
              </a:ext>
            </a:extLst>
          </p:cNvPr>
          <p:cNvCxnSpPr/>
          <p:nvPr/>
        </p:nvCxnSpPr>
        <p:spPr>
          <a:xfrm flipH="1">
            <a:off x="5507705" y="3933769"/>
            <a:ext cx="2363408" cy="725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15FFA69C-9019-1162-5490-2A89A78A25D2}"/>
              </a:ext>
            </a:extLst>
          </p:cNvPr>
          <p:cNvCxnSpPr/>
          <p:nvPr/>
        </p:nvCxnSpPr>
        <p:spPr>
          <a:xfrm flipH="1">
            <a:off x="5504131" y="3948545"/>
            <a:ext cx="16933" cy="5636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82FCEAE4-BB29-D4D1-89C3-EB825081503E}"/>
              </a:ext>
            </a:extLst>
          </p:cNvPr>
          <p:cNvCxnSpPr/>
          <p:nvPr/>
        </p:nvCxnSpPr>
        <p:spPr>
          <a:xfrm>
            <a:off x="796765" y="3888427"/>
            <a:ext cx="1313542" cy="121678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DE514E57-CA38-235A-A184-AC3DABD83C63}"/>
              </a:ext>
            </a:extLst>
          </p:cNvPr>
          <p:cNvCxnSpPr/>
          <p:nvPr/>
        </p:nvCxnSpPr>
        <p:spPr>
          <a:xfrm flipV="1">
            <a:off x="3977676" y="5139271"/>
            <a:ext cx="751084" cy="54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591722E2-3BBE-757E-61E8-C54622F321D6}"/>
              </a:ext>
            </a:extLst>
          </p:cNvPr>
          <p:cNvCxnSpPr/>
          <p:nvPr/>
        </p:nvCxnSpPr>
        <p:spPr>
          <a:xfrm>
            <a:off x="6555801" y="5114233"/>
            <a:ext cx="503162" cy="193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469C5E0-D3A0-1B57-70E6-E07596A5184D}"/>
              </a:ext>
            </a:extLst>
          </p:cNvPr>
          <p:cNvSpPr txBox="1"/>
          <p:nvPr/>
        </p:nvSpPr>
        <p:spPr>
          <a:xfrm>
            <a:off x="7003554" y="299900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Yes</a:t>
            </a:r>
            <a:endParaRPr lang="en-US"/>
          </a:p>
        </p:txBody>
      </p:sp>
      <p:sp>
        <p:nvSpPr>
          <p:cNvPr id="31" name="TextBox 30">
            <a:extLst>
              <a:ext uri="{FF2B5EF4-FFF2-40B4-BE49-F238E27FC236}">
                <a16:creationId xmlns:a16="http://schemas.microsoft.com/office/drawing/2014/main" id="{0EE13874-3B4E-EA87-EF4D-396705B305CC}"/>
              </a:ext>
            </a:extLst>
          </p:cNvPr>
          <p:cNvSpPr txBox="1"/>
          <p:nvPr/>
        </p:nvSpPr>
        <p:spPr>
          <a:xfrm>
            <a:off x="7021423" y="361036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No</a:t>
            </a:r>
            <a:endParaRPr lang="en-US"/>
          </a:p>
        </p:txBody>
      </p:sp>
      <p:sp>
        <p:nvSpPr>
          <p:cNvPr id="32" name="TextBox 31">
            <a:extLst>
              <a:ext uri="{FF2B5EF4-FFF2-40B4-BE49-F238E27FC236}">
                <a16:creationId xmlns:a16="http://schemas.microsoft.com/office/drawing/2014/main" id="{B04B8C79-204A-4B8D-F65D-E4F10AA0788B}"/>
              </a:ext>
            </a:extLst>
          </p:cNvPr>
          <p:cNvSpPr txBox="1"/>
          <p:nvPr/>
        </p:nvSpPr>
        <p:spPr>
          <a:xfrm>
            <a:off x="909204" y="363681"/>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ea typeface="Arial Unicode MS"/>
                <a:cs typeface="Arial"/>
              </a:rPr>
              <a:t>Customer Sales Issuance</a:t>
            </a:r>
            <a:endParaRPr lang="en-US" sz="1600">
              <a:latin typeface="Times New Roman"/>
              <a:ea typeface="Arial Unicode MS"/>
            </a:endParaRPr>
          </a:p>
        </p:txBody>
      </p:sp>
    </p:spTree>
    <p:extLst>
      <p:ext uri="{BB962C8B-B14F-4D97-AF65-F5344CB8AC3E}">
        <p14:creationId xmlns:p14="http://schemas.microsoft.com/office/powerpoint/2010/main" val="600222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F4C680-4A4F-F54F-DDC2-50516BA76A00}"/>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C40A2715-EC1D-5AC0-D17E-E068F34A5BBA}"/>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95DFF8D8-B9DB-0FD1-A8EC-A3839D503AEF}"/>
              </a:ext>
            </a:extLst>
          </p:cNvPr>
          <p:cNvSpPr>
            <a:spLocks noGrp="1"/>
          </p:cNvSpPr>
          <p:nvPr>
            <p:ph type="sldNum" sz="quarter" idx="12"/>
          </p:nvPr>
        </p:nvSpPr>
        <p:spPr/>
        <p:txBody>
          <a:bodyPr/>
          <a:lstStyle/>
          <a:p>
            <a:fld id="{3E6E0AAA-CD81-4600-8AFF-1AFB757A6F8D}" type="slidenum">
              <a:rPr lang="en-GB" altLang="en-US"/>
              <a:pPr/>
              <a:t>21</a:t>
            </a:fld>
            <a:endParaRPr lang="en-GB" altLang="en-US"/>
          </a:p>
        </p:txBody>
      </p:sp>
      <p:sp>
        <p:nvSpPr>
          <p:cNvPr id="5" name="Oval 4">
            <a:extLst>
              <a:ext uri="{FF2B5EF4-FFF2-40B4-BE49-F238E27FC236}">
                <a16:creationId xmlns:a16="http://schemas.microsoft.com/office/drawing/2014/main" id="{003933F7-062C-A9F2-E6B2-F7E886ED2D35}"/>
              </a:ext>
            </a:extLst>
          </p:cNvPr>
          <p:cNvSpPr/>
          <p:nvPr/>
        </p:nvSpPr>
        <p:spPr>
          <a:xfrm>
            <a:off x="320206" y="1039764"/>
            <a:ext cx="1546205" cy="9143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 Warranty Claim Received</a:t>
            </a:r>
            <a:endParaRPr lang="en-US"/>
          </a:p>
        </p:txBody>
      </p:sp>
      <p:sp>
        <p:nvSpPr>
          <p:cNvPr id="6" name="Rectangle 5">
            <a:extLst>
              <a:ext uri="{FF2B5EF4-FFF2-40B4-BE49-F238E27FC236}">
                <a16:creationId xmlns:a16="http://schemas.microsoft.com/office/drawing/2014/main" id="{9AF8A7FC-4654-CB39-5619-1C4743484BF6}"/>
              </a:ext>
            </a:extLst>
          </p:cNvPr>
          <p:cNvSpPr/>
          <p:nvPr/>
        </p:nvSpPr>
        <p:spPr>
          <a:xfrm>
            <a:off x="2280508" y="1167669"/>
            <a:ext cx="1925293" cy="6501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Verify Claim and Warranty Validity</a:t>
            </a:r>
          </a:p>
        </p:txBody>
      </p:sp>
      <p:sp>
        <p:nvSpPr>
          <p:cNvPr id="7" name="Diamond 6">
            <a:extLst>
              <a:ext uri="{FF2B5EF4-FFF2-40B4-BE49-F238E27FC236}">
                <a16:creationId xmlns:a16="http://schemas.microsoft.com/office/drawing/2014/main" id="{29C82C95-05C7-A3D5-3D8A-ADBF792B9CE8}"/>
              </a:ext>
            </a:extLst>
          </p:cNvPr>
          <p:cNvSpPr/>
          <p:nvPr/>
        </p:nvSpPr>
        <p:spPr>
          <a:xfrm>
            <a:off x="4568888" y="686110"/>
            <a:ext cx="1936778" cy="130497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Is Claim Approved?</a:t>
            </a:r>
            <a:endParaRPr lang="en-US"/>
          </a:p>
        </p:txBody>
      </p:sp>
      <p:sp>
        <p:nvSpPr>
          <p:cNvPr id="8" name="Rectangle 7">
            <a:extLst>
              <a:ext uri="{FF2B5EF4-FFF2-40B4-BE49-F238E27FC236}">
                <a16:creationId xmlns:a16="http://schemas.microsoft.com/office/drawing/2014/main" id="{8B56B9B6-F454-9792-7106-7F7B68A341C4}"/>
              </a:ext>
            </a:extLst>
          </p:cNvPr>
          <p:cNvSpPr/>
          <p:nvPr/>
        </p:nvSpPr>
        <p:spPr>
          <a:xfrm>
            <a:off x="6947267" y="1036702"/>
            <a:ext cx="1580671" cy="7650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Check Stock Availability</a:t>
            </a:r>
            <a:endParaRPr lang="en-US"/>
          </a:p>
        </p:txBody>
      </p:sp>
      <p:sp>
        <p:nvSpPr>
          <p:cNvPr id="9" name="Diamond 8">
            <a:extLst>
              <a:ext uri="{FF2B5EF4-FFF2-40B4-BE49-F238E27FC236}">
                <a16:creationId xmlns:a16="http://schemas.microsoft.com/office/drawing/2014/main" id="{1BB2F015-960D-6886-360B-902C3C1C0456}"/>
              </a:ext>
            </a:extLst>
          </p:cNvPr>
          <p:cNvSpPr/>
          <p:nvPr/>
        </p:nvSpPr>
        <p:spPr>
          <a:xfrm>
            <a:off x="6986640" y="2255738"/>
            <a:ext cx="1707030" cy="120158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Are Parts Available?</a:t>
            </a:r>
            <a:endParaRPr lang="en-US"/>
          </a:p>
        </p:txBody>
      </p:sp>
      <p:sp>
        <p:nvSpPr>
          <p:cNvPr id="10" name="Rectangle 9">
            <a:extLst>
              <a:ext uri="{FF2B5EF4-FFF2-40B4-BE49-F238E27FC236}">
                <a16:creationId xmlns:a16="http://schemas.microsoft.com/office/drawing/2014/main" id="{13AC88C2-FC50-1054-CAE9-562A28B1979E}"/>
              </a:ext>
            </a:extLst>
          </p:cNvPr>
          <p:cNvSpPr/>
          <p:nvPr/>
        </p:nvSpPr>
        <p:spPr>
          <a:xfrm>
            <a:off x="6954251" y="4039376"/>
            <a:ext cx="1879343" cy="902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Pick Parts from Inventory</a:t>
            </a:r>
          </a:p>
        </p:txBody>
      </p:sp>
      <p:sp>
        <p:nvSpPr>
          <p:cNvPr id="11" name="Flowchart: Data 10">
            <a:extLst>
              <a:ext uri="{FF2B5EF4-FFF2-40B4-BE49-F238E27FC236}">
                <a16:creationId xmlns:a16="http://schemas.microsoft.com/office/drawing/2014/main" id="{E5D039C7-FFE8-8EFB-DD65-A53CE614AB3B}"/>
              </a:ext>
            </a:extLst>
          </p:cNvPr>
          <p:cNvSpPr/>
          <p:nvPr/>
        </p:nvSpPr>
        <p:spPr>
          <a:xfrm>
            <a:off x="4223708" y="4217028"/>
            <a:ext cx="2143554" cy="899833"/>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Generate Delivery Note (if applicable)</a:t>
            </a:r>
          </a:p>
        </p:txBody>
      </p:sp>
      <p:sp>
        <p:nvSpPr>
          <p:cNvPr id="12" name="Oval 11">
            <a:extLst>
              <a:ext uri="{FF2B5EF4-FFF2-40B4-BE49-F238E27FC236}">
                <a16:creationId xmlns:a16="http://schemas.microsoft.com/office/drawing/2014/main" id="{7D9D0858-4CF2-9103-CCA3-964F4E5A1AC6}"/>
              </a:ext>
            </a:extLst>
          </p:cNvPr>
          <p:cNvSpPr/>
          <p:nvPr/>
        </p:nvSpPr>
        <p:spPr>
          <a:xfrm>
            <a:off x="2079655" y="4214143"/>
            <a:ext cx="1523233" cy="91439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 Warranty Issuance Completed</a:t>
            </a:r>
            <a:endParaRPr lang="en-US"/>
          </a:p>
        </p:txBody>
      </p:sp>
      <p:sp>
        <p:nvSpPr>
          <p:cNvPr id="13" name="Rectangle 12">
            <a:extLst>
              <a:ext uri="{FF2B5EF4-FFF2-40B4-BE49-F238E27FC236}">
                <a16:creationId xmlns:a16="http://schemas.microsoft.com/office/drawing/2014/main" id="{073D1B0C-12D4-EB29-EA91-E1E45CC6437D}"/>
              </a:ext>
            </a:extLst>
          </p:cNvPr>
          <p:cNvSpPr/>
          <p:nvPr/>
        </p:nvSpPr>
        <p:spPr>
          <a:xfrm>
            <a:off x="1860432" y="2566378"/>
            <a:ext cx="1959755" cy="8569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Notify Customer of Claim Rejection</a:t>
            </a:r>
          </a:p>
        </p:txBody>
      </p:sp>
      <p:sp>
        <p:nvSpPr>
          <p:cNvPr id="14" name="Rectangle 13">
            <a:extLst>
              <a:ext uri="{FF2B5EF4-FFF2-40B4-BE49-F238E27FC236}">
                <a16:creationId xmlns:a16="http://schemas.microsoft.com/office/drawing/2014/main" id="{6B3C0C15-900A-E0C7-98AE-C4676993F5B2}"/>
              </a:ext>
            </a:extLst>
          </p:cNvPr>
          <p:cNvSpPr/>
          <p:nvPr/>
        </p:nvSpPr>
        <p:spPr>
          <a:xfrm>
            <a:off x="4369653" y="2538975"/>
            <a:ext cx="1948268" cy="8799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Raise Procurement or Transfer Request</a:t>
            </a:r>
          </a:p>
        </p:txBody>
      </p:sp>
      <p:cxnSp>
        <p:nvCxnSpPr>
          <p:cNvPr id="16" name="Connector: Elbow 15">
            <a:extLst>
              <a:ext uri="{FF2B5EF4-FFF2-40B4-BE49-F238E27FC236}">
                <a16:creationId xmlns:a16="http://schemas.microsoft.com/office/drawing/2014/main" id="{66B44241-B2FE-1502-D145-67CFFE4DFBEF}"/>
              </a:ext>
            </a:extLst>
          </p:cNvPr>
          <p:cNvCxnSpPr/>
          <p:nvPr/>
        </p:nvCxnSpPr>
        <p:spPr>
          <a:xfrm>
            <a:off x="1854385" y="1476742"/>
            <a:ext cx="385978" cy="18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E4D42EB0-3AB3-DEFB-3853-0060223A48C7}"/>
              </a:ext>
            </a:extLst>
          </p:cNvPr>
          <p:cNvCxnSpPr/>
          <p:nvPr/>
        </p:nvCxnSpPr>
        <p:spPr>
          <a:xfrm>
            <a:off x="4210878" y="1454400"/>
            <a:ext cx="408951" cy="1837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A46855D8-C1CD-C3AF-EF16-8D9B15E448C1}"/>
              </a:ext>
            </a:extLst>
          </p:cNvPr>
          <p:cNvCxnSpPr/>
          <p:nvPr/>
        </p:nvCxnSpPr>
        <p:spPr>
          <a:xfrm flipV="1">
            <a:off x="6423552" y="1319825"/>
            <a:ext cx="397464"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54B29B1-23CA-A32C-B59D-6C95985D35AD}"/>
              </a:ext>
            </a:extLst>
          </p:cNvPr>
          <p:cNvCxnSpPr/>
          <p:nvPr/>
        </p:nvCxnSpPr>
        <p:spPr>
          <a:xfrm>
            <a:off x="7836886" y="1805449"/>
            <a:ext cx="6890" cy="4434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EE17A71-0496-DCF1-7DAA-D27ED794A1B1}"/>
              </a:ext>
            </a:extLst>
          </p:cNvPr>
          <p:cNvSpPr txBox="1"/>
          <p:nvPr/>
        </p:nvSpPr>
        <p:spPr>
          <a:xfrm>
            <a:off x="6396325" y="860849"/>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yes</a:t>
            </a:r>
            <a:endParaRPr lang="en-US"/>
          </a:p>
        </p:txBody>
      </p:sp>
      <p:cxnSp>
        <p:nvCxnSpPr>
          <p:cNvPr id="21" name="Connector: Elbow 20">
            <a:extLst>
              <a:ext uri="{FF2B5EF4-FFF2-40B4-BE49-F238E27FC236}">
                <a16:creationId xmlns:a16="http://schemas.microsoft.com/office/drawing/2014/main" id="{D373ACF5-97AC-44AD-5A86-77507F9EA493}"/>
              </a:ext>
            </a:extLst>
          </p:cNvPr>
          <p:cNvCxnSpPr/>
          <p:nvPr/>
        </p:nvCxnSpPr>
        <p:spPr>
          <a:xfrm>
            <a:off x="7839871" y="3432618"/>
            <a:ext cx="6892" cy="4663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AE44BC8-6DCD-CCAF-B246-D0835D24471C}"/>
              </a:ext>
            </a:extLst>
          </p:cNvPr>
          <p:cNvSpPr txBox="1"/>
          <p:nvPr/>
        </p:nvSpPr>
        <p:spPr>
          <a:xfrm>
            <a:off x="7900750" y="3507514"/>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yes</a:t>
            </a:r>
            <a:endParaRPr lang="en-US"/>
          </a:p>
        </p:txBody>
      </p:sp>
      <p:cxnSp>
        <p:nvCxnSpPr>
          <p:cNvPr id="24" name="Connector: Elbow 23">
            <a:extLst>
              <a:ext uri="{FF2B5EF4-FFF2-40B4-BE49-F238E27FC236}">
                <a16:creationId xmlns:a16="http://schemas.microsoft.com/office/drawing/2014/main" id="{335CB70C-63FE-353A-D7C1-9700A1BD533F}"/>
              </a:ext>
            </a:extLst>
          </p:cNvPr>
          <p:cNvCxnSpPr/>
          <p:nvPr/>
        </p:nvCxnSpPr>
        <p:spPr>
          <a:xfrm flipH="1" flipV="1">
            <a:off x="6357546" y="2835281"/>
            <a:ext cx="647892" cy="160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C56747B5-671B-D83A-65A1-5A1D8623E5B3}"/>
              </a:ext>
            </a:extLst>
          </p:cNvPr>
          <p:cNvCxnSpPr/>
          <p:nvPr/>
        </p:nvCxnSpPr>
        <p:spPr>
          <a:xfrm flipH="1">
            <a:off x="2370874" y="2016929"/>
            <a:ext cx="5461128" cy="689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E506C204-A6FE-87CF-2A10-1DE5ADE9A65C}"/>
              </a:ext>
            </a:extLst>
          </p:cNvPr>
          <p:cNvCxnSpPr/>
          <p:nvPr/>
        </p:nvCxnSpPr>
        <p:spPr>
          <a:xfrm>
            <a:off x="2375217" y="2024167"/>
            <a:ext cx="18379" cy="4204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BEA53F8-81F0-9B2C-B4F8-8AB122B1BC63}"/>
              </a:ext>
            </a:extLst>
          </p:cNvPr>
          <p:cNvSpPr txBox="1"/>
          <p:nvPr/>
        </p:nvSpPr>
        <p:spPr>
          <a:xfrm>
            <a:off x="6425905" y="1647612"/>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No</a:t>
            </a:r>
          </a:p>
        </p:txBody>
      </p:sp>
      <p:sp>
        <p:nvSpPr>
          <p:cNvPr id="28" name="TextBox 27">
            <a:extLst>
              <a:ext uri="{FF2B5EF4-FFF2-40B4-BE49-F238E27FC236}">
                <a16:creationId xmlns:a16="http://schemas.microsoft.com/office/drawing/2014/main" id="{C9C7DCB1-E38D-BB5B-071B-4D168A9B6645}"/>
              </a:ext>
            </a:extLst>
          </p:cNvPr>
          <p:cNvSpPr txBox="1"/>
          <p:nvPr/>
        </p:nvSpPr>
        <p:spPr>
          <a:xfrm>
            <a:off x="6555252" y="2452466"/>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No</a:t>
            </a:r>
            <a:endParaRPr lang="en-US"/>
          </a:p>
        </p:txBody>
      </p:sp>
      <p:cxnSp>
        <p:nvCxnSpPr>
          <p:cNvPr id="29" name="Connector: Elbow 28">
            <a:extLst>
              <a:ext uri="{FF2B5EF4-FFF2-40B4-BE49-F238E27FC236}">
                <a16:creationId xmlns:a16="http://schemas.microsoft.com/office/drawing/2014/main" id="{A2B3E14D-0449-1300-D027-8D8EA6722002}"/>
              </a:ext>
            </a:extLst>
          </p:cNvPr>
          <p:cNvCxnSpPr/>
          <p:nvPr/>
        </p:nvCxnSpPr>
        <p:spPr>
          <a:xfrm flipH="1">
            <a:off x="6323715" y="4504493"/>
            <a:ext cx="647892" cy="689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45D3210-331D-62C8-CC1B-6C8F37A803CB}"/>
              </a:ext>
            </a:extLst>
          </p:cNvPr>
          <p:cNvCxnSpPr/>
          <p:nvPr/>
        </p:nvCxnSpPr>
        <p:spPr>
          <a:xfrm flipH="1">
            <a:off x="3651723" y="4572784"/>
            <a:ext cx="728305" cy="1837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F49411-DB69-3737-6A19-F7CD95AFF46A}"/>
              </a:ext>
            </a:extLst>
          </p:cNvPr>
          <p:cNvSpPr txBox="1"/>
          <p:nvPr/>
        </p:nvSpPr>
        <p:spPr>
          <a:xfrm>
            <a:off x="1189972" y="375780"/>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3" name="TextBox 32">
            <a:extLst>
              <a:ext uri="{FF2B5EF4-FFF2-40B4-BE49-F238E27FC236}">
                <a16:creationId xmlns:a16="http://schemas.microsoft.com/office/drawing/2014/main" id="{B7F32F1E-ADD7-272D-EF57-2845B40E48BF}"/>
              </a:ext>
            </a:extLst>
          </p:cNvPr>
          <p:cNvSpPr txBox="1"/>
          <p:nvPr/>
        </p:nvSpPr>
        <p:spPr>
          <a:xfrm>
            <a:off x="469726" y="328808"/>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4" name="TextBox 33">
            <a:extLst>
              <a:ext uri="{FF2B5EF4-FFF2-40B4-BE49-F238E27FC236}">
                <a16:creationId xmlns:a16="http://schemas.microsoft.com/office/drawing/2014/main" id="{2E8E6275-EDE9-0967-A854-19924819BE32}"/>
              </a:ext>
            </a:extLst>
          </p:cNvPr>
          <p:cNvSpPr txBox="1"/>
          <p:nvPr/>
        </p:nvSpPr>
        <p:spPr>
          <a:xfrm>
            <a:off x="1189972" y="688931"/>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5" name="TextBox 34">
            <a:extLst>
              <a:ext uri="{FF2B5EF4-FFF2-40B4-BE49-F238E27FC236}">
                <a16:creationId xmlns:a16="http://schemas.microsoft.com/office/drawing/2014/main" id="{9638021D-AA47-4E01-734B-D133F24F8F3F}"/>
              </a:ext>
            </a:extLst>
          </p:cNvPr>
          <p:cNvSpPr txBox="1"/>
          <p:nvPr/>
        </p:nvSpPr>
        <p:spPr>
          <a:xfrm>
            <a:off x="1080369" y="563671"/>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CFAE1B88-8102-B848-0DB2-6FE2F022560C}"/>
              </a:ext>
            </a:extLst>
          </p:cNvPr>
          <p:cNvSpPr txBox="1"/>
          <p:nvPr/>
        </p:nvSpPr>
        <p:spPr>
          <a:xfrm>
            <a:off x="672134" y="333201"/>
            <a:ext cx="39354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latin typeface="Times New Roman"/>
                <a:ea typeface="Arial Unicode MS"/>
                <a:cs typeface="Arial"/>
              </a:rPr>
              <a:t>Warranty / Replacement Issuance</a:t>
            </a:r>
            <a:endParaRPr lang="en-US" sz="1800">
              <a:latin typeface="Times New Roman"/>
              <a:ea typeface="Arial Unicode MS"/>
            </a:endParaRPr>
          </a:p>
        </p:txBody>
      </p:sp>
    </p:spTree>
    <p:extLst>
      <p:ext uri="{BB962C8B-B14F-4D97-AF65-F5344CB8AC3E}">
        <p14:creationId xmlns:p14="http://schemas.microsoft.com/office/powerpoint/2010/main" val="1305950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1EB71C-E3EE-1F8D-B19C-581D4524FDDD}"/>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7F994E9A-1703-50E6-5051-BE234908E4A9}"/>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F2D36FD6-7466-FB27-1BE7-78B9ED7006FA}"/>
              </a:ext>
            </a:extLst>
          </p:cNvPr>
          <p:cNvSpPr>
            <a:spLocks noGrp="1"/>
          </p:cNvSpPr>
          <p:nvPr>
            <p:ph type="sldNum" sz="quarter" idx="12"/>
          </p:nvPr>
        </p:nvSpPr>
        <p:spPr/>
        <p:txBody>
          <a:bodyPr/>
          <a:lstStyle/>
          <a:p>
            <a:fld id="{3E6E0AAA-CD81-4600-8AFF-1AFB757A6F8D}" type="slidenum">
              <a:rPr lang="en-GB" altLang="en-US"/>
              <a:pPr/>
              <a:t>22</a:t>
            </a:fld>
            <a:endParaRPr lang="en-GB" altLang="en-US"/>
          </a:p>
        </p:txBody>
      </p:sp>
      <p:sp>
        <p:nvSpPr>
          <p:cNvPr id="5" name="Oval 4">
            <a:extLst>
              <a:ext uri="{FF2B5EF4-FFF2-40B4-BE49-F238E27FC236}">
                <a16:creationId xmlns:a16="http://schemas.microsoft.com/office/drawing/2014/main" id="{B8FE3480-C0D7-8D3D-54EC-829179FB07AF}"/>
              </a:ext>
            </a:extLst>
          </p:cNvPr>
          <p:cNvSpPr/>
          <p:nvPr/>
        </p:nvSpPr>
        <p:spPr>
          <a:xfrm>
            <a:off x="442343" y="1235264"/>
            <a:ext cx="1439414" cy="9253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 Transfer Request Raised</a:t>
            </a:r>
            <a:endParaRPr lang="en-US"/>
          </a:p>
        </p:txBody>
      </p:sp>
      <p:sp>
        <p:nvSpPr>
          <p:cNvPr id="6" name="Rectangle 5">
            <a:extLst>
              <a:ext uri="{FF2B5EF4-FFF2-40B4-BE49-F238E27FC236}">
                <a16:creationId xmlns:a16="http://schemas.microsoft.com/office/drawing/2014/main" id="{2AA2E56C-0816-C9CA-9460-2BC1EE462D48}"/>
              </a:ext>
            </a:extLst>
          </p:cNvPr>
          <p:cNvSpPr/>
          <p:nvPr/>
        </p:nvSpPr>
        <p:spPr>
          <a:xfrm>
            <a:off x="2289576" y="1234951"/>
            <a:ext cx="1800360" cy="881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Verify Transfer Request</a:t>
            </a:r>
          </a:p>
        </p:txBody>
      </p:sp>
      <p:sp>
        <p:nvSpPr>
          <p:cNvPr id="8" name="Rectangle 7">
            <a:extLst>
              <a:ext uri="{FF2B5EF4-FFF2-40B4-BE49-F238E27FC236}">
                <a16:creationId xmlns:a16="http://schemas.microsoft.com/office/drawing/2014/main" id="{376B4C09-41BD-7D7C-9834-648FBBF3FF3D}"/>
              </a:ext>
            </a:extLst>
          </p:cNvPr>
          <p:cNvSpPr/>
          <p:nvPr/>
        </p:nvSpPr>
        <p:spPr>
          <a:xfrm>
            <a:off x="4782273" y="1234929"/>
            <a:ext cx="1767548" cy="870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Check Stock Availability</a:t>
            </a:r>
          </a:p>
        </p:txBody>
      </p:sp>
      <p:sp>
        <p:nvSpPr>
          <p:cNvPr id="9" name="Diamond 8">
            <a:extLst>
              <a:ext uri="{FF2B5EF4-FFF2-40B4-BE49-F238E27FC236}">
                <a16:creationId xmlns:a16="http://schemas.microsoft.com/office/drawing/2014/main" id="{435BDB55-3CCD-DD34-27BA-BBBCC2C7C67B}"/>
              </a:ext>
            </a:extLst>
          </p:cNvPr>
          <p:cNvSpPr/>
          <p:nvPr/>
        </p:nvSpPr>
        <p:spPr>
          <a:xfrm>
            <a:off x="7034107" y="961210"/>
            <a:ext cx="1822236" cy="1351911"/>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Are Parts Available?</a:t>
            </a:r>
          </a:p>
        </p:txBody>
      </p:sp>
      <p:sp>
        <p:nvSpPr>
          <p:cNvPr id="10" name="Rectangle 9">
            <a:extLst>
              <a:ext uri="{FF2B5EF4-FFF2-40B4-BE49-F238E27FC236}">
                <a16:creationId xmlns:a16="http://schemas.microsoft.com/office/drawing/2014/main" id="{E0677BE7-3438-AE70-CE05-E6649999E687}"/>
              </a:ext>
            </a:extLst>
          </p:cNvPr>
          <p:cNvSpPr/>
          <p:nvPr/>
        </p:nvSpPr>
        <p:spPr>
          <a:xfrm>
            <a:off x="4779308" y="2727126"/>
            <a:ext cx="1767548" cy="717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Raise Procurement or Alternative Transfer Request</a:t>
            </a:r>
            <a:endParaRPr lang="en-US"/>
          </a:p>
        </p:txBody>
      </p:sp>
      <p:sp>
        <p:nvSpPr>
          <p:cNvPr id="11" name="Flowchart: Data 10">
            <a:extLst>
              <a:ext uri="{FF2B5EF4-FFF2-40B4-BE49-F238E27FC236}">
                <a16:creationId xmlns:a16="http://schemas.microsoft.com/office/drawing/2014/main" id="{E67D6546-7CDA-A6FA-60D5-306FDA1B2A0F}"/>
              </a:ext>
            </a:extLst>
          </p:cNvPr>
          <p:cNvSpPr/>
          <p:nvPr/>
        </p:nvSpPr>
        <p:spPr>
          <a:xfrm>
            <a:off x="3957854" y="4104799"/>
            <a:ext cx="2062867" cy="722025"/>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Generate internal Transfer Notes</a:t>
            </a:r>
            <a:endParaRPr lang="en-US"/>
          </a:p>
        </p:txBody>
      </p:sp>
      <p:sp>
        <p:nvSpPr>
          <p:cNvPr id="12" name="Oval 11">
            <a:extLst>
              <a:ext uri="{FF2B5EF4-FFF2-40B4-BE49-F238E27FC236}">
                <a16:creationId xmlns:a16="http://schemas.microsoft.com/office/drawing/2014/main" id="{7377E187-2A78-C7CF-4D33-8E9DB92DC893}"/>
              </a:ext>
            </a:extLst>
          </p:cNvPr>
          <p:cNvSpPr/>
          <p:nvPr/>
        </p:nvSpPr>
        <p:spPr>
          <a:xfrm>
            <a:off x="1566640" y="4011463"/>
            <a:ext cx="1439414"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Transfer Completed</a:t>
            </a:r>
            <a:endParaRPr lang="en-US"/>
          </a:p>
        </p:txBody>
      </p:sp>
      <p:sp>
        <p:nvSpPr>
          <p:cNvPr id="13" name="Rectangle 12">
            <a:extLst>
              <a:ext uri="{FF2B5EF4-FFF2-40B4-BE49-F238E27FC236}">
                <a16:creationId xmlns:a16="http://schemas.microsoft.com/office/drawing/2014/main" id="{356B2954-2F4F-9543-821A-DC5D1E86E6E0}"/>
              </a:ext>
            </a:extLst>
          </p:cNvPr>
          <p:cNvSpPr/>
          <p:nvPr/>
        </p:nvSpPr>
        <p:spPr>
          <a:xfrm>
            <a:off x="6782693" y="4109627"/>
            <a:ext cx="1767549" cy="7393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Pick Parts from Inventory</a:t>
            </a:r>
            <a:endParaRPr lang="en-US"/>
          </a:p>
        </p:txBody>
      </p:sp>
      <p:cxnSp>
        <p:nvCxnSpPr>
          <p:cNvPr id="20" name="Connector: Elbow 19">
            <a:extLst>
              <a:ext uri="{FF2B5EF4-FFF2-40B4-BE49-F238E27FC236}">
                <a16:creationId xmlns:a16="http://schemas.microsoft.com/office/drawing/2014/main" id="{9A1A2EA3-0969-B069-B6D7-36ABD24EB5E3}"/>
              </a:ext>
            </a:extLst>
          </p:cNvPr>
          <p:cNvCxnSpPr/>
          <p:nvPr/>
        </p:nvCxnSpPr>
        <p:spPr>
          <a:xfrm flipV="1">
            <a:off x="1874722" y="1635313"/>
            <a:ext cx="389387" cy="437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D50E0307-0249-0DFC-EE72-E02853C9A420}"/>
              </a:ext>
            </a:extLst>
          </p:cNvPr>
          <p:cNvCxnSpPr/>
          <p:nvPr/>
        </p:nvCxnSpPr>
        <p:spPr>
          <a:xfrm flipV="1">
            <a:off x="4082843" y="1635313"/>
            <a:ext cx="662832" cy="437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AA941F43-7F99-CAFE-51B1-9541ED34604D}"/>
              </a:ext>
            </a:extLst>
          </p:cNvPr>
          <p:cNvCxnSpPr/>
          <p:nvPr/>
        </p:nvCxnSpPr>
        <p:spPr>
          <a:xfrm flipV="1">
            <a:off x="6553294" y="1575146"/>
            <a:ext cx="444076" cy="1137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F5C6DE1C-1728-5316-D6F7-0944FDE77F3D}"/>
              </a:ext>
            </a:extLst>
          </p:cNvPr>
          <p:cNvCxnSpPr/>
          <p:nvPr/>
        </p:nvCxnSpPr>
        <p:spPr>
          <a:xfrm flipH="1">
            <a:off x="7920800" y="2317459"/>
            <a:ext cx="59063" cy="176754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CE57301C-DCC4-8110-4E63-71B786E64286}"/>
              </a:ext>
            </a:extLst>
          </p:cNvPr>
          <p:cNvCxnSpPr/>
          <p:nvPr/>
        </p:nvCxnSpPr>
        <p:spPr>
          <a:xfrm flipH="1">
            <a:off x="5947203" y="4481828"/>
            <a:ext cx="879398" cy="65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87FA76A1-BF87-0137-2FDD-B15DB3971D6F}"/>
              </a:ext>
            </a:extLst>
          </p:cNvPr>
          <p:cNvCxnSpPr/>
          <p:nvPr/>
        </p:nvCxnSpPr>
        <p:spPr>
          <a:xfrm flipH="1">
            <a:off x="3039318" y="4459970"/>
            <a:ext cx="1054405" cy="65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CF72066F-14CE-EFEB-B87E-C20228ABBF3E}"/>
              </a:ext>
            </a:extLst>
          </p:cNvPr>
          <p:cNvCxnSpPr/>
          <p:nvPr/>
        </p:nvCxnSpPr>
        <p:spPr>
          <a:xfrm flipH="1">
            <a:off x="6662932" y="3071734"/>
            <a:ext cx="1196596" cy="2844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8055877-57CA-B5B1-AF43-C11D83B38133}"/>
              </a:ext>
            </a:extLst>
          </p:cNvPr>
          <p:cNvSpPr txBox="1"/>
          <p:nvPr/>
        </p:nvSpPr>
        <p:spPr>
          <a:xfrm>
            <a:off x="8198442" y="321378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Yes</a:t>
            </a:r>
            <a:endParaRPr lang="en-US"/>
          </a:p>
        </p:txBody>
      </p:sp>
      <p:sp>
        <p:nvSpPr>
          <p:cNvPr id="28" name="TextBox 27">
            <a:extLst>
              <a:ext uri="{FF2B5EF4-FFF2-40B4-BE49-F238E27FC236}">
                <a16:creationId xmlns:a16="http://schemas.microsoft.com/office/drawing/2014/main" id="{169E0573-45CA-8500-8B9F-12CDB5C0EC7E}"/>
              </a:ext>
            </a:extLst>
          </p:cNvPr>
          <p:cNvSpPr txBox="1"/>
          <p:nvPr/>
        </p:nvSpPr>
        <p:spPr>
          <a:xfrm>
            <a:off x="7034244" y="278743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No</a:t>
            </a:r>
            <a:endParaRPr lang="en-US"/>
          </a:p>
        </p:txBody>
      </p:sp>
      <p:sp>
        <p:nvSpPr>
          <p:cNvPr id="29" name="TextBox 28">
            <a:extLst>
              <a:ext uri="{FF2B5EF4-FFF2-40B4-BE49-F238E27FC236}">
                <a16:creationId xmlns:a16="http://schemas.microsoft.com/office/drawing/2014/main" id="{858DCD48-7C7D-0639-5213-EE9ED1B5A3AB}"/>
              </a:ext>
            </a:extLst>
          </p:cNvPr>
          <p:cNvSpPr txBox="1"/>
          <p:nvPr/>
        </p:nvSpPr>
        <p:spPr>
          <a:xfrm>
            <a:off x="1016606" y="541097"/>
            <a:ext cx="320258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ea typeface="Arial Unicode MS"/>
                <a:cs typeface="Arial"/>
              </a:rPr>
              <a:t>Inter-Warehouse Stock Transfer</a:t>
            </a:r>
            <a:endParaRPr lang="en-US" sz="1600">
              <a:latin typeface="Times New Roman"/>
              <a:ea typeface="Arial Unicode MS"/>
            </a:endParaRPr>
          </a:p>
        </p:txBody>
      </p:sp>
    </p:spTree>
    <p:extLst>
      <p:ext uri="{BB962C8B-B14F-4D97-AF65-F5344CB8AC3E}">
        <p14:creationId xmlns:p14="http://schemas.microsoft.com/office/powerpoint/2010/main" val="3013750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C681A7-6793-2A2A-E635-11E6ECF95E64}"/>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F3E4CBB0-67FD-6691-EA1E-D06E4AA8B845}"/>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AB20C702-6C68-B3A3-616C-8960EC15B1DC}"/>
              </a:ext>
            </a:extLst>
          </p:cNvPr>
          <p:cNvSpPr>
            <a:spLocks noGrp="1"/>
          </p:cNvSpPr>
          <p:nvPr>
            <p:ph type="sldNum" sz="quarter" idx="12"/>
          </p:nvPr>
        </p:nvSpPr>
        <p:spPr/>
        <p:txBody>
          <a:bodyPr/>
          <a:lstStyle/>
          <a:p>
            <a:fld id="{3E6E0AAA-CD81-4600-8AFF-1AFB757A6F8D}" type="slidenum">
              <a:rPr lang="en-GB" altLang="en-US"/>
              <a:pPr/>
              <a:t>23</a:t>
            </a:fld>
            <a:endParaRPr lang="en-GB" altLang="en-US"/>
          </a:p>
        </p:txBody>
      </p:sp>
      <p:sp>
        <p:nvSpPr>
          <p:cNvPr id="5" name="Oval 4">
            <a:extLst>
              <a:ext uri="{FF2B5EF4-FFF2-40B4-BE49-F238E27FC236}">
                <a16:creationId xmlns:a16="http://schemas.microsoft.com/office/drawing/2014/main" id="{13595FC7-0772-6B88-4AF9-69494D4C139B}"/>
              </a:ext>
            </a:extLst>
          </p:cNvPr>
          <p:cNvSpPr/>
          <p:nvPr/>
        </p:nvSpPr>
        <p:spPr>
          <a:xfrm>
            <a:off x="294705" y="1151728"/>
            <a:ext cx="1747935" cy="11240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Consignment Request Received</a:t>
            </a:r>
            <a:endParaRPr lang="en-US"/>
          </a:p>
        </p:txBody>
      </p:sp>
      <p:sp>
        <p:nvSpPr>
          <p:cNvPr id="6" name="Rectangle 5">
            <a:extLst>
              <a:ext uri="{FF2B5EF4-FFF2-40B4-BE49-F238E27FC236}">
                <a16:creationId xmlns:a16="http://schemas.microsoft.com/office/drawing/2014/main" id="{84B619A2-0E8E-19A7-8D10-B0328DDB570F}"/>
              </a:ext>
            </a:extLst>
          </p:cNvPr>
          <p:cNvSpPr/>
          <p:nvPr/>
        </p:nvSpPr>
        <p:spPr>
          <a:xfrm>
            <a:off x="2411776" y="1326995"/>
            <a:ext cx="1800225" cy="771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Verify Agent / Partner Details</a:t>
            </a:r>
            <a:endParaRPr lang="en-US"/>
          </a:p>
        </p:txBody>
      </p:sp>
      <p:sp>
        <p:nvSpPr>
          <p:cNvPr id="7" name="Rectangle 6">
            <a:extLst>
              <a:ext uri="{FF2B5EF4-FFF2-40B4-BE49-F238E27FC236}">
                <a16:creationId xmlns:a16="http://schemas.microsoft.com/office/drawing/2014/main" id="{D8C3F0EA-9B30-B28D-EC71-8463581A1D33}"/>
              </a:ext>
            </a:extLst>
          </p:cNvPr>
          <p:cNvSpPr/>
          <p:nvPr/>
        </p:nvSpPr>
        <p:spPr>
          <a:xfrm>
            <a:off x="4738221" y="1326318"/>
            <a:ext cx="1814512" cy="771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Check Stock Availability</a:t>
            </a:r>
          </a:p>
        </p:txBody>
      </p:sp>
      <p:sp>
        <p:nvSpPr>
          <p:cNvPr id="8" name="Diamond 7">
            <a:extLst>
              <a:ext uri="{FF2B5EF4-FFF2-40B4-BE49-F238E27FC236}">
                <a16:creationId xmlns:a16="http://schemas.microsoft.com/office/drawing/2014/main" id="{F6526722-B76F-D8BA-D527-FF1509E66558}"/>
              </a:ext>
            </a:extLst>
          </p:cNvPr>
          <p:cNvSpPr/>
          <p:nvPr/>
        </p:nvSpPr>
        <p:spPr>
          <a:xfrm>
            <a:off x="7067057" y="971242"/>
            <a:ext cx="1757363" cy="147161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Are Parts Available?</a:t>
            </a:r>
            <a:endParaRPr lang="en-US"/>
          </a:p>
        </p:txBody>
      </p:sp>
      <p:sp>
        <p:nvSpPr>
          <p:cNvPr id="9" name="Rectangle 8">
            <a:extLst>
              <a:ext uri="{FF2B5EF4-FFF2-40B4-BE49-F238E27FC236}">
                <a16:creationId xmlns:a16="http://schemas.microsoft.com/office/drawing/2014/main" id="{AD60B33E-9CAC-3B19-A8FF-560E37C49A87}"/>
              </a:ext>
            </a:extLst>
          </p:cNvPr>
          <p:cNvSpPr/>
          <p:nvPr/>
        </p:nvSpPr>
        <p:spPr>
          <a:xfrm>
            <a:off x="6870741" y="3833804"/>
            <a:ext cx="195738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Pick Parts from Inventory</a:t>
            </a:r>
            <a:endParaRPr lang="en-US"/>
          </a:p>
        </p:txBody>
      </p:sp>
      <p:sp>
        <p:nvSpPr>
          <p:cNvPr id="10" name="Flowchart: Data 9">
            <a:extLst>
              <a:ext uri="{FF2B5EF4-FFF2-40B4-BE49-F238E27FC236}">
                <a16:creationId xmlns:a16="http://schemas.microsoft.com/office/drawing/2014/main" id="{9129CD2F-6F1A-1E7F-6B52-9CDC6BFB36C2}"/>
              </a:ext>
            </a:extLst>
          </p:cNvPr>
          <p:cNvSpPr/>
          <p:nvPr/>
        </p:nvSpPr>
        <p:spPr>
          <a:xfrm>
            <a:off x="3268352" y="3989139"/>
            <a:ext cx="2371724" cy="755523"/>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Generate Delivery Note</a:t>
            </a:r>
            <a:endParaRPr lang="en-US"/>
          </a:p>
        </p:txBody>
      </p:sp>
      <p:sp>
        <p:nvSpPr>
          <p:cNvPr id="11" name="Oval 10">
            <a:extLst>
              <a:ext uri="{FF2B5EF4-FFF2-40B4-BE49-F238E27FC236}">
                <a16:creationId xmlns:a16="http://schemas.microsoft.com/office/drawing/2014/main" id="{C70DD16B-9961-FBB7-60C8-B2A3CB290F41}"/>
              </a:ext>
            </a:extLst>
          </p:cNvPr>
          <p:cNvSpPr/>
          <p:nvPr/>
        </p:nvSpPr>
        <p:spPr>
          <a:xfrm>
            <a:off x="458870" y="3856479"/>
            <a:ext cx="1582965" cy="9026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Consignment Issuance Completed</a:t>
            </a:r>
            <a:endParaRPr lang="en-US"/>
          </a:p>
        </p:txBody>
      </p:sp>
      <p:sp>
        <p:nvSpPr>
          <p:cNvPr id="12" name="Rectangle 11">
            <a:extLst>
              <a:ext uri="{FF2B5EF4-FFF2-40B4-BE49-F238E27FC236}">
                <a16:creationId xmlns:a16="http://schemas.microsoft.com/office/drawing/2014/main" id="{FC2CF723-9C81-9489-6327-C799A3373BB0}"/>
              </a:ext>
            </a:extLst>
          </p:cNvPr>
          <p:cNvSpPr/>
          <p:nvPr/>
        </p:nvSpPr>
        <p:spPr>
          <a:xfrm>
            <a:off x="4745760" y="2653681"/>
            <a:ext cx="1814512" cy="771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Raise Procurement Request</a:t>
            </a:r>
            <a:endParaRPr lang="en-US"/>
          </a:p>
        </p:txBody>
      </p:sp>
      <p:cxnSp>
        <p:nvCxnSpPr>
          <p:cNvPr id="21" name="Connector: Elbow 20">
            <a:extLst>
              <a:ext uri="{FF2B5EF4-FFF2-40B4-BE49-F238E27FC236}">
                <a16:creationId xmlns:a16="http://schemas.microsoft.com/office/drawing/2014/main" id="{6DA534E5-D0CC-DE36-C3F8-66D2E835A05E}"/>
              </a:ext>
            </a:extLst>
          </p:cNvPr>
          <p:cNvCxnSpPr/>
          <p:nvPr/>
        </p:nvCxnSpPr>
        <p:spPr>
          <a:xfrm flipV="1">
            <a:off x="2045464" y="1709100"/>
            <a:ext cx="356573" cy="43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CD68AB80-960D-E277-A6E2-3529FC9472D1}"/>
              </a:ext>
            </a:extLst>
          </p:cNvPr>
          <p:cNvCxnSpPr/>
          <p:nvPr/>
        </p:nvCxnSpPr>
        <p:spPr>
          <a:xfrm>
            <a:off x="4210368" y="1713474"/>
            <a:ext cx="509702" cy="175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D389ABEA-182B-5D94-FB5E-E3F76FF7431B}"/>
              </a:ext>
            </a:extLst>
          </p:cNvPr>
          <p:cNvCxnSpPr/>
          <p:nvPr/>
        </p:nvCxnSpPr>
        <p:spPr>
          <a:xfrm flipV="1">
            <a:off x="6554720" y="1692839"/>
            <a:ext cx="334697" cy="43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5E174D8-F8DC-18FF-0DAA-A2BF791C0EBB}"/>
              </a:ext>
            </a:extLst>
          </p:cNvPr>
          <p:cNvCxnSpPr/>
          <p:nvPr/>
        </p:nvCxnSpPr>
        <p:spPr>
          <a:xfrm>
            <a:off x="7939156" y="2431559"/>
            <a:ext cx="28440" cy="142847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1E0D9639-6E8B-12AB-D86E-8BD314A896A8}"/>
              </a:ext>
            </a:extLst>
          </p:cNvPr>
          <p:cNvCxnSpPr/>
          <p:nvPr/>
        </p:nvCxnSpPr>
        <p:spPr>
          <a:xfrm flipH="1">
            <a:off x="5558863" y="4283686"/>
            <a:ext cx="1360661" cy="175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FA855A5-3674-DE09-C085-789854AC99A6}"/>
              </a:ext>
            </a:extLst>
          </p:cNvPr>
          <p:cNvCxnSpPr/>
          <p:nvPr/>
        </p:nvCxnSpPr>
        <p:spPr>
          <a:xfrm flipH="1">
            <a:off x="2033181" y="4362618"/>
            <a:ext cx="1415350" cy="175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82486B6B-47B5-7AF1-6560-7ECBB35508CF}"/>
              </a:ext>
            </a:extLst>
          </p:cNvPr>
          <p:cNvCxnSpPr/>
          <p:nvPr/>
        </p:nvCxnSpPr>
        <p:spPr>
          <a:xfrm flipH="1" flipV="1">
            <a:off x="6712410" y="3030865"/>
            <a:ext cx="1262221" cy="437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81DE093-5B17-C944-301D-F54B71D7454A}"/>
              </a:ext>
            </a:extLst>
          </p:cNvPr>
          <p:cNvSpPr txBox="1"/>
          <p:nvPr/>
        </p:nvSpPr>
        <p:spPr>
          <a:xfrm>
            <a:off x="8120094" y="303909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yes</a:t>
            </a:r>
          </a:p>
        </p:txBody>
      </p:sp>
      <p:sp>
        <p:nvSpPr>
          <p:cNvPr id="29" name="TextBox 28">
            <a:extLst>
              <a:ext uri="{FF2B5EF4-FFF2-40B4-BE49-F238E27FC236}">
                <a16:creationId xmlns:a16="http://schemas.microsoft.com/office/drawing/2014/main" id="{64CDF4E3-5C91-2931-E108-8ECB18AC9F3B}"/>
              </a:ext>
            </a:extLst>
          </p:cNvPr>
          <p:cNvSpPr txBox="1"/>
          <p:nvPr/>
        </p:nvSpPr>
        <p:spPr>
          <a:xfrm>
            <a:off x="7323662" y="265092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No</a:t>
            </a:r>
          </a:p>
        </p:txBody>
      </p:sp>
      <p:sp>
        <p:nvSpPr>
          <p:cNvPr id="32" name="TextBox 31">
            <a:extLst>
              <a:ext uri="{FF2B5EF4-FFF2-40B4-BE49-F238E27FC236}">
                <a16:creationId xmlns:a16="http://schemas.microsoft.com/office/drawing/2014/main" id="{E8DADFDB-CBE8-E9F2-94B5-E202EDA903D3}"/>
              </a:ext>
            </a:extLst>
          </p:cNvPr>
          <p:cNvSpPr txBox="1"/>
          <p:nvPr/>
        </p:nvSpPr>
        <p:spPr>
          <a:xfrm>
            <a:off x="455012" y="334697"/>
            <a:ext cx="329008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Consignment / Third-Party Service</a:t>
            </a:r>
            <a:endParaRPr lang="en-US"/>
          </a:p>
        </p:txBody>
      </p:sp>
    </p:spTree>
    <p:extLst>
      <p:ext uri="{BB962C8B-B14F-4D97-AF65-F5344CB8AC3E}">
        <p14:creationId xmlns:p14="http://schemas.microsoft.com/office/powerpoint/2010/main" val="2800543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B28B2F-98E6-8E7C-CDED-B851F4BC1BEB}"/>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BD56A12C-2DC4-BF58-B504-6B7678D8CB70}"/>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E5E7B7B9-A8D0-650B-7712-75C9C8DF89CD}"/>
              </a:ext>
            </a:extLst>
          </p:cNvPr>
          <p:cNvSpPr>
            <a:spLocks noGrp="1"/>
          </p:cNvSpPr>
          <p:nvPr>
            <p:ph type="sldNum" sz="quarter" idx="12"/>
          </p:nvPr>
        </p:nvSpPr>
        <p:spPr/>
        <p:txBody>
          <a:bodyPr/>
          <a:lstStyle/>
          <a:p>
            <a:fld id="{3E6E0AAA-CD81-4600-8AFF-1AFB757A6F8D}" type="slidenum">
              <a:rPr lang="en-GB" altLang="en-US"/>
              <a:pPr/>
              <a:t>24</a:t>
            </a:fld>
            <a:endParaRPr lang="en-GB" altLang="en-US"/>
          </a:p>
        </p:txBody>
      </p:sp>
      <p:sp>
        <p:nvSpPr>
          <p:cNvPr id="5" name="Oval 4">
            <a:extLst>
              <a:ext uri="{FF2B5EF4-FFF2-40B4-BE49-F238E27FC236}">
                <a16:creationId xmlns:a16="http://schemas.microsoft.com/office/drawing/2014/main" id="{027CE8F1-D8AF-8D0A-CFC2-F9497C540E5E}"/>
              </a:ext>
            </a:extLst>
          </p:cNvPr>
          <p:cNvSpPr/>
          <p:nvPr/>
        </p:nvSpPr>
        <p:spPr>
          <a:xfrm>
            <a:off x="259216" y="1125310"/>
            <a:ext cx="1471612" cy="9429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Sample/Trial Request Received</a:t>
            </a:r>
            <a:endParaRPr lang="en-US"/>
          </a:p>
        </p:txBody>
      </p:sp>
      <p:sp>
        <p:nvSpPr>
          <p:cNvPr id="6" name="Rectangle 5">
            <a:extLst>
              <a:ext uri="{FF2B5EF4-FFF2-40B4-BE49-F238E27FC236}">
                <a16:creationId xmlns:a16="http://schemas.microsoft.com/office/drawing/2014/main" id="{38D5EB22-724F-D701-DBF3-2D1B3DC58A45}"/>
              </a:ext>
            </a:extLst>
          </p:cNvPr>
          <p:cNvSpPr/>
          <p:nvPr/>
        </p:nvSpPr>
        <p:spPr>
          <a:xfrm>
            <a:off x="2214563" y="1219879"/>
            <a:ext cx="1543050" cy="757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Verify Purpose of Issuance</a:t>
            </a:r>
            <a:endParaRPr lang="en-US"/>
          </a:p>
        </p:txBody>
      </p:sp>
      <p:sp>
        <p:nvSpPr>
          <p:cNvPr id="7" name="Rectangle 6">
            <a:extLst>
              <a:ext uri="{FF2B5EF4-FFF2-40B4-BE49-F238E27FC236}">
                <a16:creationId xmlns:a16="http://schemas.microsoft.com/office/drawing/2014/main" id="{67908523-B3E2-32EC-114F-DD1CF72DF3EC}"/>
              </a:ext>
            </a:extLst>
          </p:cNvPr>
          <p:cNvSpPr/>
          <p:nvPr/>
        </p:nvSpPr>
        <p:spPr>
          <a:xfrm>
            <a:off x="4465864" y="1213076"/>
            <a:ext cx="1542369" cy="755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Check Stock Availability</a:t>
            </a:r>
            <a:endParaRPr lang="en-US"/>
          </a:p>
        </p:txBody>
      </p:sp>
      <p:sp>
        <p:nvSpPr>
          <p:cNvPr id="8" name="Flowchart: Decision 7">
            <a:extLst>
              <a:ext uri="{FF2B5EF4-FFF2-40B4-BE49-F238E27FC236}">
                <a16:creationId xmlns:a16="http://schemas.microsoft.com/office/drawing/2014/main" id="{0A21DF3B-3CF4-9CDD-5CBD-03DC727A57F6}"/>
              </a:ext>
            </a:extLst>
          </p:cNvPr>
          <p:cNvSpPr/>
          <p:nvPr/>
        </p:nvSpPr>
        <p:spPr>
          <a:xfrm>
            <a:off x="6560685" y="1113745"/>
            <a:ext cx="1798182" cy="951139"/>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Are Parts Available?</a:t>
            </a:r>
            <a:endParaRPr lang="en-US"/>
          </a:p>
        </p:txBody>
      </p:sp>
      <p:sp>
        <p:nvSpPr>
          <p:cNvPr id="9" name="Rectangle 8">
            <a:extLst>
              <a:ext uri="{FF2B5EF4-FFF2-40B4-BE49-F238E27FC236}">
                <a16:creationId xmlns:a16="http://schemas.microsoft.com/office/drawing/2014/main" id="{A4F29408-3069-CA67-B766-88D2D3AC0E5D}"/>
              </a:ext>
            </a:extLst>
          </p:cNvPr>
          <p:cNvSpPr/>
          <p:nvPr/>
        </p:nvSpPr>
        <p:spPr>
          <a:xfrm>
            <a:off x="6884534" y="3882117"/>
            <a:ext cx="1657349" cy="771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Pick Parts from Inventory</a:t>
            </a:r>
            <a:endParaRPr lang="en-US"/>
          </a:p>
        </p:txBody>
      </p:sp>
      <p:sp>
        <p:nvSpPr>
          <p:cNvPr id="10" name="Flowchart: Data 9">
            <a:extLst>
              <a:ext uri="{FF2B5EF4-FFF2-40B4-BE49-F238E27FC236}">
                <a16:creationId xmlns:a16="http://schemas.microsoft.com/office/drawing/2014/main" id="{E6145CC1-6B4A-2734-2227-FE273415BC67}"/>
              </a:ext>
            </a:extLst>
          </p:cNvPr>
          <p:cNvSpPr/>
          <p:nvPr/>
        </p:nvSpPr>
        <p:spPr>
          <a:xfrm>
            <a:off x="3452813" y="3990975"/>
            <a:ext cx="2014537" cy="726948"/>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Generate Delivery Note (if applicable)</a:t>
            </a:r>
            <a:endParaRPr lang="en-US"/>
          </a:p>
        </p:txBody>
      </p:sp>
      <p:sp>
        <p:nvSpPr>
          <p:cNvPr id="11" name="Oval 10">
            <a:extLst>
              <a:ext uri="{FF2B5EF4-FFF2-40B4-BE49-F238E27FC236}">
                <a16:creationId xmlns:a16="http://schemas.microsoft.com/office/drawing/2014/main" id="{94C8A882-72F9-F5AE-8760-8FC5EF098CBA}"/>
              </a:ext>
            </a:extLst>
          </p:cNvPr>
          <p:cNvSpPr/>
          <p:nvPr/>
        </p:nvSpPr>
        <p:spPr>
          <a:xfrm>
            <a:off x="566738" y="3914094"/>
            <a:ext cx="1485900" cy="8858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Sample/Trial Issuance Completed</a:t>
            </a:r>
            <a:endParaRPr lang="en-US"/>
          </a:p>
        </p:txBody>
      </p:sp>
      <p:sp>
        <p:nvSpPr>
          <p:cNvPr id="12" name="Rectangle 11">
            <a:extLst>
              <a:ext uri="{FF2B5EF4-FFF2-40B4-BE49-F238E27FC236}">
                <a16:creationId xmlns:a16="http://schemas.microsoft.com/office/drawing/2014/main" id="{A65AD245-26C7-923E-C0E3-A1E4FB3942F7}"/>
              </a:ext>
            </a:extLst>
          </p:cNvPr>
          <p:cNvSpPr/>
          <p:nvPr/>
        </p:nvSpPr>
        <p:spPr>
          <a:xfrm>
            <a:off x="4463823" y="2535010"/>
            <a:ext cx="1571623"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Raise Procurement Request</a:t>
            </a:r>
            <a:endParaRPr lang="en-US"/>
          </a:p>
        </p:txBody>
      </p:sp>
      <p:sp>
        <p:nvSpPr>
          <p:cNvPr id="13" name="TextBox 12">
            <a:extLst>
              <a:ext uri="{FF2B5EF4-FFF2-40B4-BE49-F238E27FC236}">
                <a16:creationId xmlns:a16="http://schemas.microsoft.com/office/drawing/2014/main" id="{8D280BF6-C621-BFB5-9F2D-623FA62B27DB}"/>
              </a:ext>
            </a:extLst>
          </p:cNvPr>
          <p:cNvSpPr txBox="1"/>
          <p:nvPr/>
        </p:nvSpPr>
        <p:spPr>
          <a:xfrm>
            <a:off x="830035" y="272142"/>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Sample / Trial Parts Issuance</a:t>
            </a:r>
            <a:endParaRPr lang="en-US"/>
          </a:p>
        </p:txBody>
      </p:sp>
      <p:cxnSp>
        <p:nvCxnSpPr>
          <p:cNvPr id="14" name="Connector: Elbow 13">
            <a:extLst>
              <a:ext uri="{FF2B5EF4-FFF2-40B4-BE49-F238E27FC236}">
                <a16:creationId xmlns:a16="http://schemas.microsoft.com/office/drawing/2014/main" id="{172FC86D-CC00-A9F2-A1CE-A0DCA2FED76F}"/>
              </a:ext>
            </a:extLst>
          </p:cNvPr>
          <p:cNvCxnSpPr/>
          <p:nvPr/>
        </p:nvCxnSpPr>
        <p:spPr>
          <a:xfrm>
            <a:off x="1728787" y="1579789"/>
            <a:ext cx="457201"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970CAC2D-EAF0-939E-3B5F-977D4CB00618}"/>
              </a:ext>
            </a:extLst>
          </p:cNvPr>
          <p:cNvCxnSpPr/>
          <p:nvPr/>
        </p:nvCxnSpPr>
        <p:spPr>
          <a:xfrm>
            <a:off x="3754891" y="1579789"/>
            <a:ext cx="500062" cy="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E966EF2F-06EA-0E9C-D8BE-B51FC2807D7E}"/>
              </a:ext>
            </a:extLst>
          </p:cNvPr>
          <p:cNvCxnSpPr/>
          <p:nvPr/>
        </p:nvCxnSpPr>
        <p:spPr>
          <a:xfrm>
            <a:off x="6014357" y="1579789"/>
            <a:ext cx="342900" cy="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3C41D617-158A-15D5-3215-22344E99A2B3}"/>
              </a:ext>
            </a:extLst>
          </p:cNvPr>
          <p:cNvCxnSpPr/>
          <p:nvPr/>
        </p:nvCxnSpPr>
        <p:spPr>
          <a:xfrm>
            <a:off x="7457394" y="1996848"/>
            <a:ext cx="14288" cy="17287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6AA082C-EB7D-2D74-1826-0538C84ED714}"/>
              </a:ext>
            </a:extLst>
          </p:cNvPr>
          <p:cNvCxnSpPr/>
          <p:nvPr/>
        </p:nvCxnSpPr>
        <p:spPr>
          <a:xfrm flipH="1">
            <a:off x="5498646" y="4342039"/>
            <a:ext cx="1414462"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E31425C-DFAB-80F7-B0CD-94F724943136}"/>
              </a:ext>
            </a:extLst>
          </p:cNvPr>
          <p:cNvCxnSpPr/>
          <p:nvPr/>
        </p:nvCxnSpPr>
        <p:spPr>
          <a:xfrm flipH="1">
            <a:off x="2090738" y="4298496"/>
            <a:ext cx="1485900"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B9B03B6-2F73-AB0E-AD60-3C345AE2F456}"/>
              </a:ext>
            </a:extLst>
          </p:cNvPr>
          <p:cNvCxnSpPr/>
          <p:nvPr/>
        </p:nvCxnSpPr>
        <p:spPr>
          <a:xfrm flipH="1">
            <a:off x="6200095" y="2912608"/>
            <a:ext cx="128587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4956242-AE40-9163-E95E-70EDFFD67A8F}"/>
              </a:ext>
            </a:extLst>
          </p:cNvPr>
          <p:cNvSpPr txBox="1"/>
          <p:nvPr/>
        </p:nvSpPr>
        <p:spPr>
          <a:xfrm>
            <a:off x="7615917" y="2635703"/>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Yes</a:t>
            </a:r>
          </a:p>
          <a:p>
            <a:endParaRPr lang="en-US"/>
          </a:p>
        </p:txBody>
      </p:sp>
      <p:sp>
        <p:nvSpPr>
          <p:cNvPr id="22" name="TextBox 21">
            <a:extLst>
              <a:ext uri="{FF2B5EF4-FFF2-40B4-BE49-F238E27FC236}">
                <a16:creationId xmlns:a16="http://schemas.microsoft.com/office/drawing/2014/main" id="{22D5F375-B853-A04E-4B20-FDBCF9E630CD}"/>
              </a:ext>
            </a:extLst>
          </p:cNvPr>
          <p:cNvSpPr txBox="1"/>
          <p:nvPr/>
        </p:nvSpPr>
        <p:spPr>
          <a:xfrm>
            <a:off x="6626678" y="247650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No</a:t>
            </a:r>
          </a:p>
        </p:txBody>
      </p:sp>
    </p:spTree>
    <p:extLst>
      <p:ext uri="{BB962C8B-B14F-4D97-AF65-F5344CB8AC3E}">
        <p14:creationId xmlns:p14="http://schemas.microsoft.com/office/powerpoint/2010/main" val="2494859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46FF23-1656-3072-85C3-82C36BFDA27F}"/>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0E99F74B-6BE7-DEA2-50B2-8240F0775B98}"/>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FCA63D79-5E58-4197-C185-FA315FF2C9D5}"/>
              </a:ext>
            </a:extLst>
          </p:cNvPr>
          <p:cNvSpPr>
            <a:spLocks noGrp="1"/>
          </p:cNvSpPr>
          <p:nvPr>
            <p:ph type="sldNum" sz="quarter" idx="12"/>
          </p:nvPr>
        </p:nvSpPr>
        <p:spPr/>
        <p:txBody>
          <a:bodyPr/>
          <a:lstStyle/>
          <a:p>
            <a:fld id="{3E6E0AAA-CD81-4600-8AFF-1AFB757A6F8D}" type="slidenum">
              <a:rPr lang="en-GB" altLang="en-US"/>
              <a:pPr/>
              <a:t>25</a:t>
            </a:fld>
            <a:endParaRPr lang="en-GB" altLang="en-US"/>
          </a:p>
        </p:txBody>
      </p:sp>
      <p:sp>
        <p:nvSpPr>
          <p:cNvPr id="5" name="Oval 4">
            <a:extLst>
              <a:ext uri="{FF2B5EF4-FFF2-40B4-BE49-F238E27FC236}">
                <a16:creationId xmlns:a16="http://schemas.microsoft.com/office/drawing/2014/main" id="{82A86C53-C1D3-7175-7359-60F3706B61E5}"/>
              </a:ext>
            </a:extLst>
          </p:cNvPr>
          <p:cNvSpPr/>
          <p:nvPr/>
        </p:nvSpPr>
        <p:spPr>
          <a:xfrm>
            <a:off x="447676" y="889227"/>
            <a:ext cx="1296078" cy="889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Loan Request Received</a:t>
            </a:r>
            <a:endParaRPr lang="en-US"/>
          </a:p>
        </p:txBody>
      </p:sp>
      <p:sp>
        <p:nvSpPr>
          <p:cNvPr id="6" name="Rectangle 5">
            <a:extLst>
              <a:ext uri="{FF2B5EF4-FFF2-40B4-BE49-F238E27FC236}">
                <a16:creationId xmlns:a16="http://schemas.microsoft.com/office/drawing/2014/main" id="{3D3A87C8-1463-4725-7A79-F27754B3E761}"/>
              </a:ext>
            </a:extLst>
          </p:cNvPr>
          <p:cNvSpPr/>
          <p:nvPr/>
        </p:nvSpPr>
        <p:spPr>
          <a:xfrm>
            <a:off x="2432958" y="1056593"/>
            <a:ext cx="1600198" cy="728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Verify Loan Terms and Duration</a:t>
            </a:r>
            <a:endParaRPr lang="en-US"/>
          </a:p>
        </p:txBody>
      </p:sp>
      <p:sp>
        <p:nvSpPr>
          <p:cNvPr id="7" name="Rectangle 6">
            <a:extLst>
              <a:ext uri="{FF2B5EF4-FFF2-40B4-BE49-F238E27FC236}">
                <a16:creationId xmlns:a16="http://schemas.microsoft.com/office/drawing/2014/main" id="{F7382472-A2F5-106D-A8BD-D3A6DE978A49}"/>
              </a:ext>
            </a:extLst>
          </p:cNvPr>
          <p:cNvSpPr/>
          <p:nvPr/>
        </p:nvSpPr>
        <p:spPr>
          <a:xfrm>
            <a:off x="4573359" y="1054553"/>
            <a:ext cx="1600200" cy="742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Check Stock Availability</a:t>
            </a:r>
            <a:endParaRPr lang="en-US"/>
          </a:p>
        </p:txBody>
      </p:sp>
      <p:sp>
        <p:nvSpPr>
          <p:cNvPr id="8" name="Diamond 7">
            <a:extLst>
              <a:ext uri="{FF2B5EF4-FFF2-40B4-BE49-F238E27FC236}">
                <a16:creationId xmlns:a16="http://schemas.microsoft.com/office/drawing/2014/main" id="{046D4080-8E89-8346-1FBB-1AA2E84E19C9}"/>
              </a:ext>
            </a:extLst>
          </p:cNvPr>
          <p:cNvSpPr/>
          <p:nvPr/>
        </p:nvSpPr>
        <p:spPr>
          <a:xfrm>
            <a:off x="6783160" y="887186"/>
            <a:ext cx="1914525" cy="1357311"/>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Are Parts Available ?</a:t>
            </a:r>
          </a:p>
        </p:txBody>
      </p:sp>
      <p:sp>
        <p:nvSpPr>
          <p:cNvPr id="9" name="Rectangle 8">
            <a:extLst>
              <a:ext uri="{FF2B5EF4-FFF2-40B4-BE49-F238E27FC236}">
                <a16:creationId xmlns:a16="http://schemas.microsoft.com/office/drawing/2014/main" id="{1A2398E4-8BD8-9717-C2EC-AEB740AB5EA5}"/>
              </a:ext>
            </a:extLst>
          </p:cNvPr>
          <p:cNvSpPr/>
          <p:nvPr/>
        </p:nvSpPr>
        <p:spPr>
          <a:xfrm>
            <a:off x="4576763" y="2252663"/>
            <a:ext cx="1600200"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Raise Procurement Request</a:t>
            </a:r>
            <a:endParaRPr lang="en-US"/>
          </a:p>
        </p:txBody>
      </p:sp>
      <p:sp>
        <p:nvSpPr>
          <p:cNvPr id="10" name="Parallelogram 9">
            <a:extLst>
              <a:ext uri="{FF2B5EF4-FFF2-40B4-BE49-F238E27FC236}">
                <a16:creationId xmlns:a16="http://schemas.microsoft.com/office/drawing/2014/main" id="{4E05B118-B3A7-DEFC-ABF1-0A17003F61E5}"/>
              </a:ext>
            </a:extLst>
          </p:cNvPr>
          <p:cNvSpPr/>
          <p:nvPr/>
        </p:nvSpPr>
        <p:spPr>
          <a:xfrm>
            <a:off x="4572000" y="3435803"/>
            <a:ext cx="1973389" cy="914400"/>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Generate Loan Form</a:t>
            </a:r>
            <a:endParaRPr lang="en-US"/>
          </a:p>
        </p:txBody>
      </p:sp>
      <p:sp>
        <p:nvSpPr>
          <p:cNvPr id="11" name="Rectangle 10">
            <a:extLst>
              <a:ext uri="{FF2B5EF4-FFF2-40B4-BE49-F238E27FC236}">
                <a16:creationId xmlns:a16="http://schemas.microsoft.com/office/drawing/2014/main" id="{54B42619-9065-0929-BE25-BFC1753609C3}"/>
              </a:ext>
            </a:extLst>
          </p:cNvPr>
          <p:cNvSpPr/>
          <p:nvPr/>
        </p:nvSpPr>
        <p:spPr>
          <a:xfrm>
            <a:off x="7156676" y="3429000"/>
            <a:ext cx="1528763"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Pick Parts from Inventory</a:t>
            </a:r>
            <a:endParaRPr lang="en-US"/>
          </a:p>
        </p:txBody>
      </p:sp>
      <p:sp>
        <p:nvSpPr>
          <p:cNvPr id="12" name="Diamond 11">
            <a:extLst>
              <a:ext uri="{FF2B5EF4-FFF2-40B4-BE49-F238E27FC236}">
                <a16:creationId xmlns:a16="http://schemas.microsoft.com/office/drawing/2014/main" id="{CC9E7600-A802-5910-53C1-11D7462D0F2C}"/>
              </a:ext>
            </a:extLst>
          </p:cNvPr>
          <p:cNvSpPr/>
          <p:nvPr/>
        </p:nvSpPr>
        <p:spPr>
          <a:xfrm>
            <a:off x="449716" y="2999695"/>
            <a:ext cx="1457324" cy="165734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Parts Returned on Time?</a:t>
            </a:r>
            <a:endParaRPr lang="en-US"/>
          </a:p>
        </p:txBody>
      </p:sp>
      <p:sp>
        <p:nvSpPr>
          <p:cNvPr id="13" name="Rectangle 12">
            <a:extLst>
              <a:ext uri="{FF2B5EF4-FFF2-40B4-BE49-F238E27FC236}">
                <a16:creationId xmlns:a16="http://schemas.microsoft.com/office/drawing/2014/main" id="{0160B0FA-F401-0EF6-0EBB-0550A4220436}"/>
              </a:ext>
            </a:extLst>
          </p:cNvPr>
          <p:cNvSpPr/>
          <p:nvPr/>
        </p:nvSpPr>
        <p:spPr>
          <a:xfrm>
            <a:off x="2437039" y="3437164"/>
            <a:ext cx="160019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Hand Over Parts</a:t>
            </a:r>
            <a:endParaRPr lang="en-US"/>
          </a:p>
        </p:txBody>
      </p:sp>
      <p:sp>
        <p:nvSpPr>
          <p:cNvPr id="14" name="Rectangle 13">
            <a:extLst>
              <a:ext uri="{FF2B5EF4-FFF2-40B4-BE49-F238E27FC236}">
                <a16:creationId xmlns:a16="http://schemas.microsoft.com/office/drawing/2014/main" id="{706D4951-C4E0-7298-C3E4-49CBB5145D12}"/>
              </a:ext>
            </a:extLst>
          </p:cNvPr>
          <p:cNvSpPr/>
          <p:nvPr/>
        </p:nvSpPr>
        <p:spPr>
          <a:xfrm>
            <a:off x="578984" y="5087710"/>
            <a:ext cx="1700212"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Update Stock Records</a:t>
            </a:r>
            <a:endParaRPr lang="en-US"/>
          </a:p>
        </p:txBody>
      </p:sp>
      <p:sp>
        <p:nvSpPr>
          <p:cNvPr id="15" name="Rectangle 14">
            <a:extLst>
              <a:ext uri="{FF2B5EF4-FFF2-40B4-BE49-F238E27FC236}">
                <a16:creationId xmlns:a16="http://schemas.microsoft.com/office/drawing/2014/main" id="{C1DCA593-130B-F761-C5EA-E9D456AF673A}"/>
              </a:ext>
            </a:extLst>
          </p:cNvPr>
          <p:cNvSpPr/>
          <p:nvPr/>
        </p:nvSpPr>
        <p:spPr>
          <a:xfrm>
            <a:off x="2672442" y="5088391"/>
            <a:ext cx="188595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Follow-Up for Return / Charge Penalty</a:t>
            </a:r>
            <a:endParaRPr lang="en-US"/>
          </a:p>
        </p:txBody>
      </p:sp>
      <p:sp>
        <p:nvSpPr>
          <p:cNvPr id="16" name="Oval 15">
            <a:extLst>
              <a:ext uri="{FF2B5EF4-FFF2-40B4-BE49-F238E27FC236}">
                <a16:creationId xmlns:a16="http://schemas.microsoft.com/office/drawing/2014/main" id="{D1287815-C27E-277A-FB2C-00A6F194127B}"/>
              </a:ext>
            </a:extLst>
          </p:cNvPr>
          <p:cNvSpPr/>
          <p:nvPr/>
        </p:nvSpPr>
        <p:spPr>
          <a:xfrm>
            <a:off x="5370059" y="5087710"/>
            <a:ext cx="1414462"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ea typeface="+mn-lt"/>
                <a:cs typeface="+mn-lt"/>
              </a:rPr>
              <a:t>Loan Issuance Completed</a:t>
            </a:r>
            <a:endParaRPr lang="en-US"/>
          </a:p>
        </p:txBody>
      </p:sp>
      <p:cxnSp>
        <p:nvCxnSpPr>
          <p:cNvPr id="21" name="Connector: Elbow 20">
            <a:extLst>
              <a:ext uri="{FF2B5EF4-FFF2-40B4-BE49-F238E27FC236}">
                <a16:creationId xmlns:a16="http://schemas.microsoft.com/office/drawing/2014/main" id="{9B396AC0-0734-0E2B-06E0-04ACDC0752A5}"/>
              </a:ext>
            </a:extLst>
          </p:cNvPr>
          <p:cNvCxnSpPr/>
          <p:nvPr/>
        </p:nvCxnSpPr>
        <p:spPr>
          <a:xfrm>
            <a:off x="1741714" y="1347107"/>
            <a:ext cx="557213" cy="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8B63A8EE-7708-C7FC-6B92-52B36C024332}"/>
              </a:ext>
            </a:extLst>
          </p:cNvPr>
          <p:cNvCxnSpPr/>
          <p:nvPr/>
        </p:nvCxnSpPr>
        <p:spPr>
          <a:xfrm>
            <a:off x="4027714" y="1415142"/>
            <a:ext cx="542925"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C5732D90-0B1E-2FEB-8B9E-4D160A0622A0}"/>
              </a:ext>
            </a:extLst>
          </p:cNvPr>
          <p:cNvCxnSpPr/>
          <p:nvPr/>
        </p:nvCxnSpPr>
        <p:spPr>
          <a:xfrm>
            <a:off x="6164715" y="1428750"/>
            <a:ext cx="414338" cy="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F310F1B-EA99-9F67-85DB-A4015F0E974C}"/>
              </a:ext>
            </a:extLst>
          </p:cNvPr>
          <p:cNvCxnSpPr/>
          <p:nvPr/>
        </p:nvCxnSpPr>
        <p:spPr>
          <a:xfrm>
            <a:off x="7741784" y="2233612"/>
            <a:ext cx="14287" cy="117157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EB40320E-2DBF-FB5A-0C6D-6E5482AFB73E}"/>
              </a:ext>
            </a:extLst>
          </p:cNvPr>
          <p:cNvCxnSpPr/>
          <p:nvPr/>
        </p:nvCxnSpPr>
        <p:spPr>
          <a:xfrm flipH="1">
            <a:off x="6242958" y="2623457"/>
            <a:ext cx="1471612"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510E4DEB-E107-29F0-5E8F-E2CF98394C3F}"/>
              </a:ext>
            </a:extLst>
          </p:cNvPr>
          <p:cNvCxnSpPr/>
          <p:nvPr/>
        </p:nvCxnSpPr>
        <p:spPr>
          <a:xfrm flipH="1">
            <a:off x="6486525" y="3823607"/>
            <a:ext cx="714375"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864B8576-4561-528F-3A3B-2AA039283F27}"/>
              </a:ext>
            </a:extLst>
          </p:cNvPr>
          <p:cNvCxnSpPr/>
          <p:nvPr/>
        </p:nvCxnSpPr>
        <p:spPr>
          <a:xfrm flipH="1" flipV="1">
            <a:off x="4097110" y="3835853"/>
            <a:ext cx="471488"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E58D3B78-96EE-F412-75DB-E9E0E93C3F65}"/>
              </a:ext>
            </a:extLst>
          </p:cNvPr>
          <p:cNvCxnSpPr/>
          <p:nvPr/>
        </p:nvCxnSpPr>
        <p:spPr>
          <a:xfrm flipH="1">
            <a:off x="1964871" y="3795713"/>
            <a:ext cx="428625" cy="142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2E105CBF-8C9F-B3F7-E3C6-5DBC69027B09}"/>
              </a:ext>
            </a:extLst>
          </p:cNvPr>
          <p:cNvCxnSpPr/>
          <p:nvPr/>
        </p:nvCxnSpPr>
        <p:spPr>
          <a:xfrm>
            <a:off x="1171575" y="4654322"/>
            <a:ext cx="0" cy="4143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B99299A2-F43E-A6F5-9414-EDC95594A0ED}"/>
              </a:ext>
            </a:extLst>
          </p:cNvPr>
          <p:cNvCxnSpPr/>
          <p:nvPr/>
        </p:nvCxnSpPr>
        <p:spPr>
          <a:xfrm>
            <a:off x="1170214" y="4674734"/>
            <a:ext cx="2457450" cy="1428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19D460A0-A0DE-2540-9D62-3C335E5C1BE2}"/>
              </a:ext>
            </a:extLst>
          </p:cNvPr>
          <p:cNvCxnSpPr/>
          <p:nvPr/>
        </p:nvCxnSpPr>
        <p:spPr>
          <a:xfrm flipH="1">
            <a:off x="3564391" y="4668609"/>
            <a:ext cx="71436" cy="4143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4C816024-72DE-DD60-FE29-41D799998437}"/>
              </a:ext>
            </a:extLst>
          </p:cNvPr>
          <p:cNvCxnSpPr/>
          <p:nvPr/>
        </p:nvCxnSpPr>
        <p:spPr>
          <a:xfrm>
            <a:off x="4572000" y="5527221"/>
            <a:ext cx="785813" cy="142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B6A134B-9C69-C195-78D1-6ADF3F3BBB4F}"/>
              </a:ext>
            </a:extLst>
          </p:cNvPr>
          <p:cNvSpPr txBox="1"/>
          <p:nvPr/>
        </p:nvSpPr>
        <p:spPr>
          <a:xfrm>
            <a:off x="7915275" y="2678565"/>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Yes</a:t>
            </a:r>
          </a:p>
        </p:txBody>
      </p:sp>
      <p:sp>
        <p:nvSpPr>
          <p:cNvPr id="35" name="TextBox 34">
            <a:extLst>
              <a:ext uri="{FF2B5EF4-FFF2-40B4-BE49-F238E27FC236}">
                <a16:creationId xmlns:a16="http://schemas.microsoft.com/office/drawing/2014/main" id="{A6F852BA-6EF0-93A0-8005-6C6EF8C63B6B}"/>
              </a:ext>
            </a:extLst>
          </p:cNvPr>
          <p:cNvSpPr txBox="1"/>
          <p:nvPr/>
        </p:nvSpPr>
        <p:spPr>
          <a:xfrm>
            <a:off x="6776357" y="238124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No</a:t>
            </a:r>
            <a:endParaRPr lang="en-US"/>
          </a:p>
        </p:txBody>
      </p:sp>
      <p:sp>
        <p:nvSpPr>
          <p:cNvPr id="36" name="TextBox 35">
            <a:extLst>
              <a:ext uri="{FF2B5EF4-FFF2-40B4-BE49-F238E27FC236}">
                <a16:creationId xmlns:a16="http://schemas.microsoft.com/office/drawing/2014/main" id="{13AB6AEA-4DBE-FF66-1142-ABC7BE5FDB86}"/>
              </a:ext>
            </a:extLst>
          </p:cNvPr>
          <p:cNvSpPr txBox="1"/>
          <p:nvPr/>
        </p:nvSpPr>
        <p:spPr>
          <a:xfrm>
            <a:off x="496660" y="471691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Yes</a:t>
            </a:r>
            <a:endParaRPr lang="en-US"/>
          </a:p>
        </p:txBody>
      </p:sp>
      <p:sp>
        <p:nvSpPr>
          <p:cNvPr id="37" name="TextBox 36">
            <a:extLst>
              <a:ext uri="{FF2B5EF4-FFF2-40B4-BE49-F238E27FC236}">
                <a16:creationId xmlns:a16="http://schemas.microsoft.com/office/drawing/2014/main" id="{20906ABC-5BC8-681D-3028-DB89A2774B35}"/>
              </a:ext>
            </a:extLst>
          </p:cNvPr>
          <p:cNvSpPr txBox="1"/>
          <p:nvPr/>
        </p:nvSpPr>
        <p:spPr>
          <a:xfrm>
            <a:off x="2000250" y="442232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No</a:t>
            </a:r>
          </a:p>
        </p:txBody>
      </p:sp>
      <p:sp>
        <p:nvSpPr>
          <p:cNvPr id="38" name="TextBox 37">
            <a:extLst>
              <a:ext uri="{FF2B5EF4-FFF2-40B4-BE49-F238E27FC236}">
                <a16:creationId xmlns:a16="http://schemas.microsoft.com/office/drawing/2014/main" id="{1D4E1B5E-90ED-AF28-7EF2-B714C4C6E746}"/>
              </a:ext>
            </a:extLst>
          </p:cNvPr>
          <p:cNvSpPr txBox="1"/>
          <p:nvPr/>
        </p:nvSpPr>
        <p:spPr>
          <a:xfrm>
            <a:off x="870857" y="32657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Loan / Temporary Issuance</a:t>
            </a:r>
            <a:endParaRPr lang="en-US"/>
          </a:p>
        </p:txBody>
      </p:sp>
    </p:spTree>
    <p:extLst>
      <p:ext uri="{BB962C8B-B14F-4D97-AF65-F5344CB8AC3E}">
        <p14:creationId xmlns:p14="http://schemas.microsoft.com/office/powerpoint/2010/main" val="13691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51463D-5F84-3533-4B55-DF9F942C849A}"/>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A9495E27-4E9F-B85B-14D0-B525BB855187}"/>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447337C7-E3D1-9DE5-C28B-87070FB232F1}"/>
              </a:ext>
            </a:extLst>
          </p:cNvPr>
          <p:cNvSpPr>
            <a:spLocks noGrp="1"/>
          </p:cNvSpPr>
          <p:nvPr>
            <p:ph type="sldNum" sz="quarter" idx="12"/>
          </p:nvPr>
        </p:nvSpPr>
        <p:spPr/>
        <p:txBody>
          <a:bodyPr/>
          <a:lstStyle/>
          <a:p>
            <a:fld id="{3E6E0AAA-CD81-4600-8AFF-1AFB757A6F8D}" type="slidenum">
              <a:rPr lang="en-GB" altLang="en-US"/>
              <a:pPr/>
              <a:t>26</a:t>
            </a:fld>
            <a:endParaRPr lang="en-GB" altLang="en-US"/>
          </a:p>
        </p:txBody>
      </p:sp>
      <p:sp>
        <p:nvSpPr>
          <p:cNvPr id="5" name="TextBox 4">
            <a:extLst>
              <a:ext uri="{FF2B5EF4-FFF2-40B4-BE49-F238E27FC236}">
                <a16:creationId xmlns:a16="http://schemas.microsoft.com/office/drawing/2014/main" id="{26C535B5-CCBB-FDF1-F851-E7858C5722A6}"/>
              </a:ext>
            </a:extLst>
          </p:cNvPr>
          <p:cNvSpPr txBox="1"/>
          <p:nvPr/>
        </p:nvSpPr>
        <p:spPr>
          <a:xfrm>
            <a:off x="3119988" y="282591"/>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ea typeface="Arial Unicode MS"/>
                <a:cs typeface="Arial Unicode MS"/>
              </a:rPr>
              <a:t>Inventory Receipt Scenarios</a:t>
            </a:r>
            <a:endParaRPr lang="en-US">
              <a:latin typeface="Times New Roman"/>
              <a:ea typeface="Arial Unicode MS"/>
              <a:cs typeface="Arial Unicode MS"/>
            </a:endParaRPr>
          </a:p>
        </p:txBody>
      </p:sp>
      <p:sp>
        <p:nvSpPr>
          <p:cNvPr id="6" name="TextBox 5">
            <a:extLst>
              <a:ext uri="{FF2B5EF4-FFF2-40B4-BE49-F238E27FC236}">
                <a16:creationId xmlns:a16="http://schemas.microsoft.com/office/drawing/2014/main" id="{CB13E3E1-D080-B834-CAA0-238F6D5FE0A3}"/>
              </a:ext>
            </a:extLst>
          </p:cNvPr>
          <p:cNvSpPr txBox="1"/>
          <p:nvPr/>
        </p:nvSpPr>
        <p:spPr>
          <a:xfrm>
            <a:off x="167717" y="615727"/>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ea typeface="Arial Unicode MS"/>
                <a:cs typeface="Arial Unicode MS"/>
              </a:rPr>
              <a:t>Standard Purchase Receipt</a:t>
            </a:r>
            <a:endParaRPr lang="en-US" sz="1600">
              <a:latin typeface="Times New Roman"/>
              <a:ea typeface="Arial Unicode MS"/>
              <a:cs typeface="Arial Unicode MS"/>
            </a:endParaRPr>
          </a:p>
        </p:txBody>
      </p:sp>
      <p:sp>
        <p:nvSpPr>
          <p:cNvPr id="7" name="Rectangle 6">
            <a:extLst>
              <a:ext uri="{FF2B5EF4-FFF2-40B4-BE49-F238E27FC236}">
                <a16:creationId xmlns:a16="http://schemas.microsoft.com/office/drawing/2014/main" id="{A169139D-01A8-8EC9-C53F-B2EF7A918D0F}"/>
              </a:ext>
            </a:extLst>
          </p:cNvPr>
          <p:cNvSpPr/>
          <p:nvPr/>
        </p:nvSpPr>
        <p:spPr>
          <a:xfrm>
            <a:off x="619744" y="1837927"/>
            <a:ext cx="1477283" cy="902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Purchase Order Approved</a:t>
            </a:r>
            <a:endParaRPr lang="en-US"/>
          </a:p>
        </p:txBody>
      </p:sp>
      <p:sp>
        <p:nvSpPr>
          <p:cNvPr id="8" name="Rectangle 7">
            <a:extLst>
              <a:ext uri="{FF2B5EF4-FFF2-40B4-BE49-F238E27FC236}">
                <a16:creationId xmlns:a16="http://schemas.microsoft.com/office/drawing/2014/main" id="{E8683CB0-259F-3DF4-8896-CFBFC177F672}"/>
              </a:ext>
            </a:extLst>
          </p:cNvPr>
          <p:cNvSpPr/>
          <p:nvPr/>
        </p:nvSpPr>
        <p:spPr>
          <a:xfrm>
            <a:off x="2667782" y="1842452"/>
            <a:ext cx="1488770" cy="902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Goods Arrive at Receiving Dock</a:t>
            </a:r>
            <a:endParaRPr lang="en-US"/>
          </a:p>
        </p:txBody>
      </p:sp>
      <p:sp>
        <p:nvSpPr>
          <p:cNvPr id="9" name="Rectangle 8">
            <a:extLst>
              <a:ext uri="{FF2B5EF4-FFF2-40B4-BE49-F238E27FC236}">
                <a16:creationId xmlns:a16="http://schemas.microsoft.com/office/drawing/2014/main" id="{2202957E-DB11-7D04-827F-DD433152DD7C}"/>
              </a:ext>
            </a:extLst>
          </p:cNvPr>
          <p:cNvSpPr/>
          <p:nvPr/>
        </p:nvSpPr>
        <p:spPr>
          <a:xfrm>
            <a:off x="4789463" y="1842259"/>
            <a:ext cx="1695543" cy="902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Unloading &amp; Initial Verification</a:t>
            </a:r>
            <a:endParaRPr lang="en-US"/>
          </a:p>
        </p:txBody>
      </p:sp>
      <p:sp>
        <p:nvSpPr>
          <p:cNvPr id="10" name="Flowchart: Decision 9">
            <a:extLst>
              <a:ext uri="{FF2B5EF4-FFF2-40B4-BE49-F238E27FC236}">
                <a16:creationId xmlns:a16="http://schemas.microsoft.com/office/drawing/2014/main" id="{DB457614-EA45-9638-87ED-8FF9F0E3D923}"/>
              </a:ext>
            </a:extLst>
          </p:cNvPr>
          <p:cNvSpPr/>
          <p:nvPr/>
        </p:nvSpPr>
        <p:spPr>
          <a:xfrm>
            <a:off x="6620619" y="2789523"/>
            <a:ext cx="2132066" cy="129040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Quality Inspection</a:t>
            </a:r>
            <a:endParaRPr lang="en-US"/>
          </a:p>
        </p:txBody>
      </p:sp>
      <p:sp>
        <p:nvSpPr>
          <p:cNvPr id="11" name="Rectangle 10">
            <a:extLst>
              <a:ext uri="{FF2B5EF4-FFF2-40B4-BE49-F238E27FC236}">
                <a16:creationId xmlns:a16="http://schemas.microsoft.com/office/drawing/2014/main" id="{DBE6B960-5343-B3F5-78F7-8BEFCA734074}"/>
              </a:ext>
            </a:extLst>
          </p:cNvPr>
          <p:cNvSpPr/>
          <p:nvPr/>
        </p:nvSpPr>
        <p:spPr>
          <a:xfrm>
            <a:off x="612782" y="4413713"/>
            <a:ext cx="1672568" cy="8799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Store in Warehouse</a:t>
            </a:r>
            <a:endParaRPr lang="en-US"/>
          </a:p>
        </p:txBody>
      </p:sp>
      <p:sp>
        <p:nvSpPr>
          <p:cNvPr id="12" name="Rectangle 11">
            <a:extLst>
              <a:ext uri="{FF2B5EF4-FFF2-40B4-BE49-F238E27FC236}">
                <a16:creationId xmlns:a16="http://schemas.microsoft.com/office/drawing/2014/main" id="{D723A7D4-7838-C65E-0D00-F33E59793F0A}"/>
              </a:ext>
            </a:extLst>
          </p:cNvPr>
          <p:cNvSpPr/>
          <p:nvPr/>
        </p:nvSpPr>
        <p:spPr>
          <a:xfrm>
            <a:off x="2905200" y="4389455"/>
            <a:ext cx="1672570"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Send to rework/return</a:t>
            </a:r>
          </a:p>
          <a:p>
            <a:pPr algn="ctr"/>
            <a:r>
              <a:rPr lang="en-US">
                <a:ea typeface="Calibri"/>
                <a:cs typeface="Calibri"/>
              </a:rPr>
              <a:t>process</a:t>
            </a:r>
          </a:p>
        </p:txBody>
      </p:sp>
      <p:sp>
        <p:nvSpPr>
          <p:cNvPr id="13" name="Rectangle 12">
            <a:extLst>
              <a:ext uri="{FF2B5EF4-FFF2-40B4-BE49-F238E27FC236}">
                <a16:creationId xmlns:a16="http://schemas.microsoft.com/office/drawing/2014/main" id="{38216637-5948-142E-DF32-1538ECA0A24D}"/>
              </a:ext>
            </a:extLst>
          </p:cNvPr>
          <p:cNvSpPr/>
          <p:nvPr/>
        </p:nvSpPr>
        <p:spPr>
          <a:xfrm>
            <a:off x="5081076" y="4395262"/>
            <a:ext cx="1534720"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Update Inventory in System</a:t>
            </a:r>
            <a:endParaRPr lang="en-US"/>
          </a:p>
        </p:txBody>
      </p:sp>
      <p:cxnSp>
        <p:nvCxnSpPr>
          <p:cNvPr id="16" name="Connector: Elbow 15">
            <a:extLst>
              <a:ext uri="{FF2B5EF4-FFF2-40B4-BE49-F238E27FC236}">
                <a16:creationId xmlns:a16="http://schemas.microsoft.com/office/drawing/2014/main" id="{53E9A953-8DC7-8E0D-56B7-4841EBC55458}"/>
              </a:ext>
            </a:extLst>
          </p:cNvPr>
          <p:cNvCxnSpPr/>
          <p:nvPr/>
        </p:nvCxnSpPr>
        <p:spPr>
          <a:xfrm>
            <a:off x="2093891" y="2292322"/>
            <a:ext cx="546801"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A77F6241-51ED-0F71-270C-DABB7F84C056}"/>
              </a:ext>
            </a:extLst>
          </p:cNvPr>
          <p:cNvCxnSpPr/>
          <p:nvPr/>
        </p:nvCxnSpPr>
        <p:spPr>
          <a:xfrm flipV="1">
            <a:off x="4159898" y="2271330"/>
            <a:ext cx="431928"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904CF4C5-38D0-D864-AECB-BFF2CC032B19}"/>
              </a:ext>
            </a:extLst>
          </p:cNvPr>
          <p:cNvCxnSpPr/>
          <p:nvPr/>
        </p:nvCxnSpPr>
        <p:spPr>
          <a:xfrm>
            <a:off x="6488256" y="2274257"/>
            <a:ext cx="1109685" cy="47787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3ED5EB8-DE10-C77E-86F8-84BCFEDDD6C4}"/>
              </a:ext>
            </a:extLst>
          </p:cNvPr>
          <p:cNvCxnSpPr/>
          <p:nvPr/>
        </p:nvCxnSpPr>
        <p:spPr>
          <a:xfrm>
            <a:off x="7691806" y="4077914"/>
            <a:ext cx="6893" cy="91439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B077E4DC-4770-7573-A238-03E613DC0E47}"/>
              </a:ext>
            </a:extLst>
          </p:cNvPr>
          <p:cNvCxnSpPr/>
          <p:nvPr/>
        </p:nvCxnSpPr>
        <p:spPr>
          <a:xfrm flipH="1">
            <a:off x="6766548" y="4996139"/>
            <a:ext cx="923590" cy="68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CCAB8E15-EFE0-8577-98AE-CFC92F375BB3}"/>
              </a:ext>
            </a:extLst>
          </p:cNvPr>
          <p:cNvCxnSpPr/>
          <p:nvPr/>
        </p:nvCxnSpPr>
        <p:spPr>
          <a:xfrm flipH="1">
            <a:off x="4740393" y="4833839"/>
            <a:ext cx="360706"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DBA9B7AB-A279-8DB8-EDDC-F2BD1B3364E2}"/>
              </a:ext>
            </a:extLst>
          </p:cNvPr>
          <p:cNvCxnSpPr/>
          <p:nvPr/>
        </p:nvCxnSpPr>
        <p:spPr>
          <a:xfrm flipH="1">
            <a:off x="2374140" y="4833839"/>
            <a:ext cx="521530" cy="18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E6655864-473B-6A5A-F6F0-BC11EAB194F2}"/>
              </a:ext>
            </a:extLst>
          </p:cNvPr>
          <p:cNvCxnSpPr/>
          <p:nvPr/>
        </p:nvCxnSpPr>
        <p:spPr>
          <a:xfrm flipH="1">
            <a:off x="3580483" y="3448351"/>
            <a:ext cx="3002817" cy="689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7FF80BB1-C5F6-1B8C-A21E-988C302985B2}"/>
              </a:ext>
            </a:extLst>
          </p:cNvPr>
          <p:cNvCxnSpPr/>
          <p:nvPr/>
        </p:nvCxnSpPr>
        <p:spPr>
          <a:xfrm>
            <a:off x="3564701" y="3443345"/>
            <a:ext cx="6893" cy="7880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D796C63-AE37-ABFD-6759-B1112A6DD0D4}"/>
              </a:ext>
            </a:extLst>
          </p:cNvPr>
          <p:cNvSpPr txBox="1"/>
          <p:nvPr/>
        </p:nvSpPr>
        <p:spPr>
          <a:xfrm>
            <a:off x="7768690" y="4254846"/>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Pass</a:t>
            </a:r>
          </a:p>
        </p:txBody>
      </p:sp>
      <p:sp>
        <p:nvSpPr>
          <p:cNvPr id="26" name="TextBox 25">
            <a:extLst>
              <a:ext uri="{FF2B5EF4-FFF2-40B4-BE49-F238E27FC236}">
                <a16:creationId xmlns:a16="http://schemas.microsoft.com/office/drawing/2014/main" id="{A311F4CD-852F-6E89-FA77-AAAD069E90BD}"/>
              </a:ext>
            </a:extLst>
          </p:cNvPr>
          <p:cNvSpPr txBox="1"/>
          <p:nvPr/>
        </p:nvSpPr>
        <p:spPr>
          <a:xfrm>
            <a:off x="4738699" y="3121889"/>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Fail</a:t>
            </a:r>
            <a:endParaRPr lang="en-US"/>
          </a:p>
        </p:txBody>
      </p:sp>
      <p:sp>
        <p:nvSpPr>
          <p:cNvPr id="27" name="TextBox 26">
            <a:extLst>
              <a:ext uri="{FF2B5EF4-FFF2-40B4-BE49-F238E27FC236}">
                <a16:creationId xmlns:a16="http://schemas.microsoft.com/office/drawing/2014/main" id="{6B829A23-A43F-C4C8-1121-2B2CA5067AE4}"/>
              </a:ext>
            </a:extLst>
          </p:cNvPr>
          <p:cNvSpPr txBox="1"/>
          <p:nvPr/>
        </p:nvSpPr>
        <p:spPr>
          <a:xfrm>
            <a:off x="1982732" y="1109686"/>
            <a:ext cx="114644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Trigger for standard receipt</a:t>
            </a:r>
          </a:p>
        </p:txBody>
      </p:sp>
      <p:sp>
        <p:nvSpPr>
          <p:cNvPr id="28" name="TextBox 27">
            <a:extLst>
              <a:ext uri="{FF2B5EF4-FFF2-40B4-BE49-F238E27FC236}">
                <a16:creationId xmlns:a16="http://schemas.microsoft.com/office/drawing/2014/main" id="{85045744-9196-AAC4-CA89-6F94E0207138}"/>
              </a:ext>
            </a:extLst>
          </p:cNvPr>
          <p:cNvSpPr txBox="1"/>
          <p:nvPr/>
        </p:nvSpPr>
        <p:spPr>
          <a:xfrm>
            <a:off x="4107908" y="1316461"/>
            <a:ext cx="126132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From supplier</a:t>
            </a:r>
          </a:p>
        </p:txBody>
      </p:sp>
      <p:sp>
        <p:nvSpPr>
          <p:cNvPr id="29" name="TextBox 28">
            <a:extLst>
              <a:ext uri="{FF2B5EF4-FFF2-40B4-BE49-F238E27FC236}">
                <a16:creationId xmlns:a16="http://schemas.microsoft.com/office/drawing/2014/main" id="{FB0DBFA8-A5DF-98B5-DD48-D973CA35AD7F}"/>
              </a:ext>
            </a:extLst>
          </p:cNvPr>
          <p:cNvSpPr txBox="1"/>
          <p:nvPr/>
        </p:nvSpPr>
        <p:spPr>
          <a:xfrm>
            <a:off x="7140591" y="1580671"/>
            <a:ext cx="126132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Check packaging, quantity</a:t>
            </a:r>
          </a:p>
        </p:txBody>
      </p:sp>
      <p:sp>
        <p:nvSpPr>
          <p:cNvPr id="30" name="TextBox 29">
            <a:extLst>
              <a:ext uri="{FF2B5EF4-FFF2-40B4-BE49-F238E27FC236}">
                <a16:creationId xmlns:a16="http://schemas.microsoft.com/office/drawing/2014/main" id="{7256D14F-B707-B813-515F-38091E1ED6C6}"/>
              </a:ext>
            </a:extLst>
          </p:cNvPr>
          <p:cNvSpPr txBox="1"/>
          <p:nvPr/>
        </p:nvSpPr>
        <p:spPr>
          <a:xfrm>
            <a:off x="6623657" y="5164751"/>
            <a:ext cx="129578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After approval</a:t>
            </a:r>
          </a:p>
        </p:txBody>
      </p:sp>
      <p:sp>
        <p:nvSpPr>
          <p:cNvPr id="31" name="TextBox 30">
            <a:extLst>
              <a:ext uri="{FF2B5EF4-FFF2-40B4-BE49-F238E27FC236}">
                <a16:creationId xmlns:a16="http://schemas.microsoft.com/office/drawing/2014/main" id="{4C6C7A1B-15E4-BA69-391B-D0692AD20D85}"/>
              </a:ext>
            </a:extLst>
          </p:cNvPr>
          <p:cNvSpPr txBox="1"/>
          <p:nvPr/>
        </p:nvSpPr>
        <p:spPr>
          <a:xfrm>
            <a:off x="3625435" y="395857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If fail</a:t>
            </a:r>
          </a:p>
        </p:txBody>
      </p:sp>
      <p:sp>
        <p:nvSpPr>
          <p:cNvPr id="32" name="TextBox 31">
            <a:extLst>
              <a:ext uri="{FF2B5EF4-FFF2-40B4-BE49-F238E27FC236}">
                <a16:creationId xmlns:a16="http://schemas.microsoft.com/office/drawing/2014/main" id="{8C3BB6A8-AA7C-0741-0E26-08B7D6E20760}"/>
              </a:ext>
            </a:extLst>
          </p:cNvPr>
          <p:cNvSpPr txBox="1"/>
          <p:nvPr/>
        </p:nvSpPr>
        <p:spPr>
          <a:xfrm>
            <a:off x="1201586" y="3843697"/>
            <a:ext cx="90521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Final storage</a:t>
            </a:r>
          </a:p>
        </p:txBody>
      </p:sp>
    </p:spTree>
    <p:extLst>
      <p:ext uri="{BB962C8B-B14F-4D97-AF65-F5344CB8AC3E}">
        <p14:creationId xmlns:p14="http://schemas.microsoft.com/office/powerpoint/2010/main" val="3967950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7DD54F-BBD5-18F6-AE7A-66F8F851F28D}"/>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BB5584F7-4845-066A-A7CE-1297948262C9}"/>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6908A634-30B9-2C57-282D-53F444D05A5C}"/>
              </a:ext>
            </a:extLst>
          </p:cNvPr>
          <p:cNvSpPr>
            <a:spLocks noGrp="1"/>
          </p:cNvSpPr>
          <p:nvPr>
            <p:ph type="sldNum" sz="quarter" idx="12"/>
          </p:nvPr>
        </p:nvSpPr>
        <p:spPr/>
        <p:txBody>
          <a:bodyPr/>
          <a:lstStyle/>
          <a:p>
            <a:fld id="{3E6E0AAA-CD81-4600-8AFF-1AFB757A6F8D}" type="slidenum">
              <a:rPr lang="en-GB" altLang="en-US"/>
              <a:pPr/>
              <a:t>27</a:t>
            </a:fld>
            <a:endParaRPr lang="en-GB" altLang="en-US"/>
          </a:p>
        </p:txBody>
      </p:sp>
      <p:sp>
        <p:nvSpPr>
          <p:cNvPr id="5" name="TextBox 4">
            <a:extLst>
              <a:ext uri="{FF2B5EF4-FFF2-40B4-BE49-F238E27FC236}">
                <a16:creationId xmlns:a16="http://schemas.microsoft.com/office/drawing/2014/main" id="{97DDFEB5-CFBE-E94A-FE8B-24E8E5BEA12C}"/>
              </a:ext>
            </a:extLst>
          </p:cNvPr>
          <p:cNvSpPr txBox="1"/>
          <p:nvPr/>
        </p:nvSpPr>
        <p:spPr>
          <a:xfrm>
            <a:off x="385978" y="454903"/>
            <a:ext cx="315674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ea typeface="Arial Unicode MS"/>
                <a:cs typeface="Arial Unicode MS"/>
              </a:rPr>
              <a:t>Internal Transfer Receipt</a:t>
            </a:r>
            <a:endParaRPr lang="en-US" sz="1600">
              <a:latin typeface="Times New Roman"/>
              <a:ea typeface="Arial Unicode MS"/>
              <a:cs typeface="Arial Unicode MS"/>
            </a:endParaRPr>
          </a:p>
        </p:txBody>
      </p:sp>
      <p:sp>
        <p:nvSpPr>
          <p:cNvPr id="6" name="Rectangle 5">
            <a:extLst>
              <a:ext uri="{FF2B5EF4-FFF2-40B4-BE49-F238E27FC236}">
                <a16:creationId xmlns:a16="http://schemas.microsoft.com/office/drawing/2014/main" id="{D02D8B7C-A1B0-F09F-2C31-5B4B706B1CD8}"/>
              </a:ext>
            </a:extLst>
          </p:cNvPr>
          <p:cNvSpPr/>
          <p:nvPr/>
        </p:nvSpPr>
        <p:spPr>
          <a:xfrm>
            <a:off x="926471" y="1331292"/>
            <a:ext cx="1603645"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Internal Transfer Note Approved</a:t>
            </a:r>
            <a:endParaRPr lang="en-US"/>
          </a:p>
        </p:txBody>
      </p:sp>
      <p:sp>
        <p:nvSpPr>
          <p:cNvPr id="7" name="Rectangle 6">
            <a:extLst>
              <a:ext uri="{FF2B5EF4-FFF2-40B4-BE49-F238E27FC236}">
                <a16:creationId xmlns:a16="http://schemas.microsoft.com/office/drawing/2014/main" id="{2717F0EF-58A5-3F48-A1F8-7549DEBED775}"/>
              </a:ext>
            </a:extLst>
          </p:cNvPr>
          <p:cNvSpPr/>
          <p:nvPr/>
        </p:nvSpPr>
        <p:spPr>
          <a:xfrm>
            <a:off x="3320705" y="1334340"/>
            <a:ext cx="1718519"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Goods Arrive from Source Warehouse</a:t>
            </a:r>
            <a:endParaRPr lang="en-US"/>
          </a:p>
        </p:txBody>
      </p:sp>
      <p:sp>
        <p:nvSpPr>
          <p:cNvPr id="8" name="Diamond 7">
            <a:extLst>
              <a:ext uri="{FF2B5EF4-FFF2-40B4-BE49-F238E27FC236}">
                <a16:creationId xmlns:a16="http://schemas.microsoft.com/office/drawing/2014/main" id="{76437B6E-D8FA-070A-D60D-62E462117D41}"/>
              </a:ext>
            </a:extLst>
          </p:cNvPr>
          <p:cNvSpPr/>
          <p:nvPr/>
        </p:nvSpPr>
        <p:spPr>
          <a:xfrm>
            <a:off x="5650732" y="1063264"/>
            <a:ext cx="1982731" cy="153471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Verification vs Transfer Note</a:t>
            </a:r>
            <a:endParaRPr lang="en-US"/>
          </a:p>
        </p:txBody>
      </p:sp>
      <p:sp>
        <p:nvSpPr>
          <p:cNvPr id="9" name="Rectangle 8">
            <a:extLst>
              <a:ext uri="{FF2B5EF4-FFF2-40B4-BE49-F238E27FC236}">
                <a16:creationId xmlns:a16="http://schemas.microsoft.com/office/drawing/2014/main" id="{93701F44-8C8C-6D94-3EEE-730D71B2E862}"/>
              </a:ext>
            </a:extLst>
          </p:cNvPr>
          <p:cNvSpPr/>
          <p:nvPr/>
        </p:nvSpPr>
        <p:spPr>
          <a:xfrm>
            <a:off x="906450" y="3551161"/>
            <a:ext cx="1615132" cy="868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Store in Warehouse</a:t>
            </a:r>
            <a:endParaRPr lang="en-US"/>
          </a:p>
        </p:txBody>
      </p:sp>
      <p:sp>
        <p:nvSpPr>
          <p:cNvPr id="10" name="Rectangle 9">
            <a:extLst>
              <a:ext uri="{FF2B5EF4-FFF2-40B4-BE49-F238E27FC236}">
                <a16:creationId xmlns:a16="http://schemas.microsoft.com/office/drawing/2014/main" id="{4B9CD006-6702-BCA6-3AC4-A2427F1A71C6}"/>
              </a:ext>
            </a:extLst>
          </p:cNvPr>
          <p:cNvSpPr/>
          <p:nvPr/>
        </p:nvSpPr>
        <p:spPr>
          <a:xfrm>
            <a:off x="3364505" y="3528089"/>
            <a:ext cx="1638107"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Raise Discrepancy Report</a:t>
            </a:r>
            <a:endParaRPr lang="en-US"/>
          </a:p>
        </p:txBody>
      </p:sp>
      <p:sp>
        <p:nvSpPr>
          <p:cNvPr id="11" name="Rectangle 10">
            <a:extLst>
              <a:ext uri="{FF2B5EF4-FFF2-40B4-BE49-F238E27FC236}">
                <a16:creationId xmlns:a16="http://schemas.microsoft.com/office/drawing/2014/main" id="{578D20E0-4630-493D-7393-D1753EB8FAE6}"/>
              </a:ext>
            </a:extLst>
          </p:cNvPr>
          <p:cNvSpPr/>
          <p:nvPr/>
        </p:nvSpPr>
        <p:spPr>
          <a:xfrm>
            <a:off x="6014223" y="3519650"/>
            <a:ext cx="1971243" cy="902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Update Inventory in System</a:t>
            </a:r>
            <a:endParaRPr lang="en-US"/>
          </a:p>
        </p:txBody>
      </p:sp>
      <p:cxnSp>
        <p:nvCxnSpPr>
          <p:cNvPr id="13" name="Connector: Elbow 12">
            <a:extLst>
              <a:ext uri="{FF2B5EF4-FFF2-40B4-BE49-F238E27FC236}">
                <a16:creationId xmlns:a16="http://schemas.microsoft.com/office/drawing/2014/main" id="{0F62DBB0-ACE4-8204-ED78-F5D25FC19E2A}"/>
              </a:ext>
            </a:extLst>
          </p:cNvPr>
          <p:cNvCxnSpPr/>
          <p:nvPr/>
        </p:nvCxnSpPr>
        <p:spPr>
          <a:xfrm flipV="1">
            <a:off x="2520210" y="1721986"/>
            <a:ext cx="592752" cy="459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977BB228-AACF-5697-930B-2468CC5DDA4C}"/>
              </a:ext>
            </a:extLst>
          </p:cNvPr>
          <p:cNvCxnSpPr/>
          <p:nvPr/>
        </p:nvCxnSpPr>
        <p:spPr>
          <a:xfrm flipV="1">
            <a:off x="4994472" y="1717077"/>
            <a:ext cx="638699"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F4C1F6C9-7E11-D614-15C6-E8701FCA4146}"/>
              </a:ext>
            </a:extLst>
          </p:cNvPr>
          <p:cNvCxnSpPr/>
          <p:nvPr/>
        </p:nvCxnSpPr>
        <p:spPr>
          <a:xfrm>
            <a:off x="6588211" y="2600527"/>
            <a:ext cx="52841" cy="8684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44F73BE7-2A5C-699A-100E-414B74B6D275}"/>
              </a:ext>
            </a:extLst>
          </p:cNvPr>
          <p:cNvCxnSpPr/>
          <p:nvPr/>
        </p:nvCxnSpPr>
        <p:spPr>
          <a:xfrm flipH="1" flipV="1">
            <a:off x="5123618" y="3973269"/>
            <a:ext cx="831692" cy="160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7BF70B8A-49C8-3EE3-DA4B-6FEF606DBE37}"/>
              </a:ext>
            </a:extLst>
          </p:cNvPr>
          <p:cNvCxnSpPr/>
          <p:nvPr/>
        </p:nvCxnSpPr>
        <p:spPr>
          <a:xfrm flipH="1">
            <a:off x="2577289" y="3976292"/>
            <a:ext cx="751278" cy="689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8F3EA7E2-D641-A220-2342-34E299611398}"/>
              </a:ext>
            </a:extLst>
          </p:cNvPr>
          <p:cNvCxnSpPr/>
          <p:nvPr/>
        </p:nvCxnSpPr>
        <p:spPr>
          <a:xfrm flipH="1" flipV="1">
            <a:off x="4163102" y="2902562"/>
            <a:ext cx="2439932" cy="1608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8EC2310C-575B-2BC7-E523-2E5A2D5A983E}"/>
              </a:ext>
            </a:extLst>
          </p:cNvPr>
          <p:cNvCxnSpPr/>
          <p:nvPr/>
        </p:nvCxnSpPr>
        <p:spPr>
          <a:xfrm>
            <a:off x="4191025" y="2897338"/>
            <a:ext cx="41353" cy="4204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4B9433D-0482-4748-FA72-3EF7DFB8220F}"/>
              </a:ext>
            </a:extLst>
          </p:cNvPr>
          <p:cNvSpPr txBox="1"/>
          <p:nvPr/>
        </p:nvSpPr>
        <p:spPr>
          <a:xfrm>
            <a:off x="7034263" y="3017026"/>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Match</a:t>
            </a:r>
            <a:endParaRPr lang="en-US"/>
          </a:p>
        </p:txBody>
      </p:sp>
      <p:sp>
        <p:nvSpPr>
          <p:cNvPr id="21" name="TextBox 20">
            <a:extLst>
              <a:ext uri="{FF2B5EF4-FFF2-40B4-BE49-F238E27FC236}">
                <a16:creationId xmlns:a16="http://schemas.microsoft.com/office/drawing/2014/main" id="{24E6CA54-DA5A-D81A-38A1-4424A7A97BAA}"/>
              </a:ext>
            </a:extLst>
          </p:cNvPr>
          <p:cNvSpPr txBox="1"/>
          <p:nvPr/>
        </p:nvSpPr>
        <p:spPr>
          <a:xfrm>
            <a:off x="4646608" y="2590611"/>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err="1">
                <a:latin typeface="Arial"/>
                <a:ea typeface="Arial Unicode MS"/>
                <a:cs typeface="Arial Unicode MS"/>
              </a:rPr>
              <a:t>MisMatch</a:t>
            </a:r>
            <a:endParaRPr lang="en-US" err="1"/>
          </a:p>
        </p:txBody>
      </p:sp>
      <p:sp>
        <p:nvSpPr>
          <p:cNvPr id="22" name="TextBox 21">
            <a:extLst>
              <a:ext uri="{FF2B5EF4-FFF2-40B4-BE49-F238E27FC236}">
                <a16:creationId xmlns:a16="http://schemas.microsoft.com/office/drawing/2014/main" id="{F4E25244-5477-6269-3E63-D4BEA619ECC9}"/>
              </a:ext>
            </a:extLst>
          </p:cNvPr>
          <p:cNvSpPr txBox="1"/>
          <p:nvPr/>
        </p:nvSpPr>
        <p:spPr>
          <a:xfrm>
            <a:off x="627214" y="91440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From another warehouse</a:t>
            </a:r>
          </a:p>
        </p:txBody>
      </p:sp>
    </p:spTree>
    <p:extLst>
      <p:ext uri="{BB962C8B-B14F-4D97-AF65-F5344CB8AC3E}">
        <p14:creationId xmlns:p14="http://schemas.microsoft.com/office/powerpoint/2010/main" val="1966545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DAF0E1-C645-BFBA-419A-570D073D5161}"/>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B5664381-9EBA-C6F8-A56D-A90B0C16ED6B}"/>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D909AAC1-F2B8-D1CD-8852-D45D49E2E9D4}"/>
              </a:ext>
            </a:extLst>
          </p:cNvPr>
          <p:cNvSpPr>
            <a:spLocks noGrp="1"/>
          </p:cNvSpPr>
          <p:nvPr>
            <p:ph type="sldNum" sz="quarter" idx="12"/>
          </p:nvPr>
        </p:nvSpPr>
        <p:spPr/>
        <p:txBody>
          <a:bodyPr/>
          <a:lstStyle/>
          <a:p>
            <a:fld id="{3E6E0AAA-CD81-4600-8AFF-1AFB757A6F8D}" type="slidenum">
              <a:rPr lang="en-GB" altLang="en-US"/>
              <a:pPr/>
              <a:t>28</a:t>
            </a:fld>
            <a:endParaRPr lang="en-GB" altLang="en-US"/>
          </a:p>
        </p:txBody>
      </p:sp>
      <p:sp>
        <p:nvSpPr>
          <p:cNvPr id="5" name="TextBox 4">
            <a:extLst>
              <a:ext uri="{FF2B5EF4-FFF2-40B4-BE49-F238E27FC236}">
                <a16:creationId xmlns:a16="http://schemas.microsoft.com/office/drawing/2014/main" id="{DB171356-8408-886C-B4D5-9794CC1438E9}"/>
              </a:ext>
            </a:extLst>
          </p:cNvPr>
          <p:cNvSpPr txBox="1"/>
          <p:nvPr/>
        </p:nvSpPr>
        <p:spPr>
          <a:xfrm>
            <a:off x="385978" y="454903"/>
            <a:ext cx="36277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Warranty/Replacement Receipt</a:t>
            </a:r>
            <a:endParaRPr lang="en-US"/>
          </a:p>
        </p:txBody>
      </p:sp>
      <p:sp>
        <p:nvSpPr>
          <p:cNvPr id="6" name="Rectangle 5">
            <a:extLst>
              <a:ext uri="{FF2B5EF4-FFF2-40B4-BE49-F238E27FC236}">
                <a16:creationId xmlns:a16="http://schemas.microsoft.com/office/drawing/2014/main" id="{2854D26D-B40A-3D9D-96F0-102F0C1B9AF2}"/>
              </a:ext>
            </a:extLst>
          </p:cNvPr>
          <p:cNvSpPr/>
          <p:nvPr/>
        </p:nvSpPr>
        <p:spPr>
          <a:xfrm>
            <a:off x="586661" y="1710281"/>
            <a:ext cx="1695544" cy="8339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Warranty Claim Approved</a:t>
            </a:r>
            <a:endParaRPr lang="en-US"/>
          </a:p>
        </p:txBody>
      </p:sp>
      <p:sp>
        <p:nvSpPr>
          <p:cNvPr id="7" name="Rectangle 6">
            <a:extLst>
              <a:ext uri="{FF2B5EF4-FFF2-40B4-BE49-F238E27FC236}">
                <a16:creationId xmlns:a16="http://schemas.microsoft.com/office/drawing/2014/main" id="{8CF7148B-EB0D-4CB4-E7F5-DF36DFF3F3B1}"/>
              </a:ext>
            </a:extLst>
          </p:cNvPr>
          <p:cNvSpPr/>
          <p:nvPr/>
        </p:nvSpPr>
        <p:spPr>
          <a:xfrm>
            <a:off x="3146916" y="1677199"/>
            <a:ext cx="1718520" cy="82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Parts Arrive for Warranty Replacement</a:t>
            </a:r>
            <a:endParaRPr lang="en-US"/>
          </a:p>
        </p:txBody>
      </p:sp>
      <p:sp>
        <p:nvSpPr>
          <p:cNvPr id="8" name="Diamond 7">
            <a:extLst>
              <a:ext uri="{FF2B5EF4-FFF2-40B4-BE49-F238E27FC236}">
                <a16:creationId xmlns:a16="http://schemas.microsoft.com/office/drawing/2014/main" id="{CBEDBDBC-DBA9-5EE1-8BB1-BC5668B3698F}"/>
              </a:ext>
            </a:extLst>
          </p:cNvPr>
          <p:cNvSpPr/>
          <p:nvPr/>
        </p:nvSpPr>
        <p:spPr>
          <a:xfrm>
            <a:off x="6074002" y="1457173"/>
            <a:ext cx="2235453" cy="1270509"/>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Verification &amp; Inspection</a:t>
            </a:r>
            <a:endParaRPr lang="en-US"/>
          </a:p>
        </p:txBody>
      </p:sp>
      <p:sp>
        <p:nvSpPr>
          <p:cNvPr id="9" name="Rectangle 8">
            <a:extLst>
              <a:ext uri="{FF2B5EF4-FFF2-40B4-BE49-F238E27FC236}">
                <a16:creationId xmlns:a16="http://schemas.microsoft.com/office/drawing/2014/main" id="{15AE67BC-FE55-C9A9-0269-EE61823A0C35}"/>
              </a:ext>
            </a:extLst>
          </p:cNvPr>
          <p:cNvSpPr/>
          <p:nvPr/>
        </p:nvSpPr>
        <p:spPr>
          <a:xfrm>
            <a:off x="382937" y="4000840"/>
            <a:ext cx="2238092" cy="9354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Store in Warehouse</a:t>
            </a:r>
            <a:endParaRPr lang="en-US"/>
          </a:p>
        </p:txBody>
      </p:sp>
      <p:sp>
        <p:nvSpPr>
          <p:cNvPr id="10" name="Rectangle 9">
            <a:extLst>
              <a:ext uri="{FF2B5EF4-FFF2-40B4-BE49-F238E27FC236}">
                <a16:creationId xmlns:a16="http://schemas.microsoft.com/office/drawing/2014/main" id="{FC454293-6AE1-A897-9C43-B768A8892673}"/>
              </a:ext>
            </a:extLst>
          </p:cNvPr>
          <p:cNvSpPr/>
          <p:nvPr/>
        </p:nvSpPr>
        <p:spPr>
          <a:xfrm>
            <a:off x="3281430" y="3999074"/>
            <a:ext cx="2281404" cy="9373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Dispose/Return to Vendor</a:t>
            </a:r>
            <a:endParaRPr lang="en-US"/>
          </a:p>
        </p:txBody>
      </p:sp>
      <p:sp>
        <p:nvSpPr>
          <p:cNvPr id="11" name="Rectangle 10">
            <a:extLst>
              <a:ext uri="{FF2B5EF4-FFF2-40B4-BE49-F238E27FC236}">
                <a16:creationId xmlns:a16="http://schemas.microsoft.com/office/drawing/2014/main" id="{BBC0FEA8-595A-67CD-450D-C72E91C80B7C}"/>
              </a:ext>
            </a:extLst>
          </p:cNvPr>
          <p:cNvSpPr/>
          <p:nvPr/>
        </p:nvSpPr>
        <p:spPr>
          <a:xfrm>
            <a:off x="6187015" y="3995738"/>
            <a:ext cx="2017192" cy="9488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Update Inventory in System</a:t>
            </a:r>
            <a:endParaRPr lang="en-US"/>
          </a:p>
        </p:txBody>
      </p:sp>
      <p:sp>
        <p:nvSpPr>
          <p:cNvPr id="14" name="TextBox 13">
            <a:extLst>
              <a:ext uri="{FF2B5EF4-FFF2-40B4-BE49-F238E27FC236}">
                <a16:creationId xmlns:a16="http://schemas.microsoft.com/office/drawing/2014/main" id="{01BC162E-C142-5291-594A-5097B66E56B2}"/>
              </a:ext>
            </a:extLst>
          </p:cNvPr>
          <p:cNvSpPr txBox="1"/>
          <p:nvPr/>
        </p:nvSpPr>
        <p:spPr>
          <a:xfrm>
            <a:off x="558290" y="937375"/>
            <a:ext cx="190461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Customer return or vendor replacement</a:t>
            </a:r>
          </a:p>
        </p:txBody>
      </p:sp>
      <p:cxnSp>
        <p:nvCxnSpPr>
          <p:cNvPr id="15" name="Connector: Elbow 14">
            <a:extLst>
              <a:ext uri="{FF2B5EF4-FFF2-40B4-BE49-F238E27FC236}">
                <a16:creationId xmlns:a16="http://schemas.microsoft.com/office/drawing/2014/main" id="{3DAB9F55-6D02-A871-6A78-D85554E673E5}"/>
              </a:ext>
            </a:extLst>
          </p:cNvPr>
          <p:cNvCxnSpPr/>
          <p:nvPr/>
        </p:nvCxnSpPr>
        <p:spPr>
          <a:xfrm>
            <a:off x="2279166" y="2057856"/>
            <a:ext cx="719113" cy="68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0B475428-375F-D665-2887-0D43088A2EF1}"/>
              </a:ext>
            </a:extLst>
          </p:cNvPr>
          <p:cNvCxnSpPr/>
          <p:nvPr/>
        </p:nvCxnSpPr>
        <p:spPr>
          <a:xfrm>
            <a:off x="4869874" y="2098801"/>
            <a:ext cx="948861" cy="68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68F5A11C-E551-3257-7BC7-94B4B75E0BB1}"/>
              </a:ext>
            </a:extLst>
          </p:cNvPr>
          <p:cNvCxnSpPr/>
          <p:nvPr/>
        </p:nvCxnSpPr>
        <p:spPr>
          <a:xfrm>
            <a:off x="7176925" y="2702244"/>
            <a:ext cx="52842" cy="11326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44AF1F7-C46A-2352-099A-D5AEA0056EDC}"/>
              </a:ext>
            </a:extLst>
          </p:cNvPr>
          <p:cNvCxnSpPr/>
          <p:nvPr/>
        </p:nvCxnSpPr>
        <p:spPr>
          <a:xfrm flipH="1">
            <a:off x="5707713" y="4450132"/>
            <a:ext cx="441118"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2BCB138-691C-A389-E9E3-9AC2EF1C24A3}"/>
              </a:ext>
            </a:extLst>
          </p:cNvPr>
          <p:cNvCxnSpPr/>
          <p:nvPr/>
        </p:nvCxnSpPr>
        <p:spPr>
          <a:xfrm flipH="1">
            <a:off x="2769333" y="4438645"/>
            <a:ext cx="510043" cy="68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4D9305F-0815-B76D-00B7-9668DA6A4D80}"/>
              </a:ext>
            </a:extLst>
          </p:cNvPr>
          <p:cNvSpPr txBox="1"/>
          <p:nvPr/>
        </p:nvSpPr>
        <p:spPr>
          <a:xfrm>
            <a:off x="7317727" y="3162833"/>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Arial Unicode MS"/>
                <a:cs typeface="Arial Unicode MS"/>
              </a:rPr>
              <a:t>Accept</a:t>
            </a:r>
            <a:endParaRPr lang="en-US"/>
          </a:p>
          <a:p>
            <a:pPr algn="l"/>
            <a:endParaRPr lang="en-US"/>
          </a:p>
        </p:txBody>
      </p:sp>
      <p:sp>
        <p:nvSpPr>
          <p:cNvPr id="21" name="TextBox 20">
            <a:extLst>
              <a:ext uri="{FF2B5EF4-FFF2-40B4-BE49-F238E27FC236}">
                <a16:creationId xmlns:a16="http://schemas.microsoft.com/office/drawing/2014/main" id="{80CC354B-05C3-E08F-8DCA-D0FC56458639}"/>
              </a:ext>
            </a:extLst>
          </p:cNvPr>
          <p:cNvSpPr txBox="1"/>
          <p:nvPr/>
        </p:nvSpPr>
        <p:spPr>
          <a:xfrm>
            <a:off x="5556683" y="3689203"/>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latin typeface="Arial"/>
                <a:ea typeface="Arial Unicode MS"/>
                <a:cs typeface="Arial Unicode MS"/>
              </a:rPr>
              <a:t>Reject</a:t>
            </a:r>
            <a:endParaRPr lang="en-US"/>
          </a:p>
        </p:txBody>
      </p:sp>
    </p:spTree>
    <p:extLst>
      <p:ext uri="{BB962C8B-B14F-4D97-AF65-F5344CB8AC3E}">
        <p14:creationId xmlns:p14="http://schemas.microsoft.com/office/powerpoint/2010/main" val="1256498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8A0B80-9D3A-A924-7EDD-7F5A47FF2872}"/>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7770991D-7926-DBCB-E955-4EFE4B7D1933}"/>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B3ACD011-78A0-64C6-8ED1-6D3995C0219A}"/>
              </a:ext>
            </a:extLst>
          </p:cNvPr>
          <p:cNvSpPr>
            <a:spLocks noGrp="1"/>
          </p:cNvSpPr>
          <p:nvPr>
            <p:ph type="sldNum" sz="quarter" idx="12"/>
          </p:nvPr>
        </p:nvSpPr>
        <p:spPr/>
        <p:txBody>
          <a:bodyPr/>
          <a:lstStyle/>
          <a:p>
            <a:fld id="{3E6E0AAA-CD81-4600-8AFF-1AFB757A6F8D}" type="slidenum">
              <a:rPr lang="en-GB" altLang="en-US"/>
              <a:pPr/>
              <a:t>29</a:t>
            </a:fld>
            <a:endParaRPr lang="en-GB" altLang="en-US"/>
          </a:p>
        </p:txBody>
      </p:sp>
      <p:sp>
        <p:nvSpPr>
          <p:cNvPr id="5" name="TextBox 4">
            <a:extLst>
              <a:ext uri="{FF2B5EF4-FFF2-40B4-BE49-F238E27FC236}">
                <a16:creationId xmlns:a16="http://schemas.microsoft.com/office/drawing/2014/main" id="{FB5BB409-D56A-B8E2-3E47-A2DEBA6A3775}"/>
              </a:ext>
            </a:extLst>
          </p:cNvPr>
          <p:cNvSpPr txBox="1"/>
          <p:nvPr/>
        </p:nvSpPr>
        <p:spPr>
          <a:xfrm>
            <a:off x="385978" y="454903"/>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Consignment Receipt</a:t>
            </a:r>
            <a:endParaRPr lang="en-US"/>
          </a:p>
        </p:txBody>
      </p:sp>
      <p:sp>
        <p:nvSpPr>
          <p:cNvPr id="6" name="Rectangle 5">
            <a:extLst>
              <a:ext uri="{FF2B5EF4-FFF2-40B4-BE49-F238E27FC236}">
                <a16:creationId xmlns:a16="http://schemas.microsoft.com/office/drawing/2014/main" id="{E7B22292-AAA2-7452-B321-70D8FE67817C}"/>
              </a:ext>
            </a:extLst>
          </p:cNvPr>
          <p:cNvSpPr/>
          <p:nvPr/>
        </p:nvSpPr>
        <p:spPr>
          <a:xfrm flipH="1">
            <a:off x="716361" y="1516664"/>
            <a:ext cx="1595181" cy="8549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Consignment Agreement Active</a:t>
            </a:r>
            <a:endParaRPr lang="en-US"/>
          </a:p>
        </p:txBody>
      </p:sp>
      <p:sp>
        <p:nvSpPr>
          <p:cNvPr id="7" name="Rectangle 6">
            <a:extLst>
              <a:ext uri="{FF2B5EF4-FFF2-40B4-BE49-F238E27FC236}">
                <a16:creationId xmlns:a16="http://schemas.microsoft.com/office/drawing/2014/main" id="{F98D1420-143F-4A76-AC81-897E3670AB9D}"/>
              </a:ext>
            </a:extLst>
          </p:cNvPr>
          <p:cNvSpPr/>
          <p:nvPr/>
        </p:nvSpPr>
        <p:spPr>
          <a:xfrm>
            <a:off x="3348301" y="1501742"/>
            <a:ext cx="1821907" cy="868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Consignment Parts Received</a:t>
            </a:r>
            <a:endParaRPr lang="en-US"/>
          </a:p>
        </p:txBody>
      </p:sp>
      <p:sp>
        <p:nvSpPr>
          <p:cNvPr id="8" name="Diamond 7">
            <a:extLst>
              <a:ext uri="{FF2B5EF4-FFF2-40B4-BE49-F238E27FC236}">
                <a16:creationId xmlns:a16="http://schemas.microsoft.com/office/drawing/2014/main" id="{B11F7FAC-78D0-587C-0C81-727F26C965EB}"/>
              </a:ext>
            </a:extLst>
          </p:cNvPr>
          <p:cNvSpPr/>
          <p:nvPr/>
        </p:nvSpPr>
        <p:spPr>
          <a:xfrm>
            <a:off x="6131247" y="1220943"/>
            <a:ext cx="2109091" cy="1408358"/>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Verification &amp; Documentation</a:t>
            </a:r>
            <a:endParaRPr lang="en-US"/>
          </a:p>
        </p:txBody>
      </p:sp>
      <p:sp>
        <p:nvSpPr>
          <p:cNvPr id="9" name="Rectangle 8">
            <a:extLst>
              <a:ext uri="{FF2B5EF4-FFF2-40B4-BE49-F238E27FC236}">
                <a16:creationId xmlns:a16="http://schemas.microsoft.com/office/drawing/2014/main" id="{C26A8286-64A0-9ADD-A317-5EAE395DB85D}"/>
              </a:ext>
            </a:extLst>
          </p:cNvPr>
          <p:cNvSpPr/>
          <p:nvPr/>
        </p:nvSpPr>
        <p:spPr>
          <a:xfrm>
            <a:off x="532177" y="3858369"/>
            <a:ext cx="1971243" cy="9373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Store in Consignment Area</a:t>
            </a:r>
            <a:endParaRPr lang="en-US"/>
          </a:p>
        </p:txBody>
      </p:sp>
      <p:sp>
        <p:nvSpPr>
          <p:cNvPr id="10" name="Rectangle 9">
            <a:extLst>
              <a:ext uri="{FF2B5EF4-FFF2-40B4-BE49-F238E27FC236}">
                <a16:creationId xmlns:a16="http://schemas.microsoft.com/office/drawing/2014/main" id="{8FC13E31-3095-5BD0-258E-B67D37863EB7}"/>
              </a:ext>
            </a:extLst>
          </p:cNvPr>
          <p:cNvSpPr/>
          <p:nvPr/>
        </p:nvSpPr>
        <p:spPr>
          <a:xfrm>
            <a:off x="3344580" y="3884200"/>
            <a:ext cx="1959755" cy="902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Notify Consignment Partner</a:t>
            </a:r>
            <a:endParaRPr lang="en-US"/>
          </a:p>
        </p:txBody>
      </p:sp>
      <p:sp>
        <p:nvSpPr>
          <p:cNvPr id="11" name="Rectangle 10">
            <a:extLst>
              <a:ext uri="{FF2B5EF4-FFF2-40B4-BE49-F238E27FC236}">
                <a16:creationId xmlns:a16="http://schemas.microsoft.com/office/drawing/2014/main" id="{4B0965C6-3ACE-540E-B546-5748B372BFA4}"/>
              </a:ext>
            </a:extLst>
          </p:cNvPr>
          <p:cNvSpPr/>
          <p:nvPr/>
        </p:nvSpPr>
        <p:spPr>
          <a:xfrm>
            <a:off x="6368473" y="3879290"/>
            <a:ext cx="2120579" cy="9143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mn-lt"/>
                <a:cs typeface="+mn-lt"/>
              </a:rPr>
              <a:t>Update Consignment Inventory</a:t>
            </a:r>
            <a:endParaRPr lang="en-US"/>
          </a:p>
        </p:txBody>
      </p:sp>
      <p:cxnSp>
        <p:nvCxnSpPr>
          <p:cNvPr id="14" name="Connector: Elbow 13">
            <a:extLst>
              <a:ext uri="{FF2B5EF4-FFF2-40B4-BE49-F238E27FC236}">
                <a16:creationId xmlns:a16="http://schemas.microsoft.com/office/drawing/2014/main" id="{6F5C6C55-DFB6-5B78-E6FF-519A763881E2}"/>
              </a:ext>
            </a:extLst>
          </p:cNvPr>
          <p:cNvCxnSpPr/>
          <p:nvPr/>
        </p:nvCxnSpPr>
        <p:spPr>
          <a:xfrm flipV="1">
            <a:off x="2284076" y="1925327"/>
            <a:ext cx="1040760" cy="45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9386510E-41F1-5C2D-5379-BC5EA53033D0}"/>
              </a:ext>
            </a:extLst>
          </p:cNvPr>
          <p:cNvCxnSpPr/>
          <p:nvPr/>
        </p:nvCxnSpPr>
        <p:spPr>
          <a:xfrm>
            <a:off x="5176505" y="1925012"/>
            <a:ext cx="845476" cy="2986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5642FD54-4D44-2863-E191-9EEC10BDC052}"/>
              </a:ext>
            </a:extLst>
          </p:cNvPr>
          <p:cNvCxnSpPr/>
          <p:nvPr/>
        </p:nvCxnSpPr>
        <p:spPr>
          <a:xfrm>
            <a:off x="7176925" y="2630078"/>
            <a:ext cx="18380" cy="10752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58F5C5AB-FE7D-34C0-C7A0-68212BD07BF9}"/>
              </a:ext>
            </a:extLst>
          </p:cNvPr>
          <p:cNvCxnSpPr/>
          <p:nvPr/>
        </p:nvCxnSpPr>
        <p:spPr>
          <a:xfrm flipH="1">
            <a:off x="5369476" y="4318957"/>
            <a:ext cx="958053" cy="68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C0D0D78A-576B-9558-CCAF-57D7CD9544CB}"/>
              </a:ext>
            </a:extLst>
          </p:cNvPr>
          <p:cNvCxnSpPr/>
          <p:nvPr/>
        </p:nvCxnSpPr>
        <p:spPr>
          <a:xfrm flipH="1">
            <a:off x="2508363" y="4307470"/>
            <a:ext cx="820204" cy="183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E0ACD1E-935E-D09B-10C8-A72FDF565C20}"/>
              </a:ext>
            </a:extLst>
          </p:cNvPr>
          <p:cNvSpPr txBox="1"/>
          <p:nvPr/>
        </p:nvSpPr>
        <p:spPr>
          <a:xfrm>
            <a:off x="7186541" y="316593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OK</a:t>
            </a:r>
          </a:p>
        </p:txBody>
      </p:sp>
      <p:sp>
        <p:nvSpPr>
          <p:cNvPr id="12" name="TextBox 11">
            <a:extLst>
              <a:ext uri="{FF2B5EF4-FFF2-40B4-BE49-F238E27FC236}">
                <a16:creationId xmlns:a16="http://schemas.microsoft.com/office/drawing/2014/main" id="{CA23BE11-33F5-6D68-3792-3D12EED21E51}"/>
              </a:ext>
            </a:extLst>
          </p:cNvPr>
          <p:cNvSpPr txBox="1"/>
          <p:nvPr/>
        </p:nvSpPr>
        <p:spPr>
          <a:xfrm>
            <a:off x="3200400" y="320040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Discrepancy</a:t>
            </a:r>
          </a:p>
        </p:txBody>
      </p:sp>
      <p:cxnSp>
        <p:nvCxnSpPr>
          <p:cNvPr id="13" name="Connector: Elbow 12">
            <a:extLst>
              <a:ext uri="{FF2B5EF4-FFF2-40B4-BE49-F238E27FC236}">
                <a16:creationId xmlns:a16="http://schemas.microsoft.com/office/drawing/2014/main" id="{6D02E62A-EFFD-F511-3C38-BC7094C5B54A}"/>
              </a:ext>
            </a:extLst>
          </p:cNvPr>
          <p:cNvCxnSpPr/>
          <p:nvPr/>
        </p:nvCxnSpPr>
        <p:spPr>
          <a:xfrm flipH="1" flipV="1">
            <a:off x="4587656" y="3010762"/>
            <a:ext cx="2600757" cy="3905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EBE548B-F97F-EDCD-E87F-19E6F3EC281E}"/>
              </a:ext>
            </a:extLst>
          </p:cNvPr>
          <p:cNvCxnSpPr/>
          <p:nvPr/>
        </p:nvCxnSpPr>
        <p:spPr>
          <a:xfrm>
            <a:off x="4591127" y="3017026"/>
            <a:ext cx="18379" cy="6961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0492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15A4B-3B28-392D-D1D7-77E02227E7E9}"/>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75CB4AAC-399B-F57C-FBB9-EB50C2C9014D}"/>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244ABCE5-1112-3BCC-C790-EB3AA904F59A}"/>
              </a:ext>
            </a:extLst>
          </p:cNvPr>
          <p:cNvSpPr>
            <a:spLocks noGrp="1"/>
          </p:cNvSpPr>
          <p:nvPr>
            <p:ph type="sldNum" sz="quarter" idx="12"/>
          </p:nvPr>
        </p:nvSpPr>
        <p:spPr/>
        <p:txBody>
          <a:bodyPr/>
          <a:lstStyle/>
          <a:p>
            <a:fld id="{3E6E0AAA-CD81-4600-8AFF-1AFB757A6F8D}" type="slidenum">
              <a:rPr lang="en-GB" altLang="en-US"/>
              <a:pPr/>
              <a:t>30</a:t>
            </a:fld>
            <a:endParaRPr lang="en-GB" altLang="en-US"/>
          </a:p>
        </p:txBody>
      </p:sp>
      <p:sp>
        <p:nvSpPr>
          <p:cNvPr id="5" name="TextBox 4">
            <a:extLst>
              <a:ext uri="{FF2B5EF4-FFF2-40B4-BE49-F238E27FC236}">
                <a16:creationId xmlns:a16="http://schemas.microsoft.com/office/drawing/2014/main" id="{3199C086-9AF7-57DD-874A-ED57F4472A3E}"/>
              </a:ext>
            </a:extLst>
          </p:cNvPr>
          <p:cNvSpPr txBox="1"/>
          <p:nvPr/>
        </p:nvSpPr>
        <p:spPr>
          <a:xfrm>
            <a:off x="234778" y="39541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Sample/Trial Parts Receipt</a:t>
            </a:r>
            <a:endParaRPr lang="en-US"/>
          </a:p>
        </p:txBody>
      </p:sp>
      <p:sp>
        <p:nvSpPr>
          <p:cNvPr id="6" name="Rectangle 5">
            <a:extLst>
              <a:ext uri="{FF2B5EF4-FFF2-40B4-BE49-F238E27FC236}">
                <a16:creationId xmlns:a16="http://schemas.microsoft.com/office/drawing/2014/main" id="{6DA7B4CC-811B-0BCB-6CF8-7C33B089E1A6}"/>
              </a:ext>
            </a:extLst>
          </p:cNvPr>
          <p:cNvSpPr/>
          <p:nvPr/>
        </p:nvSpPr>
        <p:spPr>
          <a:xfrm>
            <a:off x="629743" y="1626859"/>
            <a:ext cx="1655805" cy="8773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Sample/Trial Request Approved</a:t>
            </a:r>
            <a:endParaRPr lang="en-US" dirty="0"/>
          </a:p>
        </p:txBody>
      </p:sp>
      <p:sp>
        <p:nvSpPr>
          <p:cNvPr id="7" name="Rectangle 6">
            <a:extLst>
              <a:ext uri="{FF2B5EF4-FFF2-40B4-BE49-F238E27FC236}">
                <a16:creationId xmlns:a16="http://schemas.microsoft.com/office/drawing/2014/main" id="{B3391107-7AC9-F071-50BA-2B10E1786691}"/>
              </a:ext>
            </a:extLst>
          </p:cNvPr>
          <p:cNvSpPr/>
          <p:nvPr/>
        </p:nvSpPr>
        <p:spPr>
          <a:xfrm>
            <a:off x="3124669" y="1587898"/>
            <a:ext cx="164344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Parts Arrive for Trial/Demo</a:t>
            </a:r>
            <a:endParaRPr lang="en-US" dirty="0"/>
          </a:p>
        </p:txBody>
      </p:sp>
      <p:sp>
        <p:nvSpPr>
          <p:cNvPr id="8" name="Diamond 7">
            <a:extLst>
              <a:ext uri="{FF2B5EF4-FFF2-40B4-BE49-F238E27FC236}">
                <a16:creationId xmlns:a16="http://schemas.microsoft.com/office/drawing/2014/main" id="{9CCA6529-3A92-C0AE-CFAE-97113B2500B6}"/>
              </a:ext>
            </a:extLst>
          </p:cNvPr>
          <p:cNvSpPr/>
          <p:nvPr/>
        </p:nvSpPr>
        <p:spPr>
          <a:xfrm>
            <a:off x="5900019" y="1163965"/>
            <a:ext cx="2347784" cy="1742301"/>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Calibri"/>
                <a:cs typeface="Calibri"/>
              </a:rPr>
              <a:t>Verify with Sample/Trial Form</a:t>
            </a:r>
          </a:p>
        </p:txBody>
      </p:sp>
      <p:sp>
        <p:nvSpPr>
          <p:cNvPr id="9" name="Rectangle 8">
            <a:extLst>
              <a:ext uri="{FF2B5EF4-FFF2-40B4-BE49-F238E27FC236}">
                <a16:creationId xmlns:a16="http://schemas.microsoft.com/office/drawing/2014/main" id="{23C96F65-4475-5D5A-34FB-9280828C0AF0}"/>
              </a:ext>
            </a:extLst>
          </p:cNvPr>
          <p:cNvSpPr/>
          <p:nvPr/>
        </p:nvSpPr>
        <p:spPr>
          <a:xfrm>
            <a:off x="529237" y="4336857"/>
            <a:ext cx="2095422" cy="8478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Store in Trial/Demo Area</a:t>
            </a:r>
            <a:endParaRPr lang="en-US" dirty="0"/>
          </a:p>
        </p:txBody>
      </p:sp>
      <p:sp>
        <p:nvSpPr>
          <p:cNvPr id="10" name="Rectangle 9">
            <a:extLst>
              <a:ext uri="{FF2B5EF4-FFF2-40B4-BE49-F238E27FC236}">
                <a16:creationId xmlns:a16="http://schemas.microsoft.com/office/drawing/2014/main" id="{B1AD719B-E8E5-38B2-26EA-E468DD2C3F27}"/>
              </a:ext>
            </a:extLst>
          </p:cNvPr>
          <p:cNvSpPr/>
          <p:nvPr/>
        </p:nvSpPr>
        <p:spPr>
          <a:xfrm>
            <a:off x="3130128" y="4308361"/>
            <a:ext cx="2100648" cy="8526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Notify Requester of Issue</a:t>
            </a:r>
            <a:endParaRPr lang="en-US" dirty="0"/>
          </a:p>
        </p:txBody>
      </p:sp>
      <p:sp>
        <p:nvSpPr>
          <p:cNvPr id="11" name="Rectangle 10">
            <a:extLst>
              <a:ext uri="{FF2B5EF4-FFF2-40B4-BE49-F238E27FC236}">
                <a16:creationId xmlns:a16="http://schemas.microsoft.com/office/drawing/2014/main" id="{E38949DA-C473-4707-E86E-B6D8D4F25C2B}"/>
              </a:ext>
            </a:extLst>
          </p:cNvPr>
          <p:cNvSpPr/>
          <p:nvPr/>
        </p:nvSpPr>
        <p:spPr>
          <a:xfrm>
            <a:off x="6145006" y="4314529"/>
            <a:ext cx="2100648" cy="8896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Update Trial Inventory</a:t>
            </a:r>
          </a:p>
        </p:txBody>
      </p:sp>
      <p:cxnSp>
        <p:nvCxnSpPr>
          <p:cNvPr id="14" name="Connector: Elbow 13">
            <a:extLst>
              <a:ext uri="{FF2B5EF4-FFF2-40B4-BE49-F238E27FC236}">
                <a16:creationId xmlns:a16="http://schemas.microsoft.com/office/drawing/2014/main" id="{285C65EB-0753-BDE7-83F6-5FDF2F808A49}"/>
              </a:ext>
            </a:extLst>
          </p:cNvPr>
          <p:cNvCxnSpPr/>
          <p:nvPr/>
        </p:nvCxnSpPr>
        <p:spPr>
          <a:xfrm flipV="1">
            <a:off x="2283207" y="2037490"/>
            <a:ext cx="679623" cy="1235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B05EDF16-A959-4320-83B8-48C2E04FB0CE}"/>
              </a:ext>
            </a:extLst>
          </p:cNvPr>
          <p:cNvCxnSpPr/>
          <p:nvPr/>
        </p:nvCxnSpPr>
        <p:spPr>
          <a:xfrm>
            <a:off x="4767452" y="2033213"/>
            <a:ext cx="914400" cy="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10E2142B-FB30-0EE1-E4F7-D768F0D15ACF}"/>
              </a:ext>
            </a:extLst>
          </p:cNvPr>
          <p:cNvCxnSpPr/>
          <p:nvPr/>
        </p:nvCxnSpPr>
        <p:spPr>
          <a:xfrm>
            <a:off x="7067057" y="2906289"/>
            <a:ext cx="12358" cy="12603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6D81602E-35ED-CB56-4D3D-20E23878DA67}"/>
              </a:ext>
            </a:extLst>
          </p:cNvPr>
          <p:cNvCxnSpPr/>
          <p:nvPr/>
        </p:nvCxnSpPr>
        <p:spPr>
          <a:xfrm flipH="1">
            <a:off x="5304531" y="4767452"/>
            <a:ext cx="790833" cy="1235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64A5D21-2E62-3D0F-9771-F0535715610F}"/>
              </a:ext>
            </a:extLst>
          </p:cNvPr>
          <p:cNvCxnSpPr/>
          <p:nvPr/>
        </p:nvCxnSpPr>
        <p:spPr>
          <a:xfrm flipH="1">
            <a:off x="2678881" y="4775770"/>
            <a:ext cx="259493" cy="123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66849AC5-EEFB-2912-5AC0-71FF3D2120DF}"/>
              </a:ext>
            </a:extLst>
          </p:cNvPr>
          <p:cNvCxnSpPr/>
          <p:nvPr/>
        </p:nvCxnSpPr>
        <p:spPr>
          <a:xfrm flipH="1">
            <a:off x="4200290" y="3430989"/>
            <a:ext cx="2866767" cy="1235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E0BF6285-8CF2-DD13-C89C-AA65BE7064E8}"/>
              </a:ext>
            </a:extLst>
          </p:cNvPr>
          <p:cNvCxnSpPr/>
          <p:nvPr/>
        </p:nvCxnSpPr>
        <p:spPr>
          <a:xfrm>
            <a:off x="4185246" y="3447386"/>
            <a:ext cx="12356" cy="7166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691446F-4ABE-D107-C507-6FBDC6648A62}"/>
              </a:ext>
            </a:extLst>
          </p:cNvPr>
          <p:cNvSpPr txBox="1"/>
          <p:nvPr/>
        </p:nvSpPr>
        <p:spPr>
          <a:xfrm>
            <a:off x="7191632" y="3496962"/>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OK</a:t>
            </a:r>
          </a:p>
        </p:txBody>
      </p:sp>
      <p:sp>
        <p:nvSpPr>
          <p:cNvPr id="23" name="TextBox 22">
            <a:extLst>
              <a:ext uri="{FF2B5EF4-FFF2-40B4-BE49-F238E27FC236}">
                <a16:creationId xmlns:a16="http://schemas.microsoft.com/office/drawing/2014/main" id="{82B43751-A078-D5E8-C8F9-7FB17002D023}"/>
              </a:ext>
            </a:extLst>
          </p:cNvPr>
          <p:cNvSpPr txBox="1"/>
          <p:nvPr/>
        </p:nvSpPr>
        <p:spPr>
          <a:xfrm>
            <a:off x="4646141" y="312625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Mismatch</a:t>
            </a:r>
          </a:p>
        </p:txBody>
      </p:sp>
    </p:spTree>
    <p:extLst>
      <p:ext uri="{BB962C8B-B14F-4D97-AF65-F5344CB8AC3E}">
        <p14:creationId xmlns:p14="http://schemas.microsoft.com/office/powerpoint/2010/main" val="825335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393A04-75C8-2C2E-9C09-40D3E63C7D1D}"/>
              </a:ext>
            </a:extLst>
          </p:cNvPr>
          <p:cNvSpPr>
            <a:spLocks noGrp="1"/>
          </p:cNvSpPr>
          <p:nvPr>
            <p:ph type="dt" sz="half" idx="10"/>
          </p:nvPr>
        </p:nvSpPr>
        <p:spPr/>
        <p:txBody>
          <a:bodyPr/>
          <a:lstStyle/>
          <a:p>
            <a:pPr>
              <a:defRPr/>
            </a:pPr>
            <a:fld id="{95B8914C-303E-4E84-8B34-1A31B99B164F}" type="datetime1">
              <a:rPr lang="en-GB"/>
              <a:pPr>
                <a:defRPr/>
              </a:pPr>
              <a:t>12/08/2025</a:t>
            </a:fld>
            <a:endParaRPr lang="en-GB"/>
          </a:p>
        </p:txBody>
      </p:sp>
      <p:sp>
        <p:nvSpPr>
          <p:cNvPr id="3" name="Footer Placeholder 2">
            <a:extLst>
              <a:ext uri="{FF2B5EF4-FFF2-40B4-BE49-F238E27FC236}">
                <a16:creationId xmlns:a16="http://schemas.microsoft.com/office/drawing/2014/main" id="{0BB5C9D2-EBA5-7A2B-8F25-8D632B5667A2}"/>
              </a:ext>
            </a:extLst>
          </p:cNvPr>
          <p:cNvSpPr>
            <a:spLocks noGrp="1"/>
          </p:cNvSpPr>
          <p:nvPr>
            <p:ph type="ftr" sz="quarter" idx="11"/>
          </p:nvPr>
        </p:nvSpPr>
        <p:spPr/>
        <p:txBody>
          <a:bodyPr/>
          <a:lstStyle/>
          <a:p>
            <a:pPr>
              <a:defRPr/>
            </a:pPr>
            <a:r>
              <a:rPr lang="en-US"/>
              <a:t>Confidential to Selfservit, TVS &amp; Sons</a:t>
            </a:r>
          </a:p>
        </p:txBody>
      </p:sp>
      <p:sp>
        <p:nvSpPr>
          <p:cNvPr id="4" name="Slide Number Placeholder 3">
            <a:extLst>
              <a:ext uri="{FF2B5EF4-FFF2-40B4-BE49-F238E27FC236}">
                <a16:creationId xmlns:a16="http://schemas.microsoft.com/office/drawing/2014/main" id="{60EFE100-ABB2-A6DF-19A5-3EE66262E14B}"/>
              </a:ext>
            </a:extLst>
          </p:cNvPr>
          <p:cNvSpPr>
            <a:spLocks noGrp="1"/>
          </p:cNvSpPr>
          <p:nvPr>
            <p:ph type="sldNum" sz="quarter" idx="12"/>
          </p:nvPr>
        </p:nvSpPr>
        <p:spPr/>
        <p:txBody>
          <a:bodyPr/>
          <a:lstStyle/>
          <a:p>
            <a:fld id="{3E6E0AAA-CD81-4600-8AFF-1AFB757A6F8D}" type="slidenum">
              <a:rPr lang="en-GB" altLang="en-US"/>
              <a:pPr/>
              <a:t>31</a:t>
            </a:fld>
            <a:endParaRPr lang="en-GB" altLang="en-US"/>
          </a:p>
        </p:txBody>
      </p:sp>
      <p:sp>
        <p:nvSpPr>
          <p:cNvPr id="5" name="TextBox 4">
            <a:extLst>
              <a:ext uri="{FF2B5EF4-FFF2-40B4-BE49-F238E27FC236}">
                <a16:creationId xmlns:a16="http://schemas.microsoft.com/office/drawing/2014/main" id="{5A2EFF94-E058-BDB0-415C-BC83E3FC15B3}"/>
              </a:ext>
            </a:extLst>
          </p:cNvPr>
          <p:cNvSpPr txBox="1"/>
          <p:nvPr/>
        </p:nvSpPr>
        <p:spPr>
          <a:xfrm>
            <a:off x="383059" y="432486"/>
            <a:ext cx="291619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Times New Roman"/>
                <a:ea typeface="Arial Unicode MS"/>
                <a:cs typeface="Arial Unicode MS"/>
              </a:rPr>
              <a:t>Vendor Return Receipt</a:t>
            </a:r>
            <a:endParaRPr lang="en-US" sz="1600">
              <a:latin typeface="Times New Roman"/>
              <a:ea typeface="Arial Unicode MS"/>
              <a:cs typeface="Arial Unicode MS"/>
            </a:endParaRPr>
          </a:p>
        </p:txBody>
      </p:sp>
      <p:sp>
        <p:nvSpPr>
          <p:cNvPr id="6" name="Rectangle 5">
            <a:extLst>
              <a:ext uri="{FF2B5EF4-FFF2-40B4-BE49-F238E27FC236}">
                <a16:creationId xmlns:a16="http://schemas.microsoft.com/office/drawing/2014/main" id="{E150C598-58B0-A17B-04D5-12EDF9FB9575}"/>
              </a:ext>
            </a:extLst>
          </p:cNvPr>
          <p:cNvSpPr/>
          <p:nvPr/>
        </p:nvSpPr>
        <p:spPr>
          <a:xfrm>
            <a:off x="677333" y="1276048"/>
            <a:ext cx="1966685" cy="8902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Vendor Return Approved</a:t>
            </a:r>
            <a:endParaRPr lang="en-US" dirty="0"/>
          </a:p>
        </p:txBody>
      </p:sp>
      <p:sp>
        <p:nvSpPr>
          <p:cNvPr id="7" name="Rectangle 6">
            <a:extLst>
              <a:ext uri="{FF2B5EF4-FFF2-40B4-BE49-F238E27FC236}">
                <a16:creationId xmlns:a16="http://schemas.microsoft.com/office/drawing/2014/main" id="{A888908C-9A1D-EF60-9BD2-F7B9A9E16559}"/>
              </a:ext>
            </a:extLst>
          </p:cNvPr>
          <p:cNvSpPr/>
          <p:nvPr/>
        </p:nvSpPr>
        <p:spPr>
          <a:xfrm>
            <a:off x="3441095" y="1276046"/>
            <a:ext cx="2136018" cy="8781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Returned Parts Arrive Back</a:t>
            </a:r>
            <a:endParaRPr lang="en-US" dirty="0"/>
          </a:p>
        </p:txBody>
      </p:sp>
      <p:sp>
        <p:nvSpPr>
          <p:cNvPr id="8" name="Diamond 7">
            <a:extLst>
              <a:ext uri="{FF2B5EF4-FFF2-40B4-BE49-F238E27FC236}">
                <a16:creationId xmlns:a16="http://schemas.microsoft.com/office/drawing/2014/main" id="{79729931-4D2A-FA4A-22EA-0AA159B77B5E}"/>
              </a:ext>
            </a:extLst>
          </p:cNvPr>
          <p:cNvSpPr/>
          <p:nvPr/>
        </p:nvSpPr>
        <p:spPr>
          <a:xfrm>
            <a:off x="6325810" y="937381"/>
            <a:ext cx="2148114" cy="156754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Inspection Checklist Review</a:t>
            </a:r>
            <a:endParaRPr lang="en-US" dirty="0"/>
          </a:p>
        </p:txBody>
      </p:sp>
      <p:sp>
        <p:nvSpPr>
          <p:cNvPr id="9" name="Rectangle 8">
            <a:extLst>
              <a:ext uri="{FF2B5EF4-FFF2-40B4-BE49-F238E27FC236}">
                <a16:creationId xmlns:a16="http://schemas.microsoft.com/office/drawing/2014/main" id="{70EAFFAF-9B1D-79AB-DA43-BA56352E0166}"/>
              </a:ext>
            </a:extLst>
          </p:cNvPr>
          <p:cNvSpPr/>
          <p:nvPr/>
        </p:nvSpPr>
        <p:spPr>
          <a:xfrm>
            <a:off x="381000" y="3725333"/>
            <a:ext cx="2172304" cy="9264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Store in </a:t>
            </a:r>
            <a:r>
              <a:rPr lang="en-US" dirty="0" err="1">
                <a:ea typeface="+mn-lt"/>
                <a:cs typeface="+mn-lt"/>
              </a:rPr>
              <a:t>WarehouseAccept</a:t>
            </a:r>
            <a:endParaRPr lang="en-US" dirty="0" err="1"/>
          </a:p>
        </p:txBody>
      </p:sp>
      <p:sp>
        <p:nvSpPr>
          <p:cNvPr id="10" name="Rectangle 9">
            <a:extLst>
              <a:ext uri="{FF2B5EF4-FFF2-40B4-BE49-F238E27FC236}">
                <a16:creationId xmlns:a16="http://schemas.microsoft.com/office/drawing/2014/main" id="{256A6BBA-2229-3EEC-8B8F-4ECEE27F4713}"/>
              </a:ext>
            </a:extLst>
          </p:cNvPr>
          <p:cNvSpPr/>
          <p:nvPr/>
        </p:nvSpPr>
        <p:spPr>
          <a:xfrm>
            <a:off x="3120571" y="3761618"/>
            <a:ext cx="2123923" cy="8902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Return to Vendor/Dispose</a:t>
            </a:r>
            <a:endParaRPr lang="en-US" dirty="0"/>
          </a:p>
        </p:txBody>
      </p:sp>
      <p:sp>
        <p:nvSpPr>
          <p:cNvPr id="11" name="Rectangle 10">
            <a:extLst>
              <a:ext uri="{FF2B5EF4-FFF2-40B4-BE49-F238E27FC236}">
                <a16:creationId xmlns:a16="http://schemas.microsoft.com/office/drawing/2014/main" id="{CCDA6473-5733-5A53-F846-23A7DE5CF706}"/>
              </a:ext>
            </a:extLst>
          </p:cNvPr>
          <p:cNvSpPr/>
          <p:nvPr/>
        </p:nvSpPr>
        <p:spPr>
          <a:xfrm>
            <a:off x="6023428" y="3737429"/>
            <a:ext cx="2521857" cy="9010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Update Inventory</a:t>
            </a:r>
            <a:endParaRPr lang="en-US" dirty="0"/>
          </a:p>
        </p:txBody>
      </p:sp>
      <p:cxnSp>
        <p:nvCxnSpPr>
          <p:cNvPr id="12" name="Connector: Elbow 11">
            <a:extLst>
              <a:ext uri="{FF2B5EF4-FFF2-40B4-BE49-F238E27FC236}">
                <a16:creationId xmlns:a16="http://schemas.microsoft.com/office/drawing/2014/main" id="{AA9234A1-4190-A6D7-3B80-3E3DB8374975}"/>
              </a:ext>
            </a:extLst>
          </p:cNvPr>
          <p:cNvCxnSpPr/>
          <p:nvPr/>
        </p:nvCxnSpPr>
        <p:spPr>
          <a:xfrm>
            <a:off x="2576286" y="1705427"/>
            <a:ext cx="720876" cy="725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1099BF02-775A-116A-98BA-4EFC2E62C193}"/>
              </a:ext>
            </a:extLst>
          </p:cNvPr>
          <p:cNvCxnSpPr/>
          <p:nvPr/>
        </p:nvCxnSpPr>
        <p:spPr>
          <a:xfrm flipV="1">
            <a:off x="5581952" y="1688495"/>
            <a:ext cx="708782" cy="48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A93B9C6A-02C7-49FC-4326-687E403F5599}"/>
              </a:ext>
            </a:extLst>
          </p:cNvPr>
          <p:cNvCxnSpPr/>
          <p:nvPr/>
        </p:nvCxnSpPr>
        <p:spPr>
          <a:xfrm flipH="1">
            <a:off x="7391400" y="2509762"/>
            <a:ext cx="4837" cy="11683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BBD6CA77-E6A7-7E04-B47A-9D5F56D6CE60}"/>
              </a:ext>
            </a:extLst>
          </p:cNvPr>
          <p:cNvCxnSpPr/>
          <p:nvPr/>
        </p:nvCxnSpPr>
        <p:spPr>
          <a:xfrm flipH="1" flipV="1">
            <a:off x="5220304" y="4192210"/>
            <a:ext cx="839409" cy="1693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2A714A3F-85AC-618F-92A0-832517B7F4E6}"/>
              </a:ext>
            </a:extLst>
          </p:cNvPr>
          <p:cNvCxnSpPr/>
          <p:nvPr/>
        </p:nvCxnSpPr>
        <p:spPr>
          <a:xfrm flipH="1">
            <a:off x="2650067" y="4172856"/>
            <a:ext cx="452361" cy="725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1F391A86-B583-BE76-A8F7-3C714A302ACB}"/>
              </a:ext>
            </a:extLst>
          </p:cNvPr>
          <p:cNvCxnSpPr/>
          <p:nvPr/>
        </p:nvCxnSpPr>
        <p:spPr>
          <a:xfrm flipH="1">
            <a:off x="4034972" y="3072190"/>
            <a:ext cx="3331028" cy="1935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D755F933-9F97-2637-6B5F-AEE18D5136F4}"/>
              </a:ext>
            </a:extLst>
          </p:cNvPr>
          <p:cNvCxnSpPr/>
          <p:nvPr/>
        </p:nvCxnSpPr>
        <p:spPr>
          <a:xfrm>
            <a:off x="4051904" y="3084285"/>
            <a:ext cx="7257" cy="5757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E8F41B0-58C2-2027-0FF8-275A07ADED2B}"/>
              </a:ext>
            </a:extLst>
          </p:cNvPr>
          <p:cNvSpPr txBox="1"/>
          <p:nvPr/>
        </p:nvSpPr>
        <p:spPr>
          <a:xfrm>
            <a:off x="7409543" y="294640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Accept</a:t>
            </a:r>
          </a:p>
        </p:txBody>
      </p:sp>
      <p:sp>
        <p:nvSpPr>
          <p:cNvPr id="20" name="TextBox 19">
            <a:extLst>
              <a:ext uri="{FF2B5EF4-FFF2-40B4-BE49-F238E27FC236}">
                <a16:creationId xmlns:a16="http://schemas.microsoft.com/office/drawing/2014/main" id="{D5761441-FBC5-12D1-A5F1-47F89314FCA8}"/>
              </a:ext>
            </a:extLst>
          </p:cNvPr>
          <p:cNvSpPr txBox="1"/>
          <p:nvPr/>
        </p:nvSpPr>
        <p:spPr>
          <a:xfrm>
            <a:off x="5184019" y="276497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Reject</a:t>
            </a:r>
          </a:p>
        </p:txBody>
      </p:sp>
      <p:graphicFrame>
        <p:nvGraphicFramePr>
          <p:cNvPr id="22" name="Table 21">
            <a:extLst>
              <a:ext uri="{FF2B5EF4-FFF2-40B4-BE49-F238E27FC236}">
                <a16:creationId xmlns:a16="http://schemas.microsoft.com/office/drawing/2014/main" id="{119DA6EF-0B35-CC6C-A18C-AB45B58E600F}"/>
              </a:ext>
            </a:extLst>
          </p:cNvPr>
          <p:cNvGraphicFramePr>
            <a:graphicFrameLocks noGrp="1"/>
          </p:cNvGraphicFramePr>
          <p:nvPr>
            <p:extLst>
              <p:ext uri="{D42A27DB-BD31-4B8C-83A1-F6EECF244321}">
                <p14:modId xmlns:p14="http://schemas.microsoft.com/office/powerpoint/2010/main" val="3375749337"/>
              </p:ext>
            </p:extLst>
          </p:nvPr>
        </p:nvGraphicFramePr>
        <p:xfrm>
          <a:off x="677332" y="435429"/>
          <a:ext cx="3193508" cy="1106714"/>
        </p:xfrm>
        <a:graphic>
          <a:graphicData uri="http://schemas.openxmlformats.org/drawingml/2006/table">
            <a:tbl>
              <a:tblPr bandRow="1">
                <a:tableStyleId>{5C22544A-7EE6-4342-B048-85BDC9FD1C3A}</a:tableStyleId>
              </a:tblPr>
              <a:tblGrid>
                <a:gridCol w="1596754">
                  <a:extLst>
                    <a:ext uri="{9D8B030D-6E8A-4147-A177-3AD203B41FA5}">
                      <a16:colId xmlns:a16="http://schemas.microsoft.com/office/drawing/2014/main" val="3328517073"/>
                    </a:ext>
                  </a:extLst>
                </a:gridCol>
                <a:gridCol w="1596754">
                  <a:extLst>
                    <a:ext uri="{9D8B030D-6E8A-4147-A177-3AD203B41FA5}">
                      <a16:colId xmlns:a16="http://schemas.microsoft.com/office/drawing/2014/main" val="2490003539"/>
                    </a:ext>
                  </a:extLst>
                </a:gridCol>
              </a:tblGrid>
              <a:tr h="1106714">
                <a:tc>
                  <a:txBody>
                    <a:bodyPr/>
                    <a:lstStyle/>
                    <a:p>
                      <a:pPr>
                        <a:buNone/>
                      </a:pPr>
                      <a:endParaRPr lang="en-US"/>
                    </a:p>
                  </a:txBody>
                  <a:tcPr anchor="ctr">
                    <a:lnL>
                      <a:noFill/>
                    </a:lnL>
                    <a:lnR>
                      <a:noFill/>
                    </a:lnR>
                    <a:lnT>
                      <a:noFill/>
                    </a:lnT>
                    <a:lnB>
                      <a:noFill/>
                    </a:lnB>
                    <a:noFill/>
                  </a:tcPr>
                </a:tc>
                <a:tc>
                  <a:txBody>
                    <a:bodyPr/>
                    <a:lstStyle/>
                    <a:p>
                      <a:pPr>
                        <a:buNone/>
                      </a:pPr>
                      <a:r>
                        <a:rPr lang="en-US" sz="1400" dirty="0"/>
                        <a:t>For goods earlier returned to vendor</a:t>
                      </a:r>
                    </a:p>
                  </a:txBody>
                  <a:tcPr anchor="ctr">
                    <a:lnL>
                      <a:noFill/>
                    </a:lnL>
                    <a:lnR>
                      <a:noFill/>
                    </a:lnR>
                    <a:lnT>
                      <a:noFill/>
                    </a:lnT>
                    <a:lnB>
                      <a:noFill/>
                    </a:lnB>
                    <a:noFill/>
                  </a:tcPr>
                </a:tc>
                <a:extLst>
                  <a:ext uri="{0D108BD9-81ED-4DB2-BD59-A6C34878D82A}">
                    <a16:rowId xmlns:a16="http://schemas.microsoft.com/office/drawing/2014/main" val="897262220"/>
                  </a:ext>
                </a:extLst>
              </a:tr>
            </a:tbl>
          </a:graphicData>
        </a:graphic>
      </p:graphicFrame>
    </p:spTree>
    <p:extLst>
      <p:ext uri="{BB962C8B-B14F-4D97-AF65-F5344CB8AC3E}">
        <p14:creationId xmlns:p14="http://schemas.microsoft.com/office/powerpoint/2010/main" val="860923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781425" y="1328738"/>
            <a:ext cx="1679575" cy="954087"/>
          </a:xfrm>
          <a:prstGeom prst="rect">
            <a:avLst/>
          </a:prstGeom>
          <a:noFill/>
        </p:spPr>
        <p:txBody>
          <a:bodyPr wrap="none">
            <a:spAutoFit/>
          </a:bodyPr>
          <a:lstStyle/>
          <a:p>
            <a:pPr algn="ctr">
              <a:defRPr/>
            </a:pPr>
            <a:endParaRPr lang="en-US" sz="2800">
              <a:latin typeface="+mn-lt"/>
            </a:endParaRPr>
          </a:p>
          <a:p>
            <a:pPr algn="ctr">
              <a:defRPr/>
            </a:pPr>
            <a:r>
              <a:rPr lang="en-US" sz="2800">
                <a:latin typeface="+mn-lt"/>
              </a:rPr>
              <a:t>Thank You</a:t>
            </a:r>
          </a:p>
        </p:txBody>
      </p:sp>
      <p:sp>
        <p:nvSpPr>
          <p:cNvPr id="7" name="Rectangle 6"/>
          <p:cNvSpPr/>
          <p:nvPr/>
        </p:nvSpPr>
        <p:spPr>
          <a:xfrm>
            <a:off x="2432015" y="4338062"/>
            <a:ext cx="4926203" cy="584775"/>
          </a:xfrm>
          <a:prstGeom prst="rect">
            <a:avLst/>
          </a:prstGeom>
        </p:spPr>
        <p:txBody>
          <a:bodyPr wrap="square" anchor="t">
            <a:spAutoFit/>
          </a:bodyPr>
          <a:lstStyle/>
          <a:p>
            <a:pPr>
              <a:defRPr/>
            </a:pPr>
            <a:r>
              <a:rPr lang="en-US" sz="1800" b="1">
                <a:latin typeface="+mn-lt"/>
                <a:ea typeface="Arial Unicode MS"/>
                <a:cs typeface="Arial Unicode MS"/>
              </a:rPr>
              <a:t>                      </a:t>
            </a:r>
            <a:r>
              <a:rPr lang="en-US" sz="1800" b="1" err="1">
                <a:latin typeface="+mn-lt"/>
                <a:ea typeface="Arial Unicode MS"/>
                <a:cs typeface="Arial Unicode MS"/>
              </a:rPr>
              <a:t>Selfservit</a:t>
            </a:r>
            <a:r>
              <a:rPr lang="en-US" sz="1800" b="1">
                <a:latin typeface="+mn-lt"/>
                <a:ea typeface="Arial Unicode MS"/>
                <a:cs typeface="Arial Unicode MS"/>
              </a:rPr>
              <a:t> Solutions (P) Ltd.</a:t>
            </a:r>
            <a:endParaRPr lang="en-US" b="1">
              <a:latin typeface="+mn-lt"/>
              <a:ea typeface="Arial Unicode MS"/>
              <a:cs typeface="Arial Unicode MS"/>
            </a:endParaRPr>
          </a:p>
          <a:p>
            <a:pPr>
              <a:defRPr/>
            </a:pPr>
            <a:r>
              <a:rPr lang="en-US" b="1">
                <a:latin typeface="+mn-lt"/>
                <a:ea typeface="Arial Unicode MS"/>
                <a:cs typeface="Arial Unicode MS"/>
              </a:rPr>
              <a:t>[CIN – U72900TN2008PTC068979, GSTIN - 33AAMCS2734A1ZQ.] </a:t>
            </a:r>
            <a:endParaRPr lang="en-US"/>
          </a:p>
        </p:txBody>
      </p:sp>
      <p:sp>
        <p:nvSpPr>
          <p:cNvPr id="10" name="Rectangle 9"/>
          <p:cNvSpPr/>
          <p:nvPr/>
        </p:nvSpPr>
        <p:spPr>
          <a:xfrm>
            <a:off x="3322638" y="5295900"/>
            <a:ext cx="2636299" cy="461665"/>
          </a:xfrm>
          <a:prstGeom prst="rect">
            <a:avLst/>
          </a:prstGeom>
        </p:spPr>
        <p:txBody>
          <a:bodyPr wrap="none">
            <a:spAutoFit/>
          </a:bodyPr>
          <a:lstStyle/>
          <a:p>
            <a:pPr>
              <a:defRPr/>
            </a:pPr>
            <a:r>
              <a:rPr lang="en-US" sz="1200" b="1" u="sng">
                <a:solidFill>
                  <a:schemeClr val="tx2"/>
                </a:solidFill>
                <a:latin typeface="+mn-lt"/>
                <a:hlinkClick r:id="rId2"/>
              </a:rPr>
              <a:t>www.selfservit.com</a:t>
            </a:r>
            <a:r>
              <a:rPr lang="en-US" sz="1200" b="1" u="sng">
                <a:solidFill>
                  <a:schemeClr val="tx2"/>
                </a:solidFill>
                <a:latin typeface="+mn-lt"/>
              </a:rPr>
              <a:t> </a:t>
            </a:r>
            <a:r>
              <a:rPr lang="en-US" sz="1200" b="1">
                <a:solidFill>
                  <a:schemeClr val="tx2"/>
                </a:solidFill>
                <a:latin typeface="+mn-lt"/>
              </a:rPr>
              <a:t> </a:t>
            </a:r>
            <a:r>
              <a:rPr lang="en-US" sz="1200" b="1">
                <a:solidFill>
                  <a:schemeClr val="tx2"/>
                </a:solidFill>
                <a:latin typeface="+mn-lt"/>
                <a:hlinkClick r:id="rId3"/>
              </a:rPr>
              <a:t>www.mservice.ai</a:t>
            </a:r>
            <a:endParaRPr lang="en-US" sz="1200" b="1">
              <a:solidFill>
                <a:schemeClr val="tx2"/>
              </a:solidFill>
              <a:latin typeface="+mn-lt"/>
            </a:endParaRPr>
          </a:p>
          <a:p>
            <a:pPr>
              <a:defRPr/>
            </a:pPr>
            <a:r>
              <a:rPr lang="en-US" sz="1200" b="1">
                <a:solidFill>
                  <a:schemeClr val="tx2"/>
                </a:solidFill>
                <a:latin typeface="+mn-lt"/>
              </a:rPr>
              <a:t>  </a:t>
            </a:r>
            <a:endParaRPr lang="en-US" sz="1200" b="1" u="sng">
              <a:solidFill>
                <a:schemeClr val="tx2"/>
              </a:solidFill>
              <a:latin typeface="+mn-lt"/>
            </a:endParaRPr>
          </a:p>
        </p:txBody>
      </p:sp>
      <p:pic>
        <p:nvPicPr>
          <p:cNvPr id="46085" name="Picture 6"/>
          <p:cNvPicPr>
            <a:picLocks noChangeAspect="1" noChangeArrowheads="1"/>
          </p:cNvPicPr>
          <p:nvPr/>
        </p:nvPicPr>
        <p:blipFill>
          <a:blip r:embed="rId4"/>
          <a:srcRect/>
          <a:stretch>
            <a:fillRect/>
          </a:stretch>
        </p:blipFill>
        <p:spPr bwMode="auto">
          <a:xfrm>
            <a:off x="4343400" y="5181600"/>
            <a:ext cx="9525" cy="1171575"/>
          </a:xfrm>
          <a:prstGeom prst="rect">
            <a:avLst/>
          </a:prstGeom>
          <a:noFill/>
          <a:ln w="9525">
            <a:noFill/>
            <a:miter lim="800000"/>
            <a:headEnd/>
            <a:tailEnd/>
          </a:ln>
        </p:spPr>
      </p:pic>
      <p:cxnSp>
        <p:nvCxnSpPr>
          <p:cNvPr id="13" name="Straight Connector 12"/>
          <p:cNvCxnSpPr/>
          <p:nvPr/>
        </p:nvCxnSpPr>
        <p:spPr>
          <a:xfrm>
            <a:off x="0" y="4272224"/>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750591" y="5572125"/>
            <a:ext cx="2560654" cy="1200329"/>
          </a:xfrm>
          <a:prstGeom prst="rect">
            <a:avLst/>
          </a:prstGeom>
        </p:spPr>
        <p:txBody>
          <a:bodyPr wrap="square" anchor="t">
            <a:spAutoFit/>
          </a:bodyPr>
          <a:lstStyle/>
          <a:p>
            <a:pPr>
              <a:defRPr/>
            </a:pPr>
            <a:r>
              <a:rPr lang="en-US" sz="1200" b="1" u="sng">
                <a:latin typeface="+mn-lt"/>
              </a:rPr>
              <a:t>Chennai: HO</a:t>
            </a:r>
          </a:p>
          <a:p>
            <a:pPr>
              <a:defRPr/>
            </a:pPr>
            <a:r>
              <a:rPr lang="en-US" sz="1200">
                <a:latin typeface="+mn-lt"/>
                <a:ea typeface="Arial Unicode MS"/>
                <a:cs typeface="Arial Unicode MS"/>
              </a:rPr>
              <a:t>Unit 106, NSIC Technology Park</a:t>
            </a:r>
            <a:endParaRPr lang="en-US"/>
          </a:p>
          <a:p>
            <a:pPr>
              <a:defRPr/>
            </a:pPr>
            <a:r>
              <a:rPr lang="en-US" sz="1200">
                <a:latin typeface="Calibri"/>
                <a:ea typeface="Arial Unicode MS"/>
                <a:cs typeface="Arial Unicode MS"/>
              </a:rPr>
              <a:t>Sector B-24, Guindy Industrial Estate</a:t>
            </a:r>
            <a:endParaRPr lang="en-US" sz="1200">
              <a:latin typeface="Calibri"/>
            </a:endParaRPr>
          </a:p>
          <a:p>
            <a:pPr>
              <a:defRPr/>
            </a:pPr>
            <a:r>
              <a:rPr lang="en-US" sz="1200" err="1">
                <a:latin typeface="+mn-lt"/>
                <a:ea typeface="Arial Unicode MS"/>
                <a:cs typeface="Arial Unicode MS"/>
              </a:rPr>
              <a:t>Ekkaduthangal</a:t>
            </a:r>
          </a:p>
          <a:p>
            <a:pPr>
              <a:defRPr/>
            </a:pPr>
            <a:r>
              <a:rPr lang="en-US" sz="1200">
                <a:latin typeface="+mn-lt"/>
                <a:ea typeface="Arial Unicode MS"/>
                <a:cs typeface="Arial Unicode MS"/>
              </a:rPr>
              <a:t>Chennai – 600 032</a:t>
            </a:r>
          </a:p>
          <a:p>
            <a:pPr>
              <a:defRPr/>
            </a:pPr>
            <a:r>
              <a:rPr lang="en-US" sz="1200">
                <a:latin typeface="+mn-lt"/>
                <a:ea typeface="Arial Unicode MS"/>
                <a:cs typeface="Arial Unicode MS"/>
              </a:rPr>
              <a:t> Ph- +91-97910-42632</a:t>
            </a:r>
            <a:endParaRPr lang="en-US" sz="1200">
              <a:latin typeface="+mn-lt"/>
            </a:endParaRPr>
          </a:p>
        </p:txBody>
      </p:sp>
      <p:sp>
        <p:nvSpPr>
          <p:cNvPr id="12" name="Rectangle 11"/>
          <p:cNvSpPr/>
          <p:nvPr/>
        </p:nvSpPr>
        <p:spPr>
          <a:xfrm>
            <a:off x="6081713" y="5572125"/>
            <a:ext cx="2133600" cy="1016000"/>
          </a:xfrm>
          <a:prstGeom prst="rect">
            <a:avLst/>
          </a:prstGeom>
        </p:spPr>
        <p:txBody>
          <a:bodyPr>
            <a:spAutoFit/>
          </a:bodyPr>
          <a:lstStyle/>
          <a:p>
            <a:pPr>
              <a:defRPr/>
            </a:pPr>
            <a:r>
              <a:rPr lang="en-US" sz="1200" b="1" u="sng">
                <a:latin typeface="+mn-lt"/>
              </a:rPr>
              <a:t>Bangalore</a:t>
            </a:r>
          </a:p>
          <a:p>
            <a:pPr>
              <a:defRPr/>
            </a:pPr>
            <a:r>
              <a:rPr lang="en-US" sz="1200">
                <a:latin typeface="+mn-lt"/>
              </a:rPr>
              <a:t>3262/1, 1</a:t>
            </a:r>
            <a:r>
              <a:rPr lang="en-US" sz="1200" baseline="30000">
                <a:latin typeface="+mn-lt"/>
              </a:rPr>
              <a:t>st</a:t>
            </a:r>
            <a:r>
              <a:rPr lang="en-US" sz="1200">
                <a:latin typeface="+mn-lt"/>
              </a:rPr>
              <a:t> Floor, 13</a:t>
            </a:r>
            <a:r>
              <a:rPr lang="en-US" sz="1200" baseline="30000">
                <a:latin typeface="+mn-lt"/>
              </a:rPr>
              <a:t>th</a:t>
            </a:r>
            <a:r>
              <a:rPr lang="en-US" sz="1200">
                <a:latin typeface="+mn-lt"/>
              </a:rPr>
              <a:t> Cross</a:t>
            </a:r>
          </a:p>
          <a:p>
            <a:pPr>
              <a:defRPr/>
            </a:pPr>
            <a:r>
              <a:rPr lang="en-US" sz="1200">
                <a:latin typeface="+mn-lt"/>
              </a:rPr>
              <a:t>2</a:t>
            </a:r>
            <a:r>
              <a:rPr lang="en-US" sz="1200" baseline="30000">
                <a:latin typeface="+mn-lt"/>
              </a:rPr>
              <a:t>nd</a:t>
            </a:r>
            <a:r>
              <a:rPr lang="en-US" sz="1200">
                <a:latin typeface="+mn-lt"/>
              </a:rPr>
              <a:t> Stage, </a:t>
            </a:r>
            <a:r>
              <a:rPr lang="en-US" sz="1200" err="1">
                <a:latin typeface="+mn-lt"/>
              </a:rPr>
              <a:t>Indira</a:t>
            </a:r>
            <a:r>
              <a:rPr lang="en-US" sz="1200">
                <a:latin typeface="+mn-lt"/>
              </a:rPr>
              <a:t> Nagar,</a:t>
            </a:r>
          </a:p>
          <a:p>
            <a:pPr>
              <a:defRPr/>
            </a:pPr>
            <a:r>
              <a:rPr lang="en-US" sz="1200">
                <a:latin typeface="+mn-lt"/>
              </a:rPr>
              <a:t>Bangalore – 38</a:t>
            </a:r>
          </a:p>
          <a:p>
            <a:pPr>
              <a:defRPr/>
            </a:pPr>
            <a:r>
              <a:rPr lang="en-US" sz="1200">
                <a:latin typeface="+mn-lt"/>
              </a:rPr>
              <a:t>Ph - +91-80-25216635</a:t>
            </a:r>
          </a:p>
        </p:txBody>
      </p:sp>
      <p:sp>
        <p:nvSpPr>
          <p:cNvPr id="14" name="Rectangle 13"/>
          <p:cNvSpPr/>
          <p:nvPr/>
        </p:nvSpPr>
        <p:spPr>
          <a:xfrm>
            <a:off x="3652838" y="5572125"/>
            <a:ext cx="2347912" cy="1200150"/>
          </a:xfrm>
          <a:prstGeom prst="rect">
            <a:avLst/>
          </a:prstGeom>
        </p:spPr>
        <p:txBody>
          <a:bodyPr>
            <a:spAutoFit/>
          </a:bodyPr>
          <a:lstStyle/>
          <a:p>
            <a:pPr>
              <a:defRPr/>
            </a:pPr>
            <a:r>
              <a:rPr lang="en-US" sz="1200" b="1" u="sng">
                <a:latin typeface="+mn-lt"/>
              </a:rPr>
              <a:t>Hyderabad</a:t>
            </a:r>
          </a:p>
          <a:p>
            <a:pPr>
              <a:defRPr/>
            </a:pPr>
            <a:r>
              <a:rPr lang="en-US" sz="1200">
                <a:latin typeface="+mn-lt"/>
              </a:rPr>
              <a:t>4</a:t>
            </a:r>
            <a:r>
              <a:rPr lang="en-US" sz="1200" baseline="30000">
                <a:latin typeface="+mn-lt"/>
              </a:rPr>
              <a:t>th</a:t>
            </a:r>
            <a:r>
              <a:rPr lang="en-US" sz="1200">
                <a:latin typeface="+mn-lt"/>
              </a:rPr>
              <a:t> Floor, Assumption House</a:t>
            </a:r>
          </a:p>
          <a:p>
            <a:pPr>
              <a:defRPr/>
            </a:pPr>
            <a:r>
              <a:rPr lang="en-US" sz="1200">
                <a:latin typeface="+mn-lt"/>
              </a:rPr>
              <a:t>Lane. </a:t>
            </a:r>
            <a:r>
              <a:rPr lang="en-US" sz="1200" err="1">
                <a:latin typeface="+mn-lt"/>
              </a:rPr>
              <a:t>Opp</a:t>
            </a:r>
            <a:r>
              <a:rPr lang="en-US" sz="1200">
                <a:latin typeface="+mn-lt"/>
              </a:rPr>
              <a:t> OBC Bank,</a:t>
            </a:r>
          </a:p>
          <a:p>
            <a:pPr>
              <a:defRPr/>
            </a:pPr>
            <a:r>
              <a:rPr lang="en-US" sz="1200">
                <a:latin typeface="+mn-lt"/>
              </a:rPr>
              <a:t>S.D. Road</a:t>
            </a:r>
          </a:p>
          <a:p>
            <a:pPr>
              <a:defRPr/>
            </a:pPr>
            <a:r>
              <a:rPr lang="en-US" sz="1200" err="1">
                <a:latin typeface="+mn-lt"/>
              </a:rPr>
              <a:t>Secunderabad</a:t>
            </a:r>
            <a:r>
              <a:rPr lang="en-US" sz="1200">
                <a:latin typeface="+mn-lt"/>
              </a:rPr>
              <a:t> – 500003</a:t>
            </a:r>
          </a:p>
          <a:p>
            <a:pPr>
              <a:defRPr/>
            </a:pPr>
            <a:r>
              <a:rPr lang="en-US" sz="1200">
                <a:latin typeface="+mn-lt"/>
              </a:rPr>
              <a:t>Ph- 99891-21094</a:t>
            </a:r>
          </a:p>
        </p:txBody>
      </p:sp>
    </p:spTree>
    <p:extLst>
      <p:ext uri="{BB962C8B-B14F-4D97-AF65-F5344CB8AC3E}">
        <p14:creationId xmlns:p14="http://schemas.microsoft.com/office/powerpoint/2010/main" val="2123393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oposal to Jayaraj Automobiles - MService - 26.Dec.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oposal to Jayaraj Automobiles - MService - 26.Dec.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9e767a3e-36d8-4341-a9b3-8a01d66037db}"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emplate>Proposal to Jayaraj Automobiles - MService - 26.Dec.12</Template>
  <Application>Microsoft Office PowerPoint</Application>
  <PresentationFormat>On-screen Show (4:3)</PresentationFormat>
  <Slides>32</Slides>
  <Notes>0</Notes>
  <HiddenSlides>0</HiddenSlides>
  <ScaleCrop>false</ScaleCrop>
  <HeadingPairs>
    <vt:vector size="4" baseType="variant">
      <vt:variant>
        <vt:lpstr>Theme</vt:lpstr>
      </vt:variant>
      <vt:variant>
        <vt:i4>2</vt:i4>
      </vt:variant>
      <vt:variant>
        <vt:lpstr>Slide Titles</vt:lpstr>
      </vt:variant>
      <vt:variant>
        <vt:i4>32</vt:i4>
      </vt:variant>
    </vt:vector>
  </HeadingPairs>
  <TitlesOfParts>
    <vt:vector size="34" baseType="lpstr">
      <vt:lpstr>Proposal to Jayaraj Automobiles - MService - 26.Dec.12</vt:lpstr>
      <vt:lpstr>Proposal to Jayaraj Automobiles - MService - 26.Dec.12</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MService</dc:title>
  <dc:subject>Overview</dc:subject>
  <dc:creator>Chak</dc:creator>
  <cp:revision>123</cp:revision>
  <dcterms:created xsi:type="dcterms:W3CDTF">2012-12-26T12:58:53Z</dcterms:created>
  <dcterms:modified xsi:type="dcterms:W3CDTF">2025-08-12T16:43:55Z</dcterms:modified>
</cp:coreProperties>
</file>