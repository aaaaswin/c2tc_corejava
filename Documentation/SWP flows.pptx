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124" autoAdjust="0"/>
  </p:normalViewPr>
  <p:slideViewPr>
    <p:cSldViewPr snapToGrid="0">
      <p:cViewPr varScale="1">
        <p:scale>
          <a:sx n="56" d="100"/>
          <a:sy n="56" d="100"/>
        </p:scale>
        <p:origin x="436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86B4E-8F2F-484F-AC8E-86C3A698872A}" type="datetimeFigureOut">
              <a:rPr lang="en-AE" smtClean="0"/>
              <a:t>14/08/2025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FDC325-9431-47BF-BF37-B2067BBE76C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653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bank vs supplier data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DC325-9431-47BF-BF37-B2067BBE76C3}" type="slidenum">
              <a:rPr lang="en-AE" smtClean="0"/>
              <a:t>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34678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AF29-6BA6-D481-186B-10D84F12E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492A3-FD20-0C9F-97A2-8400D4FDA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D709A-537A-F676-3F9B-BDE3FC035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E297-C22A-4AB1-B25B-8BD0DB013739}" type="datetimeFigureOut">
              <a:rPr lang="en-AE" smtClean="0"/>
              <a:t>14/08/2025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31A70-1CB4-81E5-FA71-B264D35D2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A720A-F333-4D74-16AC-F2A69C68C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6AAF5-8060-4935-AE09-ADAC36320F2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316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A5A00-E6A6-0867-8EF5-F27DB17E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3CD6F-CA57-17B0-6905-58796BEFC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12DEF-1F1B-F1A0-55F4-BC1B0BD5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E297-C22A-4AB1-B25B-8BD0DB013739}" type="datetimeFigureOut">
              <a:rPr lang="en-AE" smtClean="0"/>
              <a:t>14/08/2025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B9352-F7F9-20E2-2FDD-5178AB5C5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AE614-0D7D-88CF-136D-B51B02E73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6AAF5-8060-4935-AE09-ADAC36320F2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53602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24A6B-7CDF-1355-5858-087B00383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FF4F4-DD0C-CE27-4244-95495DAA3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390E1-DF89-F592-4080-0E241814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E297-C22A-4AB1-B25B-8BD0DB013739}" type="datetimeFigureOut">
              <a:rPr lang="en-AE" smtClean="0"/>
              <a:t>14/08/2025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1E887-1F6F-B58C-806E-099E3EA32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10EC3-07D6-6531-F7AF-26EFB8CAD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6AAF5-8060-4935-AE09-ADAC36320F2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41170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0A3B3-1A33-3E1C-5F2A-F8ABDACBB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5A82E-B9B2-6B39-AE69-1F07C2B42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BF758-313B-5A2E-EF62-4D327073C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CF5EF-E0B0-30C6-FE0B-3D430B808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E297-C22A-4AB1-B25B-8BD0DB013739}" type="datetimeFigureOut">
              <a:rPr lang="en-AE" smtClean="0"/>
              <a:t>14/08/2025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14B5F-28E3-5438-53B7-D13AA8D9D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A692B-1265-13B4-8529-B8CCD81D6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6AAF5-8060-4935-AE09-ADAC36320F2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16933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295A-C76C-6F8F-DB56-9922E0AD1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CEAA9-64B3-3F25-80FD-7C183377D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3FCAB-B1C8-F204-D203-455A47BB4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EAF793-F911-95DB-7670-F6BDBB867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FF4A4D-E0B0-F4E4-DEBB-81DB02DD1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28D027-0B92-3775-70B7-B35262BD9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E297-C22A-4AB1-B25B-8BD0DB013739}" type="datetimeFigureOut">
              <a:rPr lang="en-AE" smtClean="0"/>
              <a:t>14/08/2025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83CDA-C5FA-19FA-DF45-D275AA3A1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0DD7AB-7A18-53A6-831C-B130800B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6AAF5-8060-4935-AE09-ADAC36320F2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67689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9E9B2-9E08-AE57-2262-8DFA642F4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02A88-269D-5196-2314-23193D288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E297-C22A-4AB1-B25B-8BD0DB013739}" type="datetimeFigureOut">
              <a:rPr lang="en-AE" smtClean="0"/>
              <a:t>14/08/2025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EFDC5-6BF0-453B-181E-06DE43788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E9280-D37E-D5FB-0296-CFDF26BD8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6AAF5-8060-4935-AE09-ADAC36320F2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62129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CDE48B-4D76-9326-CBFD-C7147BF0F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E297-C22A-4AB1-B25B-8BD0DB013739}" type="datetimeFigureOut">
              <a:rPr lang="en-AE" smtClean="0"/>
              <a:t>14/08/2025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46C121-02D1-F7D9-137E-AB8701C24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886FB-9D6C-BFE9-A28F-1FEA0F59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6AAF5-8060-4935-AE09-ADAC36320F2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50371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4048-5AC4-3F9E-6A74-EFEB94B3E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73134-6781-4557-DE17-4174E6329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09895-4A9A-E3B4-97F3-E0B545E74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C47C4-6607-30A5-90CA-117822E37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E297-C22A-4AB1-B25B-8BD0DB013739}" type="datetimeFigureOut">
              <a:rPr lang="en-AE" smtClean="0"/>
              <a:t>14/08/2025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56C2B-7F03-69EE-BC30-84CB6152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8F55A-5804-09CF-26A8-787F197C1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6AAF5-8060-4935-AE09-ADAC36320F2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81963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4E3E4-B682-3F07-8742-F79E7D68B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5FC101-00EF-6200-CC5F-58E2FEDF8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8762E-86D6-B5E3-F043-775AC143C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6790A-737D-DF2C-65E1-6A674EA45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E297-C22A-4AB1-B25B-8BD0DB013739}" type="datetimeFigureOut">
              <a:rPr lang="en-AE" smtClean="0"/>
              <a:t>14/08/2025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902ED-F3B1-B9BF-F29C-1FD70A80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06D8E-A75F-4E28-6FB4-1C4546441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6AAF5-8060-4935-AE09-ADAC36320F2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19209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174E2-F071-20F8-2C7C-80FD4E0D4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F80C1-013E-063D-61B9-F4B536328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D8299-BFA6-8A33-ABDC-E1C4D8FC7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E297-C22A-4AB1-B25B-8BD0DB013739}" type="datetimeFigureOut">
              <a:rPr lang="en-AE" smtClean="0"/>
              <a:t>14/08/2025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E0B9C-53B4-B1EF-7C5D-2C62DDD53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C790E-EB5B-7D30-CE8D-7117328D0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6AAF5-8060-4935-AE09-ADAC36320F2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42903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A7B965-8438-1DD7-68DE-549200DA41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3957F-BFDF-1ABD-7FEA-92E5D64DB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9EB2A-7213-90F8-6085-35B7AF19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E297-C22A-4AB1-B25B-8BD0DB013739}" type="datetimeFigureOut">
              <a:rPr lang="en-AE" smtClean="0"/>
              <a:t>14/08/2025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270A7-FFCF-5A6F-07B1-D0FF4B87C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9FF80-A1B3-FE8B-470C-1E0651EF5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6AAF5-8060-4935-AE09-ADAC36320F2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23038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430F3-E60C-0ADA-A883-86A5A1A73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31D48-2691-5391-E204-3B1065375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7681E-8306-86B1-1E74-D84EA818F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3E297-C22A-4AB1-B25B-8BD0DB013739}" type="datetimeFigureOut">
              <a:rPr lang="en-AE" smtClean="0"/>
              <a:t>14/08/2025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58AD6-2003-FBFE-1187-F2C2CCA36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47B7-AA73-39C0-A458-B1D758FBD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6AAF5-8060-4935-AE09-ADAC36320F2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529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FCDAE5-4C47-5CC9-FE8D-A34A1DBB6BC9}"/>
              </a:ext>
            </a:extLst>
          </p:cNvPr>
          <p:cNvSpPr/>
          <p:nvPr/>
        </p:nvSpPr>
        <p:spPr>
          <a:xfrm>
            <a:off x="708668" y="681743"/>
            <a:ext cx="1538176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FPR QA Update</a:t>
            </a:r>
            <a:endParaRPr lang="en-AE" sz="1400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34B49F2A-284D-2D2C-0135-ADF0B8430724}"/>
              </a:ext>
            </a:extLst>
          </p:cNvPr>
          <p:cNvSpPr/>
          <p:nvPr/>
        </p:nvSpPr>
        <p:spPr>
          <a:xfrm>
            <a:off x="2815853" y="207220"/>
            <a:ext cx="1298945" cy="108452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Is issue Critical?</a:t>
            </a:r>
            <a:endParaRPr lang="en-AE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1B7927-1859-6494-9BAA-E7F100671D83}"/>
              </a:ext>
            </a:extLst>
          </p:cNvPr>
          <p:cNvSpPr/>
          <p:nvPr/>
        </p:nvSpPr>
        <p:spPr>
          <a:xfrm>
            <a:off x="5856366" y="4234632"/>
            <a:ext cx="1493878" cy="543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Assign to QA Coordinator (HQ Part)</a:t>
            </a:r>
            <a:endParaRPr lang="en-AE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4EE4F-5FBF-583C-6E94-C2857CE68521}"/>
              </a:ext>
            </a:extLst>
          </p:cNvPr>
          <p:cNvSpPr/>
          <p:nvPr/>
        </p:nvSpPr>
        <p:spPr>
          <a:xfrm>
            <a:off x="2408728" y="4743012"/>
            <a:ext cx="1298946" cy="572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Finance – Payment Confirmation</a:t>
            </a:r>
            <a:endParaRPr lang="en-AE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72D4D0-401E-6210-C229-6CC2820404B7}"/>
              </a:ext>
            </a:extLst>
          </p:cNvPr>
          <p:cNvSpPr/>
          <p:nvPr/>
        </p:nvSpPr>
        <p:spPr>
          <a:xfrm>
            <a:off x="4708900" y="523653"/>
            <a:ext cx="1298945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Create SWP (Critical case)</a:t>
            </a:r>
            <a:endParaRPr lang="en-AE" sz="1200" dirty="0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119FC112-1A1D-7301-18E2-39F5D38CFA15}"/>
              </a:ext>
            </a:extLst>
          </p:cNvPr>
          <p:cNvSpPr/>
          <p:nvPr/>
        </p:nvSpPr>
        <p:spPr>
          <a:xfrm>
            <a:off x="780606" y="1569072"/>
            <a:ext cx="1765004" cy="108452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Is Part required for vendor claim?</a:t>
            </a:r>
            <a:endParaRPr lang="en-AE" sz="1200" dirty="0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62BE8AB6-F7ED-D46B-C08D-E6C2B579465A}"/>
              </a:ext>
            </a:extLst>
          </p:cNvPr>
          <p:cNvSpPr/>
          <p:nvPr/>
        </p:nvSpPr>
        <p:spPr>
          <a:xfrm>
            <a:off x="2795030" y="1538210"/>
            <a:ext cx="1837660" cy="112932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Is Failed Part required by vendor?</a:t>
            </a:r>
            <a:endParaRPr lang="en-AE" sz="1200" dirty="0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CF55386-9AD3-A0EE-297C-DD96FA338AFC}"/>
              </a:ext>
            </a:extLst>
          </p:cNvPr>
          <p:cNvSpPr/>
          <p:nvPr/>
        </p:nvSpPr>
        <p:spPr>
          <a:xfrm>
            <a:off x="4966803" y="1524272"/>
            <a:ext cx="2231501" cy="112932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Failed Part received &amp; QA acknowledged?</a:t>
            </a:r>
            <a:endParaRPr lang="en-AE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0CCD3E-2B4D-56E1-2B39-D48FE61613D4}"/>
              </a:ext>
            </a:extLst>
          </p:cNvPr>
          <p:cNvSpPr/>
          <p:nvPr/>
        </p:nvSpPr>
        <p:spPr>
          <a:xfrm>
            <a:off x="7596508" y="1742604"/>
            <a:ext cx="1522227" cy="6078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WAIT – Awaiting Failed Part Receipt/QA Ack</a:t>
            </a:r>
            <a:endParaRPr lang="en-AE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455A97-67A9-E9C3-9D8C-1CDD509AD35F}"/>
              </a:ext>
            </a:extLst>
          </p:cNvPr>
          <p:cNvSpPr/>
          <p:nvPr/>
        </p:nvSpPr>
        <p:spPr>
          <a:xfrm>
            <a:off x="372182" y="2880252"/>
            <a:ext cx="1405271" cy="563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Close – Non-Claimable</a:t>
            </a:r>
            <a:endParaRPr lang="en-AE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02B680-1D3C-B162-474C-E90738C9A956}"/>
              </a:ext>
            </a:extLst>
          </p:cNvPr>
          <p:cNvSpPr/>
          <p:nvPr/>
        </p:nvSpPr>
        <p:spPr>
          <a:xfrm>
            <a:off x="9602542" y="1747516"/>
            <a:ext cx="1563426" cy="667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Create SWP (Non-Critical but Part required)</a:t>
            </a:r>
            <a:endParaRPr lang="en-AE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839847-42C4-8C2C-A04D-A4ECBB9BE19E}"/>
              </a:ext>
            </a:extLst>
          </p:cNvPr>
          <p:cNvSpPr/>
          <p:nvPr/>
        </p:nvSpPr>
        <p:spPr>
          <a:xfrm>
            <a:off x="9525887" y="2880252"/>
            <a:ext cx="1562986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CQA Section (on SWP)</a:t>
            </a:r>
            <a:endParaRPr lang="en-AE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627978-A174-28CB-F606-BEDE7EA6D722}"/>
              </a:ext>
            </a:extLst>
          </p:cNvPr>
          <p:cNvSpPr/>
          <p:nvPr/>
        </p:nvSpPr>
        <p:spPr>
          <a:xfrm>
            <a:off x="3961961" y="3284471"/>
            <a:ext cx="1493878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Assign to SCM (Local Part)</a:t>
            </a:r>
            <a:endParaRPr lang="en-AE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7C52A8-66A5-FBFF-EB49-07CC1170A9C8}"/>
              </a:ext>
            </a:extLst>
          </p:cNvPr>
          <p:cNvSpPr/>
          <p:nvPr/>
        </p:nvSpPr>
        <p:spPr>
          <a:xfrm>
            <a:off x="2048090" y="3284470"/>
            <a:ext cx="1493879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SCM / QA Coordinator Review</a:t>
            </a:r>
            <a:endParaRPr lang="en-AE" sz="1200" dirty="0"/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8EE546B5-BE3F-5596-1618-7638C5A723F4}"/>
              </a:ext>
            </a:extLst>
          </p:cNvPr>
          <p:cNvSpPr/>
          <p:nvPr/>
        </p:nvSpPr>
        <p:spPr>
          <a:xfrm>
            <a:off x="5824103" y="3007100"/>
            <a:ext cx="1275022" cy="890476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Part Origin?</a:t>
            </a:r>
            <a:endParaRPr lang="en-AE" sz="1400" dirty="0"/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21E09C2A-E53A-3485-D74C-03F0326EB072}"/>
              </a:ext>
            </a:extLst>
          </p:cNvPr>
          <p:cNvSpPr/>
          <p:nvPr/>
        </p:nvSpPr>
        <p:spPr>
          <a:xfrm>
            <a:off x="7547348" y="2854843"/>
            <a:ext cx="1395524" cy="890476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Is claimable?</a:t>
            </a:r>
            <a:endParaRPr lang="en-AE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61D351-3CAC-CB36-1672-96ADE5FE1CA6}"/>
              </a:ext>
            </a:extLst>
          </p:cNvPr>
          <p:cNvSpPr/>
          <p:nvPr/>
        </p:nvSpPr>
        <p:spPr>
          <a:xfrm>
            <a:off x="486902" y="4772703"/>
            <a:ext cx="1472607" cy="543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Finance – Internal Financial Closure</a:t>
            </a:r>
            <a:endParaRPr lang="en-AE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18BFDB-2481-0963-D9CD-AA0EBC473A68}"/>
              </a:ext>
            </a:extLst>
          </p:cNvPr>
          <p:cNvSpPr/>
          <p:nvPr/>
        </p:nvSpPr>
        <p:spPr>
          <a:xfrm>
            <a:off x="4156893" y="4746956"/>
            <a:ext cx="1298946" cy="572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Supplier APPROVES</a:t>
            </a:r>
            <a:r>
              <a:rPr lang="en-US" sz="1200" dirty="0"/>
              <a:t>-</a:t>
            </a:r>
            <a:endParaRPr lang="en-AE" sz="1200" dirty="0"/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DBDA092D-CC60-8723-E747-0C020CAE5297}"/>
              </a:ext>
            </a:extLst>
          </p:cNvPr>
          <p:cNvSpPr/>
          <p:nvPr/>
        </p:nvSpPr>
        <p:spPr>
          <a:xfrm>
            <a:off x="5905058" y="4918998"/>
            <a:ext cx="1561256" cy="124290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Supplier Decision: Approve / Reject / Return?</a:t>
            </a:r>
            <a:endParaRPr lang="en-AE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E1E755-2B80-E0F9-263A-4EBF85AF1493}"/>
              </a:ext>
            </a:extLst>
          </p:cNvPr>
          <p:cNvSpPr/>
          <p:nvPr/>
        </p:nvSpPr>
        <p:spPr>
          <a:xfrm>
            <a:off x="7725680" y="4639894"/>
            <a:ext cx="1493878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Submit Claim to Supplier</a:t>
            </a:r>
            <a:endParaRPr lang="en-AE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04D6D7-BA1F-601A-E137-2BCA7BED2B30}"/>
              </a:ext>
            </a:extLst>
          </p:cNvPr>
          <p:cNvSpPr/>
          <p:nvPr/>
        </p:nvSpPr>
        <p:spPr>
          <a:xfrm>
            <a:off x="9594994" y="4639894"/>
            <a:ext cx="1493879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Update Vendor Database</a:t>
            </a:r>
            <a:endParaRPr lang="en-AE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48AE9D-F26C-66C1-2863-4640A9B6A41B}"/>
              </a:ext>
            </a:extLst>
          </p:cNvPr>
          <p:cNvSpPr/>
          <p:nvPr/>
        </p:nvSpPr>
        <p:spPr>
          <a:xfrm>
            <a:off x="7725680" y="5755679"/>
            <a:ext cx="1493878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CQA / SCM Update &amp; Re-Submit Claim</a:t>
            </a:r>
            <a:endParaRPr lang="en-AE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8E844D-7AF8-044A-93FE-271ED3B81824}"/>
              </a:ext>
            </a:extLst>
          </p:cNvPr>
          <p:cNvSpPr/>
          <p:nvPr/>
        </p:nvSpPr>
        <p:spPr>
          <a:xfrm>
            <a:off x="4602121" y="6112613"/>
            <a:ext cx="1493878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Supplier RETURNS (needs info)</a:t>
            </a:r>
            <a:endParaRPr lang="en-AE" sz="12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A0FB43-1B9B-2DD3-3C2C-40E771142266}"/>
              </a:ext>
            </a:extLst>
          </p:cNvPr>
          <p:cNvSpPr/>
          <p:nvPr/>
        </p:nvSpPr>
        <p:spPr>
          <a:xfrm>
            <a:off x="2629587" y="6123475"/>
            <a:ext cx="1493878" cy="558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Supplier REJECTS</a:t>
            </a:r>
            <a:endParaRPr lang="en-AE" sz="1400" dirty="0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E38E6D7A-D2A7-6215-EB42-3FFAA0CB17E2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246844" y="960847"/>
            <a:ext cx="353745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EABB4BB-AD7E-9B28-731B-6BA2FCBABD53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4114798" y="749480"/>
            <a:ext cx="48069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1CED74A3-0165-7251-6A97-F731C2CAAD2A}"/>
              </a:ext>
            </a:extLst>
          </p:cNvPr>
          <p:cNvCxnSpPr>
            <a:cxnSpLocks/>
            <a:stCxn id="9" idx="3"/>
            <a:endCxn id="16" idx="3"/>
          </p:cNvCxnSpPr>
          <p:nvPr/>
        </p:nvCxnSpPr>
        <p:spPr>
          <a:xfrm>
            <a:off x="6007845" y="802758"/>
            <a:ext cx="5081028" cy="2356599"/>
          </a:xfrm>
          <a:prstGeom prst="bentConnector3">
            <a:avLst>
              <a:gd name="adj1" fmla="val 1044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4E6D39FD-5148-B9D4-88D5-CC43C8A53705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5400000">
            <a:off x="2425552" y="529297"/>
            <a:ext cx="277331" cy="180221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C1560DF5-F18B-4202-71ED-6FB6AEBBB34E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rot="5400000">
            <a:off x="1255634" y="2472777"/>
            <a:ext cx="226659" cy="58829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907D665B-14E1-95C0-7BB5-622BA758EE85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2545610" y="2102870"/>
            <a:ext cx="249420" cy="84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9062C90E-3D75-7B9A-C3E6-A9412A2A854C}"/>
              </a:ext>
            </a:extLst>
          </p:cNvPr>
          <p:cNvCxnSpPr>
            <a:cxnSpLocks/>
          </p:cNvCxnSpPr>
          <p:nvPr/>
        </p:nvCxnSpPr>
        <p:spPr>
          <a:xfrm>
            <a:off x="4523049" y="2093189"/>
            <a:ext cx="340018" cy="96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CA5E3291-52C7-EE2E-271E-A66D5B67744F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7198304" y="2088931"/>
            <a:ext cx="254564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0A746255-639D-3F5B-249F-3E2BA6DCCE29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9118735" y="2046516"/>
            <a:ext cx="384758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0533ADBB-AD93-2251-EEFF-AAB4AEA48E3E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rot="5400000">
            <a:off x="10113434" y="2609431"/>
            <a:ext cx="464768" cy="768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D1B56204-1016-FEB1-4087-F7FC850B9C82}"/>
              </a:ext>
            </a:extLst>
          </p:cNvPr>
          <p:cNvCxnSpPr>
            <a:cxnSpLocks/>
            <a:stCxn id="16" idx="1"/>
          </p:cNvCxnSpPr>
          <p:nvPr/>
        </p:nvCxnSpPr>
        <p:spPr>
          <a:xfrm rot="10800000">
            <a:off x="8942873" y="3159357"/>
            <a:ext cx="583015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83CAFB6A-57E9-D34A-861F-6E93AFF39979}"/>
              </a:ext>
            </a:extLst>
          </p:cNvPr>
          <p:cNvCxnSpPr>
            <a:cxnSpLocks/>
            <a:stCxn id="20" idx="1"/>
            <a:endCxn id="19" idx="3"/>
          </p:cNvCxnSpPr>
          <p:nvPr/>
        </p:nvCxnSpPr>
        <p:spPr>
          <a:xfrm rot="10800000" flipV="1">
            <a:off x="7099126" y="3300080"/>
            <a:ext cx="448223" cy="1522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1B45E0F9-9E5D-2508-A461-AAA6FA07AD4A}"/>
              </a:ext>
            </a:extLst>
          </p:cNvPr>
          <p:cNvCxnSpPr>
            <a:cxnSpLocks/>
            <a:stCxn id="19" idx="1"/>
          </p:cNvCxnSpPr>
          <p:nvPr/>
        </p:nvCxnSpPr>
        <p:spPr>
          <a:xfrm rot="10800000">
            <a:off x="5448667" y="3452338"/>
            <a:ext cx="375436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CBF40483-33D3-202F-87A8-92B425FA204C}"/>
              </a:ext>
            </a:extLst>
          </p:cNvPr>
          <p:cNvCxnSpPr>
            <a:cxnSpLocks/>
            <a:stCxn id="17" idx="1"/>
            <a:endCxn id="18" idx="3"/>
          </p:cNvCxnSpPr>
          <p:nvPr/>
        </p:nvCxnSpPr>
        <p:spPr>
          <a:xfrm rot="10800000">
            <a:off x="3541969" y="3563576"/>
            <a:ext cx="419992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CFCC51A5-EBC7-B669-2911-1AFD0DEFDCA2}"/>
              </a:ext>
            </a:extLst>
          </p:cNvPr>
          <p:cNvCxnSpPr>
            <a:cxnSpLocks/>
            <a:stCxn id="19" idx="2"/>
            <a:endCxn id="6" idx="0"/>
          </p:cNvCxnSpPr>
          <p:nvPr/>
        </p:nvCxnSpPr>
        <p:spPr>
          <a:xfrm rot="16200000" flipH="1">
            <a:off x="6363931" y="3995258"/>
            <a:ext cx="337056" cy="1416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D3090943-F020-BB56-CDAE-D7858A64BE54}"/>
              </a:ext>
            </a:extLst>
          </p:cNvPr>
          <p:cNvCxnSpPr>
            <a:cxnSpLocks/>
            <a:stCxn id="16" idx="3"/>
            <a:endCxn id="26" idx="3"/>
          </p:cNvCxnSpPr>
          <p:nvPr/>
        </p:nvCxnSpPr>
        <p:spPr>
          <a:xfrm>
            <a:off x="11088873" y="3159357"/>
            <a:ext cx="12700" cy="1759642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473CB7C2-68E7-4676-4E82-7DFA0C1F560E}"/>
              </a:ext>
            </a:extLst>
          </p:cNvPr>
          <p:cNvCxnSpPr>
            <a:cxnSpLocks/>
            <a:stCxn id="26" idx="1"/>
            <a:endCxn id="25" idx="3"/>
          </p:cNvCxnSpPr>
          <p:nvPr/>
        </p:nvCxnSpPr>
        <p:spPr>
          <a:xfrm rot="10800000">
            <a:off x="9219558" y="4918999"/>
            <a:ext cx="375436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DF6D6383-17BB-5A56-5A9D-E64A80B7389A}"/>
              </a:ext>
            </a:extLst>
          </p:cNvPr>
          <p:cNvCxnSpPr>
            <a:cxnSpLocks/>
            <a:stCxn id="25" idx="1"/>
            <a:endCxn id="23" idx="3"/>
          </p:cNvCxnSpPr>
          <p:nvPr/>
        </p:nvCxnSpPr>
        <p:spPr>
          <a:xfrm rot="10800000" flipV="1">
            <a:off x="7466314" y="4918999"/>
            <a:ext cx="259366" cy="6214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36A2C679-9119-AFB5-A592-16621AB5BDCC}"/>
              </a:ext>
            </a:extLst>
          </p:cNvPr>
          <p:cNvCxnSpPr>
            <a:cxnSpLocks/>
            <a:stCxn id="23" idx="1"/>
            <a:endCxn id="22" idx="3"/>
          </p:cNvCxnSpPr>
          <p:nvPr/>
        </p:nvCxnSpPr>
        <p:spPr>
          <a:xfrm rot="10800000">
            <a:off x="5455840" y="5033373"/>
            <a:ext cx="449219" cy="5070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629726F1-87B1-FDF9-B5AD-8C3837D39EAD}"/>
              </a:ext>
            </a:extLst>
          </p:cNvPr>
          <p:cNvCxnSpPr>
            <a:cxnSpLocks/>
            <a:stCxn id="22" idx="1"/>
            <a:endCxn id="8" idx="3"/>
          </p:cNvCxnSpPr>
          <p:nvPr/>
        </p:nvCxnSpPr>
        <p:spPr>
          <a:xfrm rot="10800000">
            <a:off x="3707675" y="5029429"/>
            <a:ext cx="449219" cy="39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EC624E0C-37C9-FC8F-3960-EBB18E2BE541}"/>
              </a:ext>
            </a:extLst>
          </p:cNvPr>
          <p:cNvCxnSpPr>
            <a:cxnSpLocks/>
            <a:stCxn id="8" idx="1"/>
            <a:endCxn id="21" idx="3"/>
          </p:cNvCxnSpPr>
          <p:nvPr/>
        </p:nvCxnSpPr>
        <p:spPr>
          <a:xfrm rot="10800000" flipV="1">
            <a:off x="1959510" y="5029429"/>
            <a:ext cx="449219" cy="148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15E58B49-16E8-CC1C-A941-12FA21926039}"/>
              </a:ext>
            </a:extLst>
          </p:cNvPr>
          <p:cNvCxnSpPr>
            <a:cxnSpLocks/>
            <a:stCxn id="23" idx="1"/>
            <a:endCxn id="29" idx="0"/>
          </p:cNvCxnSpPr>
          <p:nvPr/>
        </p:nvCxnSpPr>
        <p:spPr>
          <a:xfrm rot="10800000" flipV="1">
            <a:off x="3376526" y="5540449"/>
            <a:ext cx="2528532" cy="5830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B667EB91-0226-CC87-1E96-ADDCC1CB3E54}"/>
              </a:ext>
            </a:extLst>
          </p:cNvPr>
          <p:cNvCxnSpPr>
            <a:cxnSpLocks/>
            <a:endCxn id="28" idx="0"/>
          </p:cNvCxnSpPr>
          <p:nvPr/>
        </p:nvCxnSpPr>
        <p:spPr>
          <a:xfrm rot="5400000">
            <a:off x="5062978" y="5826530"/>
            <a:ext cx="572165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2DE2BA9-6C45-BBCB-00D1-C7ACAB54CB97}"/>
              </a:ext>
            </a:extLst>
          </p:cNvPr>
          <p:cNvSpPr txBox="1"/>
          <p:nvPr/>
        </p:nvSpPr>
        <p:spPr>
          <a:xfrm>
            <a:off x="539061" y="28379"/>
            <a:ext cx="22200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Auto-calculate Severity (Critical/Non-Critical)- QA may override- Decide: Part required for vendor claim? Failed part required?</a:t>
            </a:r>
            <a:endParaRPr lang="en-AE" sz="10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48D68C0-B8CE-45C7-156D-EDE8828BF9DF}"/>
              </a:ext>
            </a:extLst>
          </p:cNvPr>
          <p:cNvSpPr txBox="1"/>
          <p:nvPr/>
        </p:nvSpPr>
        <p:spPr>
          <a:xfrm>
            <a:off x="4617532" y="109771"/>
            <a:ext cx="18376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Always generate SWP irrespective of claim ability</a:t>
            </a:r>
            <a:endParaRPr lang="en-AE" sz="105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6491D17-108A-1056-1FA5-B10F23163157}"/>
              </a:ext>
            </a:extLst>
          </p:cNvPr>
          <p:cNvSpPr txBox="1"/>
          <p:nvPr/>
        </p:nvSpPr>
        <p:spPr>
          <a:xfrm>
            <a:off x="9529896" y="3489472"/>
            <a:ext cx="1924453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Attach Analysis Report (required)- Failure Type / Reason dropdowns- Claim Type (Standard/Goodwill)- Claimable? (Yes/No)- Comments</a:t>
            </a:r>
            <a:endParaRPr lang="en-AE" sz="105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C867BAE-9E55-77A6-0374-236F42DD741C}"/>
              </a:ext>
            </a:extLst>
          </p:cNvPr>
          <p:cNvSpPr txBox="1"/>
          <p:nvPr/>
        </p:nvSpPr>
        <p:spPr>
          <a:xfrm>
            <a:off x="2010598" y="2658094"/>
            <a:ext cx="179017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View CQA report- (Optional) Dispatch Details- Vendor Claim Ref / Quality Site Ref</a:t>
            </a:r>
            <a:endParaRPr lang="en-AE" sz="105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61A815D-7557-C30D-2983-30B91A970C40}"/>
              </a:ext>
            </a:extLst>
          </p:cNvPr>
          <p:cNvSpPr txBox="1"/>
          <p:nvPr/>
        </p:nvSpPr>
        <p:spPr>
          <a:xfrm>
            <a:off x="9311114" y="5255764"/>
            <a:ext cx="60977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(if needed; independent of part no.)</a:t>
            </a:r>
            <a:endParaRPr lang="en-AE" sz="105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BE4F62B-E551-210C-7CA8-D926A13B4AD2}"/>
              </a:ext>
            </a:extLst>
          </p:cNvPr>
          <p:cNvSpPr txBox="1"/>
          <p:nvPr/>
        </p:nvSpPr>
        <p:spPr>
          <a:xfrm>
            <a:off x="7757396" y="4220174"/>
            <a:ext cx="176849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Auto-generate SWP Claim Reference</a:t>
            </a:r>
            <a:endParaRPr lang="en-AE" sz="105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F1A06D3-DBA0-D4F3-B7A6-9316C01F6706}"/>
              </a:ext>
            </a:extLst>
          </p:cNvPr>
          <p:cNvSpPr txBox="1"/>
          <p:nvPr/>
        </p:nvSpPr>
        <p:spPr>
          <a:xfrm>
            <a:off x="4004549" y="4233813"/>
            <a:ext cx="195975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Make payment- Enter payment details- Supplier financial closure</a:t>
            </a:r>
            <a:endParaRPr lang="en-AE" sz="105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53F4D2E-66E5-0DA2-8178-7497E4A02932}"/>
              </a:ext>
            </a:extLst>
          </p:cNvPr>
          <p:cNvSpPr txBox="1"/>
          <p:nvPr/>
        </p:nvSpPr>
        <p:spPr>
          <a:xfrm>
            <a:off x="2246844" y="4455275"/>
            <a:ext cx="77032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Verify bank vs supplier data</a:t>
            </a:r>
            <a:endParaRPr lang="en-AE" sz="105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96A13AB-0B14-35C5-FA11-CB0F104EFB77}"/>
              </a:ext>
            </a:extLst>
          </p:cNvPr>
          <p:cNvSpPr txBox="1"/>
          <p:nvPr/>
        </p:nvSpPr>
        <p:spPr>
          <a:xfrm>
            <a:off x="440807" y="4293893"/>
            <a:ext cx="17901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Journal/Credit Note- Close claim financially</a:t>
            </a:r>
            <a:endParaRPr lang="en-AE" sz="11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B1700C4-6612-A8D3-C44B-0C3AC2443A37}"/>
              </a:ext>
            </a:extLst>
          </p:cNvPr>
          <p:cNvSpPr txBox="1"/>
          <p:nvPr/>
        </p:nvSpPr>
        <p:spPr>
          <a:xfrm>
            <a:off x="2351589" y="5798948"/>
            <a:ext cx="77032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/>
              <a:t>Capture reason</a:t>
            </a:r>
            <a:endParaRPr lang="en-AE" sz="105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439A1B8-128B-8B6A-2276-6BFA4DCEBDF6}"/>
              </a:ext>
            </a:extLst>
          </p:cNvPr>
          <p:cNvSpPr txBox="1"/>
          <p:nvPr/>
        </p:nvSpPr>
        <p:spPr>
          <a:xfrm>
            <a:off x="363313" y="3531054"/>
            <a:ext cx="77032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Record CAPA / lessons</a:t>
            </a:r>
            <a:endParaRPr lang="en-AE" sz="105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0724E25-1BF1-3C15-DD12-375940C4C377}"/>
              </a:ext>
            </a:extLst>
          </p:cNvPr>
          <p:cNvSpPr txBox="1"/>
          <p:nvPr/>
        </p:nvSpPr>
        <p:spPr>
          <a:xfrm>
            <a:off x="4030980" y="362814"/>
            <a:ext cx="564511" cy="261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Yes</a:t>
            </a:r>
            <a:endParaRPr lang="en-AE" sz="11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98AC520-AE48-1B3C-1FFF-9F4BD70808CD}"/>
              </a:ext>
            </a:extLst>
          </p:cNvPr>
          <p:cNvSpPr txBox="1"/>
          <p:nvPr/>
        </p:nvSpPr>
        <p:spPr>
          <a:xfrm>
            <a:off x="2515049" y="1065149"/>
            <a:ext cx="77032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No</a:t>
            </a:r>
            <a:endParaRPr lang="en-AE" sz="11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2772BF3D-9EEB-2823-E001-F3A9C5E21754}"/>
              </a:ext>
            </a:extLst>
          </p:cNvPr>
          <p:cNvSpPr txBox="1"/>
          <p:nvPr/>
        </p:nvSpPr>
        <p:spPr>
          <a:xfrm>
            <a:off x="2377306" y="1638621"/>
            <a:ext cx="77032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Yes</a:t>
            </a:r>
            <a:endParaRPr lang="en-AE" sz="11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19B7029-EA72-C4A6-E0DA-9CB8575F608D}"/>
              </a:ext>
            </a:extLst>
          </p:cNvPr>
          <p:cNvSpPr txBox="1"/>
          <p:nvPr/>
        </p:nvSpPr>
        <p:spPr>
          <a:xfrm>
            <a:off x="752697" y="2372772"/>
            <a:ext cx="77032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No</a:t>
            </a:r>
            <a:endParaRPr lang="en-AE" sz="1100" dirty="0"/>
          </a:p>
        </p:txBody>
      </p: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33B7A691-6F25-B1A4-304B-F6C28B77D1BE}"/>
              </a:ext>
            </a:extLst>
          </p:cNvPr>
          <p:cNvCxnSpPr>
            <a:cxnSpLocks/>
            <a:stCxn id="11" idx="0"/>
            <a:endCxn id="15" idx="0"/>
          </p:cNvCxnSpPr>
          <p:nvPr/>
        </p:nvCxnSpPr>
        <p:spPr>
          <a:xfrm rot="16200000" flipH="1">
            <a:off x="6944404" y="-1692334"/>
            <a:ext cx="209306" cy="6670395"/>
          </a:xfrm>
          <a:prstGeom prst="bentConnector3">
            <a:avLst>
              <a:gd name="adj1" fmla="val -10921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F3B60330-E784-D192-36B7-96E2383EE15F}"/>
              </a:ext>
            </a:extLst>
          </p:cNvPr>
          <p:cNvSpPr txBox="1"/>
          <p:nvPr/>
        </p:nvSpPr>
        <p:spPr>
          <a:xfrm>
            <a:off x="4595491" y="1746700"/>
            <a:ext cx="77032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Yes</a:t>
            </a:r>
            <a:endParaRPr lang="en-AE" sz="11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6D3C22D-C88E-A98D-AA70-0484B7D7EAFE}"/>
              </a:ext>
            </a:extLst>
          </p:cNvPr>
          <p:cNvSpPr txBox="1"/>
          <p:nvPr/>
        </p:nvSpPr>
        <p:spPr>
          <a:xfrm>
            <a:off x="7048887" y="979906"/>
            <a:ext cx="77032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No</a:t>
            </a:r>
            <a:endParaRPr lang="en-AE" sz="11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1B024A6-4FD5-49CE-964E-329EF6728C92}"/>
              </a:ext>
            </a:extLst>
          </p:cNvPr>
          <p:cNvSpPr txBox="1"/>
          <p:nvPr/>
        </p:nvSpPr>
        <p:spPr>
          <a:xfrm>
            <a:off x="7003803" y="1692067"/>
            <a:ext cx="77032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No</a:t>
            </a:r>
            <a:endParaRPr lang="en-AE" sz="1100" dirty="0"/>
          </a:p>
        </p:txBody>
      </p: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73ACFAC0-B61D-B49C-07AB-400FEF1AABC0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6095999" y="2415484"/>
            <a:ext cx="4288256" cy="2323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C81304AA-9B98-B3B2-BC85-AFE1F86BAAE1}"/>
              </a:ext>
            </a:extLst>
          </p:cNvPr>
          <p:cNvSpPr txBox="1"/>
          <p:nvPr/>
        </p:nvSpPr>
        <p:spPr>
          <a:xfrm>
            <a:off x="8066601" y="2413824"/>
            <a:ext cx="77032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Yes</a:t>
            </a:r>
            <a:endParaRPr lang="en-AE" sz="11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25A7305-26B6-2CAC-526F-8A2A37677D43}"/>
              </a:ext>
            </a:extLst>
          </p:cNvPr>
          <p:cNvSpPr txBox="1"/>
          <p:nvPr/>
        </p:nvSpPr>
        <p:spPr>
          <a:xfrm>
            <a:off x="7757396" y="1448165"/>
            <a:ext cx="78840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Upon receipt</a:t>
            </a:r>
            <a:endParaRPr lang="en-AE" sz="12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98439DC2-519D-4FCB-F5D6-61C46A20C50F}"/>
              </a:ext>
            </a:extLst>
          </p:cNvPr>
          <p:cNvSpPr txBox="1"/>
          <p:nvPr/>
        </p:nvSpPr>
        <p:spPr>
          <a:xfrm>
            <a:off x="9091351" y="1745707"/>
            <a:ext cx="788404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QA Ack</a:t>
            </a:r>
            <a:endParaRPr lang="en-AE" sz="105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F362C9F-D82B-E3F7-4DC7-FBC382486ACC}"/>
              </a:ext>
            </a:extLst>
          </p:cNvPr>
          <p:cNvSpPr txBox="1"/>
          <p:nvPr/>
        </p:nvSpPr>
        <p:spPr>
          <a:xfrm>
            <a:off x="7003803" y="2949893"/>
            <a:ext cx="8488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Yes</a:t>
            </a:r>
            <a:endParaRPr lang="en-AE" sz="1100" dirty="0"/>
          </a:p>
        </p:txBody>
      </p: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E6D732E9-2C3C-3113-DA55-5158481E8C71}"/>
              </a:ext>
            </a:extLst>
          </p:cNvPr>
          <p:cNvCxnSpPr>
            <a:cxnSpLocks/>
            <a:stCxn id="20" idx="0"/>
            <a:endCxn id="14" idx="3"/>
          </p:cNvCxnSpPr>
          <p:nvPr/>
        </p:nvCxnSpPr>
        <p:spPr>
          <a:xfrm rot="16200000" flipH="1" flipV="1">
            <a:off x="4857641" y="-225346"/>
            <a:ext cx="307281" cy="6467657"/>
          </a:xfrm>
          <a:prstGeom prst="bentConnector4">
            <a:avLst>
              <a:gd name="adj1" fmla="val 29412"/>
              <a:gd name="adj2" fmla="val 675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E9FA0403-2807-2522-9C90-794648219286}"/>
              </a:ext>
            </a:extLst>
          </p:cNvPr>
          <p:cNvSpPr txBox="1"/>
          <p:nvPr/>
        </p:nvSpPr>
        <p:spPr>
          <a:xfrm>
            <a:off x="4114798" y="2649331"/>
            <a:ext cx="84900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No</a:t>
            </a:r>
            <a:endParaRPr lang="en-AE" sz="1100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1B32A6B-D155-D2B4-9233-1852FD9E602E}"/>
              </a:ext>
            </a:extLst>
          </p:cNvPr>
          <p:cNvSpPr txBox="1"/>
          <p:nvPr/>
        </p:nvSpPr>
        <p:spPr>
          <a:xfrm>
            <a:off x="5455839" y="3112601"/>
            <a:ext cx="849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Local</a:t>
            </a:r>
            <a:endParaRPr lang="en-AE" sz="1200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B4024977-87B9-BC67-1D36-7866AB01005C}"/>
              </a:ext>
            </a:extLst>
          </p:cNvPr>
          <p:cNvSpPr txBox="1"/>
          <p:nvPr/>
        </p:nvSpPr>
        <p:spPr>
          <a:xfrm>
            <a:off x="6685686" y="3839701"/>
            <a:ext cx="849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HQ</a:t>
            </a:r>
            <a:endParaRPr lang="en-AE" sz="120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11E0009B-B77B-48E7-820A-BD6AB51E0D7E}"/>
              </a:ext>
            </a:extLst>
          </p:cNvPr>
          <p:cNvSpPr txBox="1"/>
          <p:nvPr/>
        </p:nvSpPr>
        <p:spPr>
          <a:xfrm>
            <a:off x="5630433" y="4827996"/>
            <a:ext cx="849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Approve</a:t>
            </a:r>
            <a:endParaRPr lang="en-AE" sz="1200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13868B63-9B05-0190-65AC-4D4531754CC2}"/>
              </a:ext>
            </a:extLst>
          </p:cNvPr>
          <p:cNvSpPr txBox="1"/>
          <p:nvPr/>
        </p:nvSpPr>
        <p:spPr>
          <a:xfrm>
            <a:off x="3465325" y="5497740"/>
            <a:ext cx="84900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Reject</a:t>
            </a:r>
            <a:endParaRPr lang="en-AE" sz="1100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752B8B8F-2BE8-E7DA-3EFC-7734CCF27357}"/>
              </a:ext>
            </a:extLst>
          </p:cNvPr>
          <p:cNvSpPr txBox="1"/>
          <p:nvPr/>
        </p:nvSpPr>
        <p:spPr>
          <a:xfrm>
            <a:off x="5342710" y="5603690"/>
            <a:ext cx="84900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Return</a:t>
            </a:r>
            <a:endParaRPr lang="en-AE" sz="1100" dirty="0"/>
          </a:p>
        </p:txBody>
      </p:sp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970AFEF8-E64F-E6AB-65DE-EB5155686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942998"/>
              </p:ext>
            </p:extLst>
          </p:nvPr>
        </p:nvGraphicFramePr>
        <p:xfrm>
          <a:off x="2092444" y="167569"/>
          <a:ext cx="10515600" cy="365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763772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304787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u="sng" dirty="0"/>
                        <a:t>SWP to be generated in Following conditions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649535"/>
                  </a:ext>
                </a:extLst>
              </a:tr>
            </a:tbl>
          </a:graphicData>
        </a:graphic>
      </p:graphicFrame>
      <p:sp>
        <p:nvSpPr>
          <p:cNvPr id="195" name="Rectangle 4">
            <a:extLst>
              <a:ext uri="{FF2B5EF4-FFF2-40B4-BE49-F238E27FC236}">
                <a16:creationId xmlns:a16="http://schemas.microsoft.com/office/drawing/2014/main" id="{7FE630EC-DA15-3310-5C65-61D48CF49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8090" y="2348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E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434135F3-7599-EE79-B30B-469BB0DBE72E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6070515" y="6313888"/>
            <a:ext cx="2402104" cy="1865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B6E36389-EFE6-7091-681A-F363885B20ED}"/>
              </a:ext>
            </a:extLst>
          </p:cNvPr>
          <p:cNvCxnSpPr>
            <a:cxnSpLocks/>
            <a:endCxn id="25" idx="2"/>
          </p:cNvCxnSpPr>
          <p:nvPr/>
        </p:nvCxnSpPr>
        <p:spPr>
          <a:xfrm rot="5400000" flipH="1" flipV="1">
            <a:off x="8163879" y="5490209"/>
            <a:ext cx="600846" cy="16634"/>
          </a:xfrm>
          <a:prstGeom prst="bentConnector3">
            <a:avLst>
              <a:gd name="adj1" fmla="val 62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906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269</Words>
  <Application>Microsoft Office PowerPoint</Application>
  <PresentationFormat>Widescreen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Aswin rajendiran</dc:creator>
  <cp:lastModifiedBy>Aswin rajendiran</cp:lastModifiedBy>
  <cp:revision>3</cp:revision>
  <dcterms:created xsi:type="dcterms:W3CDTF">2025-08-14T10:05:28Z</dcterms:created>
  <dcterms:modified xsi:type="dcterms:W3CDTF">2025-08-14T10:40:43Z</dcterms:modified>
</cp:coreProperties>
</file>