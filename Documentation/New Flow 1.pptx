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3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580" y="48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7" y="1742389"/>
            <a:ext cx="163042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6"/>
            <a:ext cx="6724650" cy="461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4" y="6490623"/>
            <a:ext cx="7778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5" y="6393726"/>
            <a:ext cx="241300" cy="241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6FB27EB-37F5-EF04-A23A-195B08F857E1}"/>
              </a:ext>
            </a:extLst>
          </p:cNvPr>
          <p:cNvSpPr/>
          <p:nvPr/>
        </p:nvSpPr>
        <p:spPr>
          <a:xfrm>
            <a:off x="468630" y="1811655"/>
            <a:ext cx="1874520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50" dirty="0"/>
              <a:t>Part Type (Local/HQ) decided by QA Coordinator during FPR Vendor Claim / Critical Issue / Failed Part required </a:t>
            </a:r>
            <a:endParaRPr lang="en-AE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72475E-9455-7AEA-6353-5537F59703DE}"/>
              </a:ext>
            </a:extLst>
          </p:cNvPr>
          <p:cNvSpPr txBox="1"/>
          <p:nvPr/>
        </p:nvSpPr>
        <p:spPr>
          <a:xfrm>
            <a:off x="637220" y="151161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Condition Check</a:t>
            </a:r>
            <a:endParaRPr lang="en-AE" sz="14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9F9DEB7-2DCF-1E83-0060-951F96624A1D}"/>
              </a:ext>
            </a:extLst>
          </p:cNvPr>
          <p:cNvSpPr/>
          <p:nvPr/>
        </p:nvSpPr>
        <p:spPr>
          <a:xfrm>
            <a:off x="3234690" y="518279"/>
            <a:ext cx="2023110" cy="53721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CQA (Customer Quality Assurance)</a:t>
            </a:r>
            <a:endParaRPr lang="en-AE" sz="1100" b="1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4CA00FE-F8BD-EA61-1A6D-C8C68A33B9B6}"/>
              </a:ext>
            </a:extLst>
          </p:cNvPr>
          <p:cNvSpPr/>
          <p:nvPr/>
        </p:nvSpPr>
        <p:spPr>
          <a:xfrm>
            <a:off x="3223260" y="1518404"/>
            <a:ext cx="2171700" cy="150090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All SWC assigned to CQA first </a:t>
            </a:r>
          </a:p>
          <a:p>
            <a:r>
              <a:rPr lang="en-US" sz="1100" dirty="0"/>
              <a:t>• Attach Analysis Report </a:t>
            </a:r>
          </a:p>
          <a:p>
            <a:r>
              <a:rPr lang="en-US" sz="1100" dirty="0"/>
              <a:t>• Select Failure Type &amp; Reason (Drop Down) </a:t>
            </a:r>
          </a:p>
          <a:p>
            <a:r>
              <a:rPr lang="en-US" sz="1100" dirty="0"/>
              <a:t>•Select Claim Type (Standard/Goodwill)</a:t>
            </a:r>
          </a:p>
          <a:p>
            <a:r>
              <a:rPr lang="en-US" sz="1100" dirty="0"/>
              <a:t> • Mark Claimable / Not Claimable </a:t>
            </a:r>
          </a:p>
          <a:p>
            <a:r>
              <a:rPr lang="en-US" sz="1100" dirty="0"/>
              <a:t>• Add Comments 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4675D89-EF21-5E73-1273-B2A9F9980243}"/>
              </a:ext>
            </a:extLst>
          </p:cNvPr>
          <p:cNvSpPr/>
          <p:nvPr/>
        </p:nvSpPr>
        <p:spPr>
          <a:xfrm>
            <a:off x="3234689" y="3528258"/>
            <a:ext cx="2171700" cy="58293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After review ➝ Assign to SCM (Local) OR QA Coordinator (HQ)</a:t>
            </a:r>
            <a:endParaRPr lang="en-AE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E1C94A-382F-C907-D55C-794F48D70713}"/>
              </a:ext>
            </a:extLst>
          </p:cNvPr>
          <p:cNvSpPr txBox="1"/>
          <p:nvPr/>
        </p:nvSpPr>
        <p:spPr>
          <a:xfrm>
            <a:off x="605790" y="2811557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/>
              <a:t>(SWC will be generated only after QA acknowledgment)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55E57E7-19AB-C9AF-4B96-9F003C803A2C}"/>
              </a:ext>
            </a:extLst>
          </p:cNvPr>
          <p:cNvSpPr/>
          <p:nvPr/>
        </p:nvSpPr>
        <p:spPr>
          <a:xfrm>
            <a:off x="6275070" y="1641831"/>
            <a:ext cx="2171700" cy="11899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• Review Claim &amp; CQA Report </a:t>
            </a:r>
          </a:p>
          <a:p>
            <a:r>
              <a:rPr lang="en-US" sz="1050" dirty="0"/>
              <a:t>• Fill Dispatch Details (Optional) • Enter Vendor Claim Ref (if portal available)</a:t>
            </a:r>
          </a:p>
          <a:p>
            <a:r>
              <a:rPr lang="en-US" sz="1050" dirty="0"/>
              <a:t> • Enter Vendor Quality Reporting Ref</a:t>
            </a:r>
          </a:p>
          <a:p>
            <a:r>
              <a:rPr lang="en-US" sz="1050" dirty="0"/>
              <a:t> • Submit Claim </a:t>
            </a:r>
            <a:endParaRPr lang="en-AE" sz="105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E83A2A-E0D2-98DD-17BB-883A359C13F2}"/>
              </a:ext>
            </a:extLst>
          </p:cNvPr>
          <p:cNvSpPr txBox="1"/>
          <p:nvPr/>
        </p:nvSpPr>
        <p:spPr>
          <a:xfrm>
            <a:off x="6400165" y="13340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SCM / QA Coordinator</a:t>
            </a:r>
            <a:endParaRPr lang="en-AE" sz="1400" dirty="0"/>
          </a:p>
        </p:txBody>
      </p:sp>
      <p:sp>
        <p:nvSpPr>
          <p:cNvPr id="75" name="Parallelogram 74">
            <a:extLst>
              <a:ext uri="{FF2B5EF4-FFF2-40B4-BE49-F238E27FC236}">
                <a16:creationId xmlns:a16="http://schemas.microsoft.com/office/drawing/2014/main" id="{25971B92-B009-9B1C-8A27-A6A25AC9A146}"/>
              </a:ext>
            </a:extLst>
          </p:cNvPr>
          <p:cNvSpPr/>
          <p:nvPr/>
        </p:nvSpPr>
        <p:spPr>
          <a:xfrm>
            <a:off x="6366510" y="3736159"/>
            <a:ext cx="2171700" cy="91440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Approve / Reject / Return Claim</a:t>
            </a:r>
          </a:p>
          <a:p>
            <a:pPr algn="ctr"/>
            <a:r>
              <a:rPr lang="en-US" sz="1100" dirty="0"/>
              <a:t> • Make Payment &amp; Enter Payment Details</a:t>
            </a:r>
          </a:p>
          <a:p>
            <a:pPr algn="ctr"/>
            <a:r>
              <a:rPr lang="en-US" sz="1100" dirty="0"/>
              <a:t> • Do Financial Closure</a:t>
            </a:r>
            <a:endParaRPr lang="en-AE" sz="1100" dirty="0"/>
          </a:p>
        </p:txBody>
      </p:sp>
      <p:sp>
        <p:nvSpPr>
          <p:cNvPr id="76" name="Parallelogram 75">
            <a:extLst>
              <a:ext uri="{FF2B5EF4-FFF2-40B4-BE49-F238E27FC236}">
                <a16:creationId xmlns:a16="http://schemas.microsoft.com/office/drawing/2014/main" id="{E65961D2-6CBB-5D1F-BE0E-4F9A06020070}"/>
              </a:ext>
            </a:extLst>
          </p:cNvPr>
          <p:cNvSpPr/>
          <p:nvPr/>
        </p:nvSpPr>
        <p:spPr>
          <a:xfrm>
            <a:off x="4309110" y="5300424"/>
            <a:ext cx="2171700" cy="91440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Take Permanent Action • Attach Permanent Solution Report</a:t>
            </a:r>
          </a:p>
          <a:p>
            <a:pPr algn="ctr"/>
            <a:r>
              <a:rPr lang="en-US" sz="1200" dirty="0"/>
              <a:t> • Do Permanent Closure</a:t>
            </a:r>
            <a:endParaRPr lang="en-AE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A73414-AC3B-C06E-061B-11A8CAB9D351}"/>
              </a:ext>
            </a:extLst>
          </p:cNvPr>
          <p:cNvSpPr txBox="1"/>
          <p:nvPr/>
        </p:nvSpPr>
        <p:spPr>
          <a:xfrm>
            <a:off x="5957888" y="4719139"/>
            <a:ext cx="3323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Supplier 1 (</a:t>
            </a:r>
            <a:r>
              <a:rPr lang="fr-FR" sz="1400" b="1" dirty="0" err="1"/>
              <a:t>Technical</a:t>
            </a:r>
            <a:r>
              <a:rPr lang="fr-FR" sz="1400" b="1" dirty="0"/>
              <a:t>  &amp; Finance Dept.)</a:t>
            </a:r>
            <a:endParaRPr lang="en-AE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8FBF40-B226-E768-777C-2374804BF9D9}"/>
              </a:ext>
            </a:extLst>
          </p:cNvPr>
          <p:cNvSpPr txBox="1"/>
          <p:nvPr/>
        </p:nvSpPr>
        <p:spPr>
          <a:xfrm>
            <a:off x="4309110" y="6305431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Supplier 2 (QA / R&amp;D Dept.)</a:t>
            </a:r>
            <a:endParaRPr lang="en-AE" sz="1400" dirty="0"/>
          </a:p>
        </p:txBody>
      </p:sp>
      <p:sp>
        <p:nvSpPr>
          <p:cNvPr id="81" name="Flowchart: Alternate Process 80">
            <a:extLst>
              <a:ext uri="{FF2B5EF4-FFF2-40B4-BE49-F238E27FC236}">
                <a16:creationId xmlns:a16="http://schemas.microsoft.com/office/drawing/2014/main" id="{3AD5DA47-246A-7946-AE30-A605D3224521}"/>
              </a:ext>
            </a:extLst>
          </p:cNvPr>
          <p:cNvSpPr/>
          <p:nvPr/>
        </p:nvSpPr>
        <p:spPr>
          <a:xfrm>
            <a:off x="2513171" y="4939851"/>
            <a:ext cx="1443037" cy="620457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Confirm Payment</a:t>
            </a:r>
          </a:p>
          <a:p>
            <a:pPr algn="ctr"/>
            <a:r>
              <a:rPr lang="en-US" sz="1050" dirty="0"/>
              <a:t> • Do Financial Closure</a:t>
            </a:r>
            <a:endParaRPr lang="en-AE" sz="1050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739A46C-1FA3-FFB1-B0A2-199B163C9A93}"/>
              </a:ext>
            </a:extLst>
          </p:cNvPr>
          <p:cNvSpPr/>
          <p:nvPr/>
        </p:nvSpPr>
        <p:spPr>
          <a:xfrm>
            <a:off x="511491" y="4880610"/>
            <a:ext cx="1394459" cy="8770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Confirm Permanent Action</a:t>
            </a:r>
          </a:p>
          <a:p>
            <a:pPr algn="ctr"/>
            <a:r>
              <a:rPr lang="en-US" sz="1000" dirty="0"/>
              <a:t> • Issue &amp; Attach ECN</a:t>
            </a:r>
          </a:p>
          <a:p>
            <a:pPr algn="ctr"/>
            <a:r>
              <a:rPr lang="en-US" sz="1000" dirty="0"/>
              <a:t> • Do Permanent Closure</a:t>
            </a:r>
            <a:endParaRPr lang="en-AE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4C7247-865C-3EFA-F124-97F9E040F0C4}"/>
              </a:ext>
            </a:extLst>
          </p:cNvPr>
          <p:cNvSpPr txBox="1"/>
          <p:nvPr/>
        </p:nvSpPr>
        <p:spPr>
          <a:xfrm>
            <a:off x="2471738" y="4661371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Finance Department</a:t>
            </a:r>
            <a:endParaRPr lang="en-AE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132999-BC5A-68D5-1627-6A57FA9B960D}"/>
              </a:ext>
            </a:extLst>
          </p:cNvPr>
          <p:cNvSpPr txBox="1"/>
          <p:nvPr/>
        </p:nvSpPr>
        <p:spPr>
          <a:xfrm>
            <a:off x="262890" y="4603603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CQA Final Confirmation</a:t>
            </a:r>
            <a:endParaRPr lang="en-AE" sz="1400" dirty="0"/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90183417-9E37-D209-0CC2-008D11786599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>
            <a:off x="2343150" y="2268855"/>
            <a:ext cx="880110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561DABC3-DC7D-C5EE-122E-082F79712BF8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394960" y="2268855"/>
            <a:ext cx="742950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B3DA17AF-EA43-76DF-DD6C-09DA95F45663}"/>
              </a:ext>
            </a:extLst>
          </p:cNvPr>
          <p:cNvCxnSpPr>
            <a:cxnSpLocks/>
            <a:stCxn id="70" idx="2"/>
          </p:cNvCxnSpPr>
          <p:nvPr/>
        </p:nvCxnSpPr>
        <p:spPr>
          <a:xfrm rot="5400000">
            <a:off x="6959100" y="3227211"/>
            <a:ext cx="797292" cy="63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8961C6C7-FC20-3D69-B6F5-F5A4C213F17D}"/>
              </a:ext>
            </a:extLst>
          </p:cNvPr>
          <p:cNvCxnSpPr>
            <a:cxnSpLocks/>
            <a:endCxn id="76" idx="2"/>
          </p:cNvCxnSpPr>
          <p:nvPr/>
        </p:nvCxnSpPr>
        <p:spPr>
          <a:xfrm rot="10800000" flipV="1">
            <a:off x="6366510" y="4650558"/>
            <a:ext cx="1253014" cy="1107065"/>
          </a:xfrm>
          <a:prstGeom prst="bentConnector3">
            <a:avLst>
              <a:gd name="adj1" fmla="val 16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41697321-FDD9-9689-2961-1FF932DEDD8B}"/>
              </a:ext>
            </a:extLst>
          </p:cNvPr>
          <p:cNvCxnSpPr>
            <a:cxnSpLocks/>
            <a:stCxn id="76" idx="5"/>
            <a:endCxn id="81" idx="2"/>
          </p:cNvCxnSpPr>
          <p:nvPr/>
        </p:nvCxnSpPr>
        <p:spPr>
          <a:xfrm rot="10800000">
            <a:off x="3234690" y="5560308"/>
            <a:ext cx="1188720" cy="1973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7501C0F4-B8BB-845A-028C-51A81C2A729E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>
            <a:off x="1988821" y="5246156"/>
            <a:ext cx="524351" cy="39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969C9711-0A04-13A0-A4B6-24F49A532CFB}"/>
              </a:ext>
            </a:extLst>
          </p:cNvPr>
          <p:cNvCxnSpPr>
            <a:cxnSpLocks/>
            <a:endCxn id="65" idx="4"/>
          </p:cNvCxnSpPr>
          <p:nvPr/>
        </p:nvCxnSpPr>
        <p:spPr>
          <a:xfrm rot="5400000" flipH="1" flipV="1">
            <a:off x="4008437" y="1286947"/>
            <a:ext cx="469266" cy="6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Curved 125">
            <a:extLst>
              <a:ext uri="{FF2B5EF4-FFF2-40B4-BE49-F238E27FC236}">
                <a16:creationId xmlns:a16="http://schemas.microsoft.com/office/drawing/2014/main" id="{5E85D44B-B42B-8FD3-0370-DB1F5D715490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 rot="16200000" flipH="1">
            <a:off x="4060348" y="3268067"/>
            <a:ext cx="508952" cy="1142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2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5"/>
              </a:spcBef>
            </a:pPr>
            <a:r>
              <a:rPr spc="-5"/>
              <a:t>Thank</a:t>
            </a:r>
            <a:r>
              <a:rPr spc="-130"/>
              <a:t> </a:t>
            </a:r>
            <a:r>
              <a:rPr spc="-25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59" y="5494654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2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latin typeface="Calibri" panose="020F0502020204030204"/>
                <a:cs typeface="Calibri" panose="020F0502020204030204"/>
              </a:rPr>
              <a:t>S</a:t>
            </a:r>
            <a:r>
              <a:rPr sz="1800" b="1" spc="5">
                <a:latin typeface="Calibri" panose="020F0502020204030204"/>
                <a:cs typeface="Calibri" panose="020F0502020204030204"/>
              </a:rPr>
              <a:t>e</a:t>
            </a:r>
            <a:r>
              <a:rPr sz="1800" b="1">
                <a:latin typeface="Calibri" panose="020F0502020204030204"/>
                <a:cs typeface="Calibri" panose="020F0502020204030204"/>
              </a:rPr>
              <a:t>lfservit</a:t>
            </a:r>
            <a:r>
              <a:rPr sz="1800" b="1" spc="-8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Solutions</a:t>
            </a:r>
            <a:r>
              <a:rPr sz="18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(P)</a:t>
            </a:r>
            <a:r>
              <a:rPr sz="1800" b="1" spc="-6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30">
                <a:latin typeface="Calibri" panose="020F0502020204030204"/>
                <a:cs typeface="Calibri" panose="020F0502020204030204"/>
              </a:rPr>
              <a:t>L</a:t>
            </a:r>
            <a:r>
              <a:rPr sz="1800" b="1" spc="-25">
                <a:latin typeface="Calibri" panose="020F0502020204030204"/>
                <a:cs typeface="Calibri" panose="020F0502020204030204"/>
              </a:rPr>
              <a:t>t</a:t>
            </a:r>
            <a:r>
              <a:rPr sz="1800" b="1" spc="-20">
                <a:latin typeface="Calibri" panose="020F0502020204030204"/>
                <a:cs typeface="Calibri" panose="020F0502020204030204"/>
              </a:rPr>
              <a:t>d</a:t>
            </a:r>
            <a:r>
              <a:rPr sz="1800" b="1">
                <a:latin typeface="Calibri" panose="020F0502020204030204"/>
                <a:cs typeface="Calibri" panose="020F0502020204030204"/>
              </a:rPr>
              <a:t>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19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>
              <a:lnSpc>
                <a:spcPct val="100000"/>
              </a:lnSpc>
            </a:pP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4" y="5589219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1" y="5589219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7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099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1" y="6321348"/>
            <a:ext cx="1077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Props1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DB5ED-6937-4BC3-BCC6-8A103A480F64}">
  <ds:schemaRefs>
    <ds:schemaRef ds:uri="09882c4c-98d3-42d4-9fa4-9b997bf31c9f"/>
    <ds:schemaRef ds:uri="944e8e7f-c586-4da5-b625-25ca602de1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302</Words>
  <Application>Microsoft Office PowerPoint</Application>
  <PresentationFormat>On-screen Show (4:3)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</cp:lastModifiedBy>
  <cp:revision>7</cp:revision>
  <dcterms:created xsi:type="dcterms:W3CDTF">2024-03-14T07:43:00Z</dcterms:created>
  <dcterms:modified xsi:type="dcterms:W3CDTF">2025-09-02T05:47:13Z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