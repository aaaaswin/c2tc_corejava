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5"/>
  </p:notesMasterIdLst>
  <p:sldIdLst>
    <p:sldId id="259" r:id="rId4"/>
    <p:sldId id="264" r:id="rId6"/>
    <p:sldId id="260" r:id="rId7"/>
    <p:sldId id="261" r:id="rId8"/>
    <p:sldId id="262" r:id="rId9"/>
    <p:sldId id="263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7" d="100"/>
          <a:sy n="87" d="100"/>
        </p:scale>
        <p:origin x="-146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041095-870C-4629-9690-38278AF10AC2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6FA80E-AD25-4CB3-A286-5783463C1547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C96C047-0430-4EC9-8B24-E20BE3E416A4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8C61E8-3A46-426B-9ED1-01F3F62B1070}" type="datetime1">
              <a:rPr lang="en-GB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70EC5FE0-DF31-49A5-AB0B-03365065D570}" type="slidenum">
              <a:rPr lang="en-US" altLang="en-US" smtClean="0"/>
            </a:fld>
            <a:endParaRPr lang="en-US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457200" y="6172200"/>
            <a:ext cx="8229600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>
            <a:off x="457200" y="1447800"/>
            <a:ext cx="8229600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12EAA4-398C-4846-A0C5-16C389AAFF24}" type="datetime1">
              <a:rPr lang="en-GB" smtClean="0">
                <a:solidFill>
                  <a:prstClr val="black">
                    <a:tint val="75000"/>
                  </a:prstClr>
                </a:solidFill>
              </a:rPr>
            </a:fld>
            <a:endParaRPr lang="en-GB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Gimpex Limited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D0D41A9-8378-452E-A63A-AB27BB92AD0F}" type="slidenum">
              <a:rPr lang="en-GB" altLang="en-US" smtClean="0"/>
            </a:fld>
            <a:endParaRPr lang="en-GB" altLang="en-US"/>
          </a:p>
        </p:txBody>
      </p:sp>
      <p:cxnSp>
        <p:nvCxnSpPr>
          <p:cNvPr id="9" name="Straight Connector 8"/>
          <p:cNvCxnSpPr/>
          <p:nvPr userDrawn="1"/>
        </p:nvCxnSpPr>
        <p:spPr>
          <a:xfrm>
            <a:off x="457200" y="6172200"/>
            <a:ext cx="8229600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 userDrawn="1"/>
        </p:nvCxnSpPr>
        <p:spPr>
          <a:xfrm>
            <a:off x="457200" y="1447800"/>
            <a:ext cx="8229600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2302670-4FAD-4FC3-B696-7A99335563A3}" type="datetime1">
              <a:rPr lang="en-GB" smtClean="0">
                <a:solidFill>
                  <a:prstClr val="black">
                    <a:tint val="75000"/>
                  </a:prstClr>
                </a:solidFill>
              </a:rPr>
            </a:fld>
            <a:endParaRPr lang="en-GB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Gimpex Limited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2C9AD5E-6243-442A-BEAD-F8D7DD620900}" type="slidenum">
              <a:rPr lang="en-GB" altLang="en-US" smtClean="0"/>
            </a:fld>
            <a:endParaRPr lang="en-GB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7200" y="6172200"/>
            <a:ext cx="8229600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457200" y="1447800"/>
            <a:ext cx="8229600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0D4B71-2AB0-48B4-B946-75BE83AC2674}" type="datetime1">
              <a:rPr lang="en-GB" smtClean="0">
                <a:solidFill>
                  <a:prstClr val="black">
                    <a:tint val="75000"/>
                  </a:prstClr>
                </a:solidFill>
              </a:rPr>
            </a:fld>
            <a:endParaRPr lang="en-GB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Gimpex Limited</a:t>
            </a:r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D55548-5517-4B79-A558-1706C04C34F7}" type="slidenum">
              <a:rPr lang="en-GB" altLang="en-US" smtClean="0"/>
            </a:fld>
            <a:endParaRPr lang="en-GB" altLang="en-US"/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457200" y="6172200"/>
            <a:ext cx="8229600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 userDrawn="1"/>
        </p:nvCxnSpPr>
        <p:spPr>
          <a:xfrm>
            <a:off x="457200" y="1447800"/>
            <a:ext cx="8229600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457200" y="6172200"/>
            <a:ext cx="8229600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457200" y="1447800"/>
            <a:ext cx="8229600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9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C52F9B-46A6-4F9A-9EB4-7E51CBFF046D}" type="datetime1">
              <a:rPr lang="en-GB" smtClean="0">
                <a:solidFill>
                  <a:prstClr val="black">
                    <a:tint val="75000"/>
                  </a:prstClr>
                </a:solidFill>
              </a:rPr>
            </a:fld>
            <a:endParaRPr lang="en-GB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Gimpex Limited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1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48314D2-7F43-450A-989B-24BDBA03AB4A}" type="slidenum">
              <a:rPr lang="en-GB" altLang="en-US" smtClean="0"/>
            </a:fld>
            <a:endParaRPr lang="en-GB" altLang="en-US"/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457200" y="6172200"/>
            <a:ext cx="8229600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 userDrawn="1"/>
        </p:nvCxnSpPr>
        <p:spPr>
          <a:xfrm>
            <a:off x="457200" y="1447800"/>
            <a:ext cx="8229600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/>
          <p:cNvCxnSpPr/>
          <p:nvPr/>
        </p:nvCxnSpPr>
        <p:spPr>
          <a:xfrm>
            <a:off x="457200" y="6172200"/>
            <a:ext cx="8229600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/>
          <p:cNvCxnSpPr/>
          <p:nvPr/>
        </p:nvCxnSpPr>
        <p:spPr>
          <a:xfrm>
            <a:off x="457200" y="1447800"/>
            <a:ext cx="8229600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5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4704FD-F77E-43EA-ADE8-81CDFA891E47}" type="datetime1">
              <a:rPr lang="en-GB" smtClean="0">
                <a:solidFill>
                  <a:prstClr val="black">
                    <a:tint val="75000"/>
                  </a:prstClr>
                </a:solidFill>
              </a:rPr>
            </a:fld>
            <a:endParaRPr lang="en-GB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Gimpex Limited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BC60CC2-BC6A-47DD-A2D4-A616770C8005}" type="slidenum">
              <a:rPr lang="en-GB" altLang="en-US" smtClean="0"/>
            </a:fld>
            <a:endParaRPr lang="en-GB" altLang="en-US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457200" y="6172200"/>
            <a:ext cx="8229600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 userDrawn="1"/>
        </p:nvCxnSpPr>
        <p:spPr>
          <a:xfrm>
            <a:off x="457200" y="1447800"/>
            <a:ext cx="8229600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/>
          <p:cNvCxnSpPr/>
          <p:nvPr/>
        </p:nvCxnSpPr>
        <p:spPr>
          <a:xfrm>
            <a:off x="457200" y="6172200"/>
            <a:ext cx="8229600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B9696B-D6FD-4EAF-9D53-3356DE04BF2E}" type="datetime1">
              <a:rPr lang="en-GB" smtClean="0">
                <a:solidFill>
                  <a:prstClr val="black">
                    <a:tint val="75000"/>
                  </a:prstClr>
                </a:solidFill>
              </a:rPr>
            </a:fld>
            <a:endParaRPr lang="en-GB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Gimpex Limited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B1DB331-7B8A-4D7D-882B-F1BAF5F793FF}" type="slidenum">
              <a:rPr lang="en-GB" altLang="en-US" smtClean="0"/>
            </a:fld>
            <a:endParaRPr lang="en-GB" altLang="en-US"/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457200" y="6172200"/>
            <a:ext cx="8229600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7200" y="6172200"/>
            <a:ext cx="8229600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B8EC37-0EB9-445C-B546-46A6F5AD0008}" type="datetime1">
              <a:rPr lang="en-GB" smtClean="0">
                <a:solidFill>
                  <a:prstClr val="black">
                    <a:tint val="75000"/>
                  </a:prstClr>
                </a:solidFill>
              </a:rPr>
            </a:fld>
            <a:endParaRPr lang="en-GB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Gimpex Limited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A2498DB-CBF6-478F-B58D-C3E1C0436518}" type="slidenum">
              <a:rPr lang="en-GB" altLang="en-US" smtClean="0"/>
            </a:fld>
            <a:endParaRPr lang="en-GB" altLang="en-US"/>
          </a:p>
        </p:txBody>
      </p:sp>
      <p:cxnSp>
        <p:nvCxnSpPr>
          <p:cNvPr id="9" name="Straight Connector 8"/>
          <p:cNvCxnSpPr/>
          <p:nvPr userDrawn="1"/>
        </p:nvCxnSpPr>
        <p:spPr>
          <a:xfrm>
            <a:off x="457200" y="6172200"/>
            <a:ext cx="8229600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7200" y="6172200"/>
            <a:ext cx="8229600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227C77-8DA5-43A2-A2B3-5AF0E3C93591}" type="datetime1">
              <a:rPr lang="en-GB" smtClean="0">
                <a:solidFill>
                  <a:prstClr val="black">
                    <a:tint val="75000"/>
                  </a:prstClr>
                </a:solidFill>
              </a:rPr>
            </a:fld>
            <a:endParaRPr lang="en-GB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Gimpex Limited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0AB48B1-8357-4FFA-866C-0B603253C27E}" type="slidenum">
              <a:rPr lang="en-GB" altLang="en-US" smtClean="0"/>
            </a:fld>
            <a:endParaRPr lang="en-GB" altLang="en-US"/>
          </a:p>
        </p:txBody>
      </p:sp>
      <p:cxnSp>
        <p:nvCxnSpPr>
          <p:cNvPr id="9" name="Straight Connector 8"/>
          <p:cNvCxnSpPr/>
          <p:nvPr userDrawn="1"/>
        </p:nvCxnSpPr>
        <p:spPr>
          <a:xfrm>
            <a:off x="457200" y="6172200"/>
            <a:ext cx="8229600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457200" y="6172200"/>
            <a:ext cx="8229600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>
            <a:off x="457200" y="1447800"/>
            <a:ext cx="8229600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B459A1-6AA2-4F53-8AFC-BE323D1F6269}" type="datetime1">
              <a:rPr lang="en-GB" smtClean="0">
                <a:solidFill>
                  <a:prstClr val="black">
                    <a:tint val="75000"/>
                  </a:prstClr>
                </a:solidFill>
              </a:rPr>
            </a:fld>
            <a:endParaRPr lang="en-GB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Gimpex Limited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CC7608F-21EF-466F-AA66-E46F97F3A0E7}" type="slidenum">
              <a:rPr lang="en-GB" altLang="en-US" smtClean="0"/>
            </a:fld>
            <a:endParaRPr lang="en-GB" altLang="en-US"/>
          </a:p>
        </p:txBody>
      </p:sp>
      <p:cxnSp>
        <p:nvCxnSpPr>
          <p:cNvPr id="9" name="Straight Connector 8"/>
          <p:cNvCxnSpPr/>
          <p:nvPr userDrawn="1"/>
        </p:nvCxnSpPr>
        <p:spPr>
          <a:xfrm>
            <a:off x="457200" y="6172200"/>
            <a:ext cx="8229600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 userDrawn="1"/>
        </p:nvCxnSpPr>
        <p:spPr>
          <a:xfrm>
            <a:off x="457200" y="1447800"/>
            <a:ext cx="8229600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457200" y="6172200"/>
            <a:ext cx="8229600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C679CA-9403-41E0-B579-DFADB67742B6}" type="datetime1">
              <a:rPr lang="en-GB" smtClean="0">
                <a:solidFill>
                  <a:prstClr val="black">
                    <a:tint val="75000"/>
                  </a:prstClr>
                </a:solidFill>
              </a:rPr>
            </a:fld>
            <a:endParaRPr lang="en-GB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Gimpex Limited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95DA09F-FD87-4562-BB8B-63F95AAE8053}" type="slidenum">
              <a:rPr lang="en-GB" altLang="en-US" smtClean="0"/>
            </a:fld>
            <a:endParaRPr lang="en-GB" altLang="en-US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457200" y="6172200"/>
            <a:ext cx="8229600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1F06B10-8F7D-40B7-9BF6-2C3471FE84EB}" type="datetime1">
              <a:rPr lang="en-GB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E1BF6F-1BE1-4C6A-BCEE-72D1A0BE73C8}" type="slidenum">
              <a:rPr lang="en-US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 userDrawn="1"/>
        </p:nvCxnSpPr>
        <p:spPr>
          <a:xfrm>
            <a:off x="457200" y="6172200"/>
            <a:ext cx="8229600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 userDrawn="1"/>
        </p:nvCxnSpPr>
        <p:spPr>
          <a:xfrm>
            <a:off x="457200" y="1447800"/>
            <a:ext cx="8229600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DCBF49-89B4-4854-A69F-AE35B5F0E8D3}" type="datetime1">
              <a:rPr lang="en-GB" smtClean="0">
                <a:solidFill>
                  <a:prstClr val="black">
                    <a:tint val="75000"/>
                  </a:prstClr>
                </a:solidFill>
              </a:rPr>
            </a:fld>
            <a:endParaRPr lang="en-GB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Gimpex Limited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DB2F95-EB32-428C-8680-9A940E6A17CD}" type="slidenum">
              <a:rPr lang="en-GB">
                <a:solidFill>
                  <a:prstClr val="black">
                    <a:tint val="75000"/>
                  </a:prstClr>
                </a:solidFill>
              </a:rPr>
            </a:fld>
            <a:endParaRPr lang="en-GB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EB3EB2-5B23-4D9A-86AA-6E4D525C2595}" type="datetime1">
              <a:rPr lang="en-GB" smtClean="0">
                <a:solidFill>
                  <a:prstClr val="black">
                    <a:tint val="75000"/>
                  </a:prstClr>
                </a:solidFill>
              </a:rPr>
            </a:fld>
            <a:endParaRPr lang="en-GB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Gimpex Limited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8DD7A4-603A-431A-8857-85E56DD53817}" type="slidenum">
              <a:rPr lang="en-GB">
                <a:solidFill>
                  <a:prstClr val="black">
                    <a:tint val="75000"/>
                  </a:prstClr>
                </a:solidFill>
              </a:rPr>
            </a:fld>
            <a:endParaRPr lang="en-GB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 userDrawn="1"/>
        </p:nvCxnSpPr>
        <p:spPr>
          <a:xfrm>
            <a:off x="457200" y="6172200"/>
            <a:ext cx="8229600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 userDrawn="1"/>
        </p:nvCxnSpPr>
        <p:spPr>
          <a:xfrm>
            <a:off x="457200" y="1447800"/>
            <a:ext cx="8229600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84A9D8-E0CA-427A-9C32-7A163421EB4F}" type="datetime1">
              <a:rPr lang="en-GB" smtClean="0">
                <a:solidFill>
                  <a:prstClr val="black">
                    <a:tint val="75000"/>
                  </a:prstClr>
                </a:solidFill>
              </a:rPr>
            </a:fld>
            <a:endParaRPr lang="en-GB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Gimpex Limited</a:t>
            </a:r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F7562E-D2B0-4D4D-80CD-B62D620D9AB7}" type="slidenum">
              <a:rPr lang="en-GB">
                <a:solidFill>
                  <a:prstClr val="black">
                    <a:tint val="75000"/>
                  </a:prstClr>
                </a:solidFill>
              </a:rPr>
            </a:fld>
            <a:endParaRPr lang="en-GB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 userDrawn="1"/>
        </p:nvCxnSpPr>
        <p:spPr>
          <a:xfrm>
            <a:off x="457200" y="6172200"/>
            <a:ext cx="8229600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 userDrawn="1"/>
        </p:nvCxnSpPr>
        <p:spPr>
          <a:xfrm>
            <a:off x="457200" y="1447800"/>
            <a:ext cx="8229600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9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9B29D1-EF49-4B1E-8D5C-600409F47F60}" type="datetime1">
              <a:rPr lang="en-GB" smtClean="0">
                <a:solidFill>
                  <a:prstClr val="black">
                    <a:tint val="75000"/>
                  </a:prstClr>
                </a:solidFill>
              </a:rPr>
            </a:fld>
            <a:endParaRPr lang="en-GB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Gimpex Limited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1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CF9337-AC47-438C-B7DA-DCE235AD6FCA}" type="slidenum">
              <a:rPr lang="en-GB">
                <a:solidFill>
                  <a:prstClr val="black">
                    <a:tint val="75000"/>
                  </a:prstClr>
                </a:solidFill>
              </a:rPr>
            </a:fld>
            <a:endParaRPr lang="en-GB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/>
          <p:cNvCxnSpPr/>
          <p:nvPr userDrawn="1"/>
        </p:nvCxnSpPr>
        <p:spPr>
          <a:xfrm>
            <a:off x="457200" y="6172200"/>
            <a:ext cx="8229600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/>
          <p:cNvCxnSpPr/>
          <p:nvPr userDrawn="1"/>
        </p:nvCxnSpPr>
        <p:spPr>
          <a:xfrm>
            <a:off x="457200" y="1447800"/>
            <a:ext cx="8229600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5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CAC60D-0611-4F60-B339-7860857D452C}" type="datetime1">
              <a:rPr lang="en-GB" smtClean="0">
                <a:solidFill>
                  <a:prstClr val="black">
                    <a:tint val="75000"/>
                  </a:prstClr>
                </a:solidFill>
              </a:rPr>
            </a:fld>
            <a:endParaRPr lang="en-GB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Gimpex Limited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84AD7EE-8ECF-4FFF-81E9-9130516DD5C3}" type="slidenum">
              <a:rPr lang="en-GB">
                <a:solidFill>
                  <a:prstClr val="black">
                    <a:tint val="75000"/>
                  </a:prstClr>
                </a:solidFill>
              </a:rPr>
            </a:fld>
            <a:endParaRPr lang="en-GB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/>
          <p:cNvCxnSpPr/>
          <p:nvPr userDrawn="1"/>
        </p:nvCxnSpPr>
        <p:spPr>
          <a:xfrm>
            <a:off x="457200" y="6172200"/>
            <a:ext cx="8229600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E3B5E6-DF45-4047-8FE1-91F93E6EB407}" type="datetime1">
              <a:rPr lang="en-GB" smtClean="0">
                <a:solidFill>
                  <a:prstClr val="black">
                    <a:tint val="75000"/>
                  </a:prstClr>
                </a:solidFill>
              </a:rPr>
            </a:fld>
            <a:endParaRPr lang="en-GB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Gimpex Limited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60B2533-0FA5-4E50-BEC8-D3D8F99FEBC9}" type="slidenum">
              <a:rPr lang="en-GB">
                <a:solidFill>
                  <a:prstClr val="black">
                    <a:tint val="75000"/>
                  </a:prstClr>
                </a:solidFill>
              </a:rPr>
            </a:fld>
            <a:endParaRPr lang="en-GB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 userDrawn="1"/>
        </p:nvCxnSpPr>
        <p:spPr>
          <a:xfrm>
            <a:off x="457200" y="6172200"/>
            <a:ext cx="8229600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A7AF901-124A-44DE-B99C-B1A7E5118691}" type="datetime1">
              <a:rPr lang="en-GB" smtClean="0">
                <a:solidFill>
                  <a:prstClr val="black">
                    <a:tint val="75000"/>
                  </a:prstClr>
                </a:solidFill>
              </a:rPr>
            </a:fld>
            <a:endParaRPr lang="en-GB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Gimpex Limited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06968B-358C-4CA1-A6D0-29F80D6895FB}" type="slidenum">
              <a:rPr lang="en-GB">
                <a:solidFill>
                  <a:prstClr val="black">
                    <a:tint val="75000"/>
                  </a:prstClr>
                </a:solidFill>
              </a:rPr>
            </a:fld>
            <a:endParaRPr lang="en-GB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 userDrawn="1"/>
        </p:nvCxnSpPr>
        <p:spPr>
          <a:xfrm>
            <a:off x="457200" y="6172200"/>
            <a:ext cx="8229600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4C6B17-0FE3-4B94-A783-F41BA7B48BFB}" type="datetime1">
              <a:rPr lang="en-GB" smtClean="0">
                <a:solidFill>
                  <a:prstClr val="black">
                    <a:tint val="75000"/>
                  </a:prstClr>
                </a:solidFill>
              </a:rPr>
            </a:fld>
            <a:endParaRPr lang="en-GB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Gimpex Limited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6592D6-AC78-4527-967C-267A3D1DFAFF}" type="slidenum">
              <a:rPr lang="en-GB">
                <a:solidFill>
                  <a:prstClr val="black">
                    <a:tint val="75000"/>
                  </a:prstClr>
                </a:solidFill>
              </a:rPr>
            </a:fld>
            <a:endParaRPr lang="en-GB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 userDrawn="1"/>
        </p:nvCxnSpPr>
        <p:spPr>
          <a:xfrm>
            <a:off x="457200" y="6172200"/>
            <a:ext cx="8229600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 userDrawn="1"/>
        </p:nvCxnSpPr>
        <p:spPr>
          <a:xfrm>
            <a:off x="457200" y="1447800"/>
            <a:ext cx="8229600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97661A-50E4-4291-8784-6C8A8DCB26C7}" type="datetime1">
              <a:rPr lang="en-GB" smtClean="0">
                <a:solidFill>
                  <a:prstClr val="black">
                    <a:tint val="75000"/>
                  </a:prstClr>
                </a:solidFill>
              </a:rPr>
            </a:fld>
            <a:endParaRPr lang="en-GB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Gimpex Limited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2213092-A78C-4877-94DE-CF5D05184B20}" type="slidenum">
              <a:rPr lang="en-GB">
                <a:solidFill>
                  <a:prstClr val="black">
                    <a:tint val="75000"/>
                  </a:prstClr>
                </a:solidFill>
              </a:rPr>
            </a:fld>
            <a:endParaRPr lang="en-GB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 userDrawn="1"/>
        </p:nvCxnSpPr>
        <p:spPr>
          <a:xfrm>
            <a:off x="457200" y="6172200"/>
            <a:ext cx="8229600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06D5A39-4B21-4A46-9C9A-EAE874307E96}" type="datetime1">
              <a:rPr lang="en-GB" smtClean="0">
                <a:solidFill>
                  <a:prstClr val="black">
                    <a:tint val="75000"/>
                  </a:prstClr>
                </a:solidFill>
              </a:rPr>
            </a:fld>
            <a:endParaRPr lang="en-GB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Gimpex Limited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F8B7B79-F16B-44FE-876A-676A6D2C1805}" type="slidenum">
              <a:rPr lang="en-GB">
                <a:solidFill>
                  <a:prstClr val="black">
                    <a:tint val="75000"/>
                  </a:prstClr>
                </a:solidFill>
              </a:rPr>
            </a:fld>
            <a:endParaRPr lang="en-GB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image" Target="../media/image2.png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4" Type="http://schemas.openxmlformats.org/officeDocument/2006/relationships/theme" Target="../theme/theme2.xml"/><Relationship Id="rId13" Type="http://schemas.openxmlformats.org/officeDocument/2006/relationships/image" Target="../media/image2.png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smtClean="0"/>
              <a:t>Click to edit Master title style</a:t>
            </a:r>
            <a:endParaRPr lang="en-US" smtClean="0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ea typeface="Arial Unicode MS" pitchFamily="34" charset="-128"/>
                <a:cs typeface="Arial Unicode MS" pitchFamily="34" charset="-128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89D34707-6EF6-4C59-AB86-15A1921D389A}" type="datetime1">
              <a:rPr lang="en-GB" smtClean="0">
                <a:solidFill>
                  <a:prstClr val="black">
                    <a:tint val="75000"/>
                  </a:prstClr>
                </a:solidFill>
                <a:ea typeface="Arial Unicode MS" pitchFamily="34" charset="-128"/>
                <a:cs typeface="Arial Unicode MS" pitchFamily="34" charset="-128"/>
              </a:rPr>
            </a:fld>
            <a:endParaRPr lang="en-GB" dirty="0">
              <a:solidFill>
                <a:prstClr val="black">
                  <a:tint val="75000"/>
                </a:prstClr>
              </a:solidFill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ea typeface="Arial Unicode MS" pitchFamily="34" charset="-128"/>
                <a:cs typeface="Arial Unicode MS" pitchFamily="34" charset="-128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mtClean="0">
                <a:solidFill>
                  <a:prstClr val="black">
                    <a:tint val="75000"/>
                  </a:prstClr>
                </a:solidFill>
                <a:ea typeface="Arial Unicode MS" pitchFamily="34" charset="-128"/>
                <a:cs typeface="Arial Unicode MS" pitchFamily="34" charset="-128"/>
              </a:rPr>
              <a:t>Gimpex Limited</a:t>
            </a:r>
            <a:endParaRPr lang="en-US">
              <a:solidFill>
                <a:prstClr val="black">
                  <a:tint val="75000"/>
                </a:prstClr>
              </a:solidFill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ea typeface="Arial Unicode MS" pitchFamily="34" charset="-128"/>
                <a:cs typeface="Arial Unicode MS" pitchFamily="34" charset="-128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7C85C408-E6F2-442F-8E84-2E558BDBFB0A}" type="slidenum">
              <a:rPr lang="en-GB" altLang="en-US" smtClean="0">
                <a:latin typeface="Arial" panose="020B0604020202020204" pitchFamily="34" charset="0"/>
                <a:ea typeface="Arial Unicode MS" pitchFamily="34" charset="-128"/>
                <a:cs typeface="Arial Unicode MS" pitchFamily="34" charset="-128"/>
              </a:rPr>
            </a:fld>
            <a:endParaRPr lang="en-GB" altLang="en-US">
              <a:latin typeface="Arial" panose="020B0604020202020204" pitchFamily="34" charset="0"/>
              <a:ea typeface="Arial Unicode MS" pitchFamily="34" charset="-128"/>
              <a:cs typeface="Arial Unicode MS" pitchFamily="34" charset="-128"/>
            </a:endParaRPr>
          </a:p>
        </p:txBody>
      </p:sp>
      <p:pic>
        <p:nvPicPr>
          <p:cNvPr id="1031" name="Picture 6" descr="Selfservit.PNG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2800" y="0"/>
            <a:ext cx="1981200" cy="539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smtClean="0"/>
              <a:t>Click to edit Master title style</a:t>
            </a:r>
            <a:endParaRPr lang="en-US" smtClean="0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ea typeface="Arial Unicode MS" pitchFamily="34" charset="-128"/>
                <a:cs typeface="Arial Unicode MS" pitchFamily="34" charset="-128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78E0262E-5696-4C87-B463-D54A02D9E8DA}" type="datetime1">
              <a:rPr lang="en-GB" smtClean="0">
                <a:solidFill>
                  <a:prstClr val="black">
                    <a:tint val="75000"/>
                  </a:prstClr>
                </a:solidFill>
                <a:latin typeface="Arial" panose="020B0604020202020204" pitchFamily="34" charset="0"/>
              </a:rPr>
            </a:fld>
            <a:endParaRPr lang="en-GB" dirty="0">
              <a:solidFill>
                <a:prstClr val="black">
                  <a:tint val="75000"/>
                </a:prstClr>
              </a:solidFill>
              <a:latin typeface="Arial" panose="020B0604020202020204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ea typeface="Arial Unicode MS" pitchFamily="34" charset="-128"/>
                <a:cs typeface="Arial Unicode MS" pitchFamily="34" charset="-128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mtClean="0">
                <a:solidFill>
                  <a:prstClr val="black">
                    <a:tint val="75000"/>
                  </a:prstClr>
                </a:solidFill>
                <a:latin typeface="Arial" panose="020B0604020202020204" pitchFamily="34" charset="0"/>
              </a:rPr>
              <a:t>Gimpex Limited</a:t>
            </a:r>
            <a:endParaRPr lang="en-US">
              <a:solidFill>
                <a:prstClr val="black">
                  <a:tint val="75000"/>
                </a:prstClr>
              </a:solidFill>
              <a:latin typeface="Arial" panose="020B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ea typeface="Arial Unicode MS" pitchFamily="34" charset="-128"/>
                <a:cs typeface="Arial Unicode MS" pitchFamily="34" charset="-128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1C5F255B-33E0-4FFB-A6F0-BA27C24BE3D8}" type="slidenum">
              <a:rPr lang="en-GB">
                <a:solidFill>
                  <a:prstClr val="black">
                    <a:tint val="75000"/>
                  </a:prstClr>
                </a:solidFill>
                <a:latin typeface="Arial" panose="020B0604020202020204" pitchFamily="34" charset="0"/>
              </a:rPr>
            </a:fld>
            <a:endParaRPr lang="en-GB" dirty="0">
              <a:solidFill>
                <a:prstClr val="black">
                  <a:tint val="75000"/>
                </a:prstClr>
              </a:solidFill>
              <a:latin typeface="Arial" panose="020B0604020202020204" pitchFamily="34" charset="0"/>
            </a:endParaRPr>
          </a:p>
        </p:txBody>
      </p:sp>
      <p:pic>
        <p:nvPicPr>
          <p:cNvPr id="1031" name="Picture 6" descr="Selfservit.PNG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2800" y="0"/>
            <a:ext cx="1981200" cy="539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4.xml"/><Relationship Id="rId5" Type="http://schemas.openxmlformats.org/officeDocument/2006/relationships/hyperlink" Target="mailto:sales@selfservit.com" TargetMode="External"/><Relationship Id="rId4" Type="http://schemas.openxmlformats.org/officeDocument/2006/relationships/hyperlink" Target="mailto:Sales@mservice.in" TargetMode="External"/><Relationship Id="rId3" Type="http://schemas.openxmlformats.org/officeDocument/2006/relationships/image" Target="../media/image3.png"/><Relationship Id="rId2" Type="http://schemas.openxmlformats.org/officeDocument/2006/relationships/hyperlink" Target="http://www.mservice.in/" TargetMode="External"/><Relationship Id="rId1" Type="http://schemas.openxmlformats.org/officeDocument/2006/relationships/hyperlink" Target="http://www.selfservit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CUSTOMER AND MACHINE CREATION FLOW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0EC5FE0-DF31-49A5-AB0B-03365065D570}" type="slidenum">
              <a:rPr lang="en-US" altLang="en-US" smtClean="0"/>
            </a:fld>
            <a:endParaRPr lang="en-US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79003AE-E36E-4597-907B-0A61E6CE8691}" type="datetime1">
              <a:rPr lang="en-GB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USE CASES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endParaRPr lang="en-US" sz="2000" dirty="0" smtClean="0"/>
          </a:p>
          <a:p>
            <a:pPr marL="514350" indent="-514350">
              <a:buAutoNum type="arabicPeriod"/>
            </a:pPr>
            <a:r>
              <a:rPr lang="en-US" sz="2000" dirty="0" smtClean="0"/>
              <a:t>DEALER ASKS FOR MACHINE CREATION</a:t>
            </a:r>
            <a:endParaRPr lang="en-US" sz="2000" dirty="0" smtClean="0"/>
          </a:p>
          <a:p>
            <a:pPr marL="514350" indent="-514350">
              <a:buAutoNum type="arabicPeriod"/>
            </a:pPr>
            <a:endParaRPr lang="en-US" sz="2000" dirty="0" smtClean="0"/>
          </a:p>
          <a:p>
            <a:pPr marL="514350" indent="-514350">
              <a:buAutoNum type="arabicPeriod"/>
            </a:pPr>
            <a:r>
              <a:rPr lang="en-US" sz="2000" dirty="0" smtClean="0"/>
              <a:t>NEW M/C GETS INVOICED TO A CUSTOMER</a:t>
            </a:r>
            <a:endParaRPr lang="en-US" sz="2000" dirty="0" smtClean="0"/>
          </a:p>
          <a:p>
            <a:pPr marL="514350" indent="-514350">
              <a:buAutoNum type="arabicPeriod"/>
            </a:pPr>
            <a:endParaRPr lang="en-US" sz="2000" dirty="0" smtClean="0"/>
          </a:p>
          <a:p>
            <a:pPr marL="514350" indent="-514350">
              <a:buAutoNum type="arabicPeriod"/>
            </a:pPr>
            <a:r>
              <a:rPr lang="en-US" sz="2000" dirty="0" smtClean="0"/>
              <a:t>M/C INVOICED TO DEALER FOR STOCK &amp; SALE</a:t>
            </a:r>
            <a:endParaRPr lang="en-US" sz="2000" dirty="0" smtClean="0"/>
          </a:p>
          <a:p>
            <a:pPr marL="514350" indent="-514350">
              <a:buAutoNum type="arabicPeriod"/>
            </a:pPr>
            <a:endParaRPr lang="en-US" sz="2000" dirty="0" smtClean="0"/>
          </a:p>
          <a:p>
            <a:pPr marL="514350" indent="-514350">
              <a:buAutoNum type="arabicPeriod"/>
            </a:pPr>
            <a:r>
              <a:rPr lang="en-US" sz="2000" dirty="0" smtClean="0"/>
              <a:t>MACHINE IS RESOLD OR MOVES TO ANOTHER DEALER TERRITORY.</a:t>
            </a:r>
            <a:endParaRPr lang="en-US" sz="20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D41A9-8378-452E-A63A-AB27BB92AD0F}" type="slidenum">
              <a:rPr lang="en-GB" altLang="en-US" smtClean="0"/>
            </a:fld>
            <a:endParaRPr lang="en-GB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B32384F-6C74-4921-A36F-96F3EA144FC2}" type="datetime1">
              <a:rPr lang="en-GB" smtClean="0">
                <a:solidFill>
                  <a:prstClr val="black">
                    <a:tint val="75000"/>
                  </a:prstClr>
                </a:solidFill>
              </a:rPr>
            </a:fld>
            <a:endParaRPr lang="en-GB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1" name="Straight Arrow Connector 40"/>
          <p:cNvCxnSpPr>
            <a:stCxn id="7" idx="3"/>
            <a:endCxn id="9" idx="1"/>
          </p:cNvCxnSpPr>
          <p:nvPr/>
        </p:nvCxnSpPr>
        <p:spPr>
          <a:xfrm flipV="1">
            <a:off x="4267200" y="4724400"/>
            <a:ext cx="715241" cy="4572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1143000"/>
          </a:xfrm>
        </p:spPr>
        <p:txBody>
          <a:bodyPr>
            <a:normAutofit/>
          </a:bodyPr>
          <a:lstStyle/>
          <a:p>
            <a:r>
              <a:rPr lang="en-US" sz="3200" u="sng" dirty="0"/>
              <a:t>CASE </a:t>
            </a:r>
            <a:r>
              <a:rPr lang="en-US" sz="3200" u="sng" dirty="0" smtClean="0"/>
              <a:t>1- DEALER ASKS FOR MACHINE CREATION</a:t>
            </a:r>
            <a:endParaRPr lang="en-US" sz="3200" u="sng" dirty="0"/>
          </a:p>
        </p:txBody>
      </p:sp>
      <p:sp>
        <p:nvSpPr>
          <p:cNvPr id="4" name="Oval 3"/>
          <p:cNvSpPr/>
          <p:nvPr/>
        </p:nvSpPr>
        <p:spPr>
          <a:xfrm>
            <a:off x="664152" y="1266826"/>
            <a:ext cx="1437409" cy="117157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dirty="0"/>
              <a:t>	DEALER</a:t>
            </a:r>
            <a:r>
              <a:rPr lang="en-US" sz="1100" baseline="0" dirty="0"/>
              <a:t> ASKS FOR MACHINE CREATION</a:t>
            </a:r>
            <a:endParaRPr lang="en-US" sz="1100" dirty="0"/>
          </a:p>
        </p:txBody>
      </p:sp>
      <p:sp>
        <p:nvSpPr>
          <p:cNvPr id="5" name="Flowchart: Decision 4"/>
          <p:cNvSpPr/>
          <p:nvPr/>
        </p:nvSpPr>
        <p:spPr>
          <a:xfrm>
            <a:off x="343765" y="3667125"/>
            <a:ext cx="2094635" cy="1285875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 smtClean="0"/>
              <a:t>CT CHECKS IF</a:t>
            </a:r>
            <a:r>
              <a:rPr lang="en-US" sz="1100" baseline="0" dirty="0" smtClean="0"/>
              <a:t> </a:t>
            </a:r>
            <a:r>
              <a:rPr lang="en-US" sz="1100" baseline="0" dirty="0"/>
              <a:t>CUSTOMER </a:t>
            </a:r>
            <a:r>
              <a:rPr lang="en-US" sz="1100" baseline="0" dirty="0" smtClean="0"/>
              <a:t>ID IS  </a:t>
            </a:r>
            <a:r>
              <a:rPr lang="en-US" sz="1100" baseline="0" dirty="0"/>
              <a:t>CREATED IN SYSTEM</a:t>
            </a:r>
            <a:endParaRPr lang="en-US" sz="1100" dirty="0"/>
          </a:p>
        </p:txBody>
      </p:sp>
      <p:sp>
        <p:nvSpPr>
          <p:cNvPr id="7" name="Flowchart: Decision 6"/>
          <p:cNvSpPr/>
          <p:nvPr/>
        </p:nvSpPr>
        <p:spPr>
          <a:xfrm>
            <a:off x="2277341" y="4572000"/>
            <a:ext cx="1989859" cy="1219199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dirty="0"/>
              <a:t>CHECK</a:t>
            </a:r>
            <a:r>
              <a:rPr lang="en-US" sz="1100" baseline="0" dirty="0"/>
              <a:t> IF M/C EXISTS IN THE SYSTEM</a:t>
            </a:r>
            <a:endParaRPr lang="en-US" sz="1100" dirty="0"/>
          </a:p>
        </p:txBody>
      </p:sp>
      <p:sp>
        <p:nvSpPr>
          <p:cNvPr id="8" name="Rectangle 7"/>
          <p:cNvSpPr/>
          <p:nvPr/>
        </p:nvSpPr>
        <p:spPr>
          <a:xfrm>
            <a:off x="3306041" y="2286000"/>
            <a:ext cx="1494559" cy="6286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dirty="0"/>
              <a:t>CT</a:t>
            </a:r>
            <a:r>
              <a:rPr lang="en-US" sz="1100" baseline="0" dirty="0"/>
              <a:t> CREATES CUSTOMER IN CUSTOMER MASTER</a:t>
            </a:r>
            <a:endParaRPr lang="en-US" sz="1100" dirty="0"/>
          </a:p>
        </p:txBody>
      </p:sp>
      <p:sp>
        <p:nvSpPr>
          <p:cNvPr id="9" name="Rectangle 8"/>
          <p:cNvSpPr/>
          <p:nvPr/>
        </p:nvSpPr>
        <p:spPr>
          <a:xfrm>
            <a:off x="4982441" y="4495800"/>
            <a:ext cx="1494559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dirty="0"/>
              <a:t>CT</a:t>
            </a:r>
            <a:r>
              <a:rPr lang="en-US" sz="1100" baseline="0" dirty="0"/>
              <a:t> CREATES MACHINE IN MACHINE MASTER</a:t>
            </a:r>
            <a:endParaRPr lang="en-US" sz="1100" dirty="0"/>
          </a:p>
        </p:txBody>
      </p:sp>
      <p:cxnSp>
        <p:nvCxnSpPr>
          <p:cNvPr id="10" name="Straight Arrow Connector 9"/>
          <p:cNvCxnSpPr>
            <a:stCxn id="4" idx="4"/>
            <a:endCxn id="5" idx="0"/>
          </p:cNvCxnSpPr>
          <p:nvPr/>
        </p:nvCxnSpPr>
        <p:spPr>
          <a:xfrm>
            <a:off x="1382857" y="2438400"/>
            <a:ext cx="8226" cy="122872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3"/>
          <p:cNvSpPr txBox="1"/>
          <p:nvPr/>
        </p:nvSpPr>
        <p:spPr>
          <a:xfrm>
            <a:off x="4276725" y="4953000"/>
            <a:ext cx="447675" cy="209550"/>
          </a:xfrm>
          <a:prstGeom prst="rect">
            <a:avLst/>
          </a:prstGeom>
          <a:solidFill>
            <a:schemeClr val="lt1"/>
          </a:solidFill>
          <a:ln w="9525" cmpd="sng">
            <a:solidFill>
              <a:schemeClr val="lt1">
                <a:shade val="5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 smtClean="0"/>
              <a:t>NO</a:t>
            </a:r>
            <a:endParaRPr lang="en-US" sz="1100" dirty="0"/>
          </a:p>
        </p:txBody>
      </p:sp>
      <p:sp>
        <p:nvSpPr>
          <p:cNvPr id="13" name="Oval 12"/>
          <p:cNvSpPr/>
          <p:nvPr/>
        </p:nvSpPr>
        <p:spPr>
          <a:xfrm>
            <a:off x="7430366" y="4114800"/>
            <a:ext cx="1637434" cy="11049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/>
              <a:t>CT ASSIGNS</a:t>
            </a:r>
            <a:r>
              <a:rPr lang="en-US" sz="1100" baseline="0"/>
              <a:t> MACHINE AND CUSTOMER TO THE DEALER</a:t>
            </a:r>
            <a:endParaRPr lang="en-US" sz="1100"/>
          </a:p>
        </p:txBody>
      </p:sp>
      <p:cxnSp>
        <p:nvCxnSpPr>
          <p:cNvPr id="16" name="Elbow Connector 15"/>
          <p:cNvCxnSpPr>
            <a:stCxn id="7" idx="2"/>
            <a:endCxn id="13" idx="4"/>
          </p:cNvCxnSpPr>
          <p:nvPr/>
        </p:nvCxnSpPr>
        <p:spPr>
          <a:xfrm rot="5400000" flipH="1" flipV="1">
            <a:off x="5474927" y="3017044"/>
            <a:ext cx="571499" cy="4976812"/>
          </a:xfrm>
          <a:prstGeom prst="bentConnector3">
            <a:avLst>
              <a:gd name="adj1" fmla="val -40000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1"/>
          <p:cNvSpPr txBox="1"/>
          <p:nvPr/>
        </p:nvSpPr>
        <p:spPr>
          <a:xfrm>
            <a:off x="3585264" y="5867400"/>
            <a:ext cx="444211" cy="209550"/>
          </a:xfrm>
          <a:prstGeom prst="rect">
            <a:avLst/>
          </a:prstGeom>
          <a:solidFill>
            <a:schemeClr val="lt1"/>
          </a:solidFill>
          <a:ln w="9525" cmpd="sng">
            <a:solidFill>
              <a:schemeClr val="lt1">
                <a:shade val="5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/>
              <a:t>YES</a:t>
            </a:r>
            <a:endParaRPr lang="en-US" sz="1100"/>
          </a:p>
        </p:txBody>
      </p:sp>
      <p:cxnSp>
        <p:nvCxnSpPr>
          <p:cNvPr id="38" name="Straight Arrow Connector 37"/>
          <p:cNvCxnSpPr>
            <a:stCxn id="5" idx="3"/>
            <a:endCxn id="8" idx="1"/>
          </p:cNvCxnSpPr>
          <p:nvPr/>
        </p:nvCxnSpPr>
        <p:spPr>
          <a:xfrm flipV="1">
            <a:off x="2438400" y="2600325"/>
            <a:ext cx="867641" cy="170973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8"/>
          <p:cNvSpPr txBox="1"/>
          <p:nvPr/>
        </p:nvSpPr>
        <p:spPr>
          <a:xfrm>
            <a:off x="2600325" y="3390900"/>
            <a:ext cx="447675" cy="209550"/>
          </a:xfrm>
          <a:prstGeom prst="rect">
            <a:avLst/>
          </a:prstGeom>
          <a:solidFill>
            <a:schemeClr val="lt1"/>
          </a:solidFill>
          <a:ln w="9525" cmpd="sng">
            <a:solidFill>
              <a:schemeClr val="lt1">
                <a:shade val="5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/>
              <a:t>NO</a:t>
            </a:r>
            <a:endParaRPr lang="en-US" sz="1100" dirty="0"/>
          </a:p>
        </p:txBody>
      </p:sp>
      <p:cxnSp>
        <p:nvCxnSpPr>
          <p:cNvPr id="43" name="Elbow Connector 42"/>
          <p:cNvCxnSpPr>
            <a:stCxn id="5" idx="2"/>
            <a:endCxn id="7" idx="1"/>
          </p:cNvCxnSpPr>
          <p:nvPr/>
        </p:nvCxnSpPr>
        <p:spPr>
          <a:xfrm rot="16200000" flipH="1">
            <a:off x="1719912" y="4624171"/>
            <a:ext cx="228600" cy="886258"/>
          </a:xfrm>
          <a:prstGeom prst="bentConnector2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160749" y="5124450"/>
            <a:ext cx="444212" cy="209550"/>
          </a:xfrm>
          <a:prstGeom prst="rect">
            <a:avLst/>
          </a:prstGeom>
          <a:solidFill>
            <a:schemeClr val="lt1"/>
          </a:solidFill>
          <a:ln w="9525" cmpd="sng">
            <a:solidFill>
              <a:schemeClr val="lt1">
                <a:shade val="5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/>
              <a:t>YES</a:t>
            </a:r>
            <a:endParaRPr lang="en-US" sz="1100"/>
          </a:p>
        </p:txBody>
      </p:sp>
      <p:cxnSp>
        <p:nvCxnSpPr>
          <p:cNvPr id="46" name="Elbow Connector 45"/>
          <p:cNvCxnSpPr>
            <a:stCxn id="8" idx="2"/>
            <a:endCxn id="7" idx="0"/>
          </p:cNvCxnSpPr>
          <p:nvPr/>
        </p:nvCxnSpPr>
        <p:spPr>
          <a:xfrm rot="5400000">
            <a:off x="2834121" y="3352800"/>
            <a:ext cx="1657350" cy="781050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/>
          <p:cNvCxnSpPr>
            <a:stCxn id="9" idx="3"/>
            <a:endCxn id="13" idx="2"/>
          </p:cNvCxnSpPr>
          <p:nvPr/>
        </p:nvCxnSpPr>
        <p:spPr>
          <a:xfrm flipV="1">
            <a:off x="6477000" y="4667250"/>
            <a:ext cx="953366" cy="5715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574506" y="1752600"/>
            <a:ext cx="21216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CT- CENTRAL TEAM</a:t>
            </a:r>
            <a:endParaRPr lang="en-US" dirty="0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D41A9-8378-452E-A63A-AB27BB92AD0F}" type="slidenum">
              <a:rPr lang="en-GB" altLang="en-US" smtClean="0"/>
            </a:fld>
            <a:endParaRPr lang="en-GB" altLang="en-US"/>
          </a:p>
        </p:txBody>
      </p:sp>
      <p:sp>
        <p:nvSpPr>
          <p:cNvPr id="15" name="Date Placeholder 1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DBB6221-58D7-4E2D-B434-36C84F66C775}" type="datetime1">
              <a:rPr lang="en-GB" smtClean="0">
                <a:solidFill>
                  <a:prstClr val="black">
                    <a:tint val="75000"/>
                  </a:prstClr>
                </a:solidFill>
              </a:rPr>
            </a:fld>
            <a:endParaRPr lang="en-GB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540575" y="2686667"/>
            <a:ext cx="1684563" cy="66613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200" dirty="0" smtClean="0"/>
              <a:t>EMAIL IS SENT TO CT TO CREATE </a:t>
            </a:r>
            <a:r>
              <a:rPr lang="en-US" sz="1200" dirty="0" smtClean="0"/>
              <a:t>CUSTOMER &amp; </a:t>
            </a:r>
            <a:r>
              <a:rPr lang="en-US" sz="1200" dirty="0"/>
              <a:t>M</a:t>
            </a:r>
            <a:r>
              <a:rPr lang="en-US" sz="1200" dirty="0" smtClean="0"/>
              <a:t>ACHINE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09600"/>
            <a:ext cx="8229600" cy="1143000"/>
          </a:xfrm>
        </p:spPr>
        <p:txBody>
          <a:bodyPr>
            <a:normAutofit/>
          </a:bodyPr>
          <a:lstStyle/>
          <a:p>
            <a:r>
              <a:rPr lang="en-US" sz="3200" u="sng" dirty="0"/>
              <a:t>CASE 2- INVOICING OF NEW MACHINE</a:t>
            </a:r>
            <a:endParaRPr lang="en-US" sz="3200" u="sng" dirty="0"/>
          </a:p>
        </p:txBody>
      </p:sp>
      <p:sp>
        <p:nvSpPr>
          <p:cNvPr id="4" name="Oval 3"/>
          <p:cNvSpPr/>
          <p:nvPr/>
        </p:nvSpPr>
        <p:spPr>
          <a:xfrm>
            <a:off x="815685" y="1524000"/>
            <a:ext cx="1570758" cy="109562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dirty="0"/>
              <a:t>	</a:t>
            </a:r>
            <a:r>
              <a:rPr lang="en-US" sz="1200" dirty="0"/>
              <a:t>NEW</a:t>
            </a:r>
            <a:r>
              <a:rPr lang="en-US" sz="1200" baseline="0" dirty="0"/>
              <a:t> MACHINE IS INVOICED</a:t>
            </a:r>
            <a:endParaRPr lang="en-US" sz="1200" dirty="0"/>
          </a:p>
        </p:txBody>
      </p:sp>
      <p:sp>
        <p:nvSpPr>
          <p:cNvPr id="5" name="Flowchart: Decision 4"/>
          <p:cNvSpPr/>
          <p:nvPr/>
        </p:nvSpPr>
        <p:spPr>
          <a:xfrm>
            <a:off x="609600" y="3295650"/>
            <a:ext cx="1964747" cy="1011379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200" dirty="0"/>
              <a:t>IS</a:t>
            </a:r>
            <a:r>
              <a:rPr lang="en-US" sz="1200" baseline="0" dirty="0"/>
              <a:t>  IT A NEW CUSTOMER</a:t>
            </a:r>
            <a:endParaRPr lang="en-US" sz="1200" dirty="0"/>
          </a:p>
        </p:txBody>
      </p:sp>
      <p:sp>
        <p:nvSpPr>
          <p:cNvPr id="6" name="Rectangle 5"/>
          <p:cNvSpPr/>
          <p:nvPr/>
        </p:nvSpPr>
        <p:spPr>
          <a:xfrm>
            <a:off x="815685" y="5105400"/>
            <a:ext cx="1503218" cy="609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200" dirty="0"/>
              <a:t>CT</a:t>
            </a:r>
            <a:r>
              <a:rPr lang="en-US" sz="1200" baseline="0" dirty="0"/>
              <a:t> CREATES CUSTOMER IN CUSTOMER MASTER</a:t>
            </a:r>
            <a:endParaRPr lang="en-US" sz="1200" dirty="0"/>
          </a:p>
        </p:txBody>
      </p:sp>
      <p:sp>
        <p:nvSpPr>
          <p:cNvPr id="7" name="Rectangle 6"/>
          <p:cNvSpPr/>
          <p:nvPr/>
        </p:nvSpPr>
        <p:spPr>
          <a:xfrm>
            <a:off x="3640035" y="3462770"/>
            <a:ext cx="1617765" cy="63731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 smtClean="0"/>
              <a:t>CT</a:t>
            </a:r>
            <a:r>
              <a:rPr lang="en-US" sz="1200" baseline="0" dirty="0" smtClean="0"/>
              <a:t> FETCHES CUSTOMER ID FROM THE MASTER</a:t>
            </a:r>
            <a:endParaRPr lang="en-US" sz="1200" dirty="0"/>
          </a:p>
        </p:txBody>
      </p:sp>
      <p:sp>
        <p:nvSpPr>
          <p:cNvPr id="8" name="Rectangle 7"/>
          <p:cNvSpPr/>
          <p:nvPr/>
        </p:nvSpPr>
        <p:spPr>
          <a:xfrm>
            <a:off x="3683578" y="4800600"/>
            <a:ext cx="1498022" cy="68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200" dirty="0"/>
              <a:t>CT</a:t>
            </a:r>
            <a:r>
              <a:rPr lang="en-US" sz="1200" baseline="0" dirty="0"/>
              <a:t> CREATES MACHINE IN MACHINE MASTER</a:t>
            </a:r>
            <a:endParaRPr lang="en-US" sz="1200" dirty="0"/>
          </a:p>
        </p:txBody>
      </p:sp>
      <p:sp>
        <p:nvSpPr>
          <p:cNvPr id="9" name="Oval 8"/>
          <p:cNvSpPr/>
          <p:nvPr/>
        </p:nvSpPr>
        <p:spPr>
          <a:xfrm>
            <a:off x="6786996" y="4572000"/>
            <a:ext cx="1823604" cy="1143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200" dirty="0"/>
              <a:t>CT ASSIGNS</a:t>
            </a:r>
            <a:r>
              <a:rPr lang="en-US" sz="1200" baseline="0" dirty="0"/>
              <a:t> MACHINE AND CUSTOMER TO THE DEALER</a:t>
            </a:r>
            <a:endParaRPr lang="en-US" sz="1200" dirty="0"/>
          </a:p>
        </p:txBody>
      </p:sp>
      <p:cxnSp>
        <p:nvCxnSpPr>
          <p:cNvPr id="10" name="Straight Arrow Connector 9"/>
          <p:cNvCxnSpPr>
            <a:stCxn id="4" idx="4"/>
          </p:cNvCxnSpPr>
          <p:nvPr/>
        </p:nvCxnSpPr>
        <p:spPr>
          <a:xfrm flipH="1">
            <a:off x="1576820" y="2619626"/>
            <a:ext cx="24244" cy="67429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>
            <a:stCxn id="5" idx="2"/>
            <a:endCxn id="6" idx="0"/>
          </p:cNvCxnSpPr>
          <p:nvPr/>
        </p:nvCxnSpPr>
        <p:spPr>
          <a:xfrm flipH="1">
            <a:off x="1567294" y="4307029"/>
            <a:ext cx="24680" cy="79837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5" idx="3"/>
            <a:endCxn id="7" idx="1"/>
          </p:cNvCxnSpPr>
          <p:nvPr/>
        </p:nvCxnSpPr>
        <p:spPr>
          <a:xfrm flipV="1">
            <a:off x="2574347" y="3781425"/>
            <a:ext cx="1065688" cy="1991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7" idx="2"/>
            <a:endCxn id="8" idx="0"/>
          </p:cNvCxnSpPr>
          <p:nvPr/>
        </p:nvCxnSpPr>
        <p:spPr>
          <a:xfrm flipH="1">
            <a:off x="4432589" y="4100080"/>
            <a:ext cx="16329" cy="70052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Elbow Connector 14"/>
          <p:cNvCxnSpPr>
            <a:stCxn id="6" idx="2"/>
            <a:endCxn id="8" idx="1"/>
          </p:cNvCxnSpPr>
          <p:nvPr/>
        </p:nvCxnSpPr>
        <p:spPr>
          <a:xfrm rot="5400000" flipH="1" flipV="1">
            <a:off x="2339686" y="4371108"/>
            <a:ext cx="571500" cy="2116284"/>
          </a:xfrm>
          <a:prstGeom prst="bentConnector4">
            <a:avLst>
              <a:gd name="adj1" fmla="val -40000"/>
              <a:gd name="adj2" fmla="val 67758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95"/>
          <p:cNvSpPr txBox="1"/>
          <p:nvPr/>
        </p:nvSpPr>
        <p:spPr>
          <a:xfrm>
            <a:off x="1344323" y="4514850"/>
            <a:ext cx="447675" cy="209550"/>
          </a:xfrm>
          <a:prstGeom prst="rect">
            <a:avLst/>
          </a:prstGeom>
          <a:solidFill>
            <a:schemeClr val="lt1"/>
          </a:solidFill>
          <a:ln w="9525" cmpd="sng">
            <a:solidFill>
              <a:schemeClr val="lt1">
                <a:shade val="5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/>
              <a:t>YES</a:t>
            </a:r>
            <a:endParaRPr lang="en-US" sz="1000"/>
          </a:p>
        </p:txBody>
      </p:sp>
      <p:sp>
        <p:nvSpPr>
          <p:cNvPr id="17" name="TextBox 96"/>
          <p:cNvSpPr txBox="1"/>
          <p:nvPr/>
        </p:nvSpPr>
        <p:spPr>
          <a:xfrm>
            <a:off x="2743200" y="3676650"/>
            <a:ext cx="447675" cy="209550"/>
          </a:xfrm>
          <a:prstGeom prst="rect">
            <a:avLst/>
          </a:prstGeom>
          <a:solidFill>
            <a:schemeClr val="lt1"/>
          </a:solidFill>
          <a:ln w="9525" cmpd="sng">
            <a:solidFill>
              <a:schemeClr val="lt1">
                <a:shade val="5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/>
              <a:t>NO</a:t>
            </a:r>
            <a:endParaRPr lang="en-US" sz="1100"/>
          </a:p>
        </p:txBody>
      </p:sp>
      <p:cxnSp>
        <p:nvCxnSpPr>
          <p:cNvPr id="25" name="Straight Arrow Connector 24"/>
          <p:cNvCxnSpPr>
            <a:stCxn id="8" idx="3"/>
            <a:endCxn id="9" idx="2"/>
          </p:cNvCxnSpPr>
          <p:nvPr/>
        </p:nvCxnSpPr>
        <p:spPr>
          <a:xfrm>
            <a:off x="5181600" y="5143500"/>
            <a:ext cx="1605396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574506" y="1752600"/>
            <a:ext cx="21216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CT- CENTRAL TEAM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D41A9-8378-452E-A63A-AB27BB92AD0F}" type="slidenum">
              <a:rPr lang="en-GB" altLang="en-US" smtClean="0"/>
            </a:fld>
            <a:endParaRPr lang="en-GB" alt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C454545-5E48-4955-96D7-CA72F00691F3}" type="datetime1">
              <a:rPr lang="en-GB" smtClean="0">
                <a:solidFill>
                  <a:prstClr val="black">
                    <a:tint val="75000"/>
                  </a:prstClr>
                </a:solidFill>
              </a:rPr>
            </a:fld>
            <a:endParaRPr lang="en-GB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143000"/>
          </a:xfrm>
        </p:spPr>
        <p:txBody>
          <a:bodyPr>
            <a:normAutofit/>
          </a:bodyPr>
          <a:lstStyle/>
          <a:p>
            <a:r>
              <a:rPr lang="en-US" sz="3200" u="sng" dirty="0"/>
              <a:t>CASE 3</a:t>
            </a:r>
            <a:r>
              <a:rPr lang="en-US" sz="3200" u="sng" dirty="0" smtClean="0"/>
              <a:t>- M/C INVOICED TO DEALER FOR STOCK &amp; SALE</a:t>
            </a:r>
            <a:endParaRPr lang="en-US" sz="3200" u="sng" dirty="0"/>
          </a:p>
        </p:txBody>
      </p:sp>
      <p:sp>
        <p:nvSpPr>
          <p:cNvPr id="4" name="Oval 3"/>
          <p:cNvSpPr/>
          <p:nvPr/>
        </p:nvSpPr>
        <p:spPr>
          <a:xfrm>
            <a:off x="762000" y="1593272"/>
            <a:ext cx="1905495" cy="137852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200" dirty="0"/>
              <a:t>NEW</a:t>
            </a:r>
            <a:r>
              <a:rPr lang="en-US" sz="1200" baseline="0" dirty="0"/>
              <a:t> MACHINE IS INVOICED TO DEALER FOR STOCK AND SALE</a:t>
            </a:r>
            <a:endParaRPr lang="en-US" sz="1200" dirty="0"/>
          </a:p>
        </p:txBody>
      </p:sp>
      <p:sp>
        <p:nvSpPr>
          <p:cNvPr id="5" name="Rectangle 4"/>
          <p:cNvSpPr/>
          <p:nvPr/>
        </p:nvSpPr>
        <p:spPr>
          <a:xfrm>
            <a:off x="906237" y="3581400"/>
            <a:ext cx="1684563" cy="5833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200" dirty="0"/>
              <a:t>CT</a:t>
            </a:r>
            <a:r>
              <a:rPr lang="en-US" sz="1200" baseline="0" dirty="0"/>
              <a:t> CREATES MACHINE IN MACHINE MASTER</a:t>
            </a:r>
            <a:endParaRPr lang="en-US" sz="1200" dirty="0"/>
          </a:p>
        </p:txBody>
      </p:sp>
      <p:sp>
        <p:nvSpPr>
          <p:cNvPr id="6" name="Rectangle 5"/>
          <p:cNvSpPr/>
          <p:nvPr/>
        </p:nvSpPr>
        <p:spPr>
          <a:xfrm>
            <a:off x="884467" y="4897334"/>
            <a:ext cx="1706333" cy="8938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200" dirty="0"/>
              <a:t>CT</a:t>
            </a:r>
            <a:r>
              <a:rPr lang="en-US" sz="1200" baseline="0" dirty="0"/>
              <a:t> KEEPS CUSTOMER  AS ZZZ IN MACHINE  MASTER</a:t>
            </a:r>
            <a:endParaRPr lang="en-US" sz="1200" dirty="0"/>
          </a:p>
        </p:txBody>
      </p:sp>
      <p:sp>
        <p:nvSpPr>
          <p:cNvPr id="7" name="Oval 6"/>
          <p:cNvSpPr/>
          <p:nvPr/>
        </p:nvSpPr>
        <p:spPr>
          <a:xfrm>
            <a:off x="3657600" y="4762747"/>
            <a:ext cx="1792432" cy="118085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200" dirty="0"/>
              <a:t>CT ASSIGNS</a:t>
            </a:r>
            <a:r>
              <a:rPr lang="en-US" sz="1200" baseline="0" dirty="0"/>
              <a:t> MACHINE TO THE DEALER</a:t>
            </a:r>
            <a:endParaRPr lang="en-US" sz="1200" dirty="0"/>
          </a:p>
        </p:txBody>
      </p:sp>
      <p:cxnSp>
        <p:nvCxnSpPr>
          <p:cNvPr id="9" name="Straight Arrow Connector 8"/>
          <p:cNvCxnSpPr>
            <a:endCxn id="5" idx="0"/>
          </p:cNvCxnSpPr>
          <p:nvPr/>
        </p:nvCxnSpPr>
        <p:spPr>
          <a:xfrm>
            <a:off x="1748518" y="2971799"/>
            <a:ext cx="1" cy="60960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stCxn id="5" idx="2"/>
            <a:endCxn id="6" idx="0"/>
          </p:cNvCxnSpPr>
          <p:nvPr/>
        </p:nvCxnSpPr>
        <p:spPr>
          <a:xfrm flipH="1">
            <a:off x="1737634" y="4164777"/>
            <a:ext cx="10885" cy="73255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6" idx="3"/>
            <a:endCxn id="7" idx="2"/>
          </p:cNvCxnSpPr>
          <p:nvPr/>
        </p:nvCxnSpPr>
        <p:spPr>
          <a:xfrm>
            <a:off x="2590800" y="5344267"/>
            <a:ext cx="1066800" cy="890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459706" y="5954484"/>
            <a:ext cx="21216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CT- CENTRAL TEAM</a:t>
            </a:r>
            <a:endParaRPr lang="en-US" dirty="0"/>
          </a:p>
        </p:txBody>
      </p:sp>
      <p:sp>
        <p:nvSpPr>
          <p:cNvPr id="13" name="Oval 12"/>
          <p:cNvSpPr/>
          <p:nvPr/>
        </p:nvSpPr>
        <p:spPr>
          <a:xfrm>
            <a:off x="4343401" y="1524001"/>
            <a:ext cx="1524000" cy="1066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200" dirty="0" smtClean="0"/>
              <a:t>DEALER SELLS MACHINE TO THE CUSTOMER.</a:t>
            </a:r>
            <a:endParaRPr lang="en-US" sz="1200" dirty="0"/>
          </a:p>
        </p:txBody>
      </p:sp>
      <p:sp>
        <p:nvSpPr>
          <p:cNvPr id="14" name="Rectangle 13"/>
          <p:cNvSpPr/>
          <p:nvPr/>
        </p:nvSpPr>
        <p:spPr>
          <a:xfrm>
            <a:off x="6553200" y="1705593"/>
            <a:ext cx="1672319" cy="6232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200" dirty="0" smtClean="0"/>
              <a:t>EMAIL IS SENT TO CT TO CREATE </a:t>
            </a:r>
            <a:r>
              <a:rPr lang="en-US" sz="1200" dirty="0" smtClean="0"/>
              <a:t>CUSTOMER BY THE DEALER</a:t>
            </a:r>
            <a:endParaRPr lang="en-US" sz="1200" dirty="0"/>
          </a:p>
        </p:txBody>
      </p:sp>
      <p:sp>
        <p:nvSpPr>
          <p:cNvPr id="16" name="Flowchart: Decision 15"/>
          <p:cNvSpPr/>
          <p:nvPr/>
        </p:nvSpPr>
        <p:spPr>
          <a:xfrm>
            <a:off x="6400800" y="2524125"/>
            <a:ext cx="1942235" cy="1209675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dirty="0" smtClean="0"/>
              <a:t>CT TO CHECK  FOR CUSTOMER ID IN SYSTEM</a:t>
            </a:r>
            <a:endParaRPr lang="en-US" sz="1100" dirty="0"/>
          </a:p>
        </p:txBody>
      </p:sp>
      <p:cxnSp>
        <p:nvCxnSpPr>
          <p:cNvPr id="19" name="Elbow Connector 18"/>
          <p:cNvCxnSpPr>
            <a:stCxn id="16" idx="1"/>
            <a:endCxn id="22" idx="0"/>
          </p:cNvCxnSpPr>
          <p:nvPr/>
        </p:nvCxnSpPr>
        <p:spPr>
          <a:xfrm rot="10800000" flipV="1">
            <a:off x="6089508" y="3128963"/>
            <a:ext cx="311293" cy="707260"/>
          </a:xfrm>
          <a:prstGeom prst="bentConnector2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867401" y="3295650"/>
            <a:ext cx="444212" cy="209550"/>
          </a:xfrm>
          <a:prstGeom prst="rect">
            <a:avLst/>
          </a:prstGeom>
          <a:solidFill>
            <a:schemeClr val="lt1"/>
          </a:solidFill>
          <a:ln w="9525" cmpd="sng">
            <a:solidFill>
              <a:schemeClr val="lt1">
                <a:shade val="5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/>
              <a:t>YES</a:t>
            </a:r>
            <a:endParaRPr lang="en-US" sz="1100" dirty="0"/>
          </a:p>
        </p:txBody>
      </p:sp>
      <p:sp>
        <p:nvSpPr>
          <p:cNvPr id="22" name="Rectangle 21"/>
          <p:cNvSpPr/>
          <p:nvPr/>
        </p:nvSpPr>
        <p:spPr>
          <a:xfrm>
            <a:off x="5247225" y="3836223"/>
            <a:ext cx="1684563" cy="5833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200" dirty="0" smtClean="0"/>
              <a:t>CT ASSIGNS THAT MACHINE TO THE CUSTOMER</a:t>
            </a:r>
            <a:endParaRPr lang="en-US" sz="1200" dirty="0"/>
          </a:p>
        </p:txBody>
      </p:sp>
      <p:sp>
        <p:nvSpPr>
          <p:cNvPr id="26" name="Rectangle 25"/>
          <p:cNvSpPr/>
          <p:nvPr/>
        </p:nvSpPr>
        <p:spPr>
          <a:xfrm>
            <a:off x="7383238" y="3881504"/>
            <a:ext cx="1684562" cy="4309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200" dirty="0" smtClean="0"/>
              <a:t>CT CREATES NEW CUSTOMER</a:t>
            </a:r>
            <a:endParaRPr lang="en-US" sz="1200" dirty="0"/>
          </a:p>
        </p:txBody>
      </p:sp>
      <p:cxnSp>
        <p:nvCxnSpPr>
          <p:cNvPr id="28" name="Elbow Connector 27"/>
          <p:cNvCxnSpPr>
            <a:stCxn id="16" idx="3"/>
            <a:endCxn id="26" idx="0"/>
          </p:cNvCxnSpPr>
          <p:nvPr/>
        </p:nvCxnSpPr>
        <p:spPr>
          <a:xfrm flipH="1">
            <a:off x="8225519" y="3128963"/>
            <a:ext cx="117516" cy="752541"/>
          </a:xfrm>
          <a:prstGeom prst="bentConnector4">
            <a:avLst>
              <a:gd name="adj1" fmla="val -194527"/>
              <a:gd name="adj2" fmla="val 90186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8"/>
          <p:cNvSpPr txBox="1"/>
          <p:nvPr/>
        </p:nvSpPr>
        <p:spPr>
          <a:xfrm>
            <a:off x="8391525" y="3219450"/>
            <a:ext cx="447675" cy="209550"/>
          </a:xfrm>
          <a:prstGeom prst="rect">
            <a:avLst/>
          </a:prstGeom>
          <a:solidFill>
            <a:schemeClr val="lt1"/>
          </a:solidFill>
          <a:ln w="9525" cmpd="sng">
            <a:solidFill>
              <a:schemeClr val="lt1">
                <a:shade val="5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/>
              <a:t>NO</a:t>
            </a:r>
            <a:endParaRPr lang="en-US" sz="1100" dirty="0"/>
          </a:p>
        </p:txBody>
      </p:sp>
      <p:cxnSp>
        <p:nvCxnSpPr>
          <p:cNvPr id="32" name="Straight Arrow Connector 31"/>
          <p:cNvCxnSpPr>
            <a:stCxn id="26" idx="2"/>
            <a:endCxn id="35" idx="0"/>
          </p:cNvCxnSpPr>
          <p:nvPr/>
        </p:nvCxnSpPr>
        <p:spPr>
          <a:xfrm>
            <a:off x="8225519" y="4312481"/>
            <a:ext cx="4081" cy="716719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Oval 34"/>
          <p:cNvSpPr/>
          <p:nvPr/>
        </p:nvSpPr>
        <p:spPr>
          <a:xfrm>
            <a:off x="7467600" y="5029200"/>
            <a:ext cx="1524000" cy="1066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200" dirty="0" smtClean="0"/>
              <a:t>CT ASSIGNS THE MACHINE TO THE NEW CUSTOMER CREATED</a:t>
            </a:r>
            <a:endParaRPr lang="en-US" sz="1200" dirty="0"/>
          </a:p>
        </p:txBody>
      </p:sp>
      <p:cxnSp>
        <p:nvCxnSpPr>
          <p:cNvPr id="38" name="Elbow Connector 37"/>
          <p:cNvCxnSpPr>
            <a:stCxn id="7" idx="0"/>
            <a:endCxn id="13" idx="2"/>
          </p:cNvCxnSpPr>
          <p:nvPr/>
        </p:nvCxnSpPr>
        <p:spPr>
          <a:xfrm rot="16200000" flipV="1">
            <a:off x="3095936" y="3304866"/>
            <a:ext cx="2705346" cy="210415"/>
          </a:xfrm>
          <a:prstGeom prst="bentConnector4">
            <a:avLst>
              <a:gd name="adj1" fmla="val 40142"/>
              <a:gd name="adj2" fmla="val 534570"/>
            </a:avLst>
          </a:prstGeom>
          <a:ln>
            <a:prstDash val="sysDash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>
            <a:stCxn id="13" idx="6"/>
            <a:endCxn id="14" idx="1"/>
          </p:cNvCxnSpPr>
          <p:nvPr/>
        </p:nvCxnSpPr>
        <p:spPr>
          <a:xfrm flipV="1">
            <a:off x="5867401" y="2017228"/>
            <a:ext cx="685799" cy="40173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>
            <a:stCxn id="14" idx="2"/>
            <a:endCxn id="16" idx="0"/>
          </p:cNvCxnSpPr>
          <p:nvPr/>
        </p:nvCxnSpPr>
        <p:spPr>
          <a:xfrm flipH="1">
            <a:off x="7371918" y="2328863"/>
            <a:ext cx="17442" cy="19526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D41A9-8378-452E-A63A-AB27BB92AD0F}" type="slidenum">
              <a:rPr lang="en-GB" altLang="en-US" smtClean="0"/>
            </a:fld>
            <a:endParaRPr lang="en-GB" alt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ABC5045-9003-442A-9015-A992345853A5}" type="datetime1">
              <a:rPr lang="en-GB" smtClean="0">
                <a:solidFill>
                  <a:prstClr val="black">
                    <a:tint val="75000"/>
                  </a:prstClr>
                </a:solidFill>
              </a:rPr>
            </a:fld>
            <a:endParaRPr lang="en-GB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57200"/>
            <a:ext cx="8229600" cy="1143000"/>
          </a:xfrm>
        </p:spPr>
        <p:txBody>
          <a:bodyPr>
            <a:normAutofit/>
          </a:bodyPr>
          <a:lstStyle/>
          <a:p>
            <a:r>
              <a:rPr lang="en-US" sz="3200" u="sng" dirty="0"/>
              <a:t>CASE </a:t>
            </a:r>
            <a:r>
              <a:rPr lang="en-US" sz="3200" u="sng" dirty="0" smtClean="0"/>
              <a:t>4- M/C IS RESOLD AND MOVES TO NEW REGION</a:t>
            </a:r>
            <a:endParaRPr lang="en-US" sz="3200" u="sng" dirty="0"/>
          </a:p>
        </p:txBody>
      </p:sp>
      <p:sp>
        <p:nvSpPr>
          <p:cNvPr id="4" name="Oval 3"/>
          <p:cNvSpPr/>
          <p:nvPr/>
        </p:nvSpPr>
        <p:spPr>
          <a:xfrm>
            <a:off x="152400" y="2027960"/>
            <a:ext cx="2057400" cy="13248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200" baseline="0" dirty="0"/>
              <a:t>MACHINE IS RESOLD AND MOVES TO DIFFERENT DEALER  REGION</a:t>
            </a:r>
            <a:endParaRPr lang="en-US" sz="1200" dirty="0"/>
          </a:p>
        </p:txBody>
      </p:sp>
      <p:sp>
        <p:nvSpPr>
          <p:cNvPr id="5" name="Rectangle 4"/>
          <p:cNvSpPr/>
          <p:nvPr/>
        </p:nvSpPr>
        <p:spPr>
          <a:xfrm>
            <a:off x="304800" y="4038600"/>
            <a:ext cx="1759526" cy="71524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200" dirty="0"/>
              <a:t>CT</a:t>
            </a:r>
            <a:r>
              <a:rPr lang="en-US" sz="1200" baseline="0" dirty="0"/>
              <a:t>  ASSIGNS MACHINE TO THE  NEW DEALER</a:t>
            </a:r>
            <a:endParaRPr lang="en-US" sz="1200" dirty="0"/>
          </a:p>
        </p:txBody>
      </p:sp>
      <p:sp>
        <p:nvSpPr>
          <p:cNvPr id="9" name="TextBox 8"/>
          <p:cNvSpPr txBox="1"/>
          <p:nvPr/>
        </p:nvSpPr>
        <p:spPr>
          <a:xfrm>
            <a:off x="5574506" y="1752600"/>
            <a:ext cx="21216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CT- CENTRAL TEAM</a:t>
            </a:r>
            <a:endParaRPr lang="en-US" dirty="0"/>
          </a:p>
        </p:txBody>
      </p:sp>
      <p:sp>
        <p:nvSpPr>
          <p:cNvPr id="12" name="Flowchart: Decision 11"/>
          <p:cNvSpPr/>
          <p:nvPr/>
        </p:nvSpPr>
        <p:spPr>
          <a:xfrm>
            <a:off x="4382365" y="3685742"/>
            <a:ext cx="1942235" cy="1419658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dirty="0" smtClean="0"/>
              <a:t>CT TO CHECK  FOR CUSTOMER ID IN SYSTEM</a:t>
            </a:r>
            <a:endParaRPr lang="en-US" sz="1100" dirty="0"/>
          </a:p>
        </p:txBody>
      </p:sp>
      <p:sp>
        <p:nvSpPr>
          <p:cNvPr id="15" name="Rectangle 14"/>
          <p:cNvSpPr/>
          <p:nvPr/>
        </p:nvSpPr>
        <p:spPr>
          <a:xfrm>
            <a:off x="6773637" y="2228850"/>
            <a:ext cx="1684563" cy="5833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200" dirty="0" smtClean="0"/>
              <a:t>CT ASSIGNS THAT MACHINE TO THE CUSTOMER</a:t>
            </a:r>
            <a:endParaRPr lang="en-US" sz="1200" dirty="0"/>
          </a:p>
        </p:txBody>
      </p:sp>
      <p:sp>
        <p:nvSpPr>
          <p:cNvPr id="16" name="Rectangle 15"/>
          <p:cNvSpPr/>
          <p:nvPr/>
        </p:nvSpPr>
        <p:spPr>
          <a:xfrm>
            <a:off x="4487638" y="5638800"/>
            <a:ext cx="1684562" cy="4309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200" dirty="0" smtClean="0"/>
              <a:t>CT CREATES NEW CUSTOMER</a:t>
            </a:r>
            <a:endParaRPr lang="en-US" sz="1200" dirty="0"/>
          </a:p>
        </p:txBody>
      </p:sp>
      <p:sp>
        <p:nvSpPr>
          <p:cNvPr id="20" name="Oval 19"/>
          <p:cNvSpPr/>
          <p:nvPr/>
        </p:nvSpPr>
        <p:spPr>
          <a:xfrm>
            <a:off x="7620000" y="4343400"/>
            <a:ext cx="1524000" cy="1066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200" dirty="0" smtClean="0"/>
              <a:t>CT ASSIGNS THE MACHINE TO THE NEW CUSTOMER CREATED</a:t>
            </a:r>
            <a:endParaRPr lang="en-US" sz="1200" dirty="0"/>
          </a:p>
        </p:txBody>
      </p:sp>
      <p:cxnSp>
        <p:nvCxnSpPr>
          <p:cNvPr id="23" name="Straight Arrow Connector 22"/>
          <p:cNvCxnSpPr>
            <a:stCxn id="12" idx="0"/>
            <a:endCxn id="15" idx="1"/>
          </p:cNvCxnSpPr>
          <p:nvPr/>
        </p:nvCxnSpPr>
        <p:spPr>
          <a:xfrm flipV="1">
            <a:off x="5353483" y="2520539"/>
            <a:ext cx="1420154" cy="1165203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>
            <a:stCxn id="12" idx="2"/>
            <a:endCxn id="16" idx="0"/>
          </p:cNvCxnSpPr>
          <p:nvPr/>
        </p:nvCxnSpPr>
        <p:spPr>
          <a:xfrm flipH="1">
            <a:off x="5329919" y="5105400"/>
            <a:ext cx="23564" cy="5334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Elbow Connector 29"/>
          <p:cNvCxnSpPr>
            <a:stCxn id="16" idx="3"/>
            <a:endCxn id="20" idx="2"/>
          </p:cNvCxnSpPr>
          <p:nvPr/>
        </p:nvCxnSpPr>
        <p:spPr>
          <a:xfrm flipV="1">
            <a:off x="6172200" y="4876800"/>
            <a:ext cx="1447800" cy="977489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stCxn id="5" idx="3"/>
            <a:endCxn id="12" idx="1"/>
          </p:cNvCxnSpPr>
          <p:nvPr/>
        </p:nvCxnSpPr>
        <p:spPr>
          <a:xfrm flipV="1">
            <a:off x="2064326" y="4395571"/>
            <a:ext cx="2318039" cy="65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>
            <a:stCxn id="4" idx="4"/>
            <a:endCxn id="5" idx="0"/>
          </p:cNvCxnSpPr>
          <p:nvPr/>
        </p:nvCxnSpPr>
        <p:spPr>
          <a:xfrm>
            <a:off x="1181100" y="3352800"/>
            <a:ext cx="3463" cy="6858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8"/>
          <p:cNvSpPr txBox="1"/>
          <p:nvPr/>
        </p:nvSpPr>
        <p:spPr>
          <a:xfrm>
            <a:off x="5191125" y="5181600"/>
            <a:ext cx="447675" cy="209550"/>
          </a:xfrm>
          <a:prstGeom prst="rect">
            <a:avLst/>
          </a:prstGeom>
          <a:solidFill>
            <a:schemeClr val="lt1"/>
          </a:solidFill>
          <a:ln w="9525" cmpd="sng">
            <a:solidFill>
              <a:schemeClr val="lt1">
                <a:shade val="5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/>
              <a:t>NO</a:t>
            </a:r>
            <a:endParaRPr lang="en-US" sz="1100" dirty="0"/>
          </a:p>
        </p:txBody>
      </p:sp>
      <p:sp>
        <p:nvSpPr>
          <p:cNvPr id="14" name="TextBox 13"/>
          <p:cNvSpPr txBox="1"/>
          <p:nvPr/>
        </p:nvSpPr>
        <p:spPr>
          <a:xfrm>
            <a:off x="5804188" y="2990850"/>
            <a:ext cx="444212" cy="209550"/>
          </a:xfrm>
          <a:prstGeom prst="rect">
            <a:avLst/>
          </a:prstGeom>
          <a:solidFill>
            <a:schemeClr val="lt1"/>
          </a:solidFill>
          <a:ln w="9525" cmpd="sng">
            <a:solidFill>
              <a:schemeClr val="lt1">
                <a:shade val="5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/>
              <a:t>YES</a:t>
            </a:r>
            <a:endParaRPr lang="en-US" sz="11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D41A9-8378-452E-A63A-AB27BB92AD0F}" type="slidenum">
              <a:rPr lang="en-GB" altLang="en-US" smtClean="0"/>
            </a:fld>
            <a:endParaRPr lang="en-GB" alt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3E0A24F-8C95-42B2-9182-7438D85CF705}" type="datetime1">
              <a:rPr lang="en-GB" smtClean="0">
                <a:solidFill>
                  <a:prstClr val="black">
                    <a:tint val="75000"/>
                  </a:prstClr>
                </a:solidFill>
              </a:rPr>
            </a:fld>
            <a:endParaRPr lang="en-GB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2381063" y="4093029"/>
            <a:ext cx="1684563" cy="66081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200" dirty="0" smtClean="0"/>
              <a:t>EMAIL IS SENT TO CT </a:t>
            </a:r>
            <a:r>
              <a:rPr lang="en-US" sz="1200" dirty="0" smtClean="0"/>
              <a:t>BY DEALER </a:t>
            </a:r>
            <a:r>
              <a:rPr lang="en-US" sz="1200" dirty="0" smtClean="0"/>
              <a:t>TO </a:t>
            </a:r>
            <a:r>
              <a:rPr lang="en-US" sz="1200" dirty="0" smtClean="0"/>
              <a:t>CREATE CUSTOMER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3781425" y="1328738"/>
            <a:ext cx="1679575" cy="9540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2800" dirty="0">
              <a:solidFill>
                <a:prstClr val="black"/>
              </a:solidFill>
              <a:ea typeface="Arial Unicode MS" pitchFamily="34" charset="-128"/>
              <a:cs typeface="Arial Unicode MS" pitchFamily="34" charset="-128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800" dirty="0">
                <a:solidFill>
                  <a:prstClr val="black"/>
                </a:solidFill>
                <a:ea typeface="Arial Unicode MS" pitchFamily="34" charset="-128"/>
                <a:cs typeface="Arial Unicode MS" pitchFamily="34" charset="-128"/>
              </a:rPr>
              <a:t>Thank You</a:t>
            </a:r>
            <a:endParaRPr lang="en-US" sz="2800" dirty="0">
              <a:solidFill>
                <a:prstClr val="black"/>
              </a:solidFill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286125" y="4714875"/>
            <a:ext cx="2740025" cy="5842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b="1" dirty="0" err="1">
                <a:solidFill>
                  <a:prstClr val="black"/>
                </a:solidFill>
                <a:ea typeface="Arial Unicode MS" pitchFamily="34" charset="-128"/>
                <a:cs typeface="Arial Unicode MS" pitchFamily="34" charset="-128"/>
              </a:rPr>
              <a:t>Selfservit</a:t>
            </a:r>
            <a:r>
              <a:rPr lang="en-US" b="1" dirty="0">
                <a:solidFill>
                  <a:prstClr val="black"/>
                </a:solidFill>
                <a:ea typeface="Arial Unicode MS" pitchFamily="34" charset="-128"/>
                <a:cs typeface="Arial Unicode MS" pitchFamily="34" charset="-128"/>
              </a:rPr>
              <a:t> Solutions (P) Ltd.</a:t>
            </a:r>
            <a:endParaRPr lang="en-US" sz="1400" b="1" dirty="0">
              <a:solidFill>
                <a:prstClr val="black"/>
              </a:solidFill>
              <a:ea typeface="Arial Unicode MS" pitchFamily="34" charset="-128"/>
              <a:cs typeface="Arial Unicode MS" pitchFamily="34" charset="-128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 b="1" dirty="0">
                <a:solidFill>
                  <a:prstClr val="black"/>
                </a:solidFill>
                <a:ea typeface="Arial Unicode MS" pitchFamily="34" charset="-128"/>
                <a:cs typeface="Arial Unicode MS" pitchFamily="34" charset="-128"/>
              </a:rPr>
              <a:t>(CIN – U72900TN2008PTC068979)</a:t>
            </a:r>
            <a:endParaRPr lang="en-US" sz="1400" b="1" dirty="0">
              <a:solidFill>
                <a:prstClr val="black"/>
              </a:solidFill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322638" y="5295900"/>
            <a:ext cx="2749550" cy="27622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200" b="1" u="sng" dirty="0">
                <a:solidFill>
                  <a:srgbClr val="1F497D"/>
                </a:solidFill>
                <a:ea typeface="Arial Unicode MS" pitchFamily="34" charset="-128"/>
                <a:cs typeface="Arial Unicode MS" pitchFamily="34" charset="-128"/>
                <a:hlinkClick r:id="rId1"/>
              </a:rPr>
              <a:t>www.selfservit.com</a:t>
            </a:r>
            <a:r>
              <a:rPr lang="en-US" sz="1200" b="1" u="sng" dirty="0">
                <a:solidFill>
                  <a:srgbClr val="1F497D"/>
                </a:solidFill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1200" b="1" dirty="0">
                <a:solidFill>
                  <a:srgbClr val="1F497D"/>
                </a:solidFill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1200" b="1" dirty="0">
                <a:solidFill>
                  <a:srgbClr val="1F497D"/>
                </a:solidFill>
                <a:ea typeface="Arial Unicode MS" pitchFamily="34" charset="-128"/>
                <a:cs typeface="Arial Unicode MS" pitchFamily="34" charset="-128"/>
                <a:hlinkClick r:id="rId2"/>
              </a:rPr>
              <a:t>www.mservice.in</a:t>
            </a:r>
            <a:r>
              <a:rPr lang="en-US" sz="1200" b="1" dirty="0">
                <a:solidFill>
                  <a:srgbClr val="1F497D"/>
                </a:solidFill>
                <a:ea typeface="Arial Unicode MS" pitchFamily="34" charset="-128"/>
                <a:cs typeface="Arial Unicode MS" pitchFamily="34" charset="-128"/>
              </a:rPr>
              <a:t>  </a:t>
            </a:r>
            <a:endParaRPr lang="en-US" sz="1200" b="1" u="sng" dirty="0">
              <a:solidFill>
                <a:srgbClr val="1F497D"/>
              </a:solidFill>
              <a:ea typeface="Arial Unicode MS" pitchFamily="34" charset="-128"/>
              <a:cs typeface="Arial Unicode MS" pitchFamily="34" charset="-128"/>
            </a:endParaRPr>
          </a:p>
        </p:txBody>
      </p:sp>
      <p:pic>
        <p:nvPicPr>
          <p:cNvPr id="19461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3400" y="5181600"/>
            <a:ext cx="9525" cy="1171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3" name="Straight Connector 12"/>
          <p:cNvCxnSpPr/>
          <p:nvPr/>
        </p:nvCxnSpPr>
        <p:spPr>
          <a:xfrm>
            <a:off x="0" y="4724400"/>
            <a:ext cx="9144000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3314700" y="2895600"/>
            <a:ext cx="2757488" cy="738188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 dirty="0">
                <a:solidFill>
                  <a:prstClr val="black"/>
                </a:solidFill>
                <a:ea typeface="Arial Unicode MS" pitchFamily="34" charset="-128"/>
                <a:cs typeface="Arial Unicode MS" pitchFamily="34" charset="-128"/>
                <a:hlinkClick r:id="rId4"/>
              </a:rPr>
              <a:t>Sales@mservice.in</a:t>
            </a:r>
            <a:endParaRPr lang="en-US" sz="1400" dirty="0">
              <a:solidFill>
                <a:prstClr val="black"/>
              </a:solidFill>
              <a:ea typeface="Arial Unicode MS" pitchFamily="34" charset="-128"/>
              <a:cs typeface="Arial Unicode MS" pitchFamily="34" charset="-128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 dirty="0">
                <a:solidFill>
                  <a:prstClr val="black"/>
                </a:solidFill>
                <a:ea typeface="Arial Unicode MS" pitchFamily="34" charset="-128"/>
                <a:cs typeface="Arial Unicode MS" pitchFamily="34" charset="-128"/>
                <a:hlinkClick r:id="rId5"/>
              </a:rPr>
              <a:t>sales@selfservit.com</a:t>
            </a:r>
            <a:endParaRPr lang="en-US" sz="1400" dirty="0">
              <a:solidFill>
                <a:prstClr val="black"/>
              </a:solidFill>
              <a:ea typeface="Arial Unicode MS" pitchFamily="34" charset="-128"/>
              <a:cs typeface="Arial Unicode MS" pitchFamily="34" charset="-128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400" dirty="0">
              <a:solidFill>
                <a:prstClr val="black"/>
              </a:solidFill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152525" y="5572125"/>
            <a:ext cx="2133600" cy="1200150"/>
          </a:xfrm>
          <a:prstGeom prst="rect">
            <a:avLst/>
          </a:prstGeom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200" b="1" u="sng" dirty="0">
                <a:solidFill>
                  <a:prstClr val="black"/>
                </a:solidFill>
                <a:ea typeface="Arial Unicode MS" pitchFamily="34" charset="-128"/>
                <a:cs typeface="Arial Unicode MS" pitchFamily="34" charset="-128"/>
              </a:rPr>
              <a:t>Chennai: HO</a:t>
            </a:r>
            <a:endParaRPr lang="en-US" sz="1200" b="1" u="sng" dirty="0">
              <a:solidFill>
                <a:prstClr val="black"/>
              </a:solidFill>
              <a:ea typeface="Arial Unicode MS" pitchFamily="34" charset="-128"/>
              <a:cs typeface="Arial Unicode MS" pitchFamily="34" charset="-128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200" dirty="0">
                <a:solidFill>
                  <a:prstClr val="black"/>
                </a:solidFill>
                <a:ea typeface="Arial Unicode MS" pitchFamily="34" charset="-128"/>
                <a:cs typeface="Arial Unicode MS" pitchFamily="34" charset="-128"/>
              </a:rPr>
              <a:t>No. 51/2 (Old No. 26)</a:t>
            </a:r>
            <a:endParaRPr lang="en-US" sz="1200" dirty="0">
              <a:solidFill>
                <a:prstClr val="black"/>
              </a:solidFill>
              <a:ea typeface="Arial Unicode MS" pitchFamily="34" charset="-128"/>
              <a:cs typeface="Arial Unicode MS" pitchFamily="34" charset="-128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200" dirty="0">
                <a:solidFill>
                  <a:prstClr val="black"/>
                </a:solidFill>
                <a:ea typeface="Arial Unicode MS" pitchFamily="34" charset="-128"/>
                <a:cs typeface="Arial Unicode MS" pitchFamily="34" charset="-128"/>
              </a:rPr>
              <a:t>1</a:t>
            </a:r>
            <a:r>
              <a:rPr lang="en-US" sz="1200" baseline="30000" dirty="0">
                <a:solidFill>
                  <a:prstClr val="black"/>
                </a:solidFill>
                <a:ea typeface="Arial Unicode MS" pitchFamily="34" charset="-128"/>
                <a:cs typeface="Arial Unicode MS" pitchFamily="34" charset="-128"/>
              </a:rPr>
              <a:t>st</a:t>
            </a:r>
            <a:r>
              <a:rPr lang="en-US" sz="1200" dirty="0">
                <a:solidFill>
                  <a:prstClr val="black"/>
                </a:solidFill>
                <a:ea typeface="Arial Unicode MS" pitchFamily="34" charset="-128"/>
                <a:cs typeface="Arial Unicode MS" pitchFamily="34" charset="-128"/>
              </a:rPr>
              <a:t> Main Road West, </a:t>
            </a:r>
            <a:endParaRPr lang="en-US" sz="1200" dirty="0">
              <a:solidFill>
                <a:prstClr val="black"/>
              </a:solidFill>
              <a:ea typeface="Arial Unicode MS" pitchFamily="34" charset="-128"/>
              <a:cs typeface="Arial Unicode MS" pitchFamily="34" charset="-128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200" dirty="0" err="1">
                <a:solidFill>
                  <a:prstClr val="black"/>
                </a:solidFill>
                <a:ea typeface="Arial Unicode MS" pitchFamily="34" charset="-128"/>
                <a:cs typeface="Arial Unicode MS" pitchFamily="34" charset="-128"/>
              </a:rPr>
              <a:t>Shenoy</a:t>
            </a:r>
            <a:r>
              <a:rPr lang="en-US" sz="1200" dirty="0">
                <a:solidFill>
                  <a:prstClr val="black"/>
                </a:solidFill>
                <a:ea typeface="Arial Unicode MS" pitchFamily="34" charset="-128"/>
                <a:cs typeface="Arial Unicode MS" pitchFamily="34" charset="-128"/>
              </a:rPr>
              <a:t> Nagar West</a:t>
            </a:r>
            <a:endParaRPr lang="en-US" sz="1200" dirty="0">
              <a:solidFill>
                <a:prstClr val="black"/>
              </a:solidFill>
              <a:ea typeface="Arial Unicode MS" pitchFamily="34" charset="-128"/>
              <a:cs typeface="Arial Unicode MS" pitchFamily="34" charset="-128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200" dirty="0">
                <a:solidFill>
                  <a:prstClr val="black"/>
                </a:solidFill>
                <a:ea typeface="Arial Unicode MS" pitchFamily="34" charset="-128"/>
                <a:cs typeface="Arial Unicode MS" pitchFamily="34" charset="-128"/>
              </a:rPr>
              <a:t>Chennai – 600 030</a:t>
            </a:r>
            <a:endParaRPr lang="en-US" sz="1200" dirty="0">
              <a:solidFill>
                <a:prstClr val="black"/>
              </a:solidFill>
              <a:ea typeface="Arial Unicode MS" pitchFamily="34" charset="-128"/>
              <a:cs typeface="Arial Unicode MS" pitchFamily="34" charset="-128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200" dirty="0">
                <a:solidFill>
                  <a:prstClr val="black"/>
                </a:solidFill>
                <a:ea typeface="Arial Unicode MS" pitchFamily="34" charset="-128"/>
                <a:cs typeface="Arial Unicode MS" pitchFamily="34" charset="-128"/>
              </a:rPr>
              <a:t> Ph- +91-76048-78864</a:t>
            </a:r>
            <a:endParaRPr lang="en-US" sz="1200" dirty="0">
              <a:solidFill>
                <a:prstClr val="black"/>
              </a:solidFill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081713" y="5572125"/>
            <a:ext cx="2133600" cy="1016000"/>
          </a:xfrm>
          <a:prstGeom prst="rect">
            <a:avLst/>
          </a:prstGeom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200" b="1" u="sng" dirty="0">
                <a:solidFill>
                  <a:prstClr val="black"/>
                </a:solidFill>
                <a:ea typeface="Arial Unicode MS" pitchFamily="34" charset="-128"/>
                <a:cs typeface="Arial Unicode MS" pitchFamily="34" charset="-128"/>
              </a:rPr>
              <a:t>Bangalore</a:t>
            </a:r>
            <a:endParaRPr lang="en-US" sz="1200" b="1" u="sng" dirty="0">
              <a:solidFill>
                <a:prstClr val="black"/>
              </a:solidFill>
              <a:ea typeface="Arial Unicode MS" pitchFamily="34" charset="-128"/>
              <a:cs typeface="Arial Unicode MS" pitchFamily="34" charset="-128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200" dirty="0">
                <a:solidFill>
                  <a:prstClr val="black"/>
                </a:solidFill>
                <a:ea typeface="Arial Unicode MS" pitchFamily="34" charset="-128"/>
                <a:cs typeface="Arial Unicode MS" pitchFamily="34" charset="-128"/>
              </a:rPr>
              <a:t>3262/1, 1</a:t>
            </a:r>
            <a:r>
              <a:rPr lang="en-US" sz="1200" baseline="30000" dirty="0">
                <a:solidFill>
                  <a:prstClr val="black"/>
                </a:solidFill>
                <a:ea typeface="Arial Unicode MS" pitchFamily="34" charset="-128"/>
                <a:cs typeface="Arial Unicode MS" pitchFamily="34" charset="-128"/>
              </a:rPr>
              <a:t>st</a:t>
            </a:r>
            <a:r>
              <a:rPr lang="en-US" sz="1200" dirty="0">
                <a:solidFill>
                  <a:prstClr val="black"/>
                </a:solidFill>
                <a:ea typeface="Arial Unicode MS" pitchFamily="34" charset="-128"/>
                <a:cs typeface="Arial Unicode MS" pitchFamily="34" charset="-128"/>
              </a:rPr>
              <a:t> Floor, 13</a:t>
            </a:r>
            <a:r>
              <a:rPr lang="en-US" sz="1200" baseline="30000" dirty="0">
                <a:solidFill>
                  <a:prstClr val="black"/>
                </a:solidFill>
                <a:ea typeface="Arial Unicode MS" pitchFamily="34" charset="-128"/>
                <a:cs typeface="Arial Unicode MS" pitchFamily="34" charset="-128"/>
              </a:rPr>
              <a:t>th</a:t>
            </a:r>
            <a:r>
              <a:rPr lang="en-US" sz="1200" dirty="0">
                <a:solidFill>
                  <a:prstClr val="black"/>
                </a:solidFill>
                <a:ea typeface="Arial Unicode MS" pitchFamily="34" charset="-128"/>
                <a:cs typeface="Arial Unicode MS" pitchFamily="34" charset="-128"/>
              </a:rPr>
              <a:t> Cross</a:t>
            </a:r>
            <a:endParaRPr lang="en-US" sz="1200" dirty="0">
              <a:solidFill>
                <a:prstClr val="black"/>
              </a:solidFill>
              <a:ea typeface="Arial Unicode MS" pitchFamily="34" charset="-128"/>
              <a:cs typeface="Arial Unicode MS" pitchFamily="34" charset="-128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200" dirty="0">
                <a:solidFill>
                  <a:prstClr val="black"/>
                </a:solidFill>
                <a:ea typeface="Arial Unicode MS" pitchFamily="34" charset="-128"/>
                <a:cs typeface="Arial Unicode MS" pitchFamily="34" charset="-128"/>
              </a:rPr>
              <a:t>2</a:t>
            </a:r>
            <a:r>
              <a:rPr lang="en-US" sz="1200" baseline="30000" dirty="0">
                <a:solidFill>
                  <a:prstClr val="black"/>
                </a:solidFill>
                <a:ea typeface="Arial Unicode MS" pitchFamily="34" charset="-128"/>
                <a:cs typeface="Arial Unicode MS" pitchFamily="34" charset="-128"/>
              </a:rPr>
              <a:t>nd</a:t>
            </a:r>
            <a:r>
              <a:rPr lang="en-US" sz="1200" dirty="0">
                <a:solidFill>
                  <a:prstClr val="black"/>
                </a:solidFill>
                <a:ea typeface="Arial Unicode MS" pitchFamily="34" charset="-128"/>
                <a:cs typeface="Arial Unicode MS" pitchFamily="34" charset="-128"/>
              </a:rPr>
              <a:t> Stage, </a:t>
            </a:r>
            <a:r>
              <a:rPr lang="en-US" sz="1200" dirty="0" err="1">
                <a:solidFill>
                  <a:prstClr val="black"/>
                </a:solidFill>
                <a:ea typeface="Arial Unicode MS" pitchFamily="34" charset="-128"/>
                <a:cs typeface="Arial Unicode MS" pitchFamily="34" charset="-128"/>
              </a:rPr>
              <a:t>Indira</a:t>
            </a:r>
            <a:r>
              <a:rPr lang="en-US" sz="1200" dirty="0">
                <a:solidFill>
                  <a:prstClr val="black"/>
                </a:solidFill>
                <a:ea typeface="Arial Unicode MS" pitchFamily="34" charset="-128"/>
                <a:cs typeface="Arial Unicode MS" pitchFamily="34" charset="-128"/>
              </a:rPr>
              <a:t> Nagar,</a:t>
            </a:r>
            <a:endParaRPr lang="en-US" sz="1200" dirty="0">
              <a:solidFill>
                <a:prstClr val="black"/>
              </a:solidFill>
              <a:ea typeface="Arial Unicode MS" pitchFamily="34" charset="-128"/>
              <a:cs typeface="Arial Unicode MS" pitchFamily="34" charset="-128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200" dirty="0">
                <a:solidFill>
                  <a:prstClr val="black"/>
                </a:solidFill>
                <a:ea typeface="Arial Unicode MS" pitchFamily="34" charset="-128"/>
                <a:cs typeface="Arial Unicode MS" pitchFamily="34" charset="-128"/>
              </a:rPr>
              <a:t>Bangalore – 38</a:t>
            </a:r>
            <a:endParaRPr lang="en-US" sz="1200" dirty="0">
              <a:solidFill>
                <a:prstClr val="black"/>
              </a:solidFill>
              <a:ea typeface="Arial Unicode MS" pitchFamily="34" charset="-128"/>
              <a:cs typeface="Arial Unicode MS" pitchFamily="34" charset="-128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200" dirty="0">
                <a:solidFill>
                  <a:prstClr val="black"/>
                </a:solidFill>
                <a:ea typeface="Arial Unicode MS" pitchFamily="34" charset="-128"/>
                <a:cs typeface="Arial Unicode MS" pitchFamily="34" charset="-128"/>
              </a:rPr>
              <a:t>Ph - +91-80-25216635</a:t>
            </a:r>
            <a:endParaRPr lang="en-US" sz="1200" dirty="0">
              <a:solidFill>
                <a:prstClr val="black"/>
              </a:solidFill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3652838" y="5572125"/>
            <a:ext cx="2347912" cy="1200150"/>
          </a:xfrm>
          <a:prstGeom prst="rect">
            <a:avLst/>
          </a:prstGeom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200" b="1" u="sng" dirty="0">
                <a:solidFill>
                  <a:prstClr val="black"/>
                </a:solidFill>
                <a:ea typeface="Arial Unicode MS" pitchFamily="34" charset="-128"/>
                <a:cs typeface="Arial Unicode MS" pitchFamily="34" charset="-128"/>
              </a:rPr>
              <a:t>Hyderabad</a:t>
            </a:r>
            <a:endParaRPr lang="en-US" sz="1200" b="1" u="sng" dirty="0">
              <a:solidFill>
                <a:prstClr val="black"/>
              </a:solidFill>
              <a:ea typeface="Arial Unicode MS" pitchFamily="34" charset="-128"/>
              <a:cs typeface="Arial Unicode MS" pitchFamily="34" charset="-128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200" dirty="0">
                <a:solidFill>
                  <a:prstClr val="black"/>
                </a:solidFill>
                <a:ea typeface="Arial Unicode MS" pitchFamily="34" charset="-128"/>
                <a:cs typeface="Arial Unicode MS" pitchFamily="34" charset="-128"/>
              </a:rPr>
              <a:t>4</a:t>
            </a:r>
            <a:r>
              <a:rPr lang="en-US" sz="1200" baseline="30000" dirty="0">
                <a:solidFill>
                  <a:prstClr val="black"/>
                </a:solidFill>
                <a:ea typeface="Arial Unicode MS" pitchFamily="34" charset="-128"/>
                <a:cs typeface="Arial Unicode MS" pitchFamily="34" charset="-128"/>
              </a:rPr>
              <a:t>th</a:t>
            </a:r>
            <a:r>
              <a:rPr lang="en-US" sz="1200" dirty="0">
                <a:solidFill>
                  <a:prstClr val="black"/>
                </a:solidFill>
                <a:ea typeface="Arial Unicode MS" pitchFamily="34" charset="-128"/>
                <a:cs typeface="Arial Unicode MS" pitchFamily="34" charset="-128"/>
              </a:rPr>
              <a:t> Floor, Assumption House</a:t>
            </a:r>
            <a:endParaRPr lang="en-US" sz="1200" dirty="0">
              <a:solidFill>
                <a:prstClr val="black"/>
              </a:solidFill>
              <a:ea typeface="Arial Unicode MS" pitchFamily="34" charset="-128"/>
              <a:cs typeface="Arial Unicode MS" pitchFamily="34" charset="-128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200" dirty="0">
                <a:solidFill>
                  <a:prstClr val="black"/>
                </a:solidFill>
                <a:ea typeface="Arial Unicode MS" pitchFamily="34" charset="-128"/>
                <a:cs typeface="Arial Unicode MS" pitchFamily="34" charset="-128"/>
              </a:rPr>
              <a:t>Lane. </a:t>
            </a:r>
            <a:r>
              <a:rPr lang="en-US" sz="1200" dirty="0" err="1">
                <a:solidFill>
                  <a:prstClr val="black"/>
                </a:solidFill>
                <a:ea typeface="Arial Unicode MS" pitchFamily="34" charset="-128"/>
                <a:cs typeface="Arial Unicode MS" pitchFamily="34" charset="-128"/>
              </a:rPr>
              <a:t>Opp</a:t>
            </a:r>
            <a:r>
              <a:rPr lang="en-US" sz="1200" dirty="0">
                <a:solidFill>
                  <a:prstClr val="black"/>
                </a:solidFill>
                <a:ea typeface="Arial Unicode MS" pitchFamily="34" charset="-128"/>
                <a:cs typeface="Arial Unicode MS" pitchFamily="34" charset="-128"/>
              </a:rPr>
              <a:t> OBC Bank,</a:t>
            </a:r>
            <a:endParaRPr lang="en-US" sz="1200" dirty="0">
              <a:solidFill>
                <a:prstClr val="black"/>
              </a:solidFill>
              <a:ea typeface="Arial Unicode MS" pitchFamily="34" charset="-128"/>
              <a:cs typeface="Arial Unicode MS" pitchFamily="34" charset="-128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200" dirty="0">
                <a:solidFill>
                  <a:prstClr val="black"/>
                </a:solidFill>
                <a:ea typeface="Arial Unicode MS" pitchFamily="34" charset="-128"/>
                <a:cs typeface="Arial Unicode MS" pitchFamily="34" charset="-128"/>
              </a:rPr>
              <a:t>S.D. Road</a:t>
            </a:r>
            <a:endParaRPr lang="en-US" sz="1200" dirty="0">
              <a:solidFill>
                <a:prstClr val="black"/>
              </a:solidFill>
              <a:ea typeface="Arial Unicode MS" pitchFamily="34" charset="-128"/>
              <a:cs typeface="Arial Unicode MS" pitchFamily="34" charset="-128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200" dirty="0" err="1">
                <a:solidFill>
                  <a:prstClr val="black"/>
                </a:solidFill>
                <a:ea typeface="Arial Unicode MS" pitchFamily="34" charset="-128"/>
                <a:cs typeface="Arial Unicode MS" pitchFamily="34" charset="-128"/>
              </a:rPr>
              <a:t>Secunderabad</a:t>
            </a:r>
            <a:r>
              <a:rPr lang="en-US" sz="1200" dirty="0">
                <a:solidFill>
                  <a:prstClr val="black"/>
                </a:solidFill>
                <a:ea typeface="Arial Unicode MS" pitchFamily="34" charset="-128"/>
                <a:cs typeface="Arial Unicode MS" pitchFamily="34" charset="-128"/>
              </a:rPr>
              <a:t> – 500003</a:t>
            </a:r>
            <a:endParaRPr lang="en-US" sz="1200" dirty="0">
              <a:solidFill>
                <a:prstClr val="black"/>
              </a:solidFill>
              <a:ea typeface="Arial Unicode MS" pitchFamily="34" charset="-128"/>
              <a:cs typeface="Arial Unicode MS" pitchFamily="34" charset="-128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200" dirty="0">
                <a:solidFill>
                  <a:prstClr val="black"/>
                </a:solidFill>
                <a:ea typeface="Arial Unicode MS" pitchFamily="34" charset="-128"/>
                <a:cs typeface="Arial Unicode MS" pitchFamily="34" charset="-128"/>
              </a:rPr>
              <a:t>Ph- 99891-21094</a:t>
            </a:r>
            <a:endParaRPr lang="en-US" sz="1200" dirty="0">
              <a:solidFill>
                <a:prstClr val="black"/>
              </a:solidFill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B8DD7A4-603A-431A-8857-85E56DD53817}" type="slidenum">
              <a:rPr lang="en-GB" smtClean="0">
                <a:solidFill>
                  <a:prstClr val="black">
                    <a:tint val="75000"/>
                  </a:prstClr>
                </a:solidFill>
              </a:rPr>
            </a:fld>
            <a:endParaRPr lang="en-GB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56DBD2A-90FC-4EDD-8C54-6A7DB78878E8}" type="datetime1">
              <a:rPr lang="en-GB" smtClean="0">
                <a:solidFill>
                  <a:prstClr val="black">
                    <a:tint val="75000"/>
                  </a:prstClr>
                </a:solidFill>
              </a:rPr>
            </a:fld>
            <a:endParaRPr lang="en-GB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Proposal to Jayaraj Automobiles - MService - 26.Dec.1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Selfservit MService - 19 Jun 18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Selfservit MService - 19 Jun 18</Template>
  <TotalTime>0</TotalTime>
  <Words>2091</Words>
  <Application>WPS Presentation</Application>
  <PresentationFormat>On-screen Show (4:3)</PresentationFormat>
  <Paragraphs>167</Paragraphs>
  <Slides>7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7</vt:i4>
      </vt:variant>
    </vt:vector>
  </HeadingPairs>
  <TitlesOfParts>
    <vt:vector size="16" baseType="lpstr">
      <vt:lpstr>Arial</vt:lpstr>
      <vt:lpstr>SimSun</vt:lpstr>
      <vt:lpstr>Wingdings</vt:lpstr>
      <vt:lpstr>Arial Unicode MS</vt:lpstr>
      <vt:lpstr>Calibri</vt:lpstr>
      <vt:lpstr>Microsoft YaHei</vt:lpstr>
      <vt:lpstr>Arial Unicode MS</vt:lpstr>
      <vt:lpstr>Proposal to Jayaraj Automobiles - MService - 26.Dec.12</vt:lpstr>
      <vt:lpstr>Selfservit MService - 19 Jun 18</vt:lpstr>
      <vt:lpstr>CUSTOMER AND MACHINE CREATION FLOW</vt:lpstr>
      <vt:lpstr>USE CASES</vt:lpstr>
      <vt:lpstr>CASE 1- DEALER ASKS FOR MACHINE CREATION</vt:lpstr>
      <vt:lpstr>CASE 2- INVOICING OF NEW MACHINE</vt:lpstr>
      <vt:lpstr>CASE 3- M/C INVOICED TO DEALER FOR STOCK &amp; SALE</vt:lpstr>
      <vt:lpstr>CASE 4- M/C IS RESOLD AND MOVES TO NEW REGION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PTS FLOWS</dc:title>
  <dc:creator>Admin</dc:creator>
  <cp:lastModifiedBy>AL-RAYAT!</cp:lastModifiedBy>
  <cp:revision>19</cp:revision>
  <dcterms:created xsi:type="dcterms:W3CDTF">2006-08-16T00:00:00Z</dcterms:created>
  <dcterms:modified xsi:type="dcterms:W3CDTF">2025-08-05T13:02:15Z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861A169208A74BD7AF4279817D20C814_12</vt:lpwstr>
  </property>
  <property fmtid="{D5CDD505-2E9C-101B-9397-08002B2CF9AE}" pid="3" name="KSOProductBuildVer">
    <vt:lpwstr>2057-12.2.0.21936</vt:lpwstr>
  </property>
</Properties>
</file>