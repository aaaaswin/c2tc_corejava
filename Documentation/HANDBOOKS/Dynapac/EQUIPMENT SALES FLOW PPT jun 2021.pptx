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3"/>
  </p:sldMasterIdLst>
  <p:notesMasterIdLst>
    <p:notesMasterId r:id="rId16"/>
  </p:notesMasterIdLst>
  <p:handoutMasterIdLst>
    <p:handoutMasterId r:id="rId17"/>
  </p:handoutMasterIdLst>
  <p:sldIdLst>
    <p:sldId id="686" r:id="rId4"/>
    <p:sldId id="738" r:id="rId5"/>
    <p:sldId id="952" r:id="rId6"/>
    <p:sldId id="919" r:id="rId7"/>
    <p:sldId id="736" r:id="rId8"/>
    <p:sldId id="735" r:id="rId9"/>
    <p:sldId id="734" r:id="rId10"/>
    <p:sldId id="733" r:id="rId11"/>
    <p:sldId id="732" r:id="rId12"/>
    <p:sldId id="717" r:id="rId13"/>
    <p:sldId id="689" r:id="rId14"/>
    <p:sldId id="685" r:id="rId15"/>
  </p:sldIdLst>
  <p:sldSz cx="9144000" cy="6858000" type="screen4x3"/>
  <p:notesSz cx="6858000" cy="9144000"/>
  <p:defaultTex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C234"/>
    <a:srgbClr val="A7D971"/>
    <a:srgbClr val="FF9B09"/>
    <a:srgbClr val="FF6A47"/>
    <a:srgbClr val="F7940F"/>
    <a:srgbClr val="FFFF99"/>
    <a:srgbClr val="B8E08C"/>
    <a:srgbClr val="00FA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15620" autoAdjust="0"/>
    <p:restoredTop sz="94660" autoAdjust="0"/>
  </p:normalViewPr>
  <p:slideViewPr>
    <p:cSldViewPr>
      <p:cViewPr varScale="1">
        <p:scale>
          <a:sx n="74" d="100"/>
          <a:sy n="74" d="100"/>
        </p:scale>
        <p:origin x="17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handoutMaster" Target="handoutMasters/handoutMaster1.xml"/><Relationship Id="rId16" Type="http://schemas.openxmlformats.org/officeDocument/2006/relationships/notesMaster" Target="notesMasters/notes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6.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7.wmf"/><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Arial" panose="020B0604020202020204" pitchFamily="34" charset="0"/>
              </a:defRPr>
            </a:lvl1pPr>
          </a:lstStyle>
          <a:p>
            <a:pPr>
              <a:defRPr/>
            </a:pPr>
            <a:endParaRPr lang="en-GB"/>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Arial" panose="020B0604020202020204" pitchFamily="34" charset="0"/>
              </a:defRPr>
            </a:lvl1pPr>
          </a:lstStyle>
          <a:p>
            <a:pPr>
              <a:defRPr/>
            </a:pPr>
            <a:endParaRPr lang="en-GB"/>
          </a:p>
        </p:txBody>
      </p:sp>
      <p:sp>
        <p:nvSpPr>
          <p:cNvPr id="4710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GB" noProof="0"/>
              <a:t>Click to edit Master text styles</a:t>
            </a:r>
            <a:endParaRPr lang="en-GB" noProof="0"/>
          </a:p>
          <a:p>
            <a:pPr lvl="1"/>
            <a:r>
              <a:rPr lang="en-GB" noProof="0"/>
              <a:t>Second level</a:t>
            </a:r>
            <a:endParaRPr lang="en-GB" noProof="0"/>
          </a:p>
          <a:p>
            <a:pPr lvl="2"/>
            <a:r>
              <a:rPr lang="en-GB" noProof="0"/>
              <a:t>Third level</a:t>
            </a:r>
            <a:endParaRPr lang="en-GB" noProof="0"/>
          </a:p>
          <a:p>
            <a:pPr lvl="3"/>
            <a:r>
              <a:rPr lang="en-GB" noProof="0"/>
              <a:t>Fourth level</a:t>
            </a:r>
            <a:endParaRPr lang="en-GB" noProof="0"/>
          </a:p>
          <a:p>
            <a:pPr lvl="4"/>
            <a:r>
              <a:rPr lang="en-GB" noProof="0"/>
              <a:t>Fifth level</a:t>
            </a:r>
            <a:endParaRPr lang="en-GB" noProof="0"/>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Arial" panose="020B0604020202020204" pitchFamily="34" charset="0"/>
              </a:defRPr>
            </a:lvl1pPr>
          </a:lstStyle>
          <a:p>
            <a:pPr>
              <a:defRPr/>
            </a:pPr>
            <a:endParaRPr lang="en-GB"/>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sz="1200">
                <a:ea typeface="+mn-ea"/>
                <a:cs typeface="Arial" panose="020B0604020202020204" pitchFamily="34" charset="0"/>
              </a:defRPr>
            </a:lvl1pPr>
          </a:lstStyle>
          <a:p>
            <a:pPr>
              <a:defRPr/>
            </a:pPr>
            <a:fld id="{46D57443-88DA-427F-8986-40D61246F29A}" type="slidenum">
              <a:rPr lang="en-GB"/>
            </a:fld>
            <a:endParaRPr lang="en-GB"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1326A7D8-FBF7-41DD-9FAC-B61B6197E7F9}" type="datetime1">
              <a:rPr lang="en-GB"/>
            </a:fld>
            <a:endParaRPr lang="en-US"/>
          </a:p>
        </p:txBody>
      </p:sp>
      <p:sp>
        <p:nvSpPr>
          <p:cNvPr id="5" name="Slide Number Placeholder 5"/>
          <p:cNvSpPr>
            <a:spLocks noGrp="1"/>
          </p:cNvSpPr>
          <p:nvPr>
            <p:ph type="sldNum" sz="quarter" idx="11"/>
          </p:nvPr>
        </p:nvSpPr>
        <p:spPr/>
        <p:txBody>
          <a:bodyPr/>
          <a:lstStyle>
            <a:lvl1pPr>
              <a:defRPr/>
            </a:lvl1pPr>
          </a:lstStyle>
          <a:p>
            <a:pPr>
              <a:defRPr/>
            </a:pPr>
            <a:fld id="{A5ED886E-AE90-473A-8A0E-CA2BCD142707}" type="slidenum">
              <a:rPr lang="en-US"/>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Date Placeholder 3"/>
          <p:cNvSpPr>
            <a:spLocks noGrp="1"/>
          </p:cNvSpPr>
          <p:nvPr>
            <p:ph type="dt" sz="half" idx="10"/>
          </p:nvPr>
        </p:nvSpPr>
        <p:spPr/>
        <p:txBody>
          <a:bodyPr/>
          <a:lstStyle>
            <a:lvl1pPr>
              <a:defRPr/>
            </a:lvl1pPr>
          </a:lstStyle>
          <a:p>
            <a:pPr>
              <a:defRPr/>
            </a:pPr>
            <a:fld id="{670938C5-723E-4A4C-A157-5BA14F507CC6}" type="datetime1">
              <a:rPr lang="en-GB"/>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5"/>
          <p:cNvSpPr>
            <a:spLocks noGrp="1"/>
          </p:cNvSpPr>
          <p:nvPr>
            <p:ph type="sldNum" sz="quarter" idx="12"/>
          </p:nvPr>
        </p:nvSpPr>
        <p:spPr/>
        <p:txBody>
          <a:bodyPr/>
          <a:lstStyle>
            <a:lvl1pPr>
              <a:defRPr/>
            </a:lvl1pPr>
          </a:lstStyle>
          <a:p>
            <a:pPr>
              <a:defRPr/>
            </a:pPr>
            <a:fld id="{113C6C00-7334-4231-8019-1BC4D41F703B}" type="slidenum">
              <a:rPr lang="en-GB"/>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D2B7467F-DE0D-4F48-8177-6C10A0A4006C}" type="datetime1">
              <a:rPr lang="en-GB"/>
            </a:fld>
            <a:endParaRPr lang="en-GB" dirty="0"/>
          </a:p>
        </p:txBody>
      </p:sp>
      <p:sp>
        <p:nvSpPr>
          <p:cNvPr id="5"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6" name="Slide Number Placeholder 5"/>
          <p:cNvSpPr>
            <a:spLocks noGrp="1"/>
          </p:cNvSpPr>
          <p:nvPr>
            <p:ph type="sldNum" sz="quarter" idx="12"/>
          </p:nvPr>
        </p:nvSpPr>
        <p:spPr/>
        <p:txBody>
          <a:bodyPr/>
          <a:lstStyle>
            <a:lvl1pPr>
              <a:defRPr/>
            </a:lvl1pPr>
          </a:lstStyle>
          <a:p>
            <a:pPr>
              <a:defRPr/>
            </a:pPr>
            <a:fld id="{DA291CDC-72D1-4760-9418-F9532C7C698B}" type="slidenum">
              <a:rPr lang="en-GB"/>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4"/>
          <p:cNvSpPr>
            <a:spLocks noGrp="1"/>
          </p:cNvSpPr>
          <p:nvPr>
            <p:ph type="dt" sz="half" idx="10"/>
          </p:nvPr>
        </p:nvSpPr>
        <p:spPr/>
        <p:txBody>
          <a:bodyPr/>
          <a:lstStyle>
            <a:lvl1pPr>
              <a:defRPr/>
            </a:lvl1pPr>
          </a:lstStyle>
          <a:p>
            <a:pPr>
              <a:defRPr/>
            </a:pPr>
            <a:fld id="{83B567D4-7EEA-4208-A174-E0A1E5E20AC3}" type="datetime1">
              <a:rPr lang="en-GB"/>
            </a:fld>
            <a:endParaRPr lang="en-GB" dirty="0"/>
          </a:p>
        </p:txBody>
      </p:sp>
      <p:sp>
        <p:nvSpPr>
          <p:cNvPr id="8" name="Footer Placeholder 5"/>
          <p:cNvSpPr>
            <a:spLocks noGrp="1"/>
          </p:cNvSpPr>
          <p:nvPr>
            <p:ph type="ftr" sz="quarter" idx="11"/>
          </p:nvPr>
        </p:nvSpPr>
        <p:spPr/>
        <p:txBody>
          <a:bodyPr/>
          <a:lstStyle>
            <a:lvl1pPr>
              <a:defRPr/>
            </a:lvl1pPr>
          </a:lstStyle>
          <a:p>
            <a:pPr>
              <a:defRPr/>
            </a:pPr>
            <a:r>
              <a:rPr lang="en-US"/>
              <a:t>Confidential to Selfservit, TVS &amp; Sons</a:t>
            </a:r>
            <a:endParaRPr lang="en-GB"/>
          </a:p>
        </p:txBody>
      </p:sp>
      <p:sp>
        <p:nvSpPr>
          <p:cNvPr id="9" name="Slide Number Placeholder 6"/>
          <p:cNvSpPr>
            <a:spLocks noGrp="1"/>
          </p:cNvSpPr>
          <p:nvPr>
            <p:ph type="sldNum" sz="quarter" idx="12"/>
          </p:nvPr>
        </p:nvSpPr>
        <p:spPr/>
        <p:txBody>
          <a:bodyPr/>
          <a:lstStyle>
            <a:lvl1pPr>
              <a:defRPr/>
            </a:lvl1pPr>
          </a:lstStyle>
          <a:p>
            <a:pPr>
              <a:defRPr/>
            </a:pPr>
            <a:fld id="{C90FE992-8C03-4942-BFCB-10D0A8FF9CAD}" type="slidenum">
              <a:rPr lang="en-GB"/>
            </a:fld>
            <a:endParaRPr lang="en-GB"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7" name="Straight Connector 6"/>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Date Placeholder 6"/>
          <p:cNvSpPr>
            <a:spLocks noGrp="1"/>
          </p:cNvSpPr>
          <p:nvPr>
            <p:ph type="dt" sz="half" idx="10"/>
          </p:nvPr>
        </p:nvSpPr>
        <p:spPr/>
        <p:txBody>
          <a:bodyPr/>
          <a:lstStyle>
            <a:lvl1pPr>
              <a:defRPr/>
            </a:lvl1pPr>
          </a:lstStyle>
          <a:p>
            <a:pPr>
              <a:defRPr/>
            </a:pPr>
            <a:fld id="{9032328D-3574-4716-AABE-4BC3CBE44137}" type="datetime1">
              <a:rPr lang="en-GB"/>
            </a:fld>
            <a:endParaRPr lang="en-GB" dirty="0"/>
          </a:p>
        </p:txBody>
      </p:sp>
      <p:sp>
        <p:nvSpPr>
          <p:cNvPr id="10" name="Footer Placeholder 7"/>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11" name="Slide Number Placeholder 8"/>
          <p:cNvSpPr>
            <a:spLocks noGrp="1"/>
          </p:cNvSpPr>
          <p:nvPr>
            <p:ph type="sldNum" sz="quarter" idx="12"/>
          </p:nvPr>
        </p:nvSpPr>
        <p:spPr/>
        <p:txBody>
          <a:bodyPr/>
          <a:lstStyle>
            <a:lvl1pPr>
              <a:defRPr/>
            </a:lvl1pPr>
          </a:lstStyle>
          <a:p>
            <a:pPr>
              <a:defRPr/>
            </a:pPr>
            <a:fld id="{9F76A946-FA63-46DE-8EC3-43ADFA414796}" type="slidenum">
              <a:rPr lang="en-GB"/>
            </a:fld>
            <a:endParaRPr lang="en-GB"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 name="Straight Connector 2"/>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5" name="Date Placeholder 2"/>
          <p:cNvSpPr>
            <a:spLocks noGrp="1"/>
          </p:cNvSpPr>
          <p:nvPr>
            <p:ph type="dt" sz="half" idx="10"/>
          </p:nvPr>
        </p:nvSpPr>
        <p:spPr/>
        <p:txBody>
          <a:bodyPr/>
          <a:lstStyle>
            <a:lvl1pPr>
              <a:defRPr/>
            </a:lvl1pPr>
          </a:lstStyle>
          <a:p>
            <a:pPr>
              <a:defRPr/>
            </a:pPr>
            <a:fld id="{385B7CF8-3F5F-48A9-B14D-B508E74486A9}" type="datetime1">
              <a:rPr lang="en-GB"/>
            </a:fld>
            <a:endParaRPr lang="en-GB" dirty="0"/>
          </a:p>
        </p:txBody>
      </p:sp>
      <p:sp>
        <p:nvSpPr>
          <p:cNvPr id="6" name="Footer Placeholder 3"/>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7" name="Slide Number Placeholder 4"/>
          <p:cNvSpPr>
            <a:spLocks noGrp="1"/>
          </p:cNvSpPr>
          <p:nvPr>
            <p:ph type="sldNum" sz="quarter" idx="12"/>
          </p:nvPr>
        </p:nvSpPr>
        <p:spPr/>
        <p:txBody>
          <a:bodyPr/>
          <a:lstStyle>
            <a:lvl1pPr>
              <a:defRPr/>
            </a:lvl1pPr>
          </a:lstStyle>
          <a:p>
            <a:pPr>
              <a:defRPr/>
            </a:pPr>
            <a:fld id="{7B07084F-5FCC-4C7D-96AB-28116C3DC07E}" type="slidenum">
              <a:rPr lang="en-GB"/>
            </a:fld>
            <a:endParaRPr lang="en-GB"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1"/>
          <p:cNvSpPr>
            <a:spLocks noGrp="1"/>
          </p:cNvSpPr>
          <p:nvPr>
            <p:ph type="dt" sz="half" idx="10"/>
          </p:nvPr>
        </p:nvSpPr>
        <p:spPr/>
        <p:txBody>
          <a:bodyPr/>
          <a:lstStyle>
            <a:lvl1pPr>
              <a:defRPr/>
            </a:lvl1pPr>
          </a:lstStyle>
          <a:p>
            <a:pPr>
              <a:defRPr/>
            </a:pPr>
            <a:fld id="{AF5F95BF-71FB-46E8-B930-71E44B5AFDE5}" type="datetime1">
              <a:rPr lang="en-GB"/>
            </a:fld>
            <a:endParaRPr lang="en-GB" dirty="0"/>
          </a:p>
        </p:txBody>
      </p:sp>
      <p:sp>
        <p:nvSpPr>
          <p:cNvPr id="4" name="Footer Placeholder 2"/>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5" name="Slide Number Placeholder 3"/>
          <p:cNvSpPr>
            <a:spLocks noGrp="1"/>
          </p:cNvSpPr>
          <p:nvPr>
            <p:ph type="sldNum" sz="quarter" idx="12"/>
          </p:nvPr>
        </p:nvSpPr>
        <p:spPr/>
        <p:txBody>
          <a:bodyPr/>
          <a:lstStyle>
            <a:lvl1pPr>
              <a:defRPr/>
            </a:lvl1pPr>
          </a:lstStyle>
          <a:p>
            <a:pPr>
              <a:defRPr/>
            </a:pPr>
            <a:fld id="{2FE55862-935E-4A28-ACAD-49CD152E2AE3}" type="slidenum">
              <a:rPr lang="en-GB"/>
            </a:fld>
            <a:endParaRPr lang="en-GB" dirty="0"/>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Date Placeholder 4"/>
          <p:cNvSpPr>
            <a:spLocks noGrp="1"/>
          </p:cNvSpPr>
          <p:nvPr>
            <p:ph type="dt" sz="half" idx="10"/>
          </p:nvPr>
        </p:nvSpPr>
        <p:spPr/>
        <p:txBody>
          <a:bodyPr/>
          <a:lstStyle>
            <a:lvl1pPr>
              <a:defRPr/>
            </a:lvl1pPr>
          </a:lstStyle>
          <a:p>
            <a:pPr>
              <a:defRPr/>
            </a:pPr>
            <a:fld id="{0ED7F310-77FE-431B-B387-C210AD9189D1}" type="datetime1">
              <a:rPr lang="en-GB"/>
            </a:fld>
            <a:endParaRPr lang="en-GB" dirty="0"/>
          </a:p>
        </p:txBody>
      </p:sp>
      <p:sp>
        <p:nvSpPr>
          <p:cNvPr id="7" name="Footer Placeholder 5"/>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6"/>
          <p:cNvSpPr>
            <a:spLocks noGrp="1"/>
          </p:cNvSpPr>
          <p:nvPr>
            <p:ph type="sldNum" sz="quarter" idx="12"/>
          </p:nvPr>
        </p:nvSpPr>
        <p:spPr/>
        <p:txBody>
          <a:bodyPr/>
          <a:lstStyle>
            <a:lvl1pPr>
              <a:defRPr/>
            </a:lvl1pPr>
          </a:lstStyle>
          <a:p>
            <a:pPr>
              <a:defRPr/>
            </a:pPr>
            <a:fld id="{4EE83927-6595-4B97-A1DE-4399E4082F5A}" type="slidenum">
              <a:rPr lang="en-GB"/>
            </a:fld>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cxnSp>
        <p:nvCxnSpPr>
          <p:cNvPr id="5" name="Straight Connector 4"/>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Date Placeholder 4"/>
          <p:cNvSpPr>
            <a:spLocks noGrp="1"/>
          </p:cNvSpPr>
          <p:nvPr>
            <p:ph type="dt" sz="half" idx="10"/>
          </p:nvPr>
        </p:nvSpPr>
        <p:spPr/>
        <p:txBody>
          <a:bodyPr/>
          <a:lstStyle>
            <a:lvl1pPr>
              <a:defRPr/>
            </a:lvl1pPr>
          </a:lstStyle>
          <a:p>
            <a:pPr>
              <a:defRPr/>
            </a:pPr>
            <a:fld id="{5AF97BD1-D457-40C5-AC0A-9710C8EBF262}" type="datetime1">
              <a:rPr lang="en-GB"/>
            </a:fld>
            <a:endParaRPr lang="en-GB" dirty="0"/>
          </a:p>
        </p:txBody>
      </p:sp>
      <p:sp>
        <p:nvSpPr>
          <p:cNvPr id="7" name="Footer Placeholder 5"/>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6"/>
          <p:cNvSpPr>
            <a:spLocks noGrp="1"/>
          </p:cNvSpPr>
          <p:nvPr>
            <p:ph type="sldNum" sz="quarter" idx="12"/>
          </p:nvPr>
        </p:nvSpPr>
        <p:spPr/>
        <p:txBody>
          <a:bodyPr/>
          <a:lstStyle>
            <a:lvl1pPr>
              <a:defRPr/>
            </a:lvl1pPr>
          </a:lstStyle>
          <a:p>
            <a:pPr>
              <a:defRPr/>
            </a:pPr>
            <a:fld id="{CBBEACC9-CC86-426A-AB2E-EA1F85D883FC}" type="slidenum">
              <a:rPr lang="en-GB"/>
            </a:fld>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457200" y="14478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Date Placeholder 3"/>
          <p:cNvSpPr>
            <a:spLocks noGrp="1"/>
          </p:cNvSpPr>
          <p:nvPr>
            <p:ph type="dt" sz="half" idx="10"/>
          </p:nvPr>
        </p:nvSpPr>
        <p:spPr/>
        <p:txBody>
          <a:bodyPr/>
          <a:lstStyle>
            <a:lvl1pPr>
              <a:defRPr/>
            </a:lvl1pPr>
          </a:lstStyle>
          <a:p>
            <a:pPr>
              <a:defRPr/>
            </a:pPr>
            <a:fld id="{5CB4AA60-6916-46FF-A77C-CDBC2DB02165}" type="datetime1">
              <a:rPr lang="en-GB"/>
            </a:fld>
            <a:endParaRPr lang="en-GB" dirty="0"/>
          </a:p>
        </p:txBody>
      </p:sp>
      <p:sp>
        <p:nvSpPr>
          <p:cNvPr id="7"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8" name="Slide Number Placeholder 5"/>
          <p:cNvSpPr>
            <a:spLocks noGrp="1"/>
          </p:cNvSpPr>
          <p:nvPr>
            <p:ph type="sldNum" sz="quarter" idx="12"/>
          </p:nvPr>
        </p:nvSpPr>
        <p:spPr/>
        <p:txBody>
          <a:bodyPr/>
          <a:lstStyle>
            <a:lvl1pPr>
              <a:defRPr/>
            </a:lvl1pPr>
          </a:lstStyle>
          <a:p>
            <a:pPr>
              <a:defRPr/>
            </a:pPr>
            <a:fld id="{03C20EF5-2C04-4226-BD81-2B04CB46BF8D}" type="slidenum">
              <a:rPr lang="en-GB"/>
            </a:fld>
            <a:endParaRPr lang="en-GB"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cxnSp>
        <p:nvCxnSpPr>
          <p:cNvPr id="4" name="Straight Connector 3"/>
          <p:cNvCxnSpPr/>
          <p:nvPr userDrawn="1"/>
        </p:nvCxnSpPr>
        <p:spPr>
          <a:xfrm>
            <a:off x="457200" y="6172200"/>
            <a:ext cx="82296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F2BD4220-E858-44D3-86E2-A1269A3E0712}" type="datetime1">
              <a:rPr lang="en-GB"/>
            </a:fld>
            <a:endParaRPr lang="en-GB" dirty="0"/>
          </a:p>
        </p:txBody>
      </p:sp>
      <p:sp>
        <p:nvSpPr>
          <p:cNvPr id="6" name="Footer Placeholder 4"/>
          <p:cNvSpPr>
            <a:spLocks noGrp="1"/>
          </p:cNvSpPr>
          <p:nvPr>
            <p:ph type="ftr" sz="quarter" idx="11"/>
          </p:nvPr>
        </p:nvSpPr>
        <p:spPr/>
        <p:txBody>
          <a:bodyPr/>
          <a:lstStyle>
            <a:lvl1pPr>
              <a:defRPr/>
            </a:lvl1pPr>
          </a:lstStyle>
          <a:p>
            <a:pPr>
              <a:defRPr/>
            </a:pPr>
            <a:r>
              <a:rPr lang="en-US"/>
              <a:t>Confidential to Selfservit, TVS &amp; Sons</a:t>
            </a:r>
            <a:endParaRPr lang="en-US"/>
          </a:p>
        </p:txBody>
      </p:sp>
      <p:sp>
        <p:nvSpPr>
          <p:cNvPr id="7" name="Slide Number Placeholder 5"/>
          <p:cNvSpPr>
            <a:spLocks noGrp="1"/>
          </p:cNvSpPr>
          <p:nvPr>
            <p:ph type="sldNum" sz="quarter" idx="12"/>
          </p:nvPr>
        </p:nvSpPr>
        <p:spPr/>
        <p:txBody>
          <a:bodyPr/>
          <a:lstStyle>
            <a:lvl1pPr>
              <a:defRPr/>
            </a:lvl1pPr>
          </a:lstStyle>
          <a:p>
            <a:pPr>
              <a:defRPr/>
            </a:pPr>
            <a:fld id="{296FA395-BDD7-4684-BC90-BADEE33512A8}" type="slidenum">
              <a:rPr lang="en-GB"/>
            </a:fld>
            <a:endParaRPr lang="en-GB"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US"/>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US"/>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ea typeface="Arial Unicode MS" panose="020B0604020202020204" pitchFamily="34" charset="-128"/>
                <a:cs typeface="Arial Unicode MS" panose="020B0604020202020204" pitchFamily="34" charset="-128"/>
              </a:defRPr>
            </a:lvl1pPr>
          </a:lstStyle>
          <a:p>
            <a:pPr>
              <a:defRPr/>
            </a:pPr>
            <a:fld id="{A6F51C9B-DB3F-4B99-83CE-1512A4FC152C}" type="datetime1">
              <a:rPr lang="en-GB"/>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ea typeface="Arial Unicode MS" panose="020B0604020202020204" pitchFamily="34" charset="-128"/>
                <a:cs typeface="Arial Unicode MS" panose="020B0604020202020204" pitchFamily="34" charset="-128"/>
              </a:defRPr>
            </a:lvl1pPr>
          </a:lstStyle>
          <a:p>
            <a:pPr>
              <a:defRPr/>
            </a:pPr>
            <a:r>
              <a:rPr lang="en-US"/>
              <a:t>Confidential to Selfservit, TVS &amp; Sons</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ea typeface="Arial Unicode MS" panose="020B0604020202020204" pitchFamily="34" charset="-128"/>
                <a:cs typeface="Arial Unicode MS" panose="020B0604020202020204" pitchFamily="34" charset="-128"/>
              </a:defRPr>
            </a:lvl1pPr>
          </a:lstStyle>
          <a:p>
            <a:pPr>
              <a:defRPr/>
            </a:pPr>
            <a:fld id="{C30B1F6D-886A-44E0-878A-9B4CC1539D34}" type="slidenum">
              <a:rPr lang="en-GB"/>
            </a:fld>
            <a:endParaRPr lang="en-GB" dirty="0"/>
          </a:p>
        </p:txBody>
      </p:sp>
      <p:pic>
        <p:nvPicPr>
          <p:cNvPr id="1031" name="Picture 6" descr="Selfservit.PNG"/>
          <p:cNvPicPr>
            <a:picLocks noChangeAspect="1"/>
          </p:cNvPicPr>
          <p:nvPr/>
        </p:nvPicPr>
        <p:blipFill>
          <a:blip r:embed="rId13"/>
          <a:srcRect/>
          <a:stretch>
            <a:fillRect/>
          </a:stretch>
        </p:blipFill>
        <p:spPr bwMode="auto">
          <a:xfrm>
            <a:off x="7162800" y="0"/>
            <a:ext cx="1981200" cy="53975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pattFill prst="pct5">
          <a:fgClr>
            <a:schemeClr val="accent6">
              <a:lumMod val="40000"/>
              <a:lumOff val="60000"/>
            </a:schemeClr>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4.wmf"/><Relationship Id="rId3" Type="http://schemas.openxmlformats.org/officeDocument/2006/relationships/oleObject" Target="../embeddings/oleObject2.bin"/><Relationship Id="rId2" Type="http://schemas.openxmlformats.org/officeDocument/2006/relationships/image" Target="../media/image3.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6.wmf"/><Relationship Id="rId3" Type="http://schemas.openxmlformats.org/officeDocument/2006/relationships/oleObject" Target="../embeddings/oleObject4.bin"/><Relationship Id="rId2" Type="http://schemas.openxmlformats.org/officeDocument/2006/relationships/image" Target="../media/image5.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6.bin"/><Relationship Id="rId2" Type="http://schemas.openxmlformats.org/officeDocument/2006/relationships/image" Target="../media/image7.wmf"/><Relationship Id="rId1" Type="http://schemas.openxmlformats.org/officeDocument/2006/relationships/oleObject" Target="../embeddings/oleObject5.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7.xml"/><Relationship Id="rId4" Type="http://schemas.openxmlformats.org/officeDocument/2006/relationships/image" Target="../media/image8.wmf"/><Relationship Id="rId3" Type="http://schemas.openxmlformats.org/officeDocument/2006/relationships/oleObject" Target="../embeddings/oleObject9.bin"/><Relationship Id="rId2" Type="http://schemas.openxmlformats.org/officeDocument/2006/relationships/image" Target="../media/image7.wmf"/><Relationship Id="rId1" Type="http://schemas.openxmlformats.org/officeDocument/2006/relationships/oleObject" Target="../embeddings/oleObject8.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10.wmf"/><Relationship Id="rId7" Type="http://schemas.openxmlformats.org/officeDocument/2006/relationships/oleObject" Target="../embeddings/oleObject13.bin"/><Relationship Id="rId6" Type="http://schemas.openxmlformats.org/officeDocument/2006/relationships/image" Target="../media/image9.wmf"/><Relationship Id="rId5" Type="http://schemas.openxmlformats.org/officeDocument/2006/relationships/oleObject" Target="../embeddings/oleObject12.bin"/><Relationship Id="rId4" Type="http://schemas.openxmlformats.org/officeDocument/2006/relationships/image" Target="../media/image7.wmf"/><Relationship Id="rId3" Type="http://schemas.openxmlformats.org/officeDocument/2006/relationships/oleObject" Target="../embeddings/oleObject11.bin"/><Relationship Id="rId2" Type="http://schemas.openxmlformats.org/officeDocument/2006/relationships/image" Target="../media/image8.wmf"/><Relationship Id="rId10" Type="http://schemas.openxmlformats.org/officeDocument/2006/relationships/vmlDrawing" Target="../drawings/vmlDrawing6.vml"/><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1.png"/><Relationship Id="rId2" Type="http://schemas.openxmlformats.org/officeDocument/2006/relationships/hyperlink" Target="http://www.mservice.ai/" TargetMode="External"/><Relationship Id="rId1" Type="http://schemas.openxmlformats.org/officeDocument/2006/relationships/hyperlink" Target="http://www.selfservi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normAutofit fontScale="90000"/>
          </a:bodyPr>
          <a:lstStyle/>
          <a:p>
            <a:pPr eaLnBrk="1" hangingPunct="1">
              <a:defRPr/>
            </a:pPr>
            <a:br>
              <a:rPr lang="en-US" altLang="en-US" sz="3600" dirty="0"/>
            </a:br>
            <a:br>
              <a:rPr lang="en-US" altLang="en-US" sz="3600" dirty="0"/>
            </a:br>
            <a:endParaRPr lang="en-US" altLang="en-US" sz="3600" dirty="0"/>
          </a:p>
        </p:txBody>
      </p:sp>
      <p:sp>
        <p:nvSpPr>
          <p:cNvPr id="2" name="Subtitle 1"/>
          <p:cNvSpPr>
            <a:spLocks noGrp="1"/>
          </p:cNvSpPr>
          <p:nvPr>
            <p:ph type="subTitle" idx="1"/>
          </p:nvPr>
        </p:nvSpPr>
        <p:spPr>
          <a:xfrm>
            <a:off x="1371600" y="1066800"/>
            <a:ext cx="6400800" cy="5123716"/>
          </a:xfrm>
        </p:spPr>
        <p:txBody>
          <a:bodyPr>
            <a:noAutofit/>
          </a:bodyPr>
          <a:lstStyle/>
          <a:p>
            <a:pPr>
              <a:defRPr/>
            </a:pPr>
            <a:r>
              <a:rPr lang="en-US" dirty="0" smtClean="0"/>
              <a:t>Mservice Direct</a:t>
            </a:r>
            <a:endParaRPr lang="en-US" sz="2800" dirty="0">
              <a:cs typeface="Calibri" panose="020F0502020204030204"/>
            </a:endParaRPr>
          </a:p>
          <a:p>
            <a:pPr>
              <a:defRPr/>
            </a:pPr>
            <a:endParaRPr lang="en-US" sz="2800" dirty="0">
              <a:cs typeface="Calibri" panose="020F0502020204030204"/>
            </a:endParaRPr>
          </a:p>
          <a:p>
            <a:pPr>
              <a:defRPr/>
            </a:pPr>
            <a:r>
              <a:rPr lang="en-US" sz="2800" dirty="0" smtClean="0">
                <a:cs typeface="Calibri" panose="020F0502020204030204"/>
              </a:rPr>
              <a:t>Dealer</a:t>
            </a:r>
            <a:endParaRPr lang="en-US" sz="2800" dirty="0">
              <a:cs typeface="Calibri" panose="020F0502020204030204"/>
            </a:endParaRPr>
          </a:p>
          <a:p>
            <a:pPr>
              <a:defRPr/>
            </a:pPr>
            <a:r>
              <a:rPr lang="en-US" sz="2800" dirty="0"/>
              <a:t>Capital Equipment Sales </a:t>
            </a:r>
            <a:endParaRPr lang="en-US" sz="2800" dirty="0"/>
          </a:p>
          <a:p>
            <a:pPr>
              <a:defRPr/>
            </a:pP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p:cNvSpPr/>
          <p:nvPr/>
        </p:nvSpPr>
        <p:spPr>
          <a:xfrm>
            <a:off x="2009140" y="628650"/>
            <a:ext cx="5473065" cy="2341245"/>
          </a:xfrm>
          <a:prstGeom prst="ellipse">
            <a:avLst/>
          </a:prstGeom>
          <a:ln>
            <a:prstDash val="sysDot"/>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sz="1200"/>
          </a:p>
        </p:txBody>
      </p:sp>
      <p:sp>
        <p:nvSpPr>
          <p:cNvPr id="9" name="Oval 8"/>
          <p:cNvSpPr/>
          <p:nvPr/>
        </p:nvSpPr>
        <p:spPr>
          <a:xfrm>
            <a:off x="3255975" y="1135893"/>
            <a:ext cx="1218613" cy="71921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lIns="91440" tIns="45720" rIns="91440" bIns="45720" rtlCol="0" anchor="ctr"/>
          <a:lstStyle/>
          <a:p>
            <a:pPr algn="ctr"/>
            <a:r>
              <a:rPr lang="en-US" sz="1200" dirty="0"/>
              <a:t>India Mart</a:t>
            </a:r>
            <a:endParaRPr lang="en-US" sz="1200" dirty="0">
              <a:cs typeface="Calibri" panose="020F0502020204030204"/>
            </a:endParaRPr>
          </a:p>
        </p:txBody>
      </p:sp>
      <p:sp>
        <p:nvSpPr>
          <p:cNvPr id="10" name="Oval 9"/>
          <p:cNvSpPr/>
          <p:nvPr/>
        </p:nvSpPr>
        <p:spPr>
          <a:xfrm>
            <a:off x="4792614" y="1791396"/>
            <a:ext cx="778669" cy="69723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200"/>
              <a:t>Email</a:t>
            </a:r>
            <a:endParaRPr lang="en-US" sz="1200"/>
          </a:p>
        </p:txBody>
      </p:sp>
      <p:sp>
        <p:nvSpPr>
          <p:cNvPr id="12" name="Oval 11"/>
          <p:cNvSpPr/>
          <p:nvPr/>
        </p:nvSpPr>
        <p:spPr>
          <a:xfrm>
            <a:off x="5753796" y="1455091"/>
            <a:ext cx="725329" cy="68961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lIns="91440" tIns="45720" rIns="91440" bIns="45720" rtlCol="0" anchor="ctr"/>
          <a:lstStyle/>
          <a:p>
            <a:pPr algn="ctr"/>
            <a:r>
              <a:rPr lang="en-US" sz="1200" dirty="0"/>
              <a:t>Web</a:t>
            </a:r>
            <a:endParaRPr lang="en-US" sz="1200" dirty="0"/>
          </a:p>
        </p:txBody>
      </p:sp>
      <p:sp>
        <p:nvSpPr>
          <p:cNvPr id="21" name="Oval 20"/>
          <p:cNvSpPr/>
          <p:nvPr/>
        </p:nvSpPr>
        <p:spPr>
          <a:xfrm>
            <a:off x="4528845" y="1175276"/>
            <a:ext cx="1188720" cy="542449"/>
          </a:xfrm>
          <a:prstGeom prst="ellipse">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sz="1200"/>
              <a:t>Existing customer</a:t>
            </a:r>
            <a:endParaRPr lang="en-US" sz="1200"/>
          </a:p>
        </p:txBody>
      </p:sp>
      <p:sp>
        <p:nvSpPr>
          <p:cNvPr id="24" name="Oval 23"/>
          <p:cNvSpPr/>
          <p:nvPr/>
        </p:nvSpPr>
        <p:spPr>
          <a:xfrm>
            <a:off x="3242786" y="2055605"/>
            <a:ext cx="1286828" cy="5524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Operator /Mechanic</a:t>
            </a:r>
            <a:endParaRPr lang="en-US" sz="1200"/>
          </a:p>
        </p:txBody>
      </p:sp>
      <p:sp>
        <p:nvSpPr>
          <p:cNvPr id="3" name="Rectangles 2"/>
          <p:cNvSpPr/>
          <p:nvPr/>
        </p:nvSpPr>
        <p:spPr>
          <a:xfrm>
            <a:off x="3587433" y="3172777"/>
            <a:ext cx="2691765" cy="688658"/>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Sales Manager , Dealer Owner &amp; coordinator can create an enquiry using web app</a:t>
            </a:r>
            <a:endParaRPr lang="en-US" dirty="0"/>
          </a:p>
        </p:txBody>
      </p:sp>
      <p:sp>
        <p:nvSpPr>
          <p:cNvPr id="4" name="Rectangles 3"/>
          <p:cNvSpPr/>
          <p:nvPr/>
        </p:nvSpPr>
        <p:spPr>
          <a:xfrm>
            <a:off x="6190298" y="3172777"/>
            <a:ext cx="2440305" cy="688658"/>
          </a:xfrm>
          <a:prstGeom prst="rect">
            <a:avLst/>
          </a:prstGeom>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smtClean="0"/>
              <a:t>Dynapac </a:t>
            </a:r>
            <a:r>
              <a:rPr lang="en-US" dirty="0"/>
              <a:t>team create an enquiry using web app</a:t>
            </a:r>
            <a:endParaRPr lang="en-US" dirty="0"/>
          </a:p>
        </p:txBody>
      </p:sp>
      <p:sp>
        <p:nvSpPr>
          <p:cNvPr id="6" name="Rectangles 5"/>
          <p:cNvSpPr/>
          <p:nvPr/>
        </p:nvSpPr>
        <p:spPr>
          <a:xfrm>
            <a:off x="613997" y="3172301"/>
            <a:ext cx="2973595" cy="688658"/>
          </a:xfrm>
          <a:prstGeom prst="rect">
            <a:avLst/>
          </a:prstGeom>
          <a:solidFill>
            <a:schemeClr val="bg1"/>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Sales Engineer create an Enquiry via his Mobile app</a:t>
            </a:r>
            <a:endParaRPr lang="en-US" dirty="0"/>
          </a:p>
        </p:txBody>
      </p:sp>
      <p:sp>
        <p:nvSpPr>
          <p:cNvPr id="27" name="Down Arrow 26"/>
          <p:cNvSpPr/>
          <p:nvPr/>
        </p:nvSpPr>
        <p:spPr>
          <a:xfrm>
            <a:off x="4778693" y="2835727"/>
            <a:ext cx="308610" cy="336233"/>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Oval 35"/>
          <p:cNvSpPr/>
          <p:nvPr/>
        </p:nvSpPr>
        <p:spPr>
          <a:xfrm>
            <a:off x="2168892" y="1602045"/>
            <a:ext cx="1188720" cy="542449"/>
          </a:xfrm>
          <a:prstGeom prst="ellipse">
            <a:avLst/>
          </a:prstGeom>
        </p:spPr>
        <p:style>
          <a:lnRef idx="1">
            <a:schemeClr val="accent3"/>
          </a:lnRef>
          <a:fillRef idx="2">
            <a:schemeClr val="accent3"/>
          </a:fillRef>
          <a:effectRef idx="1">
            <a:schemeClr val="accent3"/>
          </a:effectRef>
          <a:fontRef idx="minor">
            <a:schemeClr val="dk1"/>
          </a:fontRef>
        </p:style>
        <p:txBody>
          <a:bodyPr lIns="91440" tIns="45720" rIns="91440" bIns="45720" rtlCol="0" anchor="ctr"/>
          <a:lstStyle/>
          <a:p>
            <a:pPr algn="ctr"/>
            <a:r>
              <a:rPr lang="en-US" sz="1200" dirty="0">
                <a:cs typeface="Calibri" panose="020F0502020204030204"/>
              </a:rPr>
              <a:t>Meeting</a:t>
            </a:r>
            <a:endParaRPr lang="en-US" sz="1200" dirty="0">
              <a:cs typeface="Calibri" panose="020F0502020204030204"/>
            </a:endParaRPr>
          </a:p>
        </p:txBody>
      </p:sp>
      <p:sp>
        <p:nvSpPr>
          <p:cNvPr id="37"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8" name="Flowchart: Manual Operation 7"/>
          <p:cNvSpPr/>
          <p:nvPr/>
        </p:nvSpPr>
        <p:spPr>
          <a:xfrm>
            <a:off x="2009775" y="4057015"/>
            <a:ext cx="5472430" cy="1906270"/>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a:sym typeface="+mn-ea"/>
              </a:rPr>
              <a:t>Leads &amp; Equipment Enquiry Database</a:t>
            </a:r>
            <a:endParaRPr lang="en-US" sz="3200"/>
          </a:p>
        </p:txBody>
      </p:sp>
      <p:sp>
        <p:nvSpPr>
          <p:cNvPr id="2" name="Down Arrow 1"/>
          <p:cNvSpPr/>
          <p:nvPr/>
        </p:nvSpPr>
        <p:spPr>
          <a:xfrm>
            <a:off x="4766310" y="3861435"/>
            <a:ext cx="321310" cy="450850"/>
          </a:xfrm>
          <a:prstGeom prst="downArrow">
            <a:avLst>
              <a:gd name="adj1" fmla="val 49901"/>
              <a:gd name="adj2" fmla="val 50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Down Arrow 6"/>
          <p:cNvSpPr/>
          <p:nvPr/>
        </p:nvSpPr>
        <p:spPr>
          <a:xfrm>
            <a:off x="6679565" y="3861435"/>
            <a:ext cx="321310" cy="450850"/>
          </a:xfrm>
          <a:prstGeom prst="downArrow">
            <a:avLst>
              <a:gd name="adj1" fmla="val 49901"/>
              <a:gd name="adj2" fmla="val 50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Down Arrow 10"/>
          <p:cNvSpPr/>
          <p:nvPr/>
        </p:nvSpPr>
        <p:spPr>
          <a:xfrm>
            <a:off x="3036570" y="3861435"/>
            <a:ext cx="321310" cy="450850"/>
          </a:xfrm>
          <a:prstGeom prst="downArrow">
            <a:avLst>
              <a:gd name="adj1" fmla="val 49901"/>
              <a:gd name="adj2" fmla="val 50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FE55862-935E-4A28-ACAD-49CD152E2AE3}" type="slidenum">
              <a:rPr lang="en-GB"/>
            </a:fld>
            <a:endParaRPr lang="en-GB" dirty="0"/>
          </a:p>
        </p:txBody>
      </p:sp>
      <p:sp>
        <p:nvSpPr>
          <p:cNvPr id="15" name="TextBox 4"/>
          <p:cNvSpPr txBox="1">
            <a:spLocks noChangeArrowheads="1"/>
          </p:cNvSpPr>
          <p:nvPr/>
        </p:nvSpPr>
        <p:spPr bwMode="auto">
          <a:xfrm>
            <a:off x="222885" y="0"/>
            <a:ext cx="7858148" cy="2122805"/>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Overview-Sales Engineer </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Sales visit logging to PO Received</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(Positive Flow)</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12" name="Right Arrow 11"/>
          <p:cNvSpPr/>
          <p:nvPr/>
        </p:nvSpPr>
        <p:spPr>
          <a:xfrm>
            <a:off x="1765935" y="202882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 name="Rectangles 4"/>
          <p:cNvSpPr/>
          <p:nvPr/>
        </p:nvSpPr>
        <p:spPr>
          <a:xfrm>
            <a:off x="2142490" y="1677035"/>
            <a:ext cx="13519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fix an appointment with Prospect</a:t>
            </a:r>
            <a:endParaRPr lang="en-US"/>
          </a:p>
        </p:txBody>
      </p:sp>
      <p:sp>
        <p:nvSpPr>
          <p:cNvPr id="6" name="Rectangles 5"/>
          <p:cNvSpPr/>
          <p:nvPr/>
        </p:nvSpPr>
        <p:spPr>
          <a:xfrm>
            <a:off x="3741420" y="1677035"/>
            <a:ext cx="13519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Log the sales visit activity via   Mobile app </a:t>
            </a:r>
            <a:endParaRPr lang="en-US"/>
          </a:p>
        </p:txBody>
      </p:sp>
      <p:sp>
        <p:nvSpPr>
          <p:cNvPr id="8" name="Rectangles 7"/>
          <p:cNvSpPr/>
          <p:nvPr/>
        </p:nvSpPr>
        <p:spPr>
          <a:xfrm>
            <a:off x="5339715" y="1677670"/>
            <a:ext cx="133794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Meet the Prospect and prepare the Meeting report </a:t>
            </a:r>
            <a:endParaRPr lang="en-US"/>
          </a:p>
        </p:txBody>
      </p:sp>
      <p:sp>
        <p:nvSpPr>
          <p:cNvPr id="10" name="Rectangles 9"/>
          <p:cNvSpPr/>
          <p:nvPr/>
        </p:nvSpPr>
        <p:spPr>
          <a:xfrm>
            <a:off x="6944360" y="1677670"/>
            <a:ext cx="1863090"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Enquiry Generated  </a:t>
            </a:r>
            <a:endParaRPr lang="en-US"/>
          </a:p>
        </p:txBody>
      </p:sp>
      <p:sp>
        <p:nvSpPr>
          <p:cNvPr id="13" name="Rectangles 12"/>
          <p:cNvSpPr/>
          <p:nvPr/>
        </p:nvSpPr>
        <p:spPr>
          <a:xfrm>
            <a:off x="6944360" y="2687955"/>
            <a:ext cx="1978025" cy="96774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Sales Manager</a:t>
            </a:r>
            <a:endParaRPr lang="en-US"/>
          </a:p>
        </p:txBody>
      </p:sp>
      <p:sp>
        <p:nvSpPr>
          <p:cNvPr id="14" name="Down Arrow 13"/>
          <p:cNvSpPr/>
          <p:nvPr/>
        </p:nvSpPr>
        <p:spPr>
          <a:xfrm>
            <a:off x="7440930" y="2393950"/>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3" name="Object 42"/>
          <p:cNvGraphicFramePr>
            <a:graphicFrameLocks noGrp="1"/>
          </p:cNvGraphicFramePr>
          <p:nvPr/>
        </p:nvGraphicFramePr>
        <p:xfrm>
          <a:off x="5339715" y="708660"/>
          <a:ext cx="1337945" cy="967740"/>
        </p:xfrm>
        <a:graphic>
          <a:graphicData uri="http://schemas.openxmlformats.org/presentationml/2006/ole">
            <mc:AlternateContent xmlns:mc="http://schemas.openxmlformats.org/markup-compatibility/2006">
              <mc:Choice xmlns:v="urn:schemas-microsoft-com:vml" Requires="v">
                <p:oleObj spid="_x0000_s28680" name="" r:id="rId1" imgW="4629150" imgH="4333875" progId="Paint.Picture">
                  <p:embed/>
                </p:oleObj>
              </mc:Choice>
              <mc:Fallback>
                <p:oleObj name="" r:id="rId1" imgW="4629150" imgH="4333875" progId="Paint.Picture">
                  <p:embed/>
                  <p:pic>
                    <p:nvPicPr>
                      <p:cNvPr id="0" name="Content Placeholder 42"/>
                      <p:cNvPicPr/>
                      <p:nvPr/>
                    </p:nvPicPr>
                    <p:blipFill>
                      <a:blip r:embed="rId2"/>
                      <a:stretch>
                        <a:fillRect/>
                      </a:stretch>
                    </p:blipFill>
                    <p:spPr>
                      <a:xfrm>
                        <a:off x="5339715" y="708660"/>
                        <a:ext cx="1337945" cy="967740"/>
                      </a:xfrm>
                      <a:prstGeom prst="rect">
                        <a:avLst/>
                      </a:prstGeom>
                    </p:spPr>
                  </p:pic>
                </p:oleObj>
              </mc:Fallback>
            </mc:AlternateContent>
          </a:graphicData>
        </a:graphic>
      </p:graphicFrame>
      <p:sp>
        <p:nvSpPr>
          <p:cNvPr id="17" name="Rectangles 16"/>
          <p:cNvSpPr/>
          <p:nvPr/>
        </p:nvSpPr>
        <p:spPr>
          <a:xfrm>
            <a:off x="5325745" y="2787015"/>
            <a:ext cx="1351915" cy="86868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Manager Qualify or UN Qualify the Enquiry  </a:t>
            </a:r>
            <a:endParaRPr lang="en-US"/>
          </a:p>
        </p:txBody>
      </p:sp>
      <p:sp>
        <p:nvSpPr>
          <p:cNvPr id="19" name="Rectangles 18"/>
          <p:cNvSpPr/>
          <p:nvPr/>
        </p:nvSpPr>
        <p:spPr>
          <a:xfrm>
            <a:off x="2142490" y="2787650"/>
            <a:ext cx="1351915" cy="86868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Coordinator generate the quotation</a:t>
            </a:r>
            <a:endParaRPr lang="en-US"/>
          </a:p>
        </p:txBody>
      </p:sp>
      <p:sp>
        <p:nvSpPr>
          <p:cNvPr id="20" name="Left Arrow 19"/>
          <p:cNvSpPr/>
          <p:nvPr/>
        </p:nvSpPr>
        <p:spPr>
          <a:xfrm>
            <a:off x="5024120" y="3077845"/>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Left Arrow 20"/>
          <p:cNvSpPr/>
          <p:nvPr/>
        </p:nvSpPr>
        <p:spPr>
          <a:xfrm>
            <a:off x="3295015" y="307848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s 21"/>
          <p:cNvSpPr/>
          <p:nvPr/>
        </p:nvSpPr>
        <p:spPr>
          <a:xfrm>
            <a:off x="457200" y="2787650"/>
            <a:ext cx="1351915" cy="86868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Manager do the review and approve the quotation</a:t>
            </a:r>
            <a:endParaRPr lang="en-US"/>
          </a:p>
        </p:txBody>
      </p:sp>
      <p:sp>
        <p:nvSpPr>
          <p:cNvPr id="23" name="Left Arrow 22"/>
          <p:cNvSpPr/>
          <p:nvPr/>
        </p:nvSpPr>
        <p:spPr>
          <a:xfrm>
            <a:off x="1731010" y="3077845"/>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ight Arrow 23"/>
          <p:cNvSpPr/>
          <p:nvPr/>
        </p:nvSpPr>
        <p:spPr>
          <a:xfrm>
            <a:off x="3494405"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ight Arrow 24"/>
          <p:cNvSpPr/>
          <p:nvPr/>
        </p:nvSpPr>
        <p:spPr>
          <a:xfrm>
            <a:off x="5093335"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Right Arrow 25"/>
          <p:cNvSpPr/>
          <p:nvPr/>
        </p:nvSpPr>
        <p:spPr>
          <a:xfrm>
            <a:off x="6642735" y="202882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Rectangles 28"/>
          <p:cNvSpPr/>
          <p:nvPr/>
        </p:nvSpPr>
        <p:spPr>
          <a:xfrm>
            <a:off x="457200" y="3920490"/>
            <a:ext cx="1351915" cy="97155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Coordinator submit the quotation to Prospect</a:t>
            </a:r>
            <a:endParaRPr lang="en-US"/>
          </a:p>
        </p:txBody>
      </p:sp>
      <p:sp>
        <p:nvSpPr>
          <p:cNvPr id="30" name="Rectangles 29"/>
          <p:cNvSpPr/>
          <p:nvPr/>
        </p:nvSpPr>
        <p:spPr>
          <a:xfrm>
            <a:off x="2177415" y="3920490"/>
            <a:ext cx="1316355" cy="9715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do the followup with Prospect to get the PO</a:t>
            </a:r>
            <a:endParaRPr lang="en-US"/>
          </a:p>
        </p:txBody>
      </p:sp>
      <p:sp>
        <p:nvSpPr>
          <p:cNvPr id="31" name="Right Arrow 30"/>
          <p:cNvSpPr/>
          <p:nvPr/>
        </p:nvSpPr>
        <p:spPr>
          <a:xfrm>
            <a:off x="1809115" y="431863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Rectangles 31"/>
          <p:cNvSpPr/>
          <p:nvPr/>
        </p:nvSpPr>
        <p:spPr>
          <a:xfrm>
            <a:off x="3741420" y="3919855"/>
            <a:ext cx="2367915" cy="97218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click on enquiry and update the progress via his app -PO Received.</a:t>
            </a:r>
            <a:endParaRPr lang="en-US"/>
          </a:p>
        </p:txBody>
      </p:sp>
      <p:sp>
        <p:nvSpPr>
          <p:cNvPr id="33" name="Left Arrow 32"/>
          <p:cNvSpPr/>
          <p:nvPr/>
        </p:nvSpPr>
        <p:spPr>
          <a:xfrm>
            <a:off x="6553200" y="3079115"/>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ight Arrow 34"/>
          <p:cNvSpPr/>
          <p:nvPr/>
        </p:nvSpPr>
        <p:spPr>
          <a:xfrm>
            <a:off x="3494405" y="431863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4" name="Down Arrow 43"/>
          <p:cNvSpPr/>
          <p:nvPr/>
        </p:nvSpPr>
        <p:spPr>
          <a:xfrm>
            <a:off x="975995" y="3655695"/>
            <a:ext cx="31496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4564380" y="4892040"/>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4" name="Object 53"/>
          <p:cNvGraphicFramePr/>
          <p:nvPr/>
        </p:nvGraphicFramePr>
        <p:xfrm>
          <a:off x="6944360" y="3656330"/>
          <a:ext cx="1977390" cy="1268730"/>
        </p:xfrm>
        <a:graphic>
          <a:graphicData uri="http://schemas.openxmlformats.org/presentationml/2006/ole">
            <mc:AlternateContent xmlns:mc="http://schemas.openxmlformats.org/markup-compatibility/2006">
              <mc:Choice xmlns:v="urn:schemas-microsoft-com:vml" Requires="v">
                <p:oleObj spid="_x0000_s28681" name="" r:id="rId3" imgW="4714875" imgH="3171825" progId="Paint.Picture">
                  <p:embed/>
                </p:oleObj>
              </mc:Choice>
              <mc:Fallback>
                <p:oleObj name="" r:id="rId3" imgW="4714875" imgH="3171825" progId="Paint.Picture">
                  <p:embed/>
                  <p:pic>
                    <p:nvPicPr>
                      <p:cNvPr id="0" name="Picture 54"/>
                      <p:cNvPicPr/>
                      <p:nvPr/>
                    </p:nvPicPr>
                    <p:blipFill>
                      <a:blip r:embed="rId4"/>
                      <a:stretch>
                        <a:fillRect/>
                      </a:stretch>
                    </p:blipFill>
                    <p:spPr>
                      <a:xfrm>
                        <a:off x="6944360" y="3656330"/>
                        <a:ext cx="1977390" cy="1268730"/>
                      </a:xfrm>
                      <a:prstGeom prst="rect">
                        <a:avLst/>
                      </a:prstGeom>
                    </p:spPr>
                  </p:pic>
                </p:oleObj>
              </mc:Fallback>
            </mc:AlternateContent>
          </a:graphicData>
        </a:graphic>
      </p:graphicFrame>
      <p:sp>
        <p:nvSpPr>
          <p:cNvPr id="56" name="Flowchart: Manual Operation 55"/>
          <p:cNvSpPr/>
          <p:nvPr/>
        </p:nvSpPr>
        <p:spPr>
          <a:xfrm>
            <a:off x="3923030" y="5285740"/>
            <a:ext cx="1548765" cy="8705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Po Received </a:t>
            </a:r>
            <a:endParaRPr lang="en-US" sz="1600">
              <a:sym typeface="+mn-ea"/>
            </a:endParaRPr>
          </a:p>
        </p:txBody>
      </p:sp>
      <p:sp>
        <p:nvSpPr>
          <p:cNvPr id="57" name="Flowchart: Manual Operation 56"/>
          <p:cNvSpPr/>
          <p:nvPr/>
        </p:nvSpPr>
        <p:spPr>
          <a:xfrm>
            <a:off x="3625215" y="2787015"/>
            <a:ext cx="1583690" cy="768985"/>
          </a:xfrm>
          <a:prstGeom prst="flowChartManualOperation">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Qualified Enquiry  </a:t>
            </a:r>
            <a:endParaRPr lang="en-US" sz="1600">
              <a:sym typeface="+mn-ea"/>
            </a:endParaRPr>
          </a:p>
        </p:txBody>
      </p:sp>
      <p:sp>
        <p:nvSpPr>
          <p:cNvPr id="58" name="Flowchart: Manual Operation 57"/>
          <p:cNvSpPr/>
          <p:nvPr/>
        </p:nvSpPr>
        <p:spPr>
          <a:xfrm>
            <a:off x="340995" y="1776730"/>
            <a:ext cx="1583690" cy="7689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Enquiry Source  </a:t>
            </a:r>
            <a:endParaRPr lang="en-US" sz="160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2FE55862-935E-4A28-ACAD-49CD152E2AE3}" type="slidenum">
              <a:rPr lang="en-GB"/>
            </a:fld>
            <a:endParaRPr lang="en-GB" dirty="0"/>
          </a:p>
        </p:txBody>
      </p:sp>
      <p:sp>
        <p:nvSpPr>
          <p:cNvPr id="15" name="TextBox 4"/>
          <p:cNvSpPr txBox="1">
            <a:spLocks noChangeArrowheads="1"/>
          </p:cNvSpPr>
          <p:nvPr/>
        </p:nvSpPr>
        <p:spPr bwMode="auto">
          <a:xfrm>
            <a:off x="213360" y="13970"/>
            <a:ext cx="7858148" cy="119888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 </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Enquiry,Qualify,Qualify, Quote,Re quote,PO, Order Lost </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10" name="Rectangles 9"/>
          <p:cNvSpPr/>
          <p:nvPr/>
        </p:nvSpPr>
        <p:spPr>
          <a:xfrm>
            <a:off x="320040" y="1676400"/>
            <a:ext cx="136842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Enquiry Generated  </a:t>
            </a:r>
            <a:endParaRPr lang="en-US"/>
          </a:p>
        </p:txBody>
      </p:sp>
      <p:sp>
        <p:nvSpPr>
          <p:cNvPr id="13" name="Rectangles 12"/>
          <p:cNvSpPr/>
          <p:nvPr/>
        </p:nvSpPr>
        <p:spPr>
          <a:xfrm>
            <a:off x="1938655" y="1753870"/>
            <a:ext cx="1187450" cy="71628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Sales Manager</a:t>
            </a:r>
            <a:endParaRPr lang="en-US"/>
          </a:p>
        </p:txBody>
      </p:sp>
      <p:sp>
        <p:nvSpPr>
          <p:cNvPr id="17" name="Rectangles 16"/>
          <p:cNvSpPr/>
          <p:nvPr/>
        </p:nvSpPr>
        <p:spPr>
          <a:xfrm>
            <a:off x="3295650" y="1753870"/>
            <a:ext cx="1143635" cy="7162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Follow up visit/Meet the Prospect   </a:t>
            </a:r>
            <a:endParaRPr lang="en-US"/>
          </a:p>
        </p:txBody>
      </p:sp>
      <p:sp>
        <p:nvSpPr>
          <p:cNvPr id="19" name="Rectangles 18"/>
          <p:cNvSpPr/>
          <p:nvPr/>
        </p:nvSpPr>
        <p:spPr>
          <a:xfrm>
            <a:off x="5033645" y="2746375"/>
            <a:ext cx="1162685" cy="761365"/>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Sales Manager</a:t>
            </a:r>
            <a:endParaRPr lang="en-US"/>
          </a:p>
        </p:txBody>
      </p:sp>
      <p:sp>
        <p:nvSpPr>
          <p:cNvPr id="26" name="Right Arrow 25"/>
          <p:cNvSpPr/>
          <p:nvPr/>
        </p:nvSpPr>
        <p:spPr>
          <a:xfrm>
            <a:off x="1562100" y="197929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Rectangles 28"/>
          <p:cNvSpPr/>
          <p:nvPr/>
        </p:nvSpPr>
        <p:spPr>
          <a:xfrm>
            <a:off x="1838960" y="2719070"/>
            <a:ext cx="1386840" cy="10490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Coordinator generate the quote/get the approval and submit</a:t>
            </a:r>
            <a:endParaRPr lang="en-US"/>
          </a:p>
        </p:txBody>
      </p:sp>
      <p:sp>
        <p:nvSpPr>
          <p:cNvPr id="34" name="Right Arrow 33"/>
          <p:cNvSpPr/>
          <p:nvPr/>
        </p:nvSpPr>
        <p:spPr>
          <a:xfrm>
            <a:off x="4705350" y="4188460"/>
            <a:ext cx="377190" cy="360680"/>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4" name="Down Arrow 43"/>
          <p:cNvSpPr/>
          <p:nvPr/>
        </p:nvSpPr>
        <p:spPr>
          <a:xfrm>
            <a:off x="3984625" y="4759325"/>
            <a:ext cx="31496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s 45"/>
          <p:cNvSpPr/>
          <p:nvPr/>
        </p:nvSpPr>
        <p:spPr>
          <a:xfrm>
            <a:off x="6721475" y="3933825"/>
            <a:ext cx="1518920" cy="1541145"/>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Coordinator will update the reason /competitor name   for order lost in  web app</a:t>
            </a:r>
            <a:endParaRPr lang="en-US"/>
          </a:p>
        </p:txBody>
      </p:sp>
      <p:sp>
        <p:nvSpPr>
          <p:cNvPr id="49" name="Rectangles 48"/>
          <p:cNvSpPr/>
          <p:nvPr/>
        </p:nvSpPr>
        <p:spPr>
          <a:xfrm>
            <a:off x="5033645" y="3837305"/>
            <a:ext cx="1351915" cy="96520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If Order is lost then engineer update it via Mobile app  </a:t>
            </a:r>
            <a:endParaRPr lang="en-US"/>
          </a:p>
        </p:txBody>
      </p:sp>
      <p:sp>
        <p:nvSpPr>
          <p:cNvPr id="51" name="Down Arrow 50"/>
          <p:cNvSpPr/>
          <p:nvPr/>
        </p:nvSpPr>
        <p:spPr>
          <a:xfrm>
            <a:off x="3910330" y="5922010"/>
            <a:ext cx="389255" cy="347345"/>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lowchart: Manual Operation 55"/>
          <p:cNvSpPr/>
          <p:nvPr/>
        </p:nvSpPr>
        <p:spPr>
          <a:xfrm>
            <a:off x="3356610" y="5153025"/>
            <a:ext cx="1583690" cy="7689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Po Received </a:t>
            </a:r>
            <a:endParaRPr lang="en-US" sz="1600">
              <a:sym typeface="+mn-ea"/>
            </a:endParaRPr>
          </a:p>
        </p:txBody>
      </p:sp>
      <p:sp>
        <p:nvSpPr>
          <p:cNvPr id="57" name="Flowchart: Manual Operation 56"/>
          <p:cNvSpPr/>
          <p:nvPr/>
        </p:nvSpPr>
        <p:spPr>
          <a:xfrm>
            <a:off x="3333750" y="2746375"/>
            <a:ext cx="1629410" cy="1022350"/>
          </a:xfrm>
          <a:prstGeom prst="flowChartManualOperation">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Manager Qualify the enquiry  </a:t>
            </a:r>
            <a:endParaRPr lang="en-US" sz="1600">
              <a:sym typeface="+mn-ea"/>
            </a:endParaRPr>
          </a:p>
        </p:txBody>
      </p:sp>
      <p:sp>
        <p:nvSpPr>
          <p:cNvPr id="2" name="Rectangles 1"/>
          <p:cNvSpPr/>
          <p:nvPr/>
        </p:nvSpPr>
        <p:spPr>
          <a:xfrm>
            <a:off x="410845" y="4004310"/>
            <a:ext cx="1186180" cy="84201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Prospect required re quote </a:t>
            </a:r>
            <a:endParaRPr lang="en-US"/>
          </a:p>
        </p:txBody>
      </p:sp>
      <p:sp>
        <p:nvSpPr>
          <p:cNvPr id="9" name="Rectangles 8"/>
          <p:cNvSpPr/>
          <p:nvPr/>
        </p:nvSpPr>
        <p:spPr>
          <a:xfrm>
            <a:off x="7657465" y="2809240"/>
            <a:ext cx="1351915" cy="959485"/>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UN qualify the enquiry /enter comments</a:t>
            </a:r>
            <a:endParaRPr lang="en-US"/>
          </a:p>
        </p:txBody>
      </p:sp>
      <p:sp>
        <p:nvSpPr>
          <p:cNvPr id="16" name="Right Arrow 15"/>
          <p:cNvSpPr/>
          <p:nvPr/>
        </p:nvSpPr>
        <p:spPr>
          <a:xfrm>
            <a:off x="3048000"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ight Arrow 17"/>
          <p:cNvSpPr/>
          <p:nvPr/>
        </p:nvSpPr>
        <p:spPr>
          <a:xfrm>
            <a:off x="4293870" y="1979930"/>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ectangles 36"/>
          <p:cNvSpPr/>
          <p:nvPr/>
        </p:nvSpPr>
        <p:spPr>
          <a:xfrm>
            <a:off x="4612005" y="1754505"/>
            <a:ext cx="1221105" cy="7162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Prospect Required quote </a:t>
            </a:r>
            <a:endParaRPr lang="en-US"/>
          </a:p>
        </p:txBody>
      </p:sp>
      <p:sp>
        <p:nvSpPr>
          <p:cNvPr id="38" name="Down Arrow 37"/>
          <p:cNvSpPr/>
          <p:nvPr/>
        </p:nvSpPr>
        <p:spPr>
          <a:xfrm>
            <a:off x="5435600" y="2470150"/>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s 40"/>
          <p:cNvSpPr/>
          <p:nvPr/>
        </p:nvSpPr>
        <p:spPr>
          <a:xfrm>
            <a:off x="410845" y="2795270"/>
            <a:ext cx="11868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Follow up visit/Meet the Prospect   </a:t>
            </a:r>
            <a:endParaRPr lang="en-US"/>
          </a:p>
        </p:txBody>
      </p:sp>
      <p:sp>
        <p:nvSpPr>
          <p:cNvPr id="47" name="Left Arrow 46"/>
          <p:cNvSpPr/>
          <p:nvPr/>
        </p:nvSpPr>
        <p:spPr>
          <a:xfrm>
            <a:off x="3013075" y="305308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Left Arrow 47"/>
          <p:cNvSpPr/>
          <p:nvPr/>
        </p:nvSpPr>
        <p:spPr>
          <a:xfrm>
            <a:off x="1461770" y="308610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Down Arrow 59"/>
          <p:cNvSpPr/>
          <p:nvPr/>
        </p:nvSpPr>
        <p:spPr>
          <a:xfrm>
            <a:off x="822325" y="3584575"/>
            <a:ext cx="300990" cy="393700"/>
          </a:xfrm>
          <a:prstGeom prst="down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s 60"/>
          <p:cNvSpPr/>
          <p:nvPr/>
        </p:nvSpPr>
        <p:spPr>
          <a:xfrm>
            <a:off x="6134100" y="1753870"/>
            <a:ext cx="1745615" cy="78994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Quote not required /Enquiry dropped/Postponed  </a:t>
            </a:r>
            <a:endParaRPr lang="en-US"/>
          </a:p>
        </p:txBody>
      </p:sp>
      <p:sp>
        <p:nvSpPr>
          <p:cNvPr id="62" name="Right Arrow 61"/>
          <p:cNvSpPr/>
          <p:nvPr/>
        </p:nvSpPr>
        <p:spPr>
          <a:xfrm>
            <a:off x="5757545" y="1980565"/>
            <a:ext cx="376555" cy="264795"/>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3" name="Rectangles 62"/>
          <p:cNvSpPr/>
          <p:nvPr/>
        </p:nvSpPr>
        <p:spPr>
          <a:xfrm>
            <a:off x="8071485" y="1753870"/>
            <a:ext cx="937895" cy="906780"/>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Sales Manager</a:t>
            </a:r>
            <a:endParaRPr lang="en-US"/>
          </a:p>
        </p:txBody>
      </p:sp>
      <p:sp>
        <p:nvSpPr>
          <p:cNvPr id="64" name="Right Arrow 63"/>
          <p:cNvSpPr/>
          <p:nvPr/>
        </p:nvSpPr>
        <p:spPr>
          <a:xfrm>
            <a:off x="7863840" y="2074545"/>
            <a:ext cx="376555" cy="264795"/>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5" name="Down Arrow 64"/>
          <p:cNvSpPr/>
          <p:nvPr/>
        </p:nvSpPr>
        <p:spPr>
          <a:xfrm>
            <a:off x="8385810" y="2639060"/>
            <a:ext cx="300990" cy="393700"/>
          </a:xfrm>
          <a:prstGeom prst="downArrow">
            <a:avLst/>
          </a:prstGeom>
          <a:solidFill>
            <a:schemeClr val="bg2"/>
          </a:solid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s 65"/>
          <p:cNvSpPr/>
          <p:nvPr/>
        </p:nvSpPr>
        <p:spPr>
          <a:xfrm>
            <a:off x="1908175" y="3933825"/>
            <a:ext cx="1386840" cy="10490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Coordinator Regenerate the quote/Get the approval and submit</a:t>
            </a:r>
            <a:endParaRPr lang="en-US"/>
          </a:p>
        </p:txBody>
      </p:sp>
      <p:sp>
        <p:nvSpPr>
          <p:cNvPr id="67" name="Right Arrow 66"/>
          <p:cNvSpPr/>
          <p:nvPr/>
        </p:nvSpPr>
        <p:spPr>
          <a:xfrm>
            <a:off x="1562100" y="426910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8" name="Rectangles 67"/>
          <p:cNvSpPr/>
          <p:nvPr/>
        </p:nvSpPr>
        <p:spPr>
          <a:xfrm>
            <a:off x="3509645" y="3933825"/>
            <a:ext cx="1186815" cy="86868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Follow up visit/Meet the prospect to get the PO   </a:t>
            </a:r>
            <a:endParaRPr lang="en-US"/>
          </a:p>
        </p:txBody>
      </p:sp>
      <p:sp>
        <p:nvSpPr>
          <p:cNvPr id="69" name="Right Arrow 68"/>
          <p:cNvSpPr/>
          <p:nvPr/>
        </p:nvSpPr>
        <p:spPr>
          <a:xfrm>
            <a:off x="3295650" y="4236085"/>
            <a:ext cx="376555" cy="26479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0" name="Left Arrow 69"/>
          <p:cNvSpPr/>
          <p:nvPr/>
        </p:nvSpPr>
        <p:spPr>
          <a:xfrm>
            <a:off x="4670425" y="3053080"/>
            <a:ext cx="446405" cy="286385"/>
          </a:xfrm>
          <a:prstGeom prst="leftArrow">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ight Arrow 70"/>
          <p:cNvSpPr/>
          <p:nvPr/>
        </p:nvSpPr>
        <p:spPr>
          <a:xfrm>
            <a:off x="6385560" y="4220845"/>
            <a:ext cx="377190" cy="360680"/>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s 28"/>
          <p:cNvSpPr/>
          <p:nvPr/>
        </p:nvSpPr>
        <p:spPr>
          <a:xfrm>
            <a:off x="1007745" y="2767330"/>
            <a:ext cx="2536825" cy="39179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 Progress update</a:t>
            </a:r>
            <a:endParaRPr lang="en-US"/>
          </a:p>
        </p:txBody>
      </p:sp>
      <p:sp>
        <p:nvSpPr>
          <p:cNvPr id="5" name="Rectangles 4"/>
          <p:cNvSpPr/>
          <p:nvPr/>
        </p:nvSpPr>
        <p:spPr>
          <a:xfrm>
            <a:off x="3994150" y="2682875"/>
            <a:ext cx="3204210" cy="62039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sym typeface="+mn-ea"/>
              </a:rPr>
              <a:t>Validate the progress update and change the status in web(coordinator activity)</a:t>
            </a:r>
            <a:endParaRPr lang="en-US"/>
          </a:p>
        </p:txBody>
      </p:sp>
      <p:sp>
        <p:nvSpPr>
          <p:cNvPr id="6" name="Rectangles 5"/>
          <p:cNvSpPr/>
          <p:nvPr/>
        </p:nvSpPr>
        <p:spPr>
          <a:xfrm>
            <a:off x="1007110" y="3342005"/>
            <a:ext cx="2537460" cy="52387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a:sym typeface="+mn-ea"/>
              </a:rPr>
              <a:t> Advance Money Received                        </a:t>
            </a:r>
            <a:endParaRPr lang="en-US"/>
          </a:p>
        </p:txBody>
      </p:sp>
      <p:sp>
        <p:nvSpPr>
          <p:cNvPr id="7" name="Rectangles 6"/>
          <p:cNvSpPr/>
          <p:nvPr/>
        </p:nvSpPr>
        <p:spPr>
          <a:xfrm>
            <a:off x="1007745" y="4588510"/>
            <a:ext cx="2536825" cy="36576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a:t>Financier Investigation Done</a:t>
            </a:r>
            <a:endParaRPr lang="en-US"/>
          </a:p>
        </p:txBody>
      </p:sp>
      <p:sp>
        <p:nvSpPr>
          <p:cNvPr id="8" name="Rectangles 7"/>
          <p:cNvSpPr/>
          <p:nvPr/>
        </p:nvSpPr>
        <p:spPr>
          <a:xfrm>
            <a:off x="4004310" y="3390900"/>
            <a:ext cx="3204210" cy="47942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Advance Money Received (status update)</a:t>
            </a:r>
            <a:endParaRPr lang="en-US" dirty="0">
              <a:sym typeface="+mn-ea"/>
            </a:endParaRPr>
          </a:p>
        </p:txBody>
      </p:sp>
      <p:sp>
        <p:nvSpPr>
          <p:cNvPr id="9" name="Rectangles 8"/>
          <p:cNvSpPr/>
          <p:nvPr/>
        </p:nvSpPr>
        <p:spPr>
          <a:xfrm>
            <a:off x="4004945" y="3942715"/>
            <a:ext cx="3204210" cy="44386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l"/>
            <a:r>
              <a:rPr lang="en-US" dirty="0">
                <a:sym typeface="+mn-ea"/>
              </a:rPr>
              <a:t>Financier case logged in (status update)</a:t>
            </a:r>
            <a:endParaRPr lang="en-US"/>
          </a:p>
        </p:txBody>
      </p:sp>
      <p:sp>
        <p:nvSpPr>
          <p:cNvPr id="10" name="Rectangles 9"/>
          <p:cNvSpPr/>
          <p:nvPr/>
        </p:nvSpPr>
        <p:spPr>
          <a:xfrm>
            <a:off x="4004945" y="4589780"/>
            <a:ext cx="3193415" cy="398145"/>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Financier Investigation Done              (status update)</a:t>
            </a:r>
            <a:endParaRPr lang="en-US"/>
          </a:p>
        </p:txBody>
      </p:sp>
      <p:sp>
        <p:nvSpPr>
          <p:cNvPr id="11" name="Rectangles 10"/>
          <p:cNvSpPr/>
          <p:nvPr/>
        </p:nvSpPr>
        <p:spPr>
          <a:xfrm>
            <a:off x="1007110" y="3966210"/>
            <a:ext cx="2537460" cy="42037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a:sym typeface="+mn-ea"/>
              </a:rPr>
              <a:t>Financier case logged In </a:t>
            </a:r>
            <a:endParaRPr lang="en-US" dirty="0">
              <a:cs typeface="Calibri" panose="020F0502020204030204"/>
            </a:endParaRPr>
          </a:p>
        </p:txBody>
      </p:sp>
      <p:sp>
        <p:nvSpPr>
          <p:cNvPr id="12" name="Rectangles 11"/>
          <p:cNvSpPr/>
          <p:nvPr/>
        </p:nvSpPr>
        <p:spPr>
          <a:xfrm>
            <a:off x="1006475" y="5194935"/>
            <a:ext cx="2538095" cy="36512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 Delivery Order Received       </a:t>
            </a:r>
            <a:endParaRPr lang="en-US"/>
          </a:p>
        </p:txBody>
      </p:sp>
      <p:sp>
        <p:nvSpPr>
          <p:cNvPr id="13" name="Rectangles 12"/>
          <p:cNvSpPr/>
          <p:nvPr/>
        </p:nvSpPr>
        <p:spPr>
          <a:xfrm>
            <a:off x="4004945" y="5180330"/>
            <a:ext cx="3193415" cy="39370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Delivery Order Received(status update)</a:t>
            </a:r>
            <a:endParaRPr lang="en-US"/>
          </a:p>
        </p:txBody>
      </p:sp>
      <p:sp>
        <p:nvSpPr>
          <p:cNvPr id="20" name="Down Arrow 19"/>
          <p:cNvSpPr/>
          <p:nvPr/>
        </p:nvSpPr>
        <p:spPr>
          <a:xfrm>
            <a:off x="5424964" y="3303429"/>
            <a:ext cx="364331" cy="25146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Down Arrow 20"/>
          <p:cNvSpPr/>
          <p:nvPr/>
        </p:nvSpPr>
        <p:spPr>
          <a:xfrm>
            <a:off x="5413693" y="3865721"/>
            <a:ext cx="364331" cy="23241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Down Arrow 21"/>
          <p:cNvSpPr/>
          <p:nvPr/>
        </p:nvSpPr>
        <p:spPr>
          <a:xfrm>
            <a:off x="5413852" y="4354989"/>
            <a:ext cx="364331" cy="23383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3" name="Rectangles 22"/>
          <p:cNvSpPr/>
          <p:nvPr/>
        </p:nvSpPr>
        <p:spPr>
          <a:xfrm>
            <a:off x="3994150" y="5814060"/>
            <a:ext cx="3204210" cy="33274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sym typeface="+mn-ea"/>
              </a:rPr>
              <a:t>Margin Money Received(status update)</a:t>
            </a:r>
            <a:endParaRPr lang="en-US"/>
          </a:p>
        </p:txBody>
      </p:sp>
      <p:sp>
        <p:nvSpPr>
          <p:cNvPr id="24" name="Rectangles 23"/>
          <p:cNvSpPr/>
          <p:nvPr/>
        </p:nvSpPr>
        <p:spPr>
          <a:xfrm>
            <a:off x="979170" y="5813425"/>
            <a:ext cx="2565400" cy="333375"/>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lIns="91440" tIns="45720" rIns="91440" bIns="45720" rtlCol="0" anchor="ctr"/>
          <a:lstStyle/>
          <a:p>
            <a:pPr algn="ctr"/>
            <a:r>
              <a:rPr lang="en-US" dirty="0"/>
              <a:t>Margin Money Received</a:t>
            </a:r>
            <a:endParaRPr lang="en-US"/>
          </a:p>
        </p:txBody>
      </p:sp>
      <p:sp>
        <p:nvSpPr>
          <p:cNvPr id="25" name="Down Arrow 24"/>
          <p:cNvSpPr/>
          <p:nvPr/>
        </p:nvSpPr>
        <p:spPr>
          <a:xfrm>
            <a:off x="5414011" y="4988084"/>
            <a:ext cx="364331" cy="33289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6" name="Down Arrow 25"/>
          <p:cNvSpPr/>
          <p:nvPr/>
        </p:nvSpPr>
        <p:spPr>
          <a:xfrm>
            <a:off x="5414011" y="5560219"/>
            <a:ext cx="364331" cy="33289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47" name="Content Placeholder 46"/>
          <p:cNvGraphicFramePr>
            <a:graphicFrameLocks noGrp="1"/>
          </p:cNvGraphicFramePr>
          <p:nvPr>
            <p:ph sz="half" idx="4294967295"/>
          </p:nvPr>
        </p:nvGraphicFramePr>
        <p:xfrm>
          <a:off x="7363460" y="2745740"/>
          <a:ext cx="1644015" cy="1560830"/>
        </p:xfrm>
        <a:graphic>
          <a:graphicData uri="http://schemas.openxmlformats.org/presentationml/2006/ole">
            <mc:AlternateContent xmlns:mc="http://schemas.openxmlformats.org/markup-compatibility/2006">
              <mc:Choice xmlns:v="urn:schemas-microsoft-com:vml" Requires="v">
                <p:oleObj spid="_x0000_s30725" name="" r:id="rId1" imgW="4610100" imgH="2524125" progId="Paint.Picture">
                  <p:embed/>
                </p:oleObj>
              </mc:Choice>
              <mc:Fallback>
                <p:oleObj name="" r:id="rId1" imgW="4610100" imgH="2524125" progId="Paint.Picture">
                  <p:embed/>
                  <p:pic>
                    <p:nvPicPr>
                      <p:cNvPr id="0" name="Content Placeholder 46"/>
                      <p:cNvPicPr/>
                      <p:nvPr/>
                    </p:nvPicPr>
                    <p:blipFill>
                      <a:blip r:embed="rId2"/>
                      <a:stretch>
                        <a:fillRect/>
                      </a:stretch>
                    </p:blipFill>
                    <p:spPr>
                      <a:xfrm>
                        <a:off x="7363460" y="2745740"/>
                        <a:ext cx="1644015" cy="1560830"/>
                      </a:xfrm>
                      <a:prstGeom prst="rect">
                        <a:avLst/>
                      </a:prstGeom>
                    </p:spPr>
                  </p:pic>
                </p:oleObj>
              </mc:Fallback>
            </mc:AlternateContent>
          </a:graphicData>
        </a:graphic>
      </p:graphicFrame>
      <p:graphicFrame>
        <p:nvGraphicFramePr>
          <p:cNvPr id="53" name="Object 52"/>
          <p:cNvGraphicFramePr/>
          <p:nvPr/>
        </p:nvGraphicFramePr>
        <p:xfrm>
          <a:off x="244" y="2745484"/>
          <a:ext cx="955358" cy="1640681"/>
        </p:xfrm>
        <a:graphic>
          <a:graphicData uri="http://schemas.openxmlformats.org/presentationml/2006/ole">
            <mc:AlternateContent xmlns:mc="http://schemas.openxmlformats.org/markup-compatibility/2006">
              <mc:Choice xmlns:v="urn:schemas-microsoft-com:vml" Requires="v">
                <p:oleObj spid="_x0000_s30726" name="" r:id="rId3" imgW="4867275" imgH="3086100" progId="Paint.Picture">
                  <p:embed/>
                </p:oleObj>
              </mc:Choice>
              <mc:Fallback>
                <p:oleObj name="" r:id="rId3" imgW="4867275" imgH="3086100" progId="Paint.Picture">
                  <p:embed/>
                  <p:pic>
                    <p:nvPicPr>
                      <p:cNvPr id="0" name="Object 52"/>
                      <p:cNvPicPr/>
                      <p:nvPr/>
                    </p:nvPicPr>
                    <p:blipFill>
                      <a:blip r:embed="rId4"/>
                      <a:stretch>
                        <a:fillRect/>
                      </a:stretch>
                    </p:blipFill>
                    <p:spPr>
                      <a:xfrm>
                        <a:off x="244" y="2745484"/>
                        <a:ext cx="955358" cy="1640681"/>
                      </a:xfrm>
                      <a:prstGeom prst="rect">
                        <a:avLst/>
                      </a:prstGeom>
                    </p:spPr>
                  </p:pic>
                </p:oleObj>
              </mc:Fallback>
            </mc:AlternateContent>
          </a:graphicData>
        </a:graphic>
      </p:graphicFrame>
      <p:sp>
        <p:nvSpPr>
          <p:cNvPr id="3" name="TextBox 4"/>
          <p:cNvSpPr txBox="1">
            <a:spLocks noChangeArrowheads="1"/>
          </p:cNvSpPr>
          <p:nvPr/>
        </p:nvSpPr>
        <p:spPr bwMode="auto">
          <a:xfrm>
            <a:off x="0" y="0"/>
            <a:ext cx="7858148" cy="89154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 Proforma Given ,Progress and status update</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2" name="Rectangles 1"/>
          <p:cNvSpPr/>
          <p:nvPr/>
        </p:nvSpPr>
        <p:spPr>
          <a:xfrm>
            <a:off x="156845" y="891540"/>
            <a:ext cx="4815205" cy="17233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Once the PO is received ,  coordinator will generate the Proforma invoice .Get the approval from Manager and then submit the Proforma.  Update the status in web  ( PROFORMA GIVEN).After PI Given sales engineer will do the progress update via his mobile app .Coordinator will do the status update in web app after validating the progress update given by Sales Engineer </a:t>
            </a:r>
            <a:endParaRPr lang="en-US"/>
          </a:p>
        </p:txBody>
      </p:sp>
      <p:sp>
        <p:nvSpPr>
          <p:cNvPr id="16" name="Down Arrow 15"/>
          <p:cNvSpPr/>
          <p:nvPr/>
        </p:nvSpPr>
        <p:spPr>
          <a:xfrm>
            <a:off x="5359400" y="6111240"/>
            <a:ext cx="473075" cy="4597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8" name="Right Arrow 27"/>
          <p:cNvSpPr/>
          <p:nvPr/>
        </p:nvSpPr>
        <p:spPr>
          <a:xfrm>
            <a:off x="3544570" y="581342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Down Arrow 31"/>
          <p:cNvSpPr/>
          <p:nvPr/>
        </p:nvSpPr>
        <p:spPr>
          <a:xfrm>
            <a:off x="2292351" y="2462054"/>
            <a:ext cx="364331" cy="332899"/>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Right Arrow 32"/>
          <p:cNvSpPr/>
          <p:nvPr/>
        </p:nvSpPr>
        <p:spPr>
          <a:xfrm>
            <a:off x="4801553" y="1472089"/>
            <a:ext cx="460534" cy="364331"/>
          </a:xfrm>
          <a:prstGeom prst="rightArrow">
            <a:avLst/>
          </a:prstGeom>
          <a:solidFill>
            <a:schemeClr val="bg2"/>
          </a:solidFill>
          <a:ln>
            <a:prstDash val="sysDash"/>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ectangles 33"/>
          <p:cNvSpPr/>
          <p:nvPr/>
        </p:nvSpPr>
        <p:spPr>
          <a:xfrm>
            <a:off x="5262245" y="891540"/>
            <a:ext cx="2509520" cy="1722755"/>
          </a:xfrm>
          <a:prstGeom prst="rect">
            <a:avLst/>
          </a:prstGeom>
          <a:ln>
            <a:prstDash val="sysDash"/>
          </a:ln>
        </p:spPr>
        <p:style>
          <a:lnRef idx="2">
            <a:schemeClr val="accent1"/>
          </a:lnRef>
          <a:fillRef idx="1">
            <a:schemeClr val="lt1"/>
          </a:fillRef>
          <a:effectRef idx="0">
            <a:schemeClr val="accent1"/>
          </a:effectRef>
          <a:fontRef idx="minor">
            <a:schemeClr val="dk1"/>
          </a:fontRef>
        </p:style>
        <p:txBody>
          <a:bodyPr rtlCol="0" anchor="ctr"/>
          <a:lstStyle/>
          <a:p>
            <a:pPr algn="ctr"/>
            <a:r>
              <a:rPr lang="en-US"/>
              <a:t>If There is No Progress after Proforma Given  sales engineer can send No Progress update via his app - by clicking the enquiry and select No Progress.</a:t>
            </a:r>
            <a:endParaRPr lang="en-US"/>
          </a:p>
        </p:txBody>
      </p:sp>
      <p:sp>
        <p:nvSpPr>
          <p:cNvPr id="14" name="Right Arrow 13"/>
          <p:cNvSpPr/>
          <p:nvPr/>
        </p:nvSpPr>
        <p:spPr>
          <a:xfrm>
            <a:off x="3544570" y="526224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7" name="Right Arrow 16"/>
          <p:cNvSpPr/>
          <p:nvPr/>
        </p:nvSpPr>
        <p:spPr>
          <a:xfrm>
            <a:off x="3544570" y="465645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ight Arrow 26"/>
          <p:cNvSpPr/>
          <p:nvPr/>
        </p:nvSpPr>
        <p:spPr>
          <a:xfrm>
            <a:off x="3534410" y="400875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ight Arrow 34"/>
          <p:cNvSpPr/>
          <p:nvPr/>
        </p:nvSpPr>
        <p:spPr>
          <a:xfrm>
            <a:off x="3534410" y="348170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Right Arrow 35"/>
          <p:cNvSpPr/>
          <p:nvPr/>
        </p:nvSpPr>
        <p:spPr>
          <a:xfrm>
            <a:off x="3544570" y="2844165"/>
            <a:ext cx="459740" cy="29781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9" name="Object 18"/>
          <p:cNvGraphicFramePr/>
          <p:nvPr/>
        </p:nvGraphicFramePr>
        <p:xfrm>
          <a:off x="2302510" y="4062095"/>
          <a:ext cx="1508760" cy="2373630"/>
        </p:xfrm>
        <a:graphic>
          <a:graphicData uri="http://schemas.openxmlformats.org/presentationml/2006/ole">
            <mc:AlternateContent xmlns:mc="http://schemas.openxmlformats.org/markup-compatibility/2006">
              <mc:Choice xmlns:v="urn:schemas-microsoft-com:vml" Requires="v">
                <p:oleObj spid="_x0000_s31749" name="" r:id="rId1" imgW="2009775" imgH="3162300" progId="Paint.Picture">
                  <p:embed/>
                </p:oleObj>
              </mc:Choice>
              <mc:Fallback>
                <p:oleObj name="" r:id="rId1" imgW="2009775" imgH="3162300" progId="Paint.Picture">
                  <p:embed/>
                  <p:pic>
                    <p:nvPicPr>
                      <p:cNvPr id="0" name="Object 18"/>
                      <p:cNvPicPr/>
                      <p:nvPr/>
                    </p:nvPicPr>
                    <p:blipFill>
                      <a:blip r:embed="rId2"/>
                      <a:stretch>
                        <a:fillRect/>
                      </a:stretch>
                    </p:blipFill>
                    <p:spPr>
                      <a:xfrm>
                        <a:off x="2302510" y="4062095"/>
                        <a:ext cx="1508760" cy="2373630"/>
                      </a:xfrm>
                      <a:prstGeom prst="rect">
                        <a:avLst/>
                      </a:prstGeom>
                    </p:spPr>
                  </p:pic>
                </p:oleObj>
              </mc:Fallback>
            </mc:AlternateContent>
          </a:graphicData>
        </a:graphic>
      </p:graphicFrame>
      <p:graphicFrame>
        <p:nvGraphicFramePr>
          <p:cNvPr id="21" name="Object 20"/>
          <p:cNvGraphicFramePr/>
          <p:nvPr/>
        </p:nvGraphicFramePr>
        <p:xfrm>
          <a:off x="772795" y="4062095"/>
          <a:ext cx="1529715" cy="2373630"/>
        </p:xfrm>
        <a:graphic>
          <a:graphicData uri="http://schemas.openxmlformats.org/presentationml/2006/ole">
            <mc:AlternateContent xmlns:mc="http://schemas.openxmlformats.org/markup-compatibility/2006">
              <mc:Choice xmlns:v="urn:schemas-microsoft-com:vml" Requires="v">
                <p:oleObj spid="_x0000_s31750" name="" r:id="rId3" imgW="2038350" imgH="3209925" progId="Paint.Picture">
                  <p:embed/>
                </p:oleObj>
              </mc:Choice>
              <mc:Fallback>
                <p:oleObj name="" r:id="rId3" imgW="2038350" imgH="3209925" progId="Paint.Picture">
                  <p:embed/>
                  <p:pic>
                    <p:nvPicPr>
                      <p:cNvPr id="0" name="Object 20"/>
                      <p:cNvPicPr/>
                      <p:nvPr/>
                    </p:nvPicPr>
                    <p:blipFill>
                      <a:blip r:embed="rId4"/>
                      <a:stretch>
                        <a:fillRect/>
                      </a:stretch>
                    </p:blipFill>
                    <p:spPr>
                      <a:xfrm>
                        <a:off x="772795" y="4062095"/>
                        <a:ext cx="1529715" cy="2373630"/>
                      </a:xfrm>
                      <a:prstGeom prst="rect">
                        <a:avLst/>
                      </a:prstGeom>
                    </p:spPr>
                  </p:pic>
                </p:oleObj>
              </mc:Fallback>
            </mc:AlternateContent>
          </a:graphicData>
        </a:graphic>
      </p:graphicFrame>
      <p:sp>
        <p:nvSpPr>
          <p:cNvPr id="5"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2" name="Flowchart: Manual Operation 1"/>
          <p:cNvSpPr/>
          <p:nvPr/>
        </p:nvSpPr>
        <p:spPr>
          <a:xfrm>
            <a:off x="624840" y="1236980"/>
            <a:ext cx="2318385" cy="1209040"/>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a:t>Billing Done</a:t>
            </a:r>
            <a:endParaRPr lang="en-US"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s 35"/>
          <p:cNvSpPr/>
          <p:nvPr/>
        </p:nvSpPr>
        <p:spPr>
          <a:xfrm>
            <a:off x="3671411" y="3445669"/>
            <a:ext cx="1104900" cy="651034"/>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Prepare meeting report </a:t>
            </a:r>
            <a:endParaRPr lang="en-US"/>
          </a:p>
        </p:txBody>
      </p:sp>
      <p:sp>
        <p:nvSpPr>
          <p:cNvPr id="5" name="Rounded Rectangle 4"/>
          <p:cNvSpPr/>
          <p:nvPr/>
        </p:nvSpPr>
        <p:spPr>
          <a:xfrm>
            <a:off x="65247" y="3445193"/>
            <a:ext cx="1997869" cy="225790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cs typeface="Calibri" panose="020F0502020204030204"/>
              </a:rPr>
              <a:t>Enquiry Generated and auto assigned to the sales Engineer based on the input given in meeting report.Enquiry will be available In Engineer app My tasks to do the further progress update</a:t>
            </a:r>
            <a:endParaRPr lang="en-US" dirty="0">
              <a:solidFill>
                <a:schemeClr val="tx1"/>
              </a:solidFill>
              <a:effectLst/>
              <a:cs typeface="Calibri" panose="020F0502020204030204"/>
            </a:endParaRPr>
          </a:p>
        </p:txBody>
      </p:sp>
      <p:sp>
        <p:nvSpPr>
          <p:cNvPr id="6" name="Rectangles 5"/>
          <p:cNvSpPr/>
          <p:nvPr/>
        </p:nvSpPr>
        <p:spPr>
          <a:xfrm>
            <a:off x="4922997" y="3445669"/>
            <a:ext cx="1005364" cy="650081"/>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Meeting start</a:t>
            </a:r>
            <a:endParaRPr lang="en-US"/>
          </a:p>
        </p:txBody>
      </p:sp>
      <p:sp>
        <p:nvSpPr>
          <p:cNvPr id="12" name="Rounded Rectangle 11"/>
          <p:cNvSpPr/>
          <p:nvPr/>
        </p:nvSpPr>
        <p:spPr>
          <a:xfrm>
            <a:off x="65247" y="2296478"/>
            <a:ext cx="1827371" cy="994410"/>
          </a:xfrm>
          <a:prstGeom prst="round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Sales Engineer speaks with Prospect and plan for the visit.</a:t>
            </a:r>
            <a:r>
              <a:rPr lang="en-US" dirty="0">
                <a:solidFill>
                  <a:schemeClr val="tx1"/>
                </a:solidFill>
                <a:effectLst>
                  <a:outerShdw blurRad="38100" dist="25400" dir="5400000" algn="ctr" rotWithShape="0">
                    <a:srgbClr val="6E747A">
                      <a:alpha val="43000"/>
                    </a:srgbClr>
                  </a:outerShdw>
                </a:effectLst>
              </a:rPr>
              <a:t>   </a:t>
            </a:r>
            <a:endParaRPr lang="en-US" dirty="0">
              <a:solidFill>
                <a:schemeClr val="tx1"/>
              </a:solidFill>
              <a:effectLst>
                <a:outerShdw blurRad="38100" dist="25400" dir="5400000" algn="ctr" rotWithShape="0">
                  <a:srgbClr val="6E747A">
                    <a:alpha val="43000"/>
                  </a:srgbClr>
                </a:outerShdw>
              </a:effectLst>
              <a:cs typeface="Calibri" panose="020F0502020204030204"/>
            </a:endParaRPr>
          </a:p>
        </p:txBody>
      </p:sp>
      <p:sp>
        <p:nvSpPr>
          <p:cNvPr id="19" name="Rectangles 18"/>
          <p:cNvSpPr/>
          <p:nvPr/>
        </p:nvSpPr>
        <p:spPr>
          <a:xfrm>
            <a:off x="7547134" y="3445192"/>
            <a:ext cx="1403509" cy="650558"/>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Trip start to Meet the Prospect</a:t>
            </a:r>
            <a:endParaRPr lang="en-US"/>
          </a:p>
        </p:txBody>
      </p:sp>
      <p:sp>
        <p:nvSpPr>
          <p:cNvPr id="2" name="Rounded Rectangle 1"/>
          <p:cNvSpPr/>
          <p:nvPr/>
        </p:nvSpPr>
        <p:spPr>
          <a:xfrm>
            <a:off x="2250758" y="2296954"/>
            <a:ext cx="1910715" cy="994410"/>
          </a:xfrm>
          <a:prstGeom prst="round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Generate Sales visit  In Sales visit logging by MService Mobile app </a:t>
            </a:r>
            <a:endParaRPr lang="en-US" dirty="0">
              <a:solidFill>
                <a:schemeClr val="tx1"/>
              </a:solidFill>
              <a:effectLst/>
              <a:cs typeface="Calibri" panose="020F0502020204030204"/>
            </a:endParaRPr>
          </a:p>
        </p:txBody>
      </p:sp>
      <p:sp>
        <p:nvSpPr>
          <p:cNvPr id="15" name="Rounded Rectangle 14"/>
          <p:cNvSpPr/>
          <p:nvPr/>
        </p:nvSpPr>
        <p:spPr>
          <a:xfrm>
            <a:off x="4534535" y="2296795"/>
            <a:ext cx="1393190" cy="994410"/>
          </a:xfrm>
          <a:prstGeom prst="round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Visit No auto assigned by system to Sales engineer </a:t>
            </a:r>
            <a:endParaRPr lang="en-US" dirty="0">
              <a:solidFill>
                <a:schemeClr val="tx1"/>
              </a:solidFill>
              <a:effectLst/>
              <a:cs typeface="Calibri" panose="020F0502020204030204"/>
            </a:endParaRPr>
          </a:p>
        </p:txBody>
      </p:sp>
      <p:sp>
        <p:nvSpPr>
          <p:cNvPr id="22" name="Rounded Rectangle 21"/>
          <p:cNvSpPr/>
          <p:nvPr/>
        </p:nvSpPr>
        <p:spPr>
          <a:xfrm>
            <a:off x="6198394" y="2296954"/>
            <a:ext cx="2752249" cy="994410"/>
          </a:xfrm>
          <a:prstGeom prst="roundRect">
            <a:avLst>
              <a:gd name="adj" fmla="val 15517"/>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rPr>
              <a:t>Progress the visit through My Tasks </a:t>
            </a:r>
            <a:endParaRPr lang="en-US" dirty="0">
              <a:solidFill>
                <a:schemeClr val="tx1"/>
              </a:solidFill>
              <a:effectLst/>
              <a:cs typeface="Calibri" panose="020F0502020204030204"/>
            </a:endParaRPr>
          </a:p>
        </p:txBody>
      </p:sp>
      <p:sp>
        <p:nvSpPr>
          <p:cNvPr id="23" name="Rectangles 22"/>
          <p:cNvSpPr/>
          <p:nvPr/>
        </p:nvSpPr>
        <p:spPr>
          <a:xfrm>
            <a:off x="6075521" y="3445669"/>
            <a:ext cx="1175385" cy="650081"/>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Trip finish</a:t>
            </a:r>
            <a:endParaRPr lang="en-US"/>
          </a:p>
        </p:txBody>
      </p:sp>
      <p:sp>
        <p:nvSpPr>
          <p:cNvPr id="24" name="Rectangles 23"/>
          <p:cNvSpPr/>
          <p:nvPr/>
        </p:nvSpPr>
        <p:spPr>
          <a:xfrm>
            <a:off x="2430780" y="3445669"/>
            <a:ext cx="1104900" cy="651034"/>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Submit the meeting report </a:t>
            </a:r>
            <a:endParaRPr lang="en-US"/>
          </a:p>
        </p:txBody>
      </p:sp>
      <p:sp>
        <p:nvSpPr>
          <p:cNvPr id="26" name="Rectangles 25"/>
          <p:cNvSpPr/>
          <p:nvPr/>
        </p:nvSpPr>
        <p:spPr>
          <a:xfrm>
            <a:off x="3754279" y="4320540"/>
            <a:ext cx="5196364" cy="138255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t>Meeting Report contains-Customer details,Contact details, Existing fleet list,Customer type,Customer Segment,Financier details,Requirement( Equipment category,Application,Model,Model description,Quantity,Accessories required,Deal details),Probable date of closure,Next Followup date,Meeting comments. </a:t>
            </a:r>
            <a:endParaRPr lang="en-US"/>
          </a:p>
        </p:txBody>
      </p:sp>
      <p:sp>
        <p:nvSpPr>
          <p:cNvPr id="30" name="Left Arrow 29"/>
          <p:cNvSpPr/>
          <p:nvPr/>
        </p:nvSpPr>
        <p:spPr>
          <a:xfrm flipV="1">
            <a:off x="5864225"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1" name="Down Arrow 30"/>
          <p:cNvSpPr/>
          <p:nvPr/>
        </p:nvSpPr>
        <p:spPr>
          <a:xfrm>
            <a:off x="4161473" y="4095750"/>
            <a:ext cx="364331" cy="40338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2" name="Bent-Up Arrow 31"/>
          <p:cNvSpPr/>
          <p:nvPr/>
        </p:nvSpPr>
        <p:spPr>
          <a:xfrm flipH="1">
            <a:off x="3005455" y="4097020"/>
            <a:ext cx="742950" cy="686435"/>
          </a:xfrm>
          <a:prstGeom prst="bentUp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5" name="Right Arrow 34"/>
          <p:cNvSpPr/>
          <p:nvPr/>
        </p:nvSpPr>
        <p:spPr>
          <a:xfrm>
            <a:off x="4176395" y="2612390"/>
            <a:ext cx="349250" cy="31496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7" name="Right Arrow 36"/>
          <p:cNvSpPr/>
          <p:nvPr/>
        </p:nvSpPr>
        <p:spPr>
          <a:xfrm>
            <a:off x="5800090" y="2612390"/>
            <a:ext cx="398145" cy="31496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8" name="Down Arrow 37"/>
          <p:cNvSpPr/>
          <p:nvPr/>
        </p:nvSpPr>
        <p:spPr>
          <a:xfrm>
            <a:off x="8288020" y="3042285"/>
            <a:ext cx="335915" cy="403225"/>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9" name="Down Arrow 38"/>
          <p:cNvSpPr/>
          <p:nvPr/>
        </p:nvSpPr>
        <p:spPr>
          <a:xfrm>
            <a:off x="882016" y="5619750"/>
            <a:ext cx="364331" cy="40338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TextBox 4"/>
          <p:cNvSpPr txBox="1">
            <a:spLocks noChangeArrowheads="1"/>
          </p:cNvSpPr>
          <p:nvPr/>
        </p:nvSpPr>
        <p:spPr bwMode="auto">
          <a:xfrm>
            <a:off x="0" y="0"/>
            <a:ext cx="7547610" cy="181483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r>
              <a:rPr lang="en-US" sz="2000" b="1" dirty="0">
                <a:solidFill>
                  <a:srgbClr val="FF6A47"/>
                </a:solidFill>
                <a:latin typeface="Arial" panose="020B0604020202020204"/>
                <a:ea typeface="Arial Unicode MS" panose="020B0604020202020204" charset="-122"/>
                <a:cs typeface="Arial Unicode MS" panose="020B0604020202020204" charset="-122"/>
                <a:sym typeface="+mn-ea"/>
              </a:rPr>
              <a:t>Sales Visit and Enquiry                                   Generation By Sales Engineer ( Positive flow)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a:p>
            <a:pPr>
              <a:defRPr/>
            </a:pP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3" name="Right Arrow 2"/>
          <p:cNvSpPr/>
          <p:nvPr/>
        </p:nvSpPr>
        <p:spPr>
          <a:xfrm>
            <a:off x="1892935" y="2612390"/>
            <a:ext cx="398145" cy="31496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7" name="Left Arrow 6"/>
          <p:cNvSpPr/>
          <p:nvPr/>
        </p:nvSpPr>
        <p:spPr>
          <a:xfrm flipV="1">
            <a:off x="3478530"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8" name="Left Arrow 7"/>
          <p:cNvSpPr/>
          <p:nvPr/>
        </p:nvSpPr>
        <p:spPr>
          <a:xfrm flipV="1">
            <a:off x="4776470"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0" name="Left Arrow 9"/>
          <p:cNvSpPr/>
          <p:nvPr/>
        </p:nvSpPr>
        <p:spPr>
          <a:xfrm flipV="1">
            <a:off x="7251065"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1" name="Left Arrow 10"/>
          <p:cNvSpPr/>
          <p:nvPr/>
        </p:nvSpPr>
        <p:spPr>
          <a:xfrm flipV="1">
            <a:off x="2063115" y="3589020"/>
            <a:ext cx="269875" cy="389890"/>
          </a:xfrm>
          <a:prstGeom prst="lef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Down Arrow 13"/>
          <p:cNvSpPr/>
          <p:nvPr/>
        </p:nvSpPr>
        <p:spPr>
          <a:xfrm>
            <a:off x="796926" y="2018030"/>
            <a:ext cx="364331" cy="40338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58" name="Flowchart: Manual Operation 57"/>
          <p:cNvSpPr/>
          <p:nvPr/>
        </p:nvSpPr>
        <p:spPr>
          <a:xfrm>
            <a:off x="187325" y="1249045"/>
            <a:ext cx="1583690" cy="76898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Enquiry Source  </a:t>
            </a:r>
            <a:endParaRPr lang="en-US" sz="160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p:cNvSpPr txBox="1">
            <a:spLocks noChangeArrowheads="1"/>
          </p:cNvSpPr>
          <p:nvPr/>
        </p:nvSpPr>
        <p:spPr bwMode="auto">
          <a:xfrm>
            <a:off x="339566" y="847249"/>
            <a:ext cx="7431405" cy="829945"/>
          </a:xfrm>
          <a:prstGeom prst="rect">
            <a:avLst/>
          </a:prstGeom>
          <a:noFill/>
          <a:ln w="9525">
            <a:noFill/>
            <a:miter lim="800000"/>
          </a:ln>
        </p:spPr>
        <p:txBody>
          <a:bodyPr wrap="square" anchor="t">
            <a:spAutoFit/>
          </a:bodyPr>
          <a:lstStyle/>
          <a:p>
            <a:pPr algn="ctr">
              <a:defRPr/>
            </a:pPr>
            <a:r>
              <a:rPr lang="en-US" sz="2400" b="1">
                <a:solidFill>
                  <a:srgbClr val="6775FD"/>
                </a:solidFill>
                <a:latin typeface="+mj-lt"/>
                <a:ea typeface="Arial Unicode MS" panose="020B0604020202020204" charset="-122"/>
                <a:cs typeface="Arial Unicode MS" panose="020B0604020202020204" charset="-122"/>
              </a:rPr>
              <a:t>Sales Engineer, sales Manager &amp; Coordinator's activity                    after Enquiry Generation to PO Received( Positive flow)</a:t>
            </a:r>
            <a:endParaRPr lang="en-US" sz="2100" dirty="0">
              <a:solidFill>
                <a:srgbClr val="6775FD"/>
              </a:solidFill>
              <a:latin typeface="+mj-lt"/>
            </a:endParaRPr>
          </a:p>
        </p:txBody>
      </p:sp>
      <p:sp>
        <p:nvSpPr>
          <p:cNvPr id="5" name="Rounded Rectangle 4"/>
          <p:cNvSpPr/>
          <p:nvPr/>
        </p:nvSpPr>
        <p:spPr>
          <a:xfrm>
            <a:off x="122555" y="1759585"/>
            <a:ext cx="2054860" cy="294830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tx1"/>
                </a:solidFill>
                <a:effectLst/>
                <a:cs typeface="Calibri" panose="020F0502020204030204"/>
              </a:rPr>
              <a:t>Enquiry Generated and auto assigned to the sales Engineer based on the input given in meeting report.Enquiry will be available In Engineer app My tasks to do the further progress update .Enquiry is available in web app for Sales Manager &amp; coordinator access</a:t>
            </a:r>
            <a:endParaRPr lang="en-US" dirty="0">
              <a:solidFill>
                <a:schemeClr val="tx1"/>
              </a:solidFill>
              <a:effectLst/>
              <a:cs typeface="Calibri" panose="020F0502020204030204"/>
            </a:endParaRPr>
          </a:p>
        </p:txBody>
      </p:sp>
      <p:sp>
        <p:nvSpPr>
          <p:cNvPr id="6" name="Rectangles 5"/>
          <p:cNvSpPr/>
          <p:nvPr/>
        </p:nvSpPr>
        <p:spPr>
          <a:xfrm>
            <a:off x="2628900" y="2217420"/>
            <a:ext cx="1337310" cy="6286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Engineer's activity</a:t>
            </a:r>
            <a:endParaRPr lang="en-US"/>
          </a:p>
        </p:txBody>
      </p:sp>
      <p:sp>
        <p:nvSpPr>
          <p:cNvPr id="8" name="Rectangles 7"/>
          <p:cNvSpPr/>
          <p:nvPr/>
        </p:nvSpPr>
        <p:spPr>
          <a:xfrm>
            <a:off x="2628900" y="2962275"/>
            <a:ext cx="1337310" cy="62865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Manager's activity</a:t>
            </a:r>
            <a:endParaRPr lang="en-US"/>
          </a:p>
        </p:txBody>
      </p:sp>
      <p:sp>
        <p:nvSpPr>
          <p:cNvPr id="11" name="Rectangles 10"/>
          <p:cNvSpPr/>
          <p:nvPr/>
        </p:nvSpPr>
        <p:spPr>
          <a:xfrm>
            <a:off x="4389120" y="2217420"/>
            <a:ext cx="2872740" cy="6286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Do the followup visit and update via app and review with Manager</a:t>
            </a:r>
            <a:endParaRPr lang="en-US"/>
          </a:p>
        </p:txBody>
      </p:sp>
      <p:sp>
        <p:nvSpPr>
          <p:cNvPr id="12" name="Rectangles 11"/>
          <p:cNvSpPr/>
          <p:nvPr/>
        </p:nvSpPr>
        <p:spPr>
          <a:xfrm>
            <a:off x="4389120" y="2962275"/>
            <a:ext cx="1337310" cy="62865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Review with sales Engineer</a:t>
            </a:r>
            <a:endParaRPr lang="en-US"/>
          </a:p>
        </p:txBody>
      </p:sp>
      <p:sp>
        <p:nvSpPr>
          <p:cNvPr id="14" name="Rectangles 13"/>
          <p:cNvSpPr/>
          <p:nvPr/>
        </p:nvSpPr>
        <p:spPr>
          <a:xfrm>
            <a:off x="2628900" y="3777615"/>
            <a:ext cx="3097054" cy="62865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coordinator's activity</a:t>
            </a:r>
            <a:endParaRPr lang="en-US"/>
          </a:p>
        </p:txBody>
      </p:sp>
      <p:sp>
        <p:nvSpPr>
          <p:cNvPr id="15" name="Right Arrow 14"/>
          <p:cNvSpPr/>
          <p:nvPr/>
        </p:nvSpPr>
        <p:spPr>
          <a:xfrm>
            <a:off x="3966210" y="319024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9" name="Down Arrow 18"/>
          <p:cNvSpPr/>
          <p:nvPr/>
        </p:nvSpPr>
        <p:spPr>
          <a:xfrm>
            <a:off x="5264785" y="2779395"/>
            <a:ext cx="297180" cy="29718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ectangles 20"/>
          <p:cNvSpPr/>
          <p:nvPr/>
        </p:nvSpPr>
        <p:spPr>
          <a:xfrm>
            <a:off x="5924550" y="3777615"/>
            <a:ext cx="1337310" cy="62865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Generate Quotation</a:t>
            </a:r>
            <a:endParaRPr lang="en-US"/>
          </a:p>
        </p:txBody>
      </p:sp>
      <p:sp>
        <p:nvSpPr>
          <p:cNvPr id="23" name="Down Arrow 22"/>
          <p:cNvSpPr/>
          <p:nvPr/>
        </p:nvSpPr>
        <p:spPr>
          <a:xfrm>
            <a:off x="6483350" y="3502819"/>
            <a:ext cx="297180" cy="4343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4" name="Rectangles 23"/>
          <p:cNvSpPr/>
          <p:nvPr/>
        </p:nvSpPr>
        <p:spPr>
          <a:xfrm>
            <a:off x="7380923" y="2938939"/>
            <a:ext cx="1223010" cy="628650"/>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Approve &amp; submit  the quotation </a:t>
            </a:r>
            <a:endParaRPr lang="en-US"/>
          </a:p>
        </p:txBody>
      </p:sp>
      <p:sp>
        <p:nvSpPr>
          <p:cNvPr id="26" name="Bent-Up Arrow 25"/>
          <p:cNvSpPr/>
          <p:nvPr/>
        </p:nvSpPr>
        <p:spPr>
          <a:xfrm>
            <a:off x="7261860" y="3567589"/>
            <a:ext cx="637223" cy="548164"/>
          </a:xfrm>
          <a:prstGeom prst="bentUpArrow">
            <a:avLst>
              <a:gd name="adj1" fmla="val 25000"/>
              <a:gd name="adj2" fmla="val 26020"/>
              <a:gd name="adj3" fmla="val 25000"/>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7" name="Rectangles 26"/>
          <p:cNvSpPr/>
          <p:nvPr/>
        </p:nvSpPr>
        <p:spPr>
          <a:xfrm>
            <a:off x="7380923" y="2217420"/>
            <a:ext cx="1223010" cy="628650"/>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Do the followup to get the PO </a:t>
            </a:r>
            <a:endParaRPr lang="en-US"/>
          </a:p>
        </p:txBody>
      </p:sp>
      <p:sp>
        <p:nvSpPr>
          <p:cNvPr id="28" name="Up Arrow 27"/>
          <p:cNvSpPr/>
          <p:nvPr/>
        </p:nvSpPr>
        <p:spPr>
          <a:xfrm>
            <a:off x="8352473" y="2743677"/>
            <a:ext cx="251460" cy="332899"/>
          </a:xfrm>
          <a:prstGeom prst="up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9" name="Bent-Up Arrow 28"/>
          <p:cNvSpPr/>
          <p:nvPr/>
        </p:nvSpPr>
        <p:spPr>
          <a:xfrm rot="5400000" flipV="1">
            <a:off x="7326313" y="3538061"/>
            <a:ext cx="2659856" cy="606743"/>
          </a:xfrm>
          <a:prstGeom prst="bentUpArrow">
            <a:avLst>
              <a:gd name="adj1" fmla="val 25000"/>
              <a:gd name="adj2" fmla="val 25000"/>
              <a:gd name="adj3" fmla="val 49489"/>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0" name="Right Arrow 29"/>
          <p:cNvSpPr/>
          <p:nvPr/>
        </p:nvSpPr>
        <p:spPr>
          <a:xfrm>
            <a:off x="8603933" y="2320766"/>
            <a:ext cx="355759" cy="422910"/>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3" name="Down Arrow 32"/>
          <p:cNvSpPr/>
          <p:nvPr/>
        </p:nvSpPr>
        <p:spPr>
          <a:xfrm>
            <a:off x="7561104" y="5714365"/>
            <a:ext cx="297180" cy="468154"/>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35" name="Content Placeholder 34"/>
          <p:cNvGraphicFramePr>
            <a:graphicFrameLocks noGrp="1"/>
          </p:cNvGraphicFramePr>
          <p:nvPr>
            <p:ph sz="half" idx="4294967295"/>
          </p:nvPr>
        </p:nvGraphicFramePr>
        <p:xfrm>
          <a:off x="463159" y="4821873"/>
          <a:ext cx="1374775" cy="1360487"/>
        </p:xfrm>
        <a:graphic>
          <a:graphicData uri="http://schemas.openxmlformats.org/presentationml/2006/ole">
            <mc:AlternateContent xmlns:mc="http://schemas.openxmlformats.org/markup-compatibility/2006">
              <mc:Choice xmlns:v="urn:schemas-microsoft-com:vml" Requires="v">
                <p:oleObj spid="_x0000_s32773" name="" r:id="rId1" imgW="2971800" imgH="2886075" progId="Paint.Picture">
                  <p:embed/>
                </p:oleObj>
              </mc:Choice>
              <mc:Fallback>
                <p:oleObj name="" r:id="rId1" imgW="2971800" imgH="2886075" progId="Paint.Picture">
                  <p:embed/>
                  <p:pic>
                    <p:nvPicPr>
                      <p:cNvPr id="0" name="Content Placeholder 34"/>
                      <p:cNvPicPr/>
                      <p:nvPr/>
                    </p:nvPicPr>
                    <p:blipFill>
                      <a:blip r:embed="rId2"/>
                      <a:stretch>
                        <a:fillRect/>
                      </a:stretch>
                    </p:blipFill>
                    <p:spPr>
                      <a:xfrm>
                        <a:off x="463159" y="4821873"/>
                        <a:ext cx="1374775" cy="1360487"/>
                      </a:xfrm>
                      <a:prstGeom prst="rect">
                        <a:avLst/>
                      </a:prstGeom>
                    </p:spPr>
                  </p:pic>
                </p:oleObj>
              </mc:Fallback>
            </mc:AlternateContent>
          </a:graphicData>
        </a:graphic>
      </p:graphicFrame>
      <p:sp>
        <p:nvSpPr>
          <p:cNvPr id="2"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sp>
        <p:nvSpPr>
          <p:cNvPr id="3" name="Right Arrow 2"/>
          <p:cNvSpPr/>
          <p:nvPr/>
        </p:nvSpPr>
        <p:spPr>
          <a:xfrm>
            <a:off x="5664200" y="311531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8" name="Right Arrow 17"/>
          <p:cNvSpPr/>
          <p:nvPr/>
        </p:nvSpPr>
        <p:spPr>
          <a:xfrm>
            <a:off x="3967480" y="243459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0" name="Right Arrow 19"/>
          <p:cNvSpPr/>
          <p:nvPr/>
        </p:nvSpPr>
        <p:spPr>
          <a:xfrm>
            <a:off x="2207260" y="2376805"/>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5" name="Right Arrow 24"/>
          <p:cNvSpPr/>
          <p:nvPr/>
        </p:nvSpPr>
        <p:spPr>
          <a:xfrm>
            <a:off x="2207260" y="315341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4" name="Right Arrow 33"/>
          <p:cNvSpPr/>
          <p:nvPr/>
        </p:nvSpPr>
        <p:spPr>
          <a:xfrm>
            <a:off x="2207260" y="3891915"/>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36" name="Right Arrow 35"/>
          <p:cNvSpPr/>
          <p:nvPr/>
        </p:nvSpPr>
        <p:spPr>
          <a:xfrm>
            <a:off x="5561965" y="3937000"/>
            <a:ext cx="421640" cy="30924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Flowchart: Manual Operation 3"/>
          <p:cNvSpPr/>
          <p:nvPr/>
        </p:nvSpPr>
        <p:spPr>
          <a:xfrm>
            <a:off x="6780530" y="4707255"/>
            <a:ext cx="1664335" cy="103060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t>PO Received</a:t>
            </a:r>
            <a:endParaRPr lang="en-US" sz="1600"/>
          </a:p>
        </p:txBody>
      </p:sp>
      <p:sp>
        <p:nvSpPr>
          <p:cNvPr id="58" name="Flowchart: Manual Operation 57"/>
          <p:cNvSpPr/>
          <p:nvPr/>
        </p:nvSpPr>
        <p:spPr>
          <a:xfrm>
            <a:off x="5983605" y="2938780"/>
            <a:ext cx="1397635" cy="721995"/>
          </a:xfrm>
          <a:prstGeom prst="flowChartManualOperation">
            <a:avLst/>
          </a:prstGeom>
          <a:solidFill>
            <a:schemeClr val="accent2">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a:sym typeface="+mn-ea"/>
              </a:rPr>
              <a:t>Qualify the Enquiry </a:t>
            </a:r>
            <a:endParaRPr lang="en-US" sz="160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4"/>
          <p:cNvSpPr txBox="1">
            <a:spLocks noChangeArrowheads="1"/>
          </p:cNvSpPr>
          <p:nvPr/>
        </p:nvSpPr>
        <p:spPr bwMode="auto">
          <a:xfrm>
            <a:off x="1044575" y="861695"/>
            <a:ext cx="6391275" cy="829945"/>
          </a:xfrm>
          <a:prstGeom prst="rect">
            <a:avLst/>
          </a:prstGeom>
          <a:noFill/>
          <a:ln w="9525">
            <a:noFill/>
            <a:miter lim="800000"/>
          </a:ln>
        </p:spPr>
        <p:txBody>
          <a:bodyPr wrap="square" anchor="t">
            <a:spAutoFit/>
          </a:bodyPr>
          <a:lstStyle/>
          <a:p>
            <a:pPr algn="ctr">
              <a:defRPr/>
            </a:pPr>
            <a:r>
              <a:rPr lang="en-US" sz="2400" b="1">
                <a:solidFill>
                  <a:srgbClr val="6775FD"/>
                </a:solidFill>
                <a:latin typeface="+mj-lt"/>
                <a:ea typeface="Arial Unicode MS" panose="020B0604020202020204" charset="-122"/>
                <a:cs typeface="Arial Unicode MS" panose="020B0604020202020204" charset="-122"/>
              </a:rPr>
              <a:t>Sales Engineer&amp; Coordinator's activity                                                 from PO received to Billing done ( Positive flow)</a:t>
            </a:r>
            <a:endParaRPr lang="en-US" sz="2100" dirty="0">
              <a:solidFill>
                <a:srgbClr val="6775FD"/>
              </a:solidFill>
              <a:latin typeface="+mj-lt"/>
            </a:endParaRPr>
          </a:p>
        </p:txBody>
      </p:sp>
      <p:sp>
        <p:nvSpPr>
          <p:cNvPr id="5" name="Right Arrow 4"/>
          <p:cNvSpPr/>
          <p:nvPr/>
        </p:nvSpPr>
        <p:spPr>
          <a:xfrm>
            <a:off x="1745615" y="3486150"/>
            <a:ext cx="528955"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6" name="Rectangles 5"/>
          <p:cNvSpPr/>
          <p:nvPr/>
        </p:nvSpPr>
        <p:spPr>
          <a:xfrm>
            <a:off x="2297430" y="1896427"/>
            <a:ext cx="1771650" cy="1075373"/>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Sales Engineer's activity</a:t>
            </a:r>
            <a:endParaRPr lang="en-US"/>
          </a:p>
        </p:txBody>
      </p:sp>
      <p:sp>
        <p:nvSpPr>
          <p:cNvPr id="7" name="Rectangles 6"/>
          <p:cNvSpPr/>
          <p:nvPr/>
        </p:nvSpPr>
        <p:spPr>
          <a:xfrm>
            <a:off x="2274570" y="3251835"/>
            <a:ext cx="1794510" cy="8458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Coordinator's  activity</a:t>
            </a:r>
            <a:endParaRPr lang="en-US"/>
          </a:p>
        </p:txBody>
      </p:sp>
      <p:sp>
        <p:nvSpPr>
          <p:cNvPr id="8" name="Rectangles 7"/>
          <p:cNvSpPr/>
          <p:nvPr/>
        </p:nvSpPr>
        <p:spPr>
          <a:xfrm>
            <a:off x="4232910" y="1896904"/>
            <a:ext cx="2033588" cy="1074896"/>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Progress update via Mobile app </a:t>
            </a:r>
            <a:endParaRPr lang="en-US"/>
          </a:p>
        </p:txBody>
      </p:sp>
      <p:sp>
        <p:nvSpPr>
          <p:cNvPr id="10" name="Rectangles 9"/>
          <p:cNvSpPr/>
          <p:nvPr/>
        </p:nvSpPr>
        <p:spPr>
          <a:xfrm>
            <a:off x="6153151" y="3251835"/>
            <a:ext cx="2837021" cy="8458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verify the progress update by sales engineer and update the status in web app </a:t>
            </a:r>
            <a:endParaRPr lang="en-US"/>
          </a:p>
        </p:txBody>
      </p:sp>
      <p:sp>
        <p:nvSpPr>
          <p:cNvPr id="11" name="Rectangles 10"/>
          <p:cNvSpPr/>
          <p:nvPr/>
        </p:nvSpPr>
        <p:spPr>
          <a:xfrm>
            <a:off x="6442711" y="1896904"/>
            <a:ext cx="2547461" cy="1074896"/>
          </a:xfrm>
          <a:prstGeom prst="rect">
            <a:avLst/>
          </a:prstGeom>
          <a:solidFill>
            <a:schemeClr val="tx2">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Progress update can be done for Advance received ,Case Logged in,Financial Investigation,DO received,Margin Money received   </a:t>
            </a:r>
            <a:endParaRPr lang="en-US"/>
          </a:p>
        </p:txBody>
      </p:sp>
      <p:sp>
        <p:nvSpPr>
          <p:cNvPr id="12" name="Rectangles 11"/>
          <p:cNvSpPr/>
          <p:nvPr/>
        </p:nvSpPr>
        <p:spPr>
          <a:xfrm>
            <a:off x="4232910" y="3251835"/>
            <a:ext cx="1794510" cy="845820"/>
          </a:xfrm>
          <a:prstGeom prst="rect">
            <a:avLst/>
          </a:prstGeom>
          <a:solidFill>
            <a:schemeClr val="accent6">
              <a:lumMod val="20000"/>
              <a:lumOff val="80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lang="en-US"/>
              <a:t>Proforma Given    ( Status update)</a:t>
            </a:r>
            <a:endParaRPr lang="en-US"/>
          </a:p>
        </p:txBody>
      </p:sp>
      <p:sp>
        <p:nvSpPr>
          <p:cNvPr id="13" name="Up Arrow 12"/>
          <p:cNvSpPr/>
          <p:nvPr/>
        </p:nvSpPr>
        <p:spPr>
          <a:xfrm>
            <a:off x="5617845" y="2960370"/>
            <a:ext cx="337185" cy="308610"/>
          </a:xfrm>
          <a:prstGeom prst="up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14" name="Down Arrow 13"/>
          <p:cNvSpPr/>
          <p:nvPr/>
        </p:nvSpPr>
        <p:spPr>
          <a:xfrm>
            <a:off x="7760970" y="2960370"/>
            <a:ext cx="320040" cy="3200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graphicFrame>
        <p:nvGraphicFramePr>
          <p:cNvPr id="19" name="Content Placeholder 18"/>
          <p:cNvGraphicFramePr>
            <a:graphicFrameLocks noGrp="1"/>
          </p:cNvGraphicFramePr>
          <p:nvPr>
            <p:ph sz="half" idx="4294967295"/>
          </p:nvPr>
        </p:nvGraphicFramePr>
        <p:xfrm>
          <a:off x="3008630" y="4417695"/>
          <a:ext cx="1060450" cy="1597025"/>
        </p:xfrm>
        <a:graphic>
          <a:graphicData uri="http://schemas.openxmlformats.org/presentationml/2006/ole">
            <mc:AlternateContent xmlns:mc="http://schemas.openxmlformats.org/markup-compatibility/2006">
              <mc:Choice xmlns:v="urn:schemas-microsoft-com:vml" Requires="v">
                <p:oleObj spid="_x0000_s33800" name="" r:id="rId1" imgW="2009775" imgH="3162300" progId="Paint.Picture">
                  <p:embed/>
                </p:oleObj>
              </mc:Choice>
              <mc:Fallback>
                <p:oleObj name="" r:id="rId1" imgW="2009775" imgH="3162300" progId="Paint.Picture">
                  <p:embed/>
                  <p:pic>
                    <p:nvPicPr>
                      <p:cNvPr id="0" name="Content Placeholder 18"/>
                      <p:cNvPicPr/>
                      <p:nvPr/>
                    </p:nvPicPr>
                    <p:blipFill>
                      <a:blip r:embed="rId2"/>
                      <a:stretch>
                        <a:fillRect/>
                      </a:stretch>
                    </p:blipFill>
                    <p:spPr>
                      <a:xfrm>
                        <a:off x="3008630" y="4417695"/>
                        <a:ext cx="1060450" cy="1597025"/>
                      </a:xfrm>
                      <a:prstGeom prst="rect">
                        <a:avLst/>
                      </a:prstGeom>
                    </p:spPr>
                  </p:pic>
                </p:oleObj>
              </mc:Fallback>
            </mc:AlternateContent>
          </a:graphicData>
        </a:graphic>
      </p:graphicFrame>
      <p:sp>
        <p:nvSpPr>
          <p:cNvPr id="3" name="TextBox 4"/>
          <p:cNvSpPr txBox="1">
            <a:spLocks noChangeArrowheads="1"/>
          </p:cNvSpPr>
          <p:nvPr/>
        </p:nvSpPr>
        <p:spPr bwMode="auto">
          <a:xfrm>
            <a:off x="0" y="0"/>
            <a:ext cx="7858148" cy="892552"/>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Equipment Enquiry Management</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Overview</a:t>
            </a:r>
            <a:endParaRPr lang="en-US" sz="4000" b="1" dirty="0">
              <a:solidFill>
                <a:srgbClr val="FF6A47"/>
              </a:solidFill>
              <a:latin typeface="Arial" panose="020B0604020202020204"/>
              <a:ea typeface="Arial Unicode MS" panose="020B0604020202020204" charset="-122"/>
              <a:cs typeface="Arial Unicode MS" panose="020B0604020202020204" charset="-122"/>
            </a:endParaRPr>
          </a:p>
        </p:txBody>
      </p:sp>
      <p:graphicFrame>
        <p:nvGraphicFramePr>
          <p:cNvPr id="18" name="Object 17"/>
          <p:cNvGraphicFramePr/>
          <p:nvPr/>
        </p:nvGraphicFramePr>
        <p:xfrm>
          <a:off x="2002790" y="4417695"/>
          <a:ext cx="864870" cy="1603375"/>
        </p:xfrm>
        <a:graphic>
          <a:graphicData uri="http://schemas.openxmlformats.org/presentationml/2006/ole">
            <mc:AlternateContent xmlns:mc="http://schemas.openxmlformats.org/markup-compatibility/2006">
              <mc:Choice xmlns:v="urn:schemas-microsoft-com:vml" Requires="v">
                <p:oleObj spid="_x0000_s33801" name="" r:id="rId3" imgW="2038350" imgH="3209925" progId="Paint.Picture">
                  <p:embed/>
                </p:oleObj>
              </mc:Choice>
              <mc:Fallback>
                <p:oleObj name="" r:id="rId3" imgW="2038350" imgH="3209925" progId="Paint.Picture">
                  <p:embed/>
                  <p:pic>
                    <p:nvPicPr>
                      <p:cNvPr id="0" name="Object 20"/>
                      <p:cNvPicPr/>
                      <p:nvPr/>
                    </p:nvPicPr>
                    <p:blipFill>
                      <a:blip r:embed="rId4"/>
                      <a:stretch>
                        <a:fillRect/>
                      </a:stretch>
                    </p:blipFill>
                    <p:spPr>
                      <a:xfrm>
                        <a:off x="2002790" y="4417695"/>
                        <a:ext cx="864870" cy="1603375"/>
                      </a:xfrm>
                      <a:prstGeom prst="rect">
                        <a:avLst/>
                      </a:prstGeom>
                    </p:spPr>
                  </p:pic>
                </p:oleObj>
              </mc:Fallback>
            </mc:AlternateContent>
          </a:graphicData>
        </a:graphic>
      </p:graphicFrame>
      <p:sp>
        <p:nvSpPr>
          <p:cNvPr id="20" name="Right Arrow 19"/>
          <p:cNvSpPr/>
          <p:nvPr/>
        </p:nvSpPr>
        <p:spPr>
          <a:xfrm>
            <a:off x="4069080" y="3486150"/>
            <a:ext cx="271780"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1" name="Right Arrow 20"/>
          <p:cNvSpPr/>
          <p:nvPr/>
        </p:nvSpPr>
        <p:spPr>
          <a:xfrm>
            <a:off x="1917065" y="2277110"/>
            <a:ext cx="357505"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ight Arrow 21"/>
          <p:cNvSpPr/>
          <p:nvPr/>
        </p:nvSpPr>
        <p:spPr>
          <a:xfrm>
            <a:off x="6266815" y="2277110"/>
            <a:ext cx="271780" cy="314325"/>
          </a:xfrm>
          <a:prstGeom prst="right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4" name="Flowchart: Manual Operation 3"/>
          <p:cNvSpPr/>
          <p:nvPr/>
        </p:nvSpPr>
        <p:spPr>
          <a:xfrm>
            <a:off x="41275" y="1896745"/>
            <a:ext cx="1961515" cy="2252345"/>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a:t>PO Received</a:t>
            </a:r>
            <a:endParaRPr lang="en-US" sz="2000"/>
          </a:p>
        </p:txBody>
      </p:sp>
      <p:sp>
        <p:nvSpPr>
          <p:cNvPr id="2" name="Flowchart: Manual Operation 1"/>
          <p:cNvSpPr/>
          <p:nvPr/>
        </p:nvSpPr>
        <p:spPr>
          <a:xfrm>
            <a:off x="6861810" y="4469130"/>
            <a:ext cx="1692275" cy="1084580"/>
          </a:xfrm>
          <a:prstGeom prst="flowChartManualOperation">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a:t>Billing Done</a:t>
            </a:r>
            <a:endParaRPr lang="en-US" sz="2000"/>
          </a:p>
        </p:txBody>
      </p:sp>
      <p:sp>
        <p:nvSpPr>
          <p:cNvPr id="15" name="Down Arrow 14"/>
          <p:cNvSpPr/>
          <p:nvPr/>
        </p:nvSpPr>
        <p:spPr>
          <a:xfrm>
            <a:off x="7556500" y="4149090"/>
            <a:ext cx="320040" cy="320040"/>
          </a:xfrm>
          <a:prstGeom prst="downArrow">
            <a:avLst/>
          </a:prstGeom>
          <a:solidFill>
            <a:schemeClr val="bg2"/>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687705" y="1463040"/>
            <a:ext cx="7767955" cy="3612515"/>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100" dirty="0">
                <a:solidFill>
                  <a:schemeClr val="tx1"/>
                </a:solidFill>
                <a:effectLst>
                  <a:outerShdw blurRad="38100" dist="25400" dir="5400000" algn="ctr" rotWithShape="0">
                    <a:srgbClr val="6E747A">
                      <a:alpha val="43000"/>
                    </a:srgbClr>
                  </a:outerShdw>
                </a:effectLst>
                <a:cs typeface="Calibri" panose="020F0502020204030204"/>
              </a:rPr>
              <a:t> </a:t>
            </a:r>
            <a:endParaRPr lang="en-US" sz="2100" dirty="0">
              <a:solidFill>
                <a:schemeClr val="tx1"/>
              </a:solidFill>
              <a:effectLst>
                <a:outerShdw blurRad="38100" dist="25400" dir="5400000" algn="ctr" rotWithShape="0">
                  <a:srgbClr val="6E747A">
                    <a:alpha val="43000"/>
                  </a:srgbClr>
                </a:outerShdw>
              </a:effectLst>
              <a:cs typeface="Calibri" panose="020F0502020204030204"/>
            </a:endParaRPr>
          </a:p>
          <a:p>
            <a:pPr algn="ctr"/>
            <a:endParaRPr lang="en-US" sz="2100" dirty="0">
              <a:solidFill>
                <a:schemeClr val="tx1"/>
              </a:solidFill>
              <a:effectLst>
                <a:outerShdw blurRad="38100" dist="25400" dir="5400000" algn="ctr" rotWithShape="0">
                  <a:srgbClr val="6E747A">
                    <a:alpha val="43000"/>
                  </a:srgbClr>
                </a:outerShdw>
              </a:effectLst>
              <a:cs typeface="Calibri" panose="020F0502020204030204"/>
            </a:endParaRPr>
          </a:p>
          <a:p>
            <a:pPr algn="ctr"/>
            <a:r>
              <a:rPr lang="en-US" sz="2100" dirty="0">
                <a:solidFill>
                  <a:schemeClr val="tx1"/>
                </a:solidFill>
                <a:effectLst/>
                <a:cs typeface="Calibri" panose="020F0502020204030204"/>
              </a:rPr>
              <a:t>1.New prospect visit- Starts with entering the customer details, Travel,Meeting time, Date,Location capturing then ends with Meeting report  to Enquiry generation.</a:t>
            </a:r>
            <a:endParaRPr lang="en-US" sz="2100" dirty="0">
              <a:solidFill>
                <a:schemeClr val="tx1"/>
              </a:solidFill>
              <a:effectLst/>
              <a:cs typeface="Calibri" panose="020F0502020204030204"/>
            </a:endParaRPr>
          </a:p>
          <a:p>
            <a:pPr algn="ctr"/>
            <a:r>
              <a:rPr lang="en-US" sz="2100" dirty="0">
                <a:solidFill>
                  <a:schemeClr val="tx1"/>
                </a:solidFill>
                <a:effectLst/>
                <a:cs typeface="Calibri" panose="020F0502020204030204"/>
              </a:rPr>
              <a:t>2.Lead followup visit- Can be done for the enquiry generated via prospect visit .It starts with Travel,Meeting &amp;then meeting report -this report updates the earlier report .</a:t>
            </a:r>
            <a:endParaRPr lang="en-US" sz="2100" dirty="0">
              <a:solidFill>
                <a:schemeClr val="tx1"/>
              </a:solidFill>
              <a:effectLst/>
              <a:cs typeface="Calibri" panose="020F0502020204030204"/>
            </a:endParaRPr>
          </a:p>
          <a:p>
            <a:pPr algn="ctr"/>
            <a:r>
              <a:rPr lang="en-US" sz="2100" dirty="0">
                <a:solidFill>
                  <a:schemeClr val="tx1"/>
                </a:solidFill>
                <a:effectLst/>
                <a:cs typeface="Calibri" panose="020F0502020204030204"/>
              </a:rPr>
              <a:t>3.Financier visit for the enquiry -starts with travel and Meeting time recorded .</a:t>
            </a:r>
            <a:endParaRPr lang="en-US" sz="2100" dirty="0">
              <a:solidFill>
                <a:schemeClr val="tx1"/>
              </a:solidFill>
              <a:effectLst/>
              <a:cs typeface="Calibri" panose="020F0502020204030204"/>
            </a:endParaRPr>
          </a:p>
          <a:p>
            <a:pPr algn="ctr"/>
            <a:r>
              <a:rPr lang="en-US" sz="2100" dirty="0">
                <a:solidFill>
                  <a:schemeClr val="tx1"/>
                </a:solidFill>
                <a:effectLst/>
                <a:cs typeface="Calibri" panose="020F0502020204030204"/>
              </a:rPr>
              <a:t>4.Demo visit - For the enquiry -starts with travel ,Meeting start and finish.</a:t>
            </a:r>
            <a:endParaRPr lang="en-US" sz="2100" dirty="0">
              <a:solidFill>
                <a:schemeClr val="tx1"/>
              </a:solidFill>
              <a:effectLst/>
              <a:cs typeface="Calibri" panose="020F0502020204030204"/>
            </a:endParaRPr>
          </a:p>
          <a:p>
            <a:pPr algn="ctr"/>
            <a:endParaRPr lang="en-US" sz="2100" dirty="0">
              <a:solidFill>
                <a:schemeClr val="tx1"/>
              </a:solidFill>
              <a:effectLst/>
              <a:cs typeface="Calibri" panose="020F0502020204030204"/>
            </a:endParaRPr>
          </a:p>
        </p:txBody>
      </p:sp>
      <p:sp>
        <p:nvSpPr>
          <p:cNvPr id="2" name="TextBox 4"/>
          <p:cNvSpPr txBox="1">
            <a:spLocks noChangeArrowheads="1"/>
          </p:cNvSpPr>
          <p:nvPr/>
        </p:nvSpPr>
        <p:spPr bwMode="auto">
          <a:xfrm>
            <a:off x="0" y="0"/>
            <a:ext cx="7858148" cy="891540"/>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rPr>
              <a:t>Prospect Visit Supported</a:t>
            </a:r>
            <a:endParaRPr lang="en-US" sz="3200" b="1" dirty="0">
              <a:solidFill>
                <a:srgbClr val="6775FD"/>
              </a:solidFill>
              <a:latin typeface="+mj-lt"/>
            </a:endParaRPr>
          </a:p>
          <a:p>
            <a:pPr>
              <a:defRPr/>
            </a:pPr>
            <a:r>
              <a:rPr lang="en-US" sz="2000" b="1" dirty="0">
                <a:solidFill>
                  <a:srgbClr val="FF6A47"/>
                </a:solidFill>
                <a:latin typeface="Arial" panose="020B0604020202020204"/>
                <a:ea typeface="Arial Unicode MS" panose="020B0604020202020204" charset="-122"/>
                <a:cs typeface="Arial Unicode MS" panose="020B0604020202020204" charset="-122"/>
              </a:rPr>
              <a:t>In Unit Sales</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Content Placeholder 20"/>
          <p:cNvGraphicFramePr>
            <a:graphicFrameLocks noGrp="1"/>
          </p:cNvGraphicFramePr>
          <p:nvPr>
            <p:ph sz="half" idx="4294967295"/>
          </p:nvPr>
        </p:nvGraphicFramePr>
        <p:xfrm>
          <a:off x="929005" y="3223260"/>
          <a:ext cx="1946275" cy="2393950"/>
        </p:xfrm>
        <a:graphic>
          <a:graphicData uri="http://schemas.openxmlformats.org/presentationml/2006/ole">
            <mc:AlternateContent xmlns:mc="http://schemas.openxmlformats.org/markup-compatibility/2006">
              <mc:Choice xmlns:v="urn:schemas-microsoft-com:vml" Requires="v">
                <p:oleObj spid="_x0000_s77838" name="" r:id="rId1" imgW="2038350" imgH="3209925" progId="Paint.Picture">
                  <p:embed/>
                </p:oleObj>
              </mc:Choice>
              <mc:Fallback>
                <p:oleObj name="" r:id="rId1" imgW="2038350" imgH="3209925" progId="Paint.Picture">
                  <p:embed/>
                  <p:pic>
                    <p:nvPicPr>
                      <p:cNvPr id="0" name="Content Placeholder 20"/>
                      <p:cNvPicPr/>
                      <p:nvPr/>
                    </p:nvPicPr>
                    <p:blipFill>
                      <a:blip r:embed="rId2"/>
                      <a:stretch>
                        <a:fillRect/>
                      </a:stretch>
                    </p:blipFill>
                    <p:spPr>
                      <a:xfrm>
                        <a:off x="929005" y="3223260"/>
                        <a:ext cx="1946275" cy="2393950"/>
                      </a:xfrm>
                      <a:prstGeom prst="rect">
                        <a:avLst/>
                      </a:prstGeom>
                    </p:spPr>
                  </p:pic>
                </p:oleObj>
              </mc:Fallback>
            </mc:AlternateContent>
          </a:graphicData>
        </a:graphic>
      </p:graphicFrame>
      <p:graphicFrame>
        <p:nvGraphicFramePr>
          <p:cNvPr id="13" name="Object 12"/>
          <p:cNvGraphicFramePr/>
          <p:nvPr/>
        </p:nvGraphicFramePr>
        <p:xfrm>
          <a:off x="2755900" y="3374390"/>
          <a:ext cx="1361440" cy="2242820"/>
        </p:xfrm>
        <a:graphic>
          <a:graphicData uri="http://schemas.openxmlformats.org/presentationml/2006/ole">
            <mc:AlternateContent xmlns:mc="http://schemas.openxmlformats.org/markup-compatibility/2006">
              <mc:Choice xmlns:v="urn:schemas-microsoft-com:vml" Requires="v">
                <p:oleObj spid="_x0000_s77839" name="" r:id="rId3" imgW="2009775" imgH="3162300" progId="Paint.Picture">
                  <p:embed/>
                </p:oleObj>
              </mc:Choice>
              <mc:Fallback>
                <p:oleObj name="" r:id="rId3" imgW="2009775" imgH="3162300" progId="Paint.Picture">
                  <p:embed/>
                  <p:pic>
                    <p:nvPicPr>
                      <p:cNvPr id="0" name="Object 12"/>
                      <p:cNvPicPr/>
                      <p:nvPr/>
                    </p:nvPicPr>
                    <p:blipFill>
                      <a:blip r:embed="rId4"/>
                      <a:stretch>
                        <a:fillRect/>
                      </a:stretch>
                    </p:blipFill>
                    <p:spPr>
                      <a:xfrm>
                        <a:off x="2755900" y="3374390"/>
                        <a:ext cx="1361440" cy="2242820"/>
                      </a:xfrm>
                      <a:prstGeom prst="rect">
                        <a:avLst/>
                      </a:prstGeom>
                    </p:spPr>
                  </p:pic>
                </p:oleObj>
              </mc:Fallback>
            </mc:AlternateContent>
          </a:graphicData>
        </a:graphic>
      </p:graphicFrame>
      <p:sp>
        <p:nvSpPr>
          <p:cNvPr id="2" name="TextBox 4"/>
          <p:cNvSpPr txBox="1">
            <a:spLocks noChangeArrowheads="1"/>
          </p:cNvSpPr>
          <p:nvPr/>
        </p:nvSpPr>
        <p:spPr bwMode="auto">
          <a:xfrm>
            <a:off x="96520" y="0"/>
            <a:ext cx="7265670" cy="583565"/>
          </a:xfrm>
          <a:prstGeom prst="rect">
            <a:avLst/>
          </a:prstGeom>
          <a:noFill/>
          <a:ln w="9525">
            <a:noFill/>
            <a:miter lim="800000"/>
          </a:ln>
        </p:spPr>
        <p:txBody>
          <a:bodyPr wrap="square" lIns="91440" tIns="45720" rIns="91440" bIns="45720" anchor="t">
            <a:spAutoFit/>
          </a:bodyPr>
          <a:lstStyle>
            <a:defPPr>
              <a:defRPr lang="en-GB"/>
            </a:defPPr>
            <a:lvl1pPr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1pPr>
            <a:lvl2pPr marL="4572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2pPr>
            <a:lvl3pPr marL="9144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3pPr>
            <a:lvl4pPr marL="13716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4pPr>
            <a:lvl5pPr marL="1828800" algn="l" rtl="0" fontAlgn="base">
              <a:spcBef>
                <a:spcPct val="0"/>
              </a:spcBef>
              <a:spcAft>
                <a:spcPct val="0"/>
              </a:spcAft>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5pPr>
            <a:lvl6pPr marL="22860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6pPr>
            <a:lvl7pPr marL="27432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7pPr>
            <a:lvl8pPr marL="32004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8pPr>
            <a:lvl9pPr marL="3657600" algn="l" defTabSz="914400" rtl="0" eaLnBrk="1" latinLnBrk="0" hangingPunct="1">
              <a:defRPr sz="1400" kern="1200">
                <a:solidFill>
                  <a:schemeClr val="tx1"/>
                </a:solidFill>
                <a:latin typeface="Arial" panose="020B0604020202020204" pitchFamily="34" charset="0"/>
                <a:ea typeface="Arial Unicode MS" panose="020B0604020202020204" pitchFamily="34" charset="-128"/>
                <a:cs typeface="Arial Unicode MS" panose="020B0604020202020204" pitchFamily="34" charset="-128"/>
              </a:defRPr>
            </a:lvl9pPr>
          </a:lstStyle>
          <a:p>
            <a:pPr>
              <a:defRPr/>
            </a:pPr>
            <a:r>
              <a:rPr lang="en-US" sz="3200" b="1" dirty="0">
                <a:solidFill>
                  <a:srgbClr val="6775FD"/>
                </a:solidFill>
                <a:latin typeface="+mj-lt"/>
                <a:ea typeface="Arial Unicode MS" panose="020B0604020202020204" charset="-122"/>
                <a:cs typeface="Arial Unicode MS" panose="020B0604020202020204" charset="-122"/>
              </a:rPr>
              <a:t>Billing Done</a:t>
            </a:r>
            <a:endParaRPr lang="en-US" sz="2000" b="1" dirty="0">
              <a:solidFill>
                <a:srgbClr val="FF6A47"/>
              </a:solidFill>
              <a:latin typeface="Arial" panose="020B0604020202020204"/>
              <a:ea typeface="Arial Unicode MS" panose="020B0604020202020204" charset="-122"/>
              <a:cs typeface="Arial Unicode MS" panose="020B0604020202020204" charset="-122"/>
            </a:endParaRPr>
          </a:p>
        </p:txBody>
      </p:sp>
      <p:graphicFrame>
        <p:nvGraphicFramePr>
          <p:cNvPr id="10" name="Object 9"/>
          <p:cNvGraphicFramePr/>
          <p:nvPr/>
        </p:nvGraphicFramePr>
        <p:xfrm>
          <a:off x="4741545" y="583565"/>
          <a:ext cx="1640840" cy="1796415"/>
        </p:xfrm>
        <a:graphic>
          <a:graphicData uri="http://schemas.openxmlformats.org/presentationml/2006/ole">
            <mc:AlternateContent xmlns:mc="http://schemas.openxmlformats.org/markup-compatibility/2006">
              <mc:Choice xmlns:v="urn:schemas-microsoft-com:vml" Requires="v">
                <p:oleObj spid="_x0000_s77840" name="" r:id="rId5" imgW="2971800" imgH="2886075" progId="Paint.Picture">
                  <p:embed/>
                </p:oleObj>
              </mc:Choice>
              <mc:Fallback>
                <p:oleObj name="" r:id="rId5" imgW="2971800" imgH="2886075" progId="Paint.Picture">
                  <p:embed/>
                  <p:pic>
                    <p:nvPicPr>
                      <p:cNvPr id="0" name="Picture 11"/>
                      <p:cNvPicPr/>
                      <p:nvPr/>
                    </p:nvPicPr>
                    <p:blipFill>
                      <a:blip r:embed="rId6"/>
                      <a:stretch>
                        <a:fillRect/>
                      </a:stretch>
                    </p:blipFill>
                    <p:spPr>
                      <a:xfrm>
                        <a:off x="4741545" y="583565"/>
                        <a:ext cx="1640840" cy="1796415"/>
                      </a:xfrm>
                      <a:prstGeom prst="rect">
                        <a:avLst/>
                      </a:prstGeom>
                    </p:spPr>
                  </p:pic>
                </p:oleObj>
              </mc:Fallback>
            </mc:AlternateContent>
          </a:graphicData>
        </a:graphic>
      </p:graphicFrame>
      <p:graphicFrame>
        <p:nvGraphicFramePr>
          <p:cNvPr id="19" name="Object 18"/>
          <p:cNvGraphicFramePr/>
          <p:nvPr/>
        </p:nvGraphicFramePr>
        <p:xfrm>
          <a:off x="2131695" y="583565"/>
          <a:ext cx="2609850" cy="1796415"/>
        </p:xfrm>
        <a:graphic>
          <a:graphicData uri="http://schemas.openxmlformats.org/presentationml/2006/ole">
            <mc:AlternateContent xmlns:mc="http://schemas.openxmlformats.org/markup-compatibility/2006">
              <mc:Choice xmlns:v="urn:schemas-microsoft-com:vml" Requires="v">
                <p:oleObj spid="_x0000_s77841" name="" r:id="rId7" imgW="4400550" imgH="2514600" progId="Paint.Picture">
                  <p:embed/>
                </p:oleObj>
              </mc:Choice>
              <mc:Fallback>
                <p:oleObj name="" r:id="rId7" imgW="4400550" imgH="2514600" progId="Paint.Picture">
                  <p:embed/>
                  <p:pic>
                    <p:nvPicPr>
                      <p:cNvPr id="0" name="Picture 19"/>
                      <p:cNvPicPr/>
                      <p:nvPr/>
                    </p:nvPicPr>
                    <p:blipFill>
                      <a:blip r:embed="rId8"/>
                      <a:stretch>
                        <a:fillRect/>
                      </a:stretch>
                    </p:blipFill>
                    <p:spPr>
                      <a:xfrm>
                        <a:off x="2131695" y="583565"/>
                        <a:ext cx="2609850" cy="1796415"/>
                      </a:xfrm>
                      <a:prstGeom prst="rect">
                        <a:avLst/>
                      </a:prstGeom>
                    </p:spPr>
                  </p:pic>
                </p:oleObj>
              </mc:Fallback>
            </mc:AlternateContent>
          </a:graphicData>
        </a:graphic>
      </p:graphicFrame>
      <p:sp>
        <p:nvSpPr>
          <p:cNvPr id="3" name="Down Arrow 2"/>
          <p:cNvSpPr/>
          <p:nvPr/>
        </p:nvSpPr>
        <p:spPr>
          <a:xfrm>
            <a:off x="4004945" y="2517775"/>
            <a:ext cx="533400" cy="68580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781425" y="1328738"/>
            <a:ext cx="1679575" cy="954087"/>
          </a:xfrm>
          <a:prstGeom prst="rect">
            <a:avLst/>
          </a:prstGeom>
          <a:noFill/>
        </p:spPr>
        <p:txBody>
          <a:bodyPr wrap="none">
            <a:spAutoFit/>
          </a:bodyPr>
          <a:lstStyle/>
          <a:p>
            <a:pPr algn="ctr">
              <a:defRPr/>
            </a:pPr>
            <a:endParaRPr lang="en-US" sz="2800" dirty="0">
              <a:latin typeface="+mn-lt"/>
            </a:endParaRPr>
          </a:p>
          <a:p>
            <a:pPr algn="ctr">
              <a:defRPr/>
            </a:pPr>
            <a:r>
              <a:rPr lang="en-US" sz="2800" dirty="0">
                <a:latin typeface="+mn-lt"/>
              </a:rPr>
              <a:t>Thank You</a:t>
            </a:r>
            <a:endParaRPr lang="en-US" sz="2800" dirty="0">
              <a:latin typeface="+mn-lt"/>
            </a:endParaRPr>
          </a:p>
        </p:txBody>
      </p:sp>
      <p:sp>
        <p:nvSpPr>
          <p:cNvPr id="7" name="Rectangle 6"/>
          <p:cNvSpPr/>
          <p:nvPr/>
        </p:nvSpPr>
        <p:spPr>
          <a:xfrm>
            <a:off x="2432015" y="4338062"/>
            <a:ext cx="4926203" cy="584775"/>
          </a:xfrm>
          <a:prstGeom prst="rect">
            <a:avLst/>
          </a:prstGeom>
        </p:spPr>
        <p:txBody>
          <a:bodyPr wrap="square" anchor="t">
            <a:spAutoFit/>
          </a:bodyPr>
          <a:lstStyle/>
          <a:p>
            <a:pPr>
              <a:defRPr/>
            </a:pPr>
            <a:r>
              <a:rPr lang="en-US" sz="1800" b="1" dirty="0">
                <a:latin typeface="+mn-lt"/>
                <a:ea typeface="Arial Unicode MS" panose="020B0604020202020204" charset="-122"/>
                <a:cs typeface="Arial Unicode MS" panose="020B0604020202020204" charset="-122"/>
              </a:rPr>
              <a:t>                      </a:t>
            </a:r>
            <a:r>
              <a:rPr lang="en-US" sz="1800" b="1" dirty="0" err="1">
                <a:latin typeface="+mn-lt"/>
                <a:ea typeface="Arial Unicode MS" panose="020B0604020202020204" charset="-122"/>
                <a:cs typeface="Arial Unicode MS" panose="020B0604020202020204" charset="-122"/>
              </a:rPr>
              <a:t>Selfservit</a:t>
            </a:r>
            <a:r>
              <a:rPr lang="en-US" sz="1800" b="1" dirty="0">
                <a:latin typeface="+mn-lt"/>
                <a:ea typeface="Arial Unicode MS" panose="020B0604020202020204" charset="-122"/>
                <a:cs typeface="Arial Unicode MS" panose="020B0604020202020204" charset="-122"/>
              </a:rPr>
              <a:t> Solutions (P) Ltd.</a:t>
            </a:r>
            <a:endParaRPr lang="en-US" b="1" dirty="0">
              <a:latin typeface="+mn-lt"/>
              <a:ea typeface="Arial Unicode MS" panose="020B0604020202020204" charset="-122"/>
              <a:cs typeface="Arial Unicode MS" panose="020B0604020202020204" charset="-122"/>
            </a:endParaRPr>
          </a:p>
          <a:p>
            <a:pPr>
              <a:defRPr/>
            </a:pPr>
            <a:r>
              <a:rPr lang="en-US" b="1" dirty="0">
                <a:latin typeface="+mn-lt"/>
                <a:ea typeface="Arial Unicode MS" panose="020B0604020202020204" charset="-122"/>
                <a:cs typeface="Arial Unicode MS" panose="020B0604020202020204" charset="-122"/>
              </a:rPr>
              <a:t>[CIN – U72900TN2008PTC068979, GSTIN - 33AAMCS2734A1ZQ.] </a:t>
            </a:r>
            <a:endParaRPr lang="en-US" dirty="0"/>
          </a:p>
        </p:txBody>
      </p:sp>
      <p:sp>
        <p:nvSpPr>
          <p:cNvPr id="10" name="Rectangle 9"/>
          <p:cNvSpPr/>
          <p:nvPr/>
        </p:nvSpPr>
        <p:spPr>
          <a:xfrm>
            <a:off x="3322638" y="5295900"/>
            <a:ext cx="2636299" cy="461665"/>
          </a:xfrm>
          <a:prstGeom prst="rect">
            <a:avLst/>
          </a:prstGeom>
        </p:spPr>
        <p:txBody>
          <a:bodyPr wrap="none">
            <a:spAutoFit/>
          </a:bodyPr>
          <a:lstStyle/>
          <a:p>
            <a:pPr>
              <a:defRPr/>
            </a:pPr>
            <a:r>
              <a:rPr lang="en-US" sz="1200" b="1" u="sng" dirty="0">
                <a:solidFill>
                  <a:schemeClr val="tx2"/>
                </a:solidFill>
                <a:latin typeface="+mn-lt"/>
                <a:hlinkClick r:id="rId1"/>
              </a:rPr>
              <a:t>www.selfservit.com</a:t>
            </a:r>
            <a:r>
              <a:rPr lang="en-US" sz="1200" b="1" u="sng" dirty="0">
                <a:solidFill>
                  <a:schemeClr val="tx2"/>
                </a:solidFill>
                <a:latin typeface="+mn-lt"/>
              </a:rPr>
              <a:t> </a:t>
            </a:r>
            <a:r>
              <a:rPr lang="en-US" sz="1200" b="1" dirty="0">
                <a:solidFill>
                  <a:schemeClr val="tx2"/>
                </a:solidFill>
                <a:latin typeface="+mn-lt"/>
              </a:rPr>
              <a:t> </a:t>
            </a:r>
            <a:r>
              <a:rPr lang="en-US" sz="1200" b="1" dirty="0">
                <a:solidFill>
                  <a:schemeClr val="tx2"/>
                </a:solidFill>
                <a:latin typeface="+mn-lt"/>
                <a:hlinkClick r:id="rId2"/>
              </a:rPr>
              <a:t>www.mservice.ai</a:t>
            </a:r>
            <a:endParaRPr lang="en-US" sz="1200" b="1" dirty="0">
              <a:solidFill>
                <a:schemeClr val="tx2"/>
              </a:solidFill>
              <a:latin typeface="+mn-lt"/>
            </a:endParaRPr>
          </a:p>
          <a:p>
            <a:pPr>
              <a:defRPr/>
            </a:pPr>
            <a:r>
              <a:rPr lang="en-US" sz="1200" b="1" dirty="0">
                <a:solidFill>
                  <a:schemeClr val="tx2"/>
                </a:solidFill>
                <a:latin typeface="+mn-lt"/>
              </a:rPr>
              <a:t>  </a:t>
            </a:r>
            <a:endParaRPr lang="en-US" sz="1200" b="1" u="sng" dirty="0">
              <a:solidFill>
                <a:schemeClr val="tx2"/>
              </a:solidFill>
              <a:latin typeface="+mn-lt"/>
            </a:endParaRPr>
          </a:p>
        </p:txBody>
      </p:sp>
      <p:pic>
        <p:nvPicPr>
          <p:cNvPr id="46085" name="Picture 6"/>
          <p:cNvPicPr>
            <a:picLocks noChangeAspect="1" noChangeArrowheads="1"/>
          </p:cNvPicPr>
          <p:nvPr/>
        </p:nvPicPr>
        <p:blipFill>
          <a:blip r:embed="rId3"/>
          <a:srcRect/>
          <a:stretch>
            <a:fillRect/>
          </a:stretch>
        </p:blipFill>
        <p:spPr bwMode="auto">
          <a:xfrm>
            <a:off x="4343400" y="5181600"/>
            <a:ext cx="9525" cy="1171575"/>
          </a:xfrm>
          <a:prstGeom prst="rect">
            <a:avLst/>
          </a:prstGeom>
          <a:noFill/>
          <a:ln w="9525">
            <a:noFill/>
            <a:miter lim="800000"/>
            <a:headEnd/>
            <a:tailEnd/>
          </a:ln>
        </p:spPr>
      </p:pic>
      <p:cxnSp>
        <p:nvCxnSpPr>
          <p:cNvPr id="13" name="Straight Connector 12"/>
          <p:cNvCxnSpPr/>
          <p:nvPr/>
        </p:nvCxnSpPr>
        <p:spPr>
          <a:xfrm>
            <a:off x="0" y="4272224"/>
            <a:ext cx="91440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tangle 15"/>
          <p:cNvSpPr/>
          <p:nvPr/>
        </p:nvSpPr>
        <p:spPr>
          <a:xfrm>
            <a:off x="3314700" y="2895600"/>
            <a:ext cx="2757488" cy="521970"/>
          </a:xfrm>
          <a:prstGeom prst="rect">
            <a:avLst/>
          </a:prstGeom>
        </p:spPr>
        <p:txBody>
          <a:bodyPr lIns="91440" tIns="45720" rIns="91440" bIns="45720" anchor="t">
            <a:spAutoFit/>
          </a:bodyPr>
          <a:lstStyle/>
          <a:p>
            <a:pPr algn="ctr">
              <a:defRPr/>
            </a:pPr>
            <a:endParaRPr lang="en-US" dirty="0">
              <a:latin typeface="+mn-lt"/>
            </a:endParaRPr>
          </a:p>
          <a:p>
            <a:pPr algn="ctr">
              <a:defRPr/>
            </a:pPr>
            <a:endParaRPr lang="en-US" dirty="0">
              <a:latin typeface="+mn-lt"/>
            </a:endParaRPr>
          </a:p>
        </p:txBody>
      </p:sp>
      <p:sp>
        <p:nvSpPr>
          <p:cNvPr id="9" name="Rectangle 8"/>
          <p:cNvSpPr/>
          <p:nvPr/>
        </p:nvSpPr>
        <p:spPr>
          <a:xfrm>
            <a:off x="750591" y="5572125"/>
            <a:ext cx="2560654" cy="1200329"/>
          </a:xfrm>
          <a:prstGeom prst="rect">
            <a:avLst/>
          </a:prstGeom>
        </p:spPr>
        <p:txBody>
          <a:bodyPr wrap="square" anchor="t">
            <a:spAutoFit/>
          </a:bodyPr>
          <a:lstStyle/>
          <a:p>
            <a:pPr>
              <a:defRPr/>
            </a:pPr>
            <a:r>
              <a:rPr lang="en-US" sz="1200" b="1" u="sng" dirty="0">
                <a:latin typeface="+mn-lt"/>
              </a:rPr>
              <a:t>Chennai: HO</a:t>
            </a:r>
            <a:endParaRPr lang="en-US" sz="1200" b="1" u="sng" dirty="0">
              <a:latin typeface="+mn-lt"/>
            </a:endParaRPr>
          </a:p>
          <a:p>
            <a:pPr>
              <a:defRPr/>
            </a:pPr>
            <a:r>
              <a:rPr lang="en-US" sz="1200" dirty="0">
                <a:latin typeface="+mn-lt"/>
                <a:ea typeface="Arial Unicode MS" panose="020B0604020202020204" charset="-122"/>
                <a:cs typeface="Arial Unicode MS" panose="020B0604020202020204" charset="-122"/>
              </a:rPr>
              <a:t>Unit 106, NSIC Technology Park</a:t>
            </a:r>
            <a:endParaRPr lang="en-US" dirty="0"/>
          </a:p>
          <a:p>
            <a:pPr>
              <a:defRPr/>
            </a:pPr>
            <a:r>
              <a:rPr lang="en-US" sz="1200" dirty="0">
                <a:latin typeface="Calibri" panose="020F0502020204030204"/>
                <a:ea typeface="Arial Unicode MS" panose="020B0604020202020204" charset="-122"/>
                <a:cs typeface="Arial Unicode MS" panose="020B0604020202020204" charset="-122"/>
              </a:rPr>
              <a:t>Sector B-24, Guindy Industrial Estate</a:t>
            </a:r>
            <a:endParaRPr lang="en-US" sz="1200" dirty="0">
              <a:latin typeface="Calibri" panose="020F0502020204030204"/>
            </a:endParaRPr>
          </a:p>
          <a:p>
            <a:pPr>
              <a:defRPr/>
            </a:pPr>
            <a:r>
              <a:rPr lang="en-US" sz="1200" dirty="0" err="1">
                <a:latin typeface="+mn-lt"/>
                <a:ea typeface="Arial Unicode MS" panose="020B0604020202020204" charset="-122"/>
                <a:cs typeface="Arial Unicode MS" panose="020B0604020202020204" charset="-122"/>
              </a:rPr>
              <a:t>Ekkaduthangal</a:t>
            </a:r>
            <a:endParaRPr lang="en-US" sz="1200" dirty="0" err="1">
              <a:latin typeface="+mn-lt"/>
              <a:ea typeface="Arial Unicode MS" panose="020B0604020202020204" charset="-122"/>
              <a:cs typeface="Arial Unicode MS" panose="020B0604020202020204" charset="-122"/>
            </a:endParaRPr>
          </a:p>
          <a:p>
            <a:pPr>
              <a:defRPr/>
            </a:pPr>
            <a:r>
              <a:rPr lang="en-US" sz="1200" dirty="0">
                <a:latin typeface="+mn-lt"/>
                <a:ea typeface="Arial Unicode MS" panose="020B0604020202020204" charset="-122"/>
                <a:cs typeface="Arial Unicode MS" panose="020B0604020202020204" charset="-122"/>
              </a:rPr>
              <a:t>Chennai – 600 032</a:t>
            </a:r>
            <a:endParaRPr lang="en-US" sz="1200" dirty="0">
              <a:latin typeface="+mn-lt"/>
              <a:ea typeface="Arial Unicode MS" panose="020B0604020202020204" charset="-122"/>
              <a:cs typeface="Arial Unicode MS" panose="020B0604020202020204" charset="-122"/>
            </a:endParaRPr>
          </a:p>
          <a:p>
            <a:pPr>
              <a:defRPr/>
            </a:pPr>
            <a:r>
              <a:rPr lang="en-US" sz="1200" dirty="0">
                <a:latin typeface="+mn-lt"/>
                <a:ea typeface="Arial Unicode MS" panose="020B0604020202020204" charset="-122"/>
                <a:cs typeface="Arial Unicode MS" panose="020B0604020202020204" charset="-122"/>
              </a:rPr>
              <a:t> Ph- +91-97910-42632</a:t>
            </a:r>
            <a:endParaRPr lang="en-US" sz="1200" dirty="0">
              <a:latin typeface="+mn-lt"/>
            </a:endParaRPr>
          </a:p>
        </p:txBody>
      </p:sp>
      <p:sp>
        <p:nvSpPr>
          <p:cNvPr id="12" name="Rectangle 11"/>
          <p:cNvSpPr/>
          <p:nvPr/>
        </p:nvSpPr>
        <p:spPr>
          <a:xfrm>
            <a:off x="6081713" y="5572125"/>
            <a:ext cx="2133600" cy="1016000"/>
          </a:xfrm>
          <a:prstGeom prst="rect">
            <a:avLst/>
          </a:prstGeom>
        </p:spPr>
        <p:txBody>
          <a:bodyPr>
            <a:spAutoFit/>
          </a:bodyPr>
          <a:lstStyle/>
          <a:p>
            <a:pPr>
              <a:defRPr/>
            </a:pPr>
            <a:r>
              <a:rPr lang="en-US" sz="1200" b="1" u="sng" dirty="0">
                <a:latin typeface="+mn-lt"/>
              </a:rPr>
              <a:t>Bangalore</a:t>
            </a:r>
            <a:endParaRPr lang="en-US" sz="1200" b="1" u="sng" dirty="0">
              <a:latin typeface="+mn-lt"/>
            </a:endParaRPr>
          </a:p>
          <a:p>
            <a:pPr>
              <a:defRPr/>
            </a:pPr>
            <a:r>
              <a:rPr lang="en-US" sz="1200" dirty="0">
                <a:latin typeface="+mn-lt"/>
              </a:rPr>
              <a:t>3262/1, 1</a:t>
            </a:r>
            <a:r>
              <a:rPr lang="en-US" sz="1200" baseline="30000" dirty="0">
                <a:latin typeface="+mn-lt"/>
              </a:rPr>
              <a:t>st</a:t>
            </a:r>
            <a:r>
              <a:rPr lang="en-US" sz="1200" dirty="0">
                <a:latin typeface="+mn-lt"/>
              </a:rPr>
              <a:t> Floor, 13</a:t>
            </a:r>
            <a:r>
              <a:rPr lang="en-US" sz="1200" baseline="30000" dirty="0">
                <a:latin typeface="+mn-lt"/>
              </a:rPr>
              <a:t>th</a:t>
            </a:r>
            <a:r>
              <a:rPr lang="en-US" sz="1200" dirty="0">
                <a:latin typeface="+mn-lt"/>
              </a:rPr>
              <a:t> Cross</a:t>
            </a:r>
            <a:endParaRPr lang="en-US" sz="1200" dirty="0">
              <a:latin typeface="+mn-lt"/>
            </a:endParaRPr>
          </a:p>
          <a:p>
            <a:pPr>
              <a:defRPr/>
            </a:pPr>
            <a:r>
              <a:rPr lang="en-US" sz="1200" dirty="0">
                <a:latin typeface="+mn-lt"/>
              </a:rPr>
              <a:t>2</a:t>
            </a:r>
            <a:r>
              <a:rPr lang="en-US" sz="1200" baseline="30000" dirty="0">
                <a:latin typeface="+mn-lt"/>
              </a:rPr>
              <a:t>nd</a:t>
            </a:r>
            <a:r>
              <a:rPr lang="en-US" sz="1200" dirty="0">
                <a:latin typeface="+mn-lt"/>
              </a:rPr>
              <a:t> Stage, </a:t>
            </a:r>
            <a:r>
              <a:rPr lang="en-US" sz="1200" dirty="0" err="1">
                <a:latin typeface="+mn-lt"/>
              </a:rPr>
              <a:t>Indira</a:t>
            </a:r>
            <a:r>
              <a:rPr lang="en-US" sz="1200" dirty="0">
                <a:latin typeface="+mn-lt"/>
              </a:rPr>
              <a:t> Nagar,</a:t>
            </a:r>
            <a:endParaRPr lang="en-US" sz="1200" dirty="0">
              <a:latin typeface="+mn-lt"/>
            </a:endParaRPr>
          </a:p>
          <a:p>
            <a:pPr>
              <a:defRPr/>
            </a:pPr>
            <a:r>
              <a:rPr lang="en-US" sz="1200" dirty="0">
                <a:latin typeface="+mn-lt"/>
              </a:rPr>
              <a:t>Bangalore – 38</a:t>
            </a:r>
            <a:endParaRPr lang="en-US" sz="1200" dirty="0">
              <a:latin typeface="+mn-lt"/>
            </a:endParaRPr>
          </a:p>
          <a:p>
            <a:pPr>
              <a:defRPr/>
            </a:pPr>
            <a:r>
              <a:rPr lang="en-US" sz="1200" dirty="0">
                <a:latin typeface="+mn-lt"/>
              </a:rPr>
              <a:t>Ph - +91-80-25216635</a:t>
            </a:r>
            <a:endParaRPr lang="en-US" sz="1200" dirty="0">
              <a:latin typeface="+mn-lt"/>
            </a:endParaRPr>
          </a:p>
        </p:txBody>
      </p:sp>
      <p:sp>
        <p:nvSpPr>
          <p:cNvPr id="14" name="Rectangle 13"/>
          <p:cNvSpPr/>
          <p:nvPr/>
        </p:nvSpPr>
        <p:spPr>
          <a:xfrm>
            <a:off x="3652838" y="5572125"/>
            <a:ext cx="2347912" cy="1200150"/>
          </a:xfrm>
          <a:prstGeom prst="rect">
            <a:avLst/>
          </a:prstGeom>
        </p:spPr>
        <p:txBody>
          <a:bodyPr>
            <a:spAutoFit/>
          </a:bodyPr>
          <a:lstStyle/>
          <a:p>
            <a:pPr>
              <a:defRPr/>
            </a:pPr>
            <a:r>
              <a:rPr lang="en-US" sz="1200" b="1" u="sng" dirty="0">
                <a:latin typeface="+mn-lt"/>
              </a:rPr>
              <a:t>Hyderabad</a:t>
            </a:r>
            <a:endParaRPr lang="en-US" sz="1200" b="1" u="sng" dirty="0">
              <a:latin typeface="+mn-lt"/>
            </a:endParaRPr>
          </a:p>
          <a:p>
            <a:pPr>
              <a:defRPr/>
            </a:pPr>
            <a:r>
              <a:rPr lang="en-US" sz="1200" dirty="0">
                <a:latin typeface="+mn-lt"/>
              </a:rPr>
              <a:t>4</a:t>
            </a:r>
            <a:r>
              <a:rPr lang="en-US" sz="1200" baseline="30000" dirty="0">
                <a:latin typeface="+mn-lt"/>
              </a:rPr>
              <a:t>th</a:t>
            </a:r>
            <a:r>
              <a:rPr lang="en-US" sz="1200" dirty="0">
                <a:latin typeface="+mn-lt"/>
              </a:rPr>
              <a:t> Floor, Assumption House</a:t>
            </a:r>
            <a:endParaRPr lang="en-US" sz="1200" dirty="0">
              <a:latin typeface="+mn-lt"/>
            </a:endParaRPr>
          </a:p>
          <a:p>
            <a:pPr>
              <a:defRPr/>
            </a:pPr>
            <a:r>
              <a:rPr lang="en-US" sz="1200" dirty="0">
                <a:latin typeface="+mn-lt"/>
              </a:rPr>
              <a:t>Lane. </a:t>
            </a:r>
            <a:r>
              <a:rPr lang="en-US" sz="1200" dirty="0" err="1">
                <a:latin typeface="+mn-lt"/>
              </a:rPr>
              <a:t>Opp</a:t>
            </a:r>
            <a:r>
              <a:rPr lang="en-US" sz="1200" dirty="0">
                <a:latin typeface="+mn-lt"/>
              </a:rPr>
              <a:t> OBC Bank,</a:t>
            </a:r>
            <a:endParaRPr lang="en-US" sz="1200" dirty="0">
              <a:latin typeface="+mn-lt"/>
            </a:endParaRPr>
          </a:p>
          <a:p>
            <a:pPr>
              <a:defRPr/>
            </a:pPr>
            <a:r>
              <a:rPr lang="en-US" sz="1200" dirty="0">
                <a:latin typeface="+mn-lt"/>
              </a:rPr>
              <a:t>S.D. Road</a:t>
            </a:r>
            <a:endParaRPr lang="en-US" sz="1200" dirty="0">
              <a:latin typeface="+mn-lt"/>
            </a:endParaRPr>
          </a:p>
          <a:p>
            <a:pPr>
              <a:defRPr/>
            </a:pPr>
            <a:r>
              <a:rPr lang="en-US" sz="1200" dirty="0" err="1">
                <a:latin typeface="+mn-lt"/>
              </a:rPr>
              <a:t>Secunderabad</a:t>
            </a:r>
            <a:r>
              <a:rPr lang="en-US" sz="1200" dirty="0">
                <a:latin typeface="+mn-lt"/>
              </a:rPr>
              <a:t> – 500003</a:t>
            </a:r>
            <a:endParaRPr lang="en-US" sz="1200" dirty="0">
              <a:latin typeface="+mn-lt"/>
            </a:endParaRPr>
          </a:p>
          <a:p>
            <a:pPr>
              <a:defRPr/>
            </a:pPr>
            <a:r>
              <a:rPr lang="en-US" sz="1200" dirty="0">
                <a:latin typeface="+mn-lt"/>
              </a:rPr>
              <a:t>Ph- 99891-21094</a:t>
            </a:r>
            <a:endParaRPr lang="en-US" sz="1200" dirty="0">
              <a:latin typeface="+mn-lt"/>
            </a:endParaRPr>
          </a:p>
        </p:txBody>
      </p:sp>
    </p:spTree>
  </p:cSld>
  <p:clrMapOvr>
    <a:masterClrMapping/>
  </p:clrMapOvr>
</p:sld>
</file>

<file path=ppt/theme/theme1.xml><?xml version="1.0" encoding="utf-8"?>
<a:theme xmlns:a="http://schemas.openxmlformats.org/drawingml/2006/main" name="Proposal to Jayaraj Automobiles - MService - 26.Dec.1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Proposal to Jayaraj Automobiles - MService - 26.Dec.12</Template>
  <TotalTime>0</TotalTime>
  <Words>6038</Words>
  <Application>WPS Presentation</Application>
  <PresentationFormat>On-screen Show (4:3)</PresentationFormat>
  <Paragraphs>262</Paragraphs>
  <Slides>12</Slides>
  <Notes>0</Notes>
  <HiddenSlides>0</HiddenSlides>
  <MMClips>0</MMClips>
  <ScaleCrop>false</ScaleCrop>
  <HeadingPairs>
    <vt:vector size="8" baseType="variant">
      <vt:variant>
        <vt:lpstr>已用的字体</vt:lpstr>
      </vt:variant>
      <vt:variant>
        <vt:i4>9</vt:i4>
      </vt:variant>
      <vt:variant>
        <vt:lpstr>主题</vt:lpstr>
      </vt:variant>
      <vt:variant>
        <vt:i4>2</vt:i4>
      </vt:variant>
      <vt:variant>
        <vt:lpstr>嵌入 OLE 服务器</vt:lpstr>
      </vt:variant>
      <vt:variant>
        <vt:i4>13</vt:i4>
      </vt:variant>
      <vt:variant>
        <vt:lpstr>幻灯片标题</vt:lpstr>
      </vt:variant>
      <vt:variant>
        <vt:i4>12</vt:i4>
      </vt:variant>
    </vt:vector>
  </HeadingPairs>
  <TitlesOfParts>
    <vt:vector size="36" baseType="lpstr">
      <vt:lpstr>Arial</vt:lpstr>
      <vt:lpstr>SimSun</vt:lpstr>
      <vt:lpstr>Wingdings</vt:lpstr>
      <vt:lpstr>Arial Unicode MS</vt:lpstr>
      <vt:lpstr>Calibri</vt:lpstr>
      <vt:lpstr>Calibri</vt:lpstr>
      <vt:lpstr>Arial Unicode MS</vt:lpstr>
      <vt:lpstr>Arial</vt:lpstr>
      <vt:lpstr>Microsoft YaHei</vt:lpstr>
      <vt:lpstr>Proposal to Jayaraj Automobiles - MService - 26.Dec.12</vt:lpstr>
      <vt:lpstr>Office Theme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Paint.Picture</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Acer</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MService</dc:title>
  <dc:creator>Chak</dc:creator>
  <dc:subject>Overview</dc:subject>
  <cp:lastModifiedBy>SS019</cp:lastModifiedBy>
  <cp:revision>1103</cp:revision>
  <dcterms:created xsi:type="dcterms:W3CDTF">2012-12-26T12:58:00Z</dcterms:created>
  <dcterms:modified xsi:type="dcterms:W3CDTF">2021-06-03T16:01:50Z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1033-11.2.0.10132</vt:lpwstr>
  </property>
</Properties>
</file>