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sldIdLst>
    <p:sldId id="552" r:id="rId3"/>
    <p:sldId id="654" r:id="rId4"/>
    <p:sldId id="701" r:id="rId5"/>
    <p:sldId id="705" r:id="rId6"/>
    <p:sldId id="731" r:id="rId7"/>
    <p:sldId id="730" r:id="rId8"/>
    <p:sldId id="729" r:id="rId9"/>
    <p:sldId id="736" r:id="rId10"/>
    <p:sldId id="737" r:id="rId11"/>
    <p:sldId id="738" r:id="rId12"/>
    <p:sldId id="739" r:id="rId13"/>
    <p:sldId id="740" r:id="rId14"/>
    <p:sldId id="741" r:id="rId15"/>
    <p:sldId id="742" r:id="rId16"/>
    <p:sldId id="732" r:id="rId17"/>
    <p:sldId id="743" r:id="rId18"/>
    <p:sldId id="703" r:id="rId19"/>
  </p:sldIdLst>
  <p:sldSz cx="9144000" cy="6858000" type="screen4x3"/>
  <p:notesSz cx="6858000" cy="9144000"/>
  <p:defaultTex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itchFamily="34" charset="-128"/>
        <a:cs typeface="Arial Unicode MS"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itchFamily="34" charset="-128"/>
        <a:cs typeface="Arial Unicode MS"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itchFamily="34" charset="-128"/>
        <a:cs typeface="Arial Unicode MS"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itchFamily="34" charset="-128"/>
        <a:cs typeface="Arial Unicode MS"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itchFamily="34" charset="-128"/>
        <a:cs typeface="Arial Unicode MS"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itchFamily="34" charset="-128"/>
        <a:cs typeface="Arial Unicode MS"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itchFamily="34" charset="-128"/>
        <a:cs typeface="Arial Unicode MS"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itchFamily="34" charset="-128"/>
        <a:cs typeface="Arial Unicode MS"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itchFamily="34" charset="-128"/>
        <a:cs typeface="Arial Unicode MS" pitchFamily="34" charset="-128"/>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C234"/>
    <a:srgbClr val="A7D971"/>
    <a:srgbClr val="FF9B09"/>
    <a:srgbClr val="FF6A47"/>
    <a:srgbClr val="F7940F"/>
    <a:srgbClr val="FFFF99"/>
    <a:srgbClr val="B8E08C"/>
    <a:srgbClr val="00FA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vertBarState="minimized" horzBarState="maximized">
    <p:restoredLeft sz="15620" autoAdjust="0"/>
    <p:restoredTop sz="94660" autoAdjust="0"/>
  </p:normalViewPr>
  <p:slideViewPr>
    <p:cSldViewPr>
      <p:cViewPr>
        <p:scale>
          <a:sx n="55" d="100"/>
          <a:sy n="55" d="100"/>
        </p:scale>
        <p:origin x="-2256" y="-492"/>
      </p:cViewPr>
      <p:guideLst>
        <p:guide orient="horz" pos="220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ea typeface="+mn-ea"/>
                <a:cs typeface="Arial" panose="020B0604020202020204" pitchFamily="34" charset="0"/>
              </a:defRPr>
            </a:lvl1pPr>
          </a:lstStyle>
          <a:p>
            <a:pPr>
              <a:defRPr/>
            </a:pPr>
            <a:endParaRPr lang="en-GB"/>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ea typeface="+mn-ea"/>
                <a:cs typeface="Arial" panose="020B0604020202020204" pitchFamily="34" charset="0"/>
              </a:defRPr>
            </a:lvl1pPr>
          </a:lstStyle>
          <a:p>
            <a:pPr>
              <a:defRPr/>
            </a:pPr>
            <a:endParaRPr lang="en-GB"/>
          </a:p>
        </p:txBody>
      </p:sp>
      <p:sp>
        <p:nvSpPr>
          <p:cNvPr id="471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en-GB" noProof="0" smtClean="0"/>
              <a:t>Click to edit Master text styles</a:t>
            </a:r>
            <a:endParaRPr lang="en-GB" noProof="0" smtClean="0"/>
          </a:p>
          <a:p>
            <a:pPr lvl="1"/>
            <a:r>
              <a:rPr lang="en-GB" noProof="0" smtClean="0"/>
              <a:t>Second level</a:t>
            </a:r>
            <a:endParaRPr lang="en-GB" noProof="0" smtClean="0"/>
          </a:p>
          <a:p>
            <a:pPr lvl="2"/>
            <a:r>
              <a:rPr lang="en-GB" noProof="0" smtClean="0"/>
              <a:t>Third level</a:t>
            </a:r>
            <a:endParaRPr lang="en-GB" noProof="0" smtClean="0"/>
          </a:p>
          <a:p>
            <a:pPr lvl="3"/>
            <a:r>
              <a:rPr lang="en-GB" noProof="0" smtClean="0"/>
              <a:t>Fourth level</a:t>
            </a:r>
            <a:endParaRPr lang="en-GB" noProof="0" smtClean="0"/>
          </a:p>
          <a:p>
            <a:pPr lvl="4"/>
            <a:r>
              <a:rPr lang="en-GB" noProof="0" smtClean="0"/>
              <a:t>Fifth level</a:t>
            </a:r>
            <a:endParaRPr lang="en-GB" noProof="0" smtClean="0"/>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ea typeface="+mn-ea"/>
                <a:cs typeface="Arial" panose="020B0604020202020204" pitchFamily="34" charset="0"/>
              </a:defRPr>
            </a:lvl1pPr>
          </a:lstStyle>
          <a:p>
            <a:pPr>
              <a:defRPr/>
            </a:pPr>
            <a:endParaRPr lang="en-GB"/>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ea typeface="+mn-ea"/>
                <a:cs typeface="Arial" panose="020B0604020202020204" pitchFamily="34" charset="0"/>
              </a:defRPr>
            </a:lvl1pPr>
          </a:lstStyle>
          <a:p>
            <a:pPr>
              <a:defRPr/>
            </a:pPr>
            <a:fld id="{46D57443-88DA-427F-8986-40D61246F29A}" type="slidenum">
              <a:rPr lang="en-GB"/>
            </a:fld>
            <a:endParaRPr lang="en-GB"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1326A7D8-FBF7-41DD-9FAC-B61B6197E7F9}" type="datetime1">
              <a:rPr lang="en-GB"/>
            </a:fld>
            <a:endParaRPr lang="en-US"/>
          </a:p>
        </p:txBody>
      </p:sp>
      <p:sp>
        <p:nvSpPr>
          <p:cNvPr id="5" name="Slide Number Placeholder 5"/>
          <p:cNvSpPr>
            <a:spLocks noGrp="1"/>
          </p:cNvSpPr>
          <p:nvPr>
            <p:ph type="sldNum" sz="quarter" idx="11"/>
          </p:nvPr>
        </p:nvSpPr>
        <p:spPr/>
        <p:txBody>
          <a:bodyPr/>
          <a:lstStyle>
            <a:lvl1pPr>
              <a:defRPr/>
            </a:lvl1pPr>
          </a:lstStyle>
          <a:p>
            <a:pPr>
              <a:defRPr/>
            </a:pPr>
            <a:fld id="{A5ED886E-AE90-473A-8A0E-CA2BCD142707}" type="slidenum">
              <a:rPr lang="en-US"/>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Date Placeholder 3"/>
          <p:cNvSpPr>
            <a:spLocks noGrp="1"/>
          </p:cNvSpPr>
          <p:nvPr>
            <p:ph type="dt" sz="half" idx="10"/>
          </p:nvPr>
        </p:nvSpPr>
        <p:spPr/>
        <p:txBody>
          <a:bodyPr/>
          <a:lstStyle>
            <a:lvl1pPr>
              <a:defRPr/>
            </a:lvl1pPr>
          </a:lstStyle>
          <a:p>
            <a:pPr>
              <a:defRPr/>
            </a:pPr>
            <a:fld id="{670938C5-723E-4A4C-A157-5BA14F507CC6}" type="datetime1">
              <a:rPr lang="en-GB"/>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8" name="Slide Number Placeholder 5"/>
          <p:cNvSpPr>
            <a:spLocks noGrp="1"/>
          </p:cNvSpPr>
          <p:nvPr>
            <p:ph type="sldNum" sz="quarter" idx="12"/>
          </p:nvPr>
        </p:nvSpPr>
        <p:spPr/>
        <p:txBody>
          <a:bodyPr/>
          <a:lstStyle>
            <a:lvl1pPr>
              <a:defRPr/>
            </a:lvl1pPr>
          </a:lstStyle>
          <a:p>
            <a:pPr>
              <a:defRPr/>
            </a:pPr>
            <a:fld id="{113C6C00-7334-4231-8019-1BC4D41F703B}" type="slidenum">
              <a:rPr lang="en-GB"/>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lvl1pPr>
              <a:defRPr/>
            </a:lvl1pPr>
          </a:lstStyle>
          <a:p>
            <a:pPr>
              <a:defRPr/>
            </a:pPr>
            <a:fld id="{D2B7467F-DE0D-4F48-8177-6C10A0A4006C}" type="datetime1">
              <a:rPr lang="en-GB"/>
            </a:fld>
            <a:endParaRPr lang="en-GB" dirty="0"/>
          </a:p>
        </p:txBody>
      </p:sp>
      <p:sp>
        <p:nvSpPr>
          <p:cNvPr id="5" name="Footer Placeholder 4"/>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6" name="Slide Number Placeholder 5"/>
          <p:cNvSpPr>
            <a:spLocks noGrp="1"/>
          </p:cNvSpPr>
          <p:nvPr>
            <p:ph type="sldNum" sz="quarter" idx="12"/>
          </p:nvPr>
        </p:nvSpPr>
        <p:spPr/>
        <p:txBody>
          <a:bodyPr/>
          <a:lstStyle>
            <a:lvl1pPr>
              <a:defRPr/>
            </a:lvl1pPr>
          </a:lstStyle>
          <a:p>
            <a:pPr>
              <a:defRPr/>
            </a:pPr>
            <a:fld id="{DA291CDC-72D1-4760-9418-F9532C7C698B}" type="slidenum">
              <a:rPr lang="en-GB"/>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4"/>
          <p:cNvSpPr>
            <a:spLocks noGrp="1"/>
          </p:cNvSpPr>
          <p:nvPr>
            <p:ph type="dt" sz="half" idx="10"/>
          </p:nvPr>
        </p:nvSpPr>
        <p:spPr/>
        <p:txBody>
          <a:bodyPr/>
          <a:lstStyle>
            <a:lvl1pPr>
              <a:defRPr/>
            </a:lvl1pPr>
          </a:lstStyle>
          <a:p>
            <a:pPr>
              <a:defRPr/>
            </a:pPr>
            <a:fld id="{83B567D4-7EEA-4208-A174-E0A1E5E20AC3}" type="datetime1">
              <a:rPr lang="en-GB"/>
            </a:fld>
            <a:endParaRPr lang="en-GB" dirty="0"/>
          </a:p>
        </p:txBody>
      </p:sp>
      <p:sp>
        <p:nvSpPr>
          <p:cNvPr id="8" name="Footer Placeholder 5"/>
          <p:cNvSpPr>
            <a:spLocks noGrp="1"/>
          </p:cNvSpPr>
          <p:nvPr>
            <p:ph type="ftr" sz="quarter" idx="11"/>
          </p:nvPr>
        </p:nvSpPr>
        <p:spPr/>
        <p:txBody>
          <a:bodyPr/>
          <a:lstStyle>
            <a:lvl1pPr>
              <a:defRPr/>
            </a:lvl1pPr>
          </a:lstStyle>
          <a:p>
            <a:pPr>
              <a:defRPr/>
            </a:pPr>
            <a:r>
              <a:rPr lang="en-US"/>
              <a:t>Confidential to Selfservit, TVS &amp; Sons</a:t>
            </a:r>
            <a:endParaRPr lang="en-GB"/>
          </a:p>
        </p:txBody>
      </p:sp>
      <p:sp>
        <p:nvSpPr>
          <p:cNvPr id="9" name="Slide Number Placeholder 6"/>
          <p:cNvSpPr>
            <a:spLocks noGrp="1"/>
          </p:cNvSpPr>
          <p:nvPr>
            <p:ph type="sldNum" sz="quarter" idx="12"/>
          </p:nvPr>
        </p:nvSpPr>
        <p:spPr/>
        <p:txBody>
          <a:bodyPr/>
          <a:lstStyle>
            <a:lvl1pPr>
              <a:defRPr/>
            </a:lvl1pPr>
          </a:lstStyle>
          <a:p>
            <a:pPr>
              <a:defRPr/>
            </a:pPr>
            <a:fld id="{C90FE992-8C03-4942-BFCB-10D0A8FF9CAD}" type="slidenum">
              <a:rPr lang="en-GB"/>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9" name="Date Placeholder 6"/>
          <p:cNvSpPr>
            <a:spLocks noGrp="1"/>
          </p:cNvSpPr>
          <p:nvPr>
            <p:ph type="dt" sz="half" idx="10"/>
          </p:nvPr>
        </p:nvSpPr>
        <p:spPr/>
        <p:txBody>
          <a:bodyPr/>
          <a:lstStyle>
            <a:lvl1pPr>
              <a:defRPr/>
            </a:lvl1pPr>
          </a:lstStyle>
          <a:p>
            <a:pPr>
              <a:defRPr/>
            </a:pPr>
            <a:fld id="{9032328D-3574-4716-AABE-4BC3CBE44137}" type="datetime1">
              <a:rPr lang="en-GB"/>
            </a:fld>
            <a:endParaRPr lang="en-GB" dirty="0"/>
          </a:p>
        </p:txBody>
      </p:sp>
      <p:sp>
        <p:nvSpPr>
          <p:cNvPr id="10" name="Footer Placeholder 7"/>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11" name="Slide Number Placeholder 8"/>
          <p:cNvSpPr>
            <a:spLocks noGrp="1"/>
          </p:cNvSpPr>
          <p:nvPr>
            <p:ph type="sldNum" sz="quarter" idx="12"/>
          </p:nvPr>
        </p:nvSpPr>
        <p:spPr/>
        <p:txBody>
          <a:bodyPr/>
          <a:lstStyle>
            <a:lvl1pPr>
              <a:defRPr/>
            </a:lvl1pPr>
          </a:lstStyle>
          <a:p>
            <a:pPr>
              <a:defRPr/>
            </a:pPr>
            <a:fld id="{9F76A946-FA63-46DE-8EC3-43ADFA414796}" type="slidenum">
              <a:rPr lang="en-GB"/>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2"/>
          <p:cNvSpPr>
            <a:spLocks noGrp="1"/>
          </p:cNvSpPr>
          <p:nvPr>
            <p:ph type="dt" sz="half" idx="10"/>
          </p:nvPr>
        </p:nvSpPr>
        <p:spPr/>
        <p:txBody>
          <a:bodyPr/>
          <a:lstStyle>
            <a:lvl1pPr>
              <a:defRPr/>
            </a:lvl1pPr>
          </a:lstStyle>
          <a:p>
            <a:pPr>
              <a:defRPr/>
            </a:pPr>
            <a:fld id="{385B7CF8-3F5F-48A9-B14D-B508E74486A9}" type="datetime1">
              <a:rPr lang="en-GB"/>
            </a:fld>
            <a:endParaRPr lang="en-GB" dirty="0"/>
          </a:p>
        </p:txBody>
      </p:sp>
      <p:sp>
        <p:nvSpPr>
          <p:cNvPr id="6" name="Footer Placeholder 3"/>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7" name="Slide Number Placeholder 4"/>
          <p:cNvSpPr>
            <a:spLocks noGrp="1"/>
          </p:cNvSpPr>
          <p:nvPr>
            <p:ph type="sldNum" sz="quarter" idx="12"/>
          </p:nvPr>
        </p:nvSpPr>
        <p:spPr/>
        <p:txBody>
          <a:bodyPr/>
          <a:lstStyle>
            <a:lvl1pPr>
              <a:defRPr/>
            </a:lvl1pPr>
          </a:lstStyle>
          <a:p>
            <a:pPr>
              <a:defRPr/>
            </a:pPr>
            <a:fld id="{7B07084F-5FCC-4C7D-96AB-28116C3DC07E}" type="slidenum">
              <a:rPr lang="en-GB"/>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1"/>
          <p:cNvSpPr>
            <a:spLocks noGrp="1"/>
          </p:cNvSpPr>
          <p:nvPr>
            <p:ph type="dt" sz="half" idx="10"/>
          </p:nvPr>
        </p:nvSpPr>
        <p:spPr/>
        <p:txBody>
          <a:bodyPr/>
          <a:lstStyle>
            <a:lvl1pPr>
              <a:defRPr/>
            </a:lvl1pPr>
          </a:lstStyle>
          <a:p>
            <a:pPr>
              <a:defRPr/>
            </a:pPr>
            <a:fld id="{AF5F95BF-71FB-46E8-B930-71E44B5AFDE5}" type="datetime1">
              <a:rPr lang="en-GB"/>
            </a:fld>
            <a:endParaRPr lang="en-GB" dirty="0"/>
          </a:p>
        </p:txBody>
      </p:sp>
      <p:sp>
        <p:nvSpPr>
          <p:cNvPr id="4" name="Footer Placeholder 2"/>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5" name="Slide Number Placeholder 3"/>
          <p:cNvSpPr>
            <a:spLocks noGrp="1"/>
          </p:cNvSpPr>
          <p:nvPr>
            <p:ph type="sldNum" sz="quarter" idx="12"/>
          </p:nvPr>
        </p:nvSpPr>
        <p:spPr/>
        <p:txBody>
          <a:bodyPr/>
          <a:lstStyle>
            <a:lvl1pPr>
              <a:defRPr/>
            </a:lvl1pPr>
          </a:lstStyle>
          <a:p>
            <a:pPr>
              <a:defRPr/>
            </a:pPr>
            <a:fld id="{2FE55862-935E-4A28-ACAD-49CD152E2AE3}" type="slidenum">
              <a:rPr lang="en-GB"/>
            </a:fld>
            <a:endParaRPr lang="en-GB" dirty="0"/>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6" name="Date Placeholder 4"/>
          <p:cNvSpPr>
            <a:spLocks noGrp="1"/>
          </p:cNvSpPr>
          <p:nvPr>
            <p:ph type="dt" sz="half" idx="10"/>
          </p:nvPr>
        </p:nvSpPr>
        <p:spPr/>
        <p:txBody>
          <a:bodyPr/>
          <a:lstStyle>
            <a:lvl1pPr>
              <a:defRPr/>
            </a:lvl1pPr>
          </a:lstStyle>
          <a:p>
            <a:pPr>
              <a:defRPr/>
            </a:pPr>
            <a:fld id="{0ED7F310-77FE-431B-B387-C210AD9189D1}" type="datetime1">
              <a:rPr lang="en-GB"/>
            </a:fld>
            <a:endParaRPr lang="en-GB" dirty="0"/>
          </a:p>
        </p:txBody>
      </p:sp>
      <p:sp>
        <p:nvSpPr>
          <p:cNvPr id="7" name="Footer Placeholder 5"/>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8" name="Slide Number Placeholder 6"/>
          <p:cNvSpPr>
            <a:spLocks noGrp="1"/>
          </p:cNvSpPr>
          <p:nvPr>
            <p:ph type="sldNum" sz="quarter" idx="12"/>
          </p:nvPr>
        </p:nvSpPr>
        <p:spPr/>
        <p:txBody>
          <a:bodyPr/>
          <a:lstStyle>
            <a:lvl1pPr>
              <a:defRPr/>
            </a:lvl1pPr>
          </a:lstStyle>
          <a:p>
            <a:pPr>
              <a:defRPr/>
            </a:pPr>
            <a:fld id="{4EE83927-6595-4B97-A1DE-4399E4082F5A}" type="slidenum">
              <a:rPr lang="en-GB"/>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cxnSp>
        <p:nvCxnSpPr>
          <p:cNvPr id="5" name="Straight Connector 4"/>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6" name="Date Placeholder 4"/>
          <p:cNvSpPr>
            <a:spLocks noGrp="1"/>
          </p:cNvSpPr>
          <p:nvPr>
            <p:ph type="dt" sz="half" idx="10"/>
          </p:nvPr>
        </p:nvSpPr>
        <p:spPr/>
        <p:txBody>
          <a:bodyPr/>
          <a:lstStyle>
            <a:lvl1pPr>
              <a:defRPr/>
            </a:lvl1pPr>
          </a:lstStyle>
          <a:p>
            <a:pPr>
              <a:defRPr/>
            </a:pPr>
            <a:fld id="{5AF97BD1-D457-40C5-AC0A-9710C8EBF262}" type="datetime1">
              <a:rPr lang="en-GB"/>
            </a:fld>
            <a:endParaRPr lang="en-GB" dirty="0"/>
          </a:p>
        </p:txBody>
      </p:sp>
      <p:sp>
        <p:nvSpPr>
          <p:cNvPr id="7" name="Footer Placeholder 5"/>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8" name="Slide Number Placeholder 6"/>
          <p:cNvSpPr>
            <a:spLocks noGrp="1"/>
          </p:cNvSpPr>
          <p:nvPr>
            <p:ph type="sldNum" sz="quarter" idx="12"/>
          </p:nvPr>
        </p:nvSpPr>
        <p:spPr/>
        <p:txBody>
          <a:bodyPr/>
          <a:lstStyle>
            <a:lvl1pPr>
              <a:defRPr/>
            </a:lvl1pPr>
          </a:lstStyle>
          <a:p>
            <a:pPr>
              <a:defRPr/>
            </a:pPr>
            <a:fld id="{CBBEACC9-CC86-426A-AB2E-EA1F85D883FC}" type="slidenum">
              <a:rPr lang="en-GB"/>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4" name="Straight Connector 3"/>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Date Placeholder 3"/>
          <p:cNvSpPr>
            <a:spLocks noGrp="1"/>
          </p:cNvSpPr>
          <p:nvPr>
            <p:ph type="dt" sz="half" idx="10"/>
          </p:nvPr>
        </p:nvSpPr>
        <p:spPr/>
        <p:txBody>
          <a:bodyPr/>
          <a:lstStyle>
            <a:lvl1pPr>
              <a:defRPr/>
            </a:lvl1pPr>
          </a:lstStyle>
          <a:p>
            <a:pPr>
              <a:defRPr/>
            </a:pPr>
            <a:fld id="{5CB4AA60-6916-46FF-A77C-CDBC2DB02165}" type="datetime1">
              <a:rPr lang="en-GB"/>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8" name="Slide Number Placeholder 5"/>
          <p:cNvSpPr>
            <a:spLocks noGrp="1"/>
          </p:cNvSpPr>
          <p:nvPr>
            <p:ph type="sldNum" sz="quarter" idx="12"/>
          </p:nvPr>
        </p:nvSpPr>
        <p:spPr/>
        <p:txBody>
          <a:bodyPr/>
          <a:lstStyle>
            <a:lvl1pPr>
              <a:defRPr/>
            </a:lvl1pPr>
          </a:lstStyle>
          <a:p>
            <a:pPr>
              <a:defRPr/>
            </a:pPr>
            <a:fld id="{03C20EF5-2C04-4226-BD81-2B04CB46BF8D}" type="slidenum">
              <a:rPr lang="en-GB"/>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cxnSp>
        <p:nvCxnSpPr>
          <p:cNvPr id="4" name="Straight Connector 3"/>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F2BD4220-E858-44D3-86E2-A1269A3E0712}" type="datetime1">
              <a:rPr lang="en-GB"/>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7" name="Slide Number Placeholder 5"/>
          <p:cNvSpPr>
            <a:spLocks noGrp="1"/>
          </p:cNvSpPr>
          <p:nvPr>
            <p:ph type="sldNum" sz="quarter" idx="12"/>
          </p:nvPr>
        </p:nvSpPr>
        <p:spPr/>
        <p:txBody>
          <a:bodyPr/>
          <a:lstStyle>
            <a:lvl1pPr>
              <a:defRPr/>
            </a:lvl1pPr>
          </a:lstStyle>
          <a:p>
            <a:pPr>
              <a:defRPr/>
            </a:pPr>
            <a:fld id="{296FA395-BDD7-4684-BC90-BADEE33512A8}" type="slidenum">
              <a:rPr lang="en-GB"/>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Arial Unicode MS" pitchFamily="34" charset="-128"/>
                <a:cs typeface="Arial Unicode MS" pitchFamily="34" charset="-128"/>
              </a:defRPr>
            </a:lvl1pPr>
          </a:lstStyle>
          <a:p>
            <a:pPr>
              <a:defRPr/>
            </a:pPr>
            <a:fld id="{A6F51C9B-DB3F-4B99-83CE-1512A4FC152C}" type="datetime1">
              <a:rPr lang="en-GB"/>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Arial Unicode MS" pitchFamily="34" charset="-128"/>
                <a:cs typeface="Arial Unicode MS" pitchFamily="34" charset="-128"/>
              </a:defRPr>
            </a:lvl1pPr>
          </a:lstStyle>
          <a:p>
            <a:pPr>
              <a:defRPr/>
            </a:pPr>
            <a:r>
              <a:rPr lang="en-US"/>
              <a:t>Confidential to Selfservit, TVS &amp; Sons</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ea typeface="Arial Unicode MS" pitchFamily="34" charset="-128"/>
                <a:cs typeface="Arial Unicode MS" pitchFamily="34" charset="-128"/>
              </a:defRPr>
            </a:lvl1pPr>
          </a:lstStyle>
          <a:p>
            <a:pPr>
              <a:defRPr/>
            </a:pPr>
            <a:fld id="{C30B1F6D-886A-44E0-878A-9B4CC1539D34}" type="slidenum">
              <a:rPr lang="en-GB"/>
            </a:fld>
            <a:endParaRPr lang="en-GB" dirty="0"/>
          </a:p>
        </p:txBody>
      </p:sp>
      <p:pic>
        <p:nvPicPr>
          <p:cNvPr id="1031" name="Picture 6" descr="Selfservit.PNG"/>
          <p:cNvPicPr>
            <a:picLocks noChangeAspect="1"/>
          </p:cNvPicPr>
          <p:nvPr/>
        </p:nvPicPr>
        <p:blipFill>
          <a:blip r:embed="rId13"/>
          <a:srcRect/>
          <a:stretch>
            <a:fillRect/>
          </a:stretch>
        </p:blipFill>
        <p:spPr bwMode="auto">
          <a:xfrm>
            <a:off x="7162800" y="0"/>
            <a:ext cx="1981200" cy="53975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normAutofit fontScale="90000"/>
          </a:bodyPr>
          <a:lstStyle/>
          <a:p>
            <a:pPr eaLnBrk="1" hangingPunct="1">
              <a:defRPr/>
            </a:pPr>
            <a:br>
              <a:rPr lang="en-US" altLang="en-US" sz="3600" dirty="0"/>
            </a:br>
            <a:br>
              <a:rPr lang="en-US" altLang="en-US" sz="3600" dirty="0" smtClean="0"/>
            </a:br>
            <a:endParaRPr lang="en-US" altLang="en-US" sz="3600" dirty="0" smtClean="0"/>
          </a:p>
        </p:txBody>
      </p:sp>
      <p:sp>
        <p:nvSpPr>
          <p:cNvPr id="2" name="Subtitle 1"/>
          <p:cNvSpPr>
            <a:spLocks noGrp="1"/>
          </p:cNvSpPr>
          <p:nvPr>
            <p:ph type="subTitle" idx="1"/>
          </p:nvPr>
        </p:nvSpPr>
        <p:spPr>
          <a:xfrm>
            <a:off x="1371600" y="1066800"/>
            <a:ext cx="6400800" cy="4343399"/>
          </a:xfrm>
        </p:spPr>
        <p:txBody>
          <a:bodyPr>
            <a:noAutofit/>
          </a:bodyPr>
          <a:lstStyle/>
          <a:p>
            <a:pPr>
              <a:defRPr/>
            </a:pPr>
            <a:r>
              <a:rPr lang="en-US" sz="2800" dirty="0"/>
              <a:t>360° </a:t>
            </a:r>
            <a:r>
              <a:rPr lang="en-US" sz="2800" dirty="0" smtClean="0"/>
              <a:t>View of Field Performance</a:t>
            </a:r>
            <a:endParaRPr lang="en-IN" sz="2800" dirty="0"/>
          </a:p>
          <a:p>
            <a:pPr>
              <a:defRPr/>
            </a:pPr>
            <a:endParaRPr lang="en-US" sz="2800" dirty="0" smtClean="0"/>
          </a:p>
          <a:p>
            <a:pPr>
              <a:defRPr/>
            </a:pPr>
            <a:r>
              <a:rPr lang="en-US" sz="2800" dirty="0" smtClean="0"/>
              <a:t>With </a:t>
            </a:r>
            <a:endParaRPr lang="en-US" sz="2800" dirty="0" smtClean="0"/>
          </a:p>
          <a:p>
            <a:pPr>
              <a:defRPr/>
            </a:pPr>
            <a:endParaRPr lang="en-US" sz="2800" dirty="0" smtClean="0"/>
          </a:p>
          <a:p>
            <a:pPr>
              <a:defRPr/>
            </a:pPr>
            <a:r>
              <a:rPr lang="en-US" sz="2800" dirty="0" err="1" smtClean="0"/>
              <a:t>MService</a:t>
            </a:r>
            <a:r>
              <a:rPr lang="en-US" sz="2800" dirty="0" smtClean="0"/>
              <a:t> for SchwingStetter</a:t>
            </a:r>
            <a:endParaRPr lang="en-US" sz="2800" dirty="0" smtClean="0"/>
          </a:p>
          <a:p>
            <a:pPr>
              <a:defRPr/>
            </a:pPr>
            <a:endParaRPr lang="en-US" sz="2800" dirty="0" smtClean="0"/>
          </a:p>
          <a:p>
            <a:pPr>
              <a:defRPr/>
            </a:pPr>
            <a:r>
              <a:rPr lang="en-US" sz="2800" dirty="0" smtClean="0"/>
              <a:t>Aug 2020</a:t>
            </a:r>
            <a:endParaRPr lang="en-US" sz="2800" dirty="0" smtClean="0"/>
          </a:p>
          <a:p>
            <a:pPr>
              <a:defRPr/>
            </a:pPr>
            <a:endParaRPr lang="en-US" sz="28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2" y="4406900"/>
            <a:ext cx="8040687" cy="1362075"/>
          </a:xfrm>
        </p:spPr>
        <p:txBody>
          <a:bodyPr/>
          <a:lstStyle/>
          <a:p>
            <a:pPr>
              <a:defRPr/>
            </a:pPr>
            <a:r>
              <a:rPr lang="en-US" dirty="0" smtClean="0"/>
              <a:t>Branches, Dealers &amp; CUSTOMERS SERVICE &amp; EQUIPMENT MAINTENACE &amp; management</a:t>
            </a:r>
            <a:endParaRPr lang="en-US" dirty="0"/>
          </a:p>
        </p:txBody>
      </p:sp>
      <p:sp>
        <p:nvSpPr>
          <p:cNvPr id="3" name="Text Placeholder 2"/>
          <p:cNvSpPr>
            <a:spLocks noGrp="1"/>
          </p:cNvSpPr>
          <p:nvPr>
            <p:ph type="body" idx="1"/>
          </p:nvPr>
        </p:nvSpPr>
        <p:spPr/>
        <p:txBody>
          <a:bodyPr/>
          <a:lstStyle/>
          <a:p>
            <a:pPr>
              <a:defRPr/>
            </a:pPr>
            <a:r>
              <a:rPr lang="en-US" sz="2800" dirty="0"/>
              <a:t>SchwingStetter</a:t>
            </a:r>
            <a:endParaRPr lang="en-US" sz="2800" dirty="0"/>
          </a:p>
        </p:txBody>
      </p:sp>
      <p:sp>
        <p:nvSpPr>
          <p:cNvPr id="4" name="Date Placeholder 3"/>
          <p:cNvSpPr>
            <a:spLocks noGrp="1"/>
          </p:cNvSpPr>
          <p:nvPr>
            <p:ph type="dt" sz="quarter" idx="10"/>
          </p:nvPr>
        </p:nvSpPr>
        <p:spPr/>
        <p:txBody>
          <a:bodyPr/>
          <a:lstStyle/>
          <a:p>
            <a:pPr>
              <a:defRPr/>
            </a:pPr>
            <a:fld id="{81759C30-D968-4A38-81CA-0689F1B91FE8}" type="datetime1">
              <a:rPr lang="en-GB" smtClean="0"/>
            </a:fld>
            <a:endParaRPr lang="en-GB" dirty="0"/>
          </a:p>
        </p:txBody>
      </p:sp>
      <p:sp>
        <p:nvSpPr>
          <p:cNvPr id="6" name="Slide Number Placeholder 5"/>
          <p:cNvSpPr>
            <a:spLocks noGrp="1"/>
          </p:cNvSpPr>
          <p:nvPr>
            <p:ph type="sldNum" sz="quarter" idx="12"/>
          </p:nvPr>
        </p:nvSpPr>
        <p:spPr/>
        <p:txBody>
          <a:bodyPr/>
          <a:lstStyle/>
          <a:p>
            <a:pPr>
              <a:defRPr/>
            </a:pPr>
            <a:fld id="{C32AE625-6409-47BC-863E-59B1597D8DF6}" type="slidenum">
              <a:rPr lang="en-GB" smtClean="0"/>
            </a:fld>
            <a:endParaRPr lang="en-GB"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p>
            <a:r>
              <a:rPr lang="en-US" b="1" dirty="0">
                <a:latin typeface="+mn-lt"/>
                <a:ea typeface="+mn-ea"/>
                <a:cs typeface="+mn-cs"/>
                <a:sym typeface="+mn-ea"/>
              </a:rPr>
              <a:t>Functional Aspects</a:t>
            </a:r>
            <a:endParaRPr lang="en-US"/>
          </a:p>
        </p:txBody>
      </p:sp>
      <p:sp>
        <p:nvSpPr>
          <p:cNvPr id="4" name="Date Placeholder 3"/>
          <p:cNvSpPr>
            <a:spLocks noGrp="1"/>
          </p:cNvSpPr>
          <p:nvPr>
            <p:ph type="dt" sz="half" idx="10"/>
          </p:nvPr>
        </p:nvSpPr>
        <p:spPr/>
        <p:txBody>
          <a:bodyPr/>
          <a:lstStyle/>
          <a:p>
            <a:pPr>
              <a:defRPr/>
            </a:pPr>
            <a:fld id="{81759C30-D968-4A38-81CA-0689F1B91FE8}" type="datetime1">
              <a:rPr lang="en-GB" smtClean="0"/>
            </a:fld>
            <a:endParaRPr lang="en-GB" dirty="0"/>
          </a:p>
        </p:txBody>
      </p:sp>
      <p:sp>
        <p:nvSpPr>
          <p:cNvPr id="6" name="Slide Number Placeholder 5"/>
          <p:cNvSpPr>
            <a:spLocks noGrp="1"/>
          </p:cNvSpPr>
          <p:nvPr>
            <p:ph type="sldNum" sz="quarter" idx="12"/>
          </p:nvPr>
        </p:nvSpPr>
        <p:spPr/>
        <p:txBody>
          <a:bodyPr/>
          <a:lstStyle/>
          <a:p>
            <a:pPr>
              <a:defRPr/>
            </a:pPr>
            <a:fld id="{C32AE625-6409-47BC-863E-59B1597D8DF6}" type="slidenum">
              <a:rPr lang="en-GB" smtClean="0"/>
            </a:fld>
            <a:endParaRPr lang="en-GB" dirty="0"/>
          </a:p>
        </p:txBody>
      </p:sp>
      <p:graphicFrame>
        <p:nvGraphicFramePr>
          <p:cNvPr id="2" name="Content Placeholder 1"/>
          <p:cNvGraphicFramePr/>
          <p:nvPr>
            <p:ph sz="half" idx="1"/>
          </p:nvPr>
        </p:nvGraphicFramePr>
        <p:xfrm>
          <a:off x="1905000" y="1871345"/>
          <a:ext cx="5655310" cy="4030980"/>
        </p:xfrm>
        <a:graphic>
          <a:graphicData uri="http://schemas.openxmlformats.org/drawingml/2006/table">
            <a:tbl>
              <a:tblPr firstRow="1" bandRow="1">
                <a:tableStyleId>{5C22544A-7EE6-4342-B048-85BDC9FD1C3A}</a:tableStyleId>
              </a:tblPr>
              <a:tblGrid>
                <a:gridCol w="2710180"/>
                <a:gridCol w="1369695"/>
                <a:gridCol w="1575435"/>
              </a:tblGrid>
              <a:tr h="335915">
                <a:tc>
                  <a:txBody>
                    <a:bodyPr/>
                    <a:p>
                      <a:pPr indent="0">
                        <a:buNone/>
                      </a:pPr>
                      <a:r>
                        <a:rPr lang="en-US" sz="1800" b="1">
                          <a:solidFill>
                            <a:srgbClr val="000000"/>
                          </a:solidFill>
                          <a:latin typeface="Calibri" panose="020F0502020204030204" charset="-122"/>
                        </a:rPr>
                        <a:t>Function</a:t>
                      </a:r>
                      <a:endParaRPr lang="en-US" sz="1800" b="1">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1">
                          <a:solidFill>
                            <a:srgbClr val="000000"/>
                          </a:solidFill>
                          <a:latin typeface="Calibri" panose="020F0502020204030204" charset="-122"/>
                        </a:rPr>
                        <a:t>MService</a:t>
                      </a:r>
                      <a:endParaRPr lang="en-US" sz="1800" b="1">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1">
                          <a:solidFill>
                            <a:srgbClr val="000000"/>
                          </a:solidFill>
                          <a:latin typeface="Calibri" panose="020F0502020204030204" charset="-122"/>
                        </a:rPr>
                        <a:t>SSIPL Changes</a:t>
                      </a:r>
                      <a:endParaRPr lang="en-US" sz="1800" b="1">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5915">
                <a:tc>
                  <a:txBody>
                    <a:bodyPr/>
                    <a:p>
                      <a:pPr indent="0">
                        <a:buNone/>
                      </a:pPr>
                      <a:r>
                        <a:rPr lang="en-US" sz="1800" b="0">
                          <a:solidFill>
                            <a:srgbClr val="000000"/>
                          </a:solidFill>
                          <a:latin typeface="Calibri" panose="020F0502020204030204" charset="-122"/>
                        </a:rPr>
                        <a:t>Service Call Management</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Yes</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10%</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5915">
                <a:tc>
                  <a:txBody>
                    <a:bodyPr/>
                    <a:p>
                      <a:pPr indent="0">
                        <a:buNone/>
                      </a:pPr>
                      <a:r>
                        <a:rPr lang="en-US" sz="1800" b="0">
                          <a:solidFill>
                            <a:srgbClr val="000000"/>
                          </a:solidFill>
                          <a:latin typeface="Calibri" panose="020F0502020204030204" charset="-122"/>
                        </a:rPr>
                        <a:t>Service Quotation</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Yes</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Nil</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5915">
                <a:tc>
                  <a:txBody>
                    <a:bodyPr/>
                    <a:p>
                      <a:pPr indent="0">
                        <a:buNone/>
                      </a:pPr>
                      <a:r>
                        <a:rPr lang="en-US" sz="1800" b="0">
                          <a:solidFill>
                            <a:srgbClr val="000000"/>
                          </a:solidFill>
                          <a:latin typeface="Calibri" panose="020F0502020204030204" charset="-122"/>
                        </a:rPr>
                        <a:t>Service customer Order</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Yes</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Nil</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5915">
                <a:tc>
                  <a:txBody>
                    <a:bodyPr/>
                    <a:p>
                      <a:pPr indent="0">
                        <a:buNone/>
                      </a:pPr>
                      <a:r>
                        <a:rPr lang="en-US" sz="1800" b="0">
                          <a:solidFill>
                            <a:srgbClr val="000000"/>
                          </a:solidFill>
                          <a:latin typeface="Calibri" panose="020F0502020204030204" charset="-122"/>
                        </a:rPr>
                        <a:t>Visit Schedule</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Yes</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Nil</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5915">
                <a:tc>
                  <a:txBody>
                    <a:bodyPr/>
                    <a:p>
                      <a:pPr indent="0">
                        <a:buNone/>
                      </a:pPr>
                      <a:r>
                        <a:rPr lang="en-US" sz="1800" b="0">
                          <a:solidFill>
                            <a:srgbClr val="000000"/>
                          </a:solidFill>
                          <a:latin typeface="Calibri" panose="020F0502020204030204" charset="-122"/>
                        </a:rPr>
                        <a:t>Expense Claim</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Yes</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Nil</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5915">
                <a:tc>
                  <a:txBody>
                    <a:bodyPr/>
                    <a:p>
                      <a:pPr indent="0">
                        <a:buNone/>
                      </a:pPr>
                      <a:r>
                        <a:rPr lang="en-US" sz="1800" b="0">
                          <a:solidFill>
                            <a:srgbClr val="000000"/>
                          </a:solidFill>
                          <a:latin typeface="Calibri" panose="020F0502020204030204" charset="-122"/>
                        </a:rPr>
                        <a:t>Warranty Claim</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Yes</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10%</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5915">
                <a:tc>
                  <a:txBody>
                    <a:bodyPr/>
                    <a:p>
                      <a:pPr indent="0">
                        <a:buNone/>
                      </a:pPr>
                      <a:r>
                        <a:rPr lang="en-US" sz="1800" b="0">
                          <a:solidFill>
                            <a:srgbClr val="000000"/>
                          </a:solidFill>
                          <a:latin typeface="Calibri" panose="020F0502020204030204" charset="-122"/>
                        </a:rPr>
                        <a:t>Service Contract</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Yes</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Nil</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5915">
                <a:tc>
                  <a:txBody>
                    <a:bodyPr/>
                    <a:p>
                      <a:pPr indent="0">
                        <a:buNone/>
                      </a:pPr>
                      <a:r>
                        <a:rPr lang="en-US" sz="1800" b="0">
                          <a:solidFill>
                            <a:srgbClr val="000000"/>
                          </a:solidFill>
                          <a:latin typeface="Calibri" panose="020F0502020204030204" charset="-122"/>
                        </a:rPr>
                        <a:t>Parts Opportunity</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Yes</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Nil</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5915">
                <a:tc>
                  <a:txBody>
                    <a:bodyPr/>
                    <a:p>
                      <a:pPr indent="0">
                        <a:buNone/>
                      </a:pPr>
                      <a:r>
                        <a:rPr lang="en-US" sz="1800" b="0">
                          <a:solidFill>
                            <a:srgbClr val="000000"/>
                          </a:solidFill>
                          <a:latin typeface="Calibri" panose="020F0502020204030204" charset="-122"/>
                        </a:rPr>
                        <a:t>Equipment Enquiry</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Yes</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Nil</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5915">
                <a:tc>
                  <a:txBody>
                    <a:bodyPr/>
                    <a:p>
                      <a:pPr indent="0">
                        <a:buNone/>
                      </a:pPr>
                      <a:r>
                        <a:rPr lang="en-US" sz="1800" b="0">
                          <a:solidFill>
                            <a:srgbClr val="000000"/>
                          </a:solidFill>
                          <a:latin typeface="Calibri" panose="020F0502020204030204" charset="-122"/>
                        </a:rPr>
                        <a:t>Manage Anciliary Register</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Yes</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5%</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5915">
                <a:tc>
                  <a:txBody>
                    <a:bodyPr/>
                    <a:p>
                      <a:pPr indent="0">
                        <a:buNone/>
                      </a:pPr>
                      <a:r>
                        <a:rPr lang="en-US" sz="1800" b="0">
                          <a:solidFill>
                            <a:srgbClr val="000000"/>
                          </a:solidFill>
                          <a:latin typeface="Calibri" panose="020F0502020204030204" charset="-122"/>
                        </a:rPr>
                        <a:t>MySchwing</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Yes</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Calibri" panose="020F0502020204030204" charset="-122"/>
                        </a:rPr>
                        <a:t>Nil</a:t>
                      </a:r>
                      <a:endParaRPr lang="en-US" sz="1800" b="0">
                        <a:solidFill>
                          <a:srgbClr val="000000"/>
                        </a:solidFill>
                        <a:latin typeface="Calibri" panose="020F050202020403020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pPr>
              <a:defRPr/>
            </a:pPr>
            <a:fld id="{AF5F95BF-71FB-46E8-B930-71E44B5AFDE5}" type="datetime1">
              <a:rPr lang="en-GB"/>
            </a:fld>
            <a:endParaRPr lang="en-GB" dirty="0"/>
          </a:p>
        </p:txBody>
      </p:sp>
      <p:sp>
        <p:nvSpPr>
          <p:cNvPr id="4" name="Slide Number Placeholder 3"/>
          <p:cNvSpPr>
            <a:spLocks noGrp="1"/>
          </p:cNvSpPr>
          <p:nvPr>
            <p:ph type="sldNum" sz="quarter" idx="11"/>
          </p:nvPr>
        </p:nvSpPr>
        <p:spPr/>
        <p:txBody>
          <a:bodyPr/>
          <a:p>
            <a:pPr>
              <a:defRPr/>
            </a:pPr>
            <a:fld id="{2FE55862-935E-4A28-ACAD-49CD152E2AE3}" type="slidenum">
              <a:rPr lang="en-GB"/>
            </a:fld>
            <a:endParaRPr lang="en-GB" dirty="0"/>
          </a:p>
        </p:txBody>
      </p:sp>
      <p:sp>
        <p:nvSpPr>
          <p:cNvPr id="10" name="TextBox 4"/>
          <p:cNvSpPr txBox="1">
            <a:spLocks noChangeArrowheads="1"/>
          </p:cNvSpPr>
          <p:nvPr/>
        </p:nvSpPr>
        <p:spPr bwMode="auto">
          <a:xfrm>
            <a:off x="0" y="0"/>
            <a:ext cx="7143750" cy="1506855"/>
          </a:xfrm>
          <a:prstGeom prst="rect">
            <a:avLst/>
          </a:prstGeom>
          <a:noFill/>
          <a:ln w="9525">
            <a:noFill/>
            <a:miter lim="800000"/>
          </a:ln>
        </p:spPr>
        <p:txBody>
          <a:bodyPr>
            <a:spAutoFit/>
          </a:bodyPr>
          <a:p>
            <a:pPr>
              <a:defRPr/>
            </a:pPr>
            <a:r>
              <a:rPr lang="en-US" sz="3200" b="1" dirty="0">
                <a:solidFill>
                  <a:srgbClr val="6775FD"/>
                </a:solidFill>
                <a:latin typeface="+mj-lt"/>
              </a:rPr>
              <a:t>Work Flows:</a:t>
            </a:r>
            <a:endParaRPr lang="en-US" sz="3200" b="1" dirty="0">
              <a:solidFill>
                <a:srgbClr val="6775FD"/>
              </a:solidFill>
              <a:latin typeface="+mj-lt"/>
            </a:endParaRPr>
          </a:p>
          <a:p>
            <a:pPr>
              <a:defRPr/>
            </a:pPr>
            <a:endParaRPr lang="en-US" sz="3200" b="1" dirty="0">
              <a:solidFill>
                <a:srgbClr val="FF6A47"/>
              </a:solidFill>
              <a:latin typeface="+mj-lt"/>
            </a:endParaRPr>
          </a:p>
          <a:p>
            <a:pPr>
              <a:defRPr/>
            </a:pPr>
            <a:endParaRPr lang="en-US" sz="2800" dirty="0">
              <a:solidFill>
                <a:srgbClr val="6775FD"/>
              </a:solidFill>
              <a:latin typeface="+mj-lt"/>
            </a:endParaRPr>
          </a:p>
        </p:txBody>
      </p:sp>
      <p:sp>
        <p:nvSpPr>
          <p:cNvPr id="7" name="Content Placeholder 6"/>
          <p:cNvSpPr txBox="1"/>
          <p:nvPr/>
        </p:nvSpPr>
        <p:spPr>
          <a:xfrm>
            <a:off x="457200" y="824865"/>
            <a:ext cx="8229600" cy="5360670"/>
          </a:xfrm>
          <a:prstGeom prst="rect">
            <a:avLst/>
          </a:prstGeom>
        </p:spPr>
        <p:txBody>
          <a:bodyPr/>
          <a:p>
            <a:pPr marL="342900" indent="-342900" eaLnBrk="0" hangingPunct="0">
              <a:spcBef>
                <a:spcPct val="20000"/>
              </a:spcBef>
              <a:buFont typeface="Arial" panose="020B0604020202020204" pitchFamily="34" charset="0"/>
              <a:buChar char="•"/>
              <a:defRPr/>
            </a:pP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Service Call Flow</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Service Quotation Flow</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Parts Warranty Flow</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Visit Management Flow</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Parts Enquiry Flow</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Equipment Enquiry Flow</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Anciliary Flows</a:t>
            </a:r>
            <a:endParaRPr lang="en-US" sz="2400" dirty="0">
              <a:latin typeface="+mn-lt"/>
              <a:ea typeface="+mn-ea"/>
              <a:cs typeface="+mn-cs"/>
            </a:endParaRPr>
          </a:p>
          <a:p>
            <a:pPr marL="800100" lvl="1" indent="-342900" eaLnBrk="0" hangingPunct="0">
              <a:spcBef>
                <a:spcPct val="20000"/>
              </a:spcBef>
              <a:buFont typeface="Arial" panose="020B0604020202020204" pitchFamily="34" charset="0"/>
              <a:buChar char="•"/>
              <a:defRPr/>
            </a:pPr>
            <a:endParaRPr lang="en-US" sz="1600" dirty="0">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pPr>
              <a:defRPr/>
            </a:pPr>
            <a:fld id="{AF5F95BF-71FB-46E8-B930-71E44B5AFDE5}" type="datetime1">
              <a:rPr lang="en-GB"/>
            </a:fld>
            <a:endParaRPr lang="en-GB" dirty="0"/>
          </a:p>
        </p:txBody>
      </p:sp>
      <p:sp>
        <p:nvSpPr>
          <p:cNvPr id="4" name="Slide Number Placeholder 3"/>
          <p:cNvSpPr>
            <a:spLocks noGrp="1"/>
          </p:cNvSpPr>
          <p:nvPr>
            <p:ph type="sldNum" sz="quarter" idx="11"/>
          </p:nvPr>
        </p:nvSpPr>
        <p:spPr/>
        <p:txBody>
          <a:bodyPr/>
          <a:p>
            <a:pPr>
              <a:defRPr/>
            </a:pPr>
            <a:fld id="{2FE55862-935E-4A28-ACAD-49CD152E2AE3}" type="slidenum">
              <a:rPr lang="en-GB"/>
            </a:fld>
            <a:endParaRPr lang="en-GB" dirty="0"/>
          </a:p>
        </p:txBody>
      </p:sp>
      <p:sp>
        <p:nvSpPr>
          <p:cNvPr id="10" name="TextBox 4"/>
          <p:cNvSpPr txBox="1">
            <a:spLocks noChangeArrowheads="1"/>
          </p:cNvSpPr>
          <p:nvPr/>
        </p:nvSpPr>
        <p:spPr bwMode="auto">
          <a:xfrm>
            <a:off x="0" y="0"/>
            <a:ext cx="7143750" cy="1506855"/>
          </a:xfrm>
          <a:prstGeom prst="rect">
            <a:avLst/>
          </a:prstGeom>
          <a:noFill/>
          <a:ln w="9525">
            <a:noFill/>
            <a:miter lim="800000"/>
          </a:ln>
        </p:spPr>
        <p:txBody>
          <a:bodyPr>
            <a:spAutoFit/>
          </a:bodyPr>
          <a:p>
            <a:pPr>
              <a:defRPr/>
            </a:pPr>
            <a:r>
              <a:rPr lang="en-US" sz="3200" b="1" dirty="0">
                <a:solidFill>
                  <a:srgbClr val="6775FD"/>
                </a:solidFill>
                <a:latin typeface="+mj-lt"/>
              </a:rPr>
              <a:t>Work Flows:</a:t>
            </a:r>
            <a:endParaRPr lang="en-US" sz="3200" b="1" dirty="0">
              <a:solidFill>
                <a:srgbClr val="6775FD"/>
              </a:solidFill>
              <a:latin typeface="+mj-lt"/>
            </a:endParaRPr>
          </a:p>
          <a:p>
            <a:pPr>
              <a:defRPr/>
            </a:pPr>
            <a:endParaRPr lang="en-US" sz="3200" b="1" dirty="0">
              <a:solidFill>
                <a:srgbClr val="FF6A47"/>
              </a:solidFill>
              <a:latin typeface="+mj-lt"/>
            </a:endParaRPr>
          </a:p>
          <a:p>
            <a:pPr>
              <a:defRPr/>
            </a:pPr>
            <a:endParaRPr lang="en-US" sz="2800" dirty="0">
              <a:solidFill>
                <a:srgbClr val="6775FD"/>
              </a:solidFill>
              <a:latin typeface="+mj-lt"/>
            </a:endParaRPr>
          </a:p>
        </p:txBody>
      </p:sp>
      <p:sp>
        <p:nvSpPr>
          <p:cNvPr id="7" name="Content Placeholder 6"/>
          <p:cNvSpPr txBox="1"/>
          <p:nvPr/>
        </p:nvSpPr>
        <p:spPr>
          <a:xfrm>
            <a:off x="457200" y="824865"/>
            <a:ext cx="8229600" cy="5360670"/>
          </a:xfrm>
          <a:prstGeom prst="rect">
            <a:avLst/>
          </a:prstGeom>
        </p:spPr>
        <p:txBody>
          <a:bodyPr/>
          <a:p>
            <a:pPr marL="342900" indent="-342900" eaLnBrk="0" hangingPunct="0">
              <a:spcBef>
                <a:spcPct val="20000"/>
              </a:spcBef>
              <a:buFont typeface="Arial" panose="020B0604020202020204" pitchFamily="34" charset="0"/>
              <a:buChar char="•"/>
              <a:defRPr/>
            </a:pPr>
            <a:r>
              <a:rPr lang="en-US" sz="2400" dirty="0">
                <a:latin typeface="+mn-lt"/>
                <a:ea typeface="+mn-ea"/>
                <a:cs typeface="+mn-cs"/>
              </a:rPr>
              <a:t>Anciliary Flows:</a:t>
            </a:r>
            <a:endParaRPr lang="en-US" sz="24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2000" dirty="0">
                <a:latin typeface="+mn-lt"/>
                <a:ea typeface="+mn-ea"/>
                <a:cs typeface="+mn-cs"/>
                <a:sym typeface="+mn-ea"/>
              </a:rPr>
              <a:t>Competition PPT - CP	</a:t>
            </a:r>
            <a:endParaRPr lang="en-US" sz="20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2000" dirty="0">
                <a:latin typeface="+mn-lt"/>
                <a:ea typeface="+mn-ea"/>
                <a:cs typeface="+mn-cs"/>
                <a:sym typeface="+mn-ea"/>
              </a:rPr>
              <a:t>Engineering Change Request - ECR</a:t>
            </a:r>
            <a:endParaRPr lang="en-US" sz="20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2000" dirty="0">
                <a:latin typeface="+mn-lt"/>
                <a:ea typeface="+mn-ea"/>
                <a:cs typeface="+mn-cs"/>
                <a:sym typeface="+mn-ea"/>
              </a:rPr>
              <a:t>General Feedback - EQ	</a:t>
            </a:r>
            <a:endParaRPr lang="en-US" sz="20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2000" dirty="0">
                <a:latin typeface="+mn-lt"/>
                <a:ea typeface="+mn-ea"/>
                <a:cs typeface="+mn-cs"/>
                <a:sym typeface="+mn-ea"/>
              </a:rPr>
              <a:t>Spare Parts Enquiry - PE</a:t>
            </a:r>
            <a:endParaRPr lang="en-US" sz="20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2000" dirty="0">
                <a:latin typeface="+mn-lt"/>
                <a:ea typeface="+mn-ea"/>
                <a:cs typeface="+mn-cs"/>
                <a:sym typeface="+mn-ea"/>
              </a:rPr>
              <a:t>Project Performance Report - PPR</a:t>
            </a:r>
            <a:endParaRPr lang="en-US" sz="20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2000" dirty="0">
                <a:latin typeface="+mn-lt"/>
                <a:ea typeface="+mn-ea"/>
                <a:cs typeface="+mn-cs"/>
                <a:sym typeface="+mn-ea"/>
              </a:rPr>
              <a:t>Query - QU</a:t>
            </a:r>
            <a:endParaRPr lang="en-US" sz="20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2000" dirty="0">
                <a:latin typeface="+mn-lt"/>
                <a:ea typeface="+mn-ea"/>
                <a:cs typeface="+mn-cs"/>
                <a:sym typeface="+mn-ea"/>
              </a:rPr>
              <a:t>Quality Issue - QUA</a:t>
            </a:r>
            <a:endParaRPr lang="en-US" sz="20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2000" dirty="0">
                <a:latin typeface="+mn-lt"/>
                <a:ea typeface="+mn-ea"/>
                <a:cs typeface="+mn-cs"/>
                <a:sym typeface="+mn-ea"/>
              </a:rPr>
              <a:t>New Equipment Enquiry - SA</a:t>
            </a:r>
            <a:endParaRPr lang="en-US" sz="20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2000" dirty="0">
                <a:latin typeface="+mn-lt"/>
                <a:ea typeface="+mn-ea"/>
                <a:cs typeface="+mn-cs"/>
                <a:sym typeface="+mn-ea"/>
              </a:rPr>
              <a:t>Service Centre - SC	</a:t>
            </a:r>
            <a:endParaRPr lang="en-US" sz="20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2000" dirty="0">
                <a:latin typeface="+mn-lt"/>
                <a:ea typeface="+mn-ea"/>
                <a:cs typeface="+mn-cs"/>
                <a:sym typeface="+mn-ea"/>
              </a:rPr>
              <a:t>Training - TR</a:t>
            </a:r>
            <a:endParaRPr lang="en-US" sz="20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2000" dirty="0">
                <a:latin typeface="+mn-lt"/>
                <a:ea typeface="+mn-ea"/>
                <a:cs typeface="+mn-cs"/>
                <a:sym typeface="+mn-ea"/>
              </a:rPr>
              <a:t>Training Tasks - TT</a:t>
            </a:r>
            <a:endParaRPr lang="en-US" sz="20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2000" dirty="0">
                <a:latin typeface="+mn-lt"/>
                <a:ea typeface="+mn-ea"/>
                <a:cs typeface="+mn-cs"/>
                <a:sym typeface="+mn-ea"/>
              </a:rPr>
              <a:t>Visit - VI</a:t>
            </a:r>
            <a:endParaRPr lang="en-US" sz="2000" dirty="0">
              <a:latin typeface="+mn-lt"/>
              <a:ea typeface="+mn-ea"/>
              <a:cs typeface="+mn-cs"/>
            </a:endParaRPr>
          </a:p>
          <a:p>
            <a:pPr lvl="1" indent="0" eaLnBrk="0" hangingPunct="0">
              <a:spcBef>
                <a:spcPct val="20000"/>
              </a:spcBef>
              <a:buFont typeface="Arial" panose="020B0604020202020204" pitchFamily="34" charset="0"/>
              <a:buNone/>
              <a:defRPr/>
            </a:pPr>
            <a:endParaRPr lang="en-US" sz="2400" dirty="0">
              <a:latin typeface="+mn-lt"/>
              <a:ea typeface="+mn-ea"/>
              <a:cs typeface="+mn-cs"/>
            </a:endParaRPr>
          </a:p>
          <a:p>
            <a:pPr marL="800100" lvl="1" indent="-342900" eaLnBrk="0" hangingPunct="0">
              <a:spcBef>
                <a:spcPct val="20000"/>
              </a:spcBef>
              <a:buFont typeface="Arial" panose="020B0604020202020204" pitchFamily="34" charset="0"/>
              <a:buChar char="•"/>
              <a:defRPr/>
            </a:pPr>
            <a:endParaRPr lang="en-US" sz="1600" dirty="0">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pPr>
              <a:defRPr/>
            </a:pPr>
            <a:fld id="{AF5F95BF-71FB-46E8-B930-71E44B5AFDE5}" type="datetime1">
              <a:rPr lang="en-GB"/>
            </a:fld>
            <a:endParaRPr lang="en-GB" dirty="0"/>
          </a:p>
        </p:txBody>
      </p:sp>
      <p:sp>
        <p:nvSpPr>
          <p:cNvPr id="4" name="Slide Number Placeholder 3"/>
          <p:cNvSpPr>
            <a:spLocks noGrp="1"/>
          </p:cNvSpPr>
          <p:nvPr>
            <p:ph type="sldNum" sz="quarter" idx="11"/>
          </p:nvPr>
        </p:nvSpPr>
        <p:spPr/>
        <p:txBody>
          <a:bodyPr/>
          <a:p>
            <a:pPr>
              <a:defRPr/>
            </a:pPr>
            <a:fld id="{2FE55862-935E-4A28-ACAD-49CD152E2AE3}" type="slidenum">
              <a:rPr lang="en-GB"/>
            </a:fld>
            <a:endParaRPr lang="en-GB" dirty="0"/>
          </a:p>
        </p:txBody>
      </p:sp>
      <p:sp>
        <p:nvSpPr>
          <p:cNvPr id="10" name="TextBox 4"/>
          <p:cNvSpPr txBox="1">
            <a:spLocks noChangeArrowheads="1"/>
          </p:cNvSpPr>
          <p:nvPr/>
        </p:nvSpPr>
        <p:spPr bwMode="auto">
          <a:xfrm>
            <a:off x="0" y="0"/>
            <a:ext cx="7143750" cy="1506855"/>
          </a:xfrm>
          <a:prstGeom prst="rect">
            <a:avLst/>
          </a:prstGeom>
          <a:noFill/>
          <a:ln w="9525">
            <a:noFill/>
            <a:miter lim="800000"/>
          </a:ln>
        </p:spPr>
        <p:txBody>
          <a:bodyPr>
            <a:spAutoFit/>
          </a:bodyPr>
          <a:p>
            <a:pPr>
              <a:defRPr/>
            </a:pPr>
            <a:r>
              <a:rPr lang="en-US" sz="3200" b="1" dirty="0">
                <a:solidFill>
                  <a:srgbClr val="6775FD"/>
                </a:solidFill>
                <a:latin typeface="+mj-lt"/>
              </a:rPr>
              <a:t>Generic Reports</a:t>
            </a:r>
            <a:endParaRPr lang="en-US" sz="3200" b="1" dirty="0">
              <a:solidFill>
                <a:srgbClr val="6775FD"/>
              </a:solidFill>
              <a:latin typeface="+mj-lt"/>
            </a:endParaRPr>
          </a:p>
          <a:p>
            <a:pPr>
              <a:defRPr/>
            </a:pPr>
            <a:endParaRPr lang="en-US" sz="3200" b="1" dirty="0">
              <a:solidFill>
                <a:srgbClr val="FF6A47"/>
              </a:solidFill>
              <a:latin typeface="+mj-lt"/>
            </a:endParaRPr>
          </a:p>
          <a:p>
            <a:pPr>
              <a:defRPr/>
            </a:pPr>
            <a:endParaRPr lang="en-US" sz="2800" dirty="0">
              <a:solidFill>
                <a:srgbClr val="6775FD"/>
              </a:solidFill>
              <a:latin typeface="+mj-lt"/>
            </a:endParaRPr>
          </a:p>
        </p:txBody>
      </p:sp>
      <p:sp>
        <p:nvSpPr>
          <p:cNvPr id="7" name="Content Placeholder 6"/>
          <p:cNvSpPr txBox="1"/>
          <p:nvPr/>
        </p:nvSpPr>
        <p:spPr>
          <a:xfrm>
            <a:off x="457200" y="824865"/>
            <a:ext cx="8229600" cy="5360670"/>
          </a:xfrm>
          <a:prstGeom prst="rect">
            <a:avLst/>
          </a:prstGeom>
        </p:spPr>
        <p:txBody>
          <a:bodyPr/>
          <a:p>
            <a:pPr marL="342900" indent="-342900" eaLnBrk="0" hangingPunct="0">
              <a:spcBef>
                <a:spcPct val="20000"/>
              </a:spcBef>
              <a:buFont typeface="Arial" panose="020B0604020202020204" pitchFamily="34" charset="0"/>
              <a:buChar char="•"/>
              <a:defRPr/>
            </a:pPr>
            <a:r>
              <a:rPr lang="en-US" sz="2400" dirty="0">
                <a:latin typeface="+mn-lt"/>
                <a:ea typeface="+mn-ea"/>
                <a:cs typeface="+mn-cs"/>
              </a:rPr>
              <a:t>Active call analysis</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Branch Bifurcation</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Branch Wise Commisioning</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Branchwise avg Performance for service calls</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Branchwise avg Performance for visit calls</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Customer Feedback Report</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Compensatory  working days list</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Consolidated history</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Daily reputation detail</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Engineer Performance</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sym typeface="+mn-ea"/>
              </a:rPr>
              <a:t>Engineer Attendance</a:t>
            </a:r>
            <a:endParaRPr lang="en-US" sz="2400" dirty="0">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pPr>
              <a:defRPr/>
            </a:pPr>
            <a:fld id="{AF5F95BF-71FB-46E8-B930-71E44B5AFDE5}" type="datetime1">
              <a:rPr lang="en-GB"/>
            </a:fld>
            <a:endParaRPr lang="en-GB" dirty="0"/>
          </a:p>
        </p:txBody>
      </p:sp>
      <p:sp>
        <p:nvSpPr>
          <p:cNvPr id="4" name="Slide Number Placeholder 3"/>
          <p:cNvSpPr>
            <a:spLocks noGrp="1"/>
          </p:cNvSpPr>
          <p:nvPr>
            <p:ph type="sldNum" sz="quarter" idx="11"/>
          </p:nvPr>
        </p:nvSpPr>
        <p:spPr/>
        <p:txBody>
          <a:bodyPr/>
          <a:p>
            <a:pPr>
              <a:defRPr/>
            </a:pPr>
            <a:fld id="{2FE55862-935E-4A28-ACAD-49CD152E2AE3}" type="slidenum">
              <a:rPr lang="en-GB"/>
            </a:fld>
            <a:endParaRPr lang="en-GB" dirty="0"/>
          </a:p>
        </p:txBody>
      </p:sp>
      <p:sp>
        <p:nvSpPr>
          <p:cNvPr id="10" name="TextBox 4"/>
          <p:cNvSpPr txBox="1">
            <a:spLocks noChangeArrowheads="1"/>
          </p:cNvSpPr>
          <p:nvPr/>
        </p:nvSpPr>
        <p:spPr bwMode="auto">
          <a:xfrm>
            <a:off x="0" y="0"/>
            <a:ext cx="7143750" cy="1506855"/>
          </a:xfrm>
          <a:prstGeom prst="rect">
            <a:avLst/>
          </a:prstGeom>
          <a:noFill/>
          <a:ln w="9525">
            <a:noFill/>
            <a:miter lim="800000"/>
          </a:ln>
        </p:spPr>
        <p:txBody>
          <a:bodyPr>
            <a:spAutoFit/>
          </a:bodyPr>
          <a:p>
            <a:pPr>
              <a:defRPr/>
            </a:pPr>
            <a:r>
              <a:rPr lang="en-US" sz="3200" b="1" dirty="0">
                <a:solidFill>
                  <a:srgbClr val="6775FD"/>
                </a:solidFill>
                <a:latin typeface="+mj-lt"/>
              </a:rPr>
              <a:t>Generic Reports</a:t>
            </a:r>
            <a:endParaRPr lang="en-US" sz="3200" b="1" dirty="0">
              <a:solidFill>
                <a:srgbClr val="6775FD"/>
              </a:solidFill>
              <a:latin typeface="+mj-lt"/>
            </a:endParaRPr>
          </a:p>
          <a:p>
            <a:pPr>
              <a:defRPr/>
            </a:pPr>
            <a:endParaRPr lang="en-US" sz="3200" b="1" dirty="0">
              <a:solidFill>
                <a:srgbClr val="FF6A47"/>
              </a:solidFill>
              <a:latin typeface="+mj-lt"/>
            </a:endParaRPr>
          </a:p>
          <a:p>
            <a:pPr>
              <a:defRPr/>
            </a:pPr>
            <a:endParaRPr lang="en-US" sz="2800" dirty="0">
              <a:solidFill>
                <a:srgbClr val="6775FD"/>
              </a:solidFill>
              <a:latin typeface="+mj-lt"/>
            </a:endParaRPr>
          </a:p>
        </p:txBody>
      </p:sp>
      <p:sp>
        <p:nvSpPr>
          <p:cNvPr id="7" name="Content Placeholder 6"/>
          <p:cNvSpPr txBox="1"/>
          <p:nvPr/>
        </p:nvSpPr>
        <p:spPr>
          <a:xfrm>
            <a:off x="457200" y="824865"/>
            <a:ext cx="8229600" cy="5360670"/>
          </a:xfrm>
          <a:prstGeom prst="rect">
            <a:avLst/>
          </a:prstGeom>
        </p:spPr>
        <p:txBody>
          <a:bodyPr/>
          <a:p>
            <a:pPr marL="342900" indent="-342900" eaLnBrk="0" hangingPunct="0">
              <a:spcBef>
                <a:spcPct val="20000"/>
              </a:spcBef>
              <a:buFont typeface="Arial" panose="020B0604020202020204" pitchFamily="34" charset="0"/>
              <a:buChar char="•"/>
              <a:defRPr/>
            </a:pPr>
            <a:r>
              <a:rPr lang="en-US" sz="2400" dirty="0">
                <a:latin typeface="+mn-lt"/>
                <a:ea typeface="+mn-ea"/>
                <a:cs typeface="+mn-cs"/>
              </a:rPr>
              <a:t>Engineer Trip Sheet</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Equipment Type Analysis</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Equipment serial Wise</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Employee Utilization Analysis</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Finance Report</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HR Report</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Invoice Pending Analysis Report</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Local Expenses &amp; Vehicle Statement</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Management Report</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Open Calls</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SMC Report</a:t>
            </a:r>
            <a:endParaRPr lang="en-US" sz="24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400" dirty="0">
                <a:latin typeface="+mn-lt"/>
                <a:ea typeface="+mn-ea"/>
                <a:cs typeface="+mn-cs"/>
              </a:rPr>
              <a:t>Service Call history</a:t>
            </a:r>
            <a:endParaRPr lang="en-US" sz="2400" dirty="0">
              <a:latin typeface="+mn-lt"/>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pPr>
              <a:defRPr/>
            </a:pPr>
            <a:fld id="{AF5F95BF-71FB-46E8-B930-71E44B5AFDE5}" type="datetime1">
              <a:rPr lang="en-GB"/>
            </a:fld>
            <a:endParaRPr lang="en-GB" dirty="0"/>
          </a:p>
        </p:txBody>
      </p:sp>
      <p:sp>
        <p:nvSpPr>
          <p:cNvPr id="4" name="Slide Number Placeholder 3"/>
          <p:cNvSpPr>
            <a:spLocks noGrp="1"/>
          </p:cNvSpPr>
          <p:nvPr>
            <p:ph type="sldNum" sz="quarter" idx="11"/>
          </p:nvPr>
        </p:nvSpPr>
        <p:spPr/>
        <p:txBody>
          <a:bodyPr/>
          <a:p>
            <a:pPr>
              <a:defRPr/>
            </a:pPr>
            <a:fld id="{2FE55862-935E-4A28-ACAD-49CD152E2AE3}" type="slidenum">
              <a:rPr lang="en-GB"/>
            </a:fld>
            <a:endParaRPr lang="en-GB" dirty="0"/>
          </a:p>
        </p:txBody>
      </p:sp>
      <p:sp>
        <p:nvSpPr>
          <p:cNvPr id="10" name="TextBox 4"/>
          <p:cNvSpPr txBox="1">
            <a:spLocks noChangeArrowheads="1"/>
          </p:cNvSpPr>
          <p:nvPr/>
        </p:nvSpPr>
        <p:spPr bwMode="auto">
          <a:xfrm>
            <a:off x="0" y="0"/>
            <a:ext cx="7143750" cy="1506855"/>
          </a:xfrm>
          <a:prstGeom prst="rect">
            <a:avLst/>
          </a:prstGeom>
          <a:noFill/>
          <a:ln w="9525">
            <a:noFill/>
            <a:miter lim="800000"/>
          </a:ln>
        </p:spPr>
        <p:txBody>
          <a:bodyPr>
            <a:spAutoFit/>
          </a:bodyPr>
          <a:p>
            <a:pPr>
              <a:defRPr/>
            </a:pPr>
            <a:r>
              <a:rPr lang="en-US" sz="3200" b="1" dirty="0">
                <a:solidFill>
                  <a:srgbClr val="6775FD"/>
                </a:solidFill>
                <a:latin typeface="+mj-lt"/>
              </a:rPr>
              <a:t>Forms</a:t>
            </a:r>
            <a:endParaRPr lang="en-US" sz="3200" b="1" dirty="0">
              <a:solidFill>
                <a:srgbClr val="6775FD"/>
              </a:solidFill>
              <a:latin typeface="+mj-lt"/>
            </a:endParaRPr>
          </a:p>
          <a:p>
            <a:pPr>
              <a:defRPr/>
            </a:pPr>
            <a:endParaRPr lang="en-US" sz="3200" b="1" dirty="0">
              <a:solidFill>
                <a:srgbClr val="FF6A47"/>
              </a:solidFill>
              <a:latin typeface="+mj-lt"/>
            </a:endParaRPr>
          </a:p>
          <a:p>
            <a:pPr>
              <a:defRPr/>
            </a:pPr>
            <a:endParaRPr lang="en-US" sz="2800" dirty="0">
              <a:solidFill>
                <a:srgbClr val="6775FD"/>
              </a:solidFill>
              <a:latin typeface="+mj-lt"/>
            </a:endParaRPr>
          </a:p>
        </p:txBody>
      </p:sp>
      <p:sp>
        <p:nvSpPr>
          <p:cNvPr id="7" name="Content Placeholder 6"/>
          <p:cNvSpPr txBox="1"/>
          <p:nvPr/>
        </p:nvSpPr>
        <p:spPr>
          <a:xfrm>
            <a:off x="457200" y="824865"/>
            <a:ext cx="8229600" cy="5360670"/>
          </a:xfrm>
          <a:prstGeom prst="rect">
            <a:avLst/>
          </a:prstGeom>
        </p:spPr>
        <p:txBody>
          <a:bodyPr/>
          <a:p>
            <a:pPr marL="342900" indent="-342900" eaLnBrk="0" hangingPunct="0">
              <a:spcBef>
                <a:spcPct val="20000"/>
              </a:spcBef>
              <a:buFont typeface="Arial" panose="020B0604020202020204" pitchFamily="34" charset="0"/>
              <a:buChar char="•"/>
              <a:defRPr/>
            </a:pPr>
            <a:r>
              <a:rPr lang="en-US" sz="2000" dirty="0">
                <a:latin typeface="+mn-lt"/>
                <a:ea typeface="+mn-ea"/>
                <a:cs typeface="+mn-cs"/>
              </a:rPr>
              <a:t>Commission Report Form</a:t>
            </a:r>
            <a:endParaRPr lang="en-US" sz="20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000" dirty="0">
                <a:latin typeface="+mn-lt"/>
                <a:ea typeface="+mn-ea"/>
                <a:cs typeface="+mn-cs"/>
              </a:rPr>
              <a:t>XCMG - DSR Report Form</a:t>
            </a:r>
            <a:endParaRPr lang="en-US" sz="20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000" dirty="0">
                <a:latin typeface="+mn-lt"/>
                <a:ea typeface="+mn-ea"/>
                <a:cs typeface="+mn-cs"/>
              </a:rPr>
              <a:t>XCMG - Field report Form</a:t>
            </a:r>
            <a:endParaRPr lang="en-US" sz="20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000" dirty="0">
                <a:latin typeface="+mn-lt"/>
                <a:ea typeface="+mn-ea"/>
                <a:cs typeface="+mn-cs"/>
              </a:rPr>
              <a:t>Batching Plants Form</a:t>
            </a:r>
            <a:endParaRPr lang="en-US" sz="20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000" dirty="0">
                <a:latin typeface="+mn-lt"/>
                <a:ea typeface="+mn-ea"/>
                <a:cs typeface="+mn-cs"/>
              </a:rPr>
              <a:t>DSR Report Form</a:t>
            </a:r>
            <a:endParaRPr lang="en-US" sz="20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000" dirty="0">
                <a:latin typeface="+mn-lt"/>
                <a:ea typeface="+mn-ea"/>
                <a:cs typeface="+mn-cs"/>
              </a:rPr>
              <a:t>Field Report Form</a:t>
            </a:r>
            <a:endParaRPr lang="en-US" sz="20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000" dirty="0">
                <a:latin typeface="+mn-lt"/>
                <a:ea typeface="+mn-ea"/>
                <a:cs typeface="+mn-cs"/>
              </a:rPr>
              <a:t>Part Report Form</a:t>
            </a:r>
            <a:endParaRPr lang="en-US" sz="20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000" dirty="0">
                <a:latin typeface="+mn-lt"/>
                <a:ea typeface="+mn-ea"/>
                <a:cs typeface="+mn-cs"/>
              </a:rPr>
              <a:t>Concrete Pumps Form</a:t>
            </a:r>
            <a:endParaRPr lang="en-US" sz="20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000" dirty="0">
                <a:latin typeface="+mn-lt"/>
                <a:ea typeface="+mn-ea"/>
                <a:cs typeface="+mn-cs"/>
              </a:rPr>
              <a:t>QMS Report Form</a:t>
            </a:r>
            <a:endParaRPr lang="en-US" sz="20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000" dirty="0">
                <a:latin typeface="+mn-lt"/>
                <a:ea typeface="+mn-ea"/>
                <a:cs typeface="+mn-cs"/>
              </a:rPr>
              <a:t>Quality Issue Form</a:t>
            </a:r>
            <a:endParaRPr lang="en-US" sz="20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000" dirty="0">
                <a:latin typeface="+mn-lt"/>
                <a:ea typeface="+mn-ea"/>
                <a:cs typeface="+mn-cs"/>
              </a:rPr>
              <a:t>Sales Flow Form</a:t>
            </a:r>
            <a:endParaRPr lang="en-US" sz="20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2000" dirty="0">
                <a:latin typeface="+mn-lt"/>
                <a:ea typeface="+mn-ea"/>
                <a:cs typeface="+mn-cs"/>
              </a:rPr>
              <a:t>Combined Forms -</a:t>
            </a:r>
            <a:r>
              <a:rPr lang="en-US" sz="1800" dirty="0">
                <a:latin typeface="+mn-lt"/>
                <a:ea typeface="+mn-ea"/>
                <a:cs typeface="+mn-cs"/>
              </a:rPr>
              <a:t> COMPETITION PPT,  ENGINEERING CHANGE REQUEST, TRAINING TASKS, PROJECT PERFORMANCE REPORT</a:t>
            </a: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endParaRPr lang="en-US" sz="1800" dirty="0">
              <a:latin typeface="+mn-lt"/>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pPr>
              <a:defRPr/>
            </a:pPr>
            <a:fld id="{AF5F95BF-71FB-46E8-B930-71E44B5AFDE5}" type="datetime1">
              <a:rPr lang="en-GB"/>
            </a:fld>
            <a:endParaRPr lang="en-GB" dirty="0"/>
          </a:p>
        </p:txBody>
      </p:sp>
      <p:sp>
        <p:nvSpPr>
          <p:cNvPr id="4" name="Slide Number Placeholder 3"/>
          <p:cNvSpPr>
            <a:spLocks noGrp="1"/>
          </p:cNvSpPr>
          <p:nvPr>
            <p:ph type="sldNum" sz="quarter" idx="11"/>
          </p:nvPr>
        </p:nvSpPr>
        <p:spPr/>
        <p:txBody>
          <a:bodyPr/>
          <a:p>
            <a:pPr>
              <a:defRPr/>
            </a:pPr>
            <a:fld id="{2FE55862-935E-4A28-ACAD-49CD152E2AE3}" type="slidenum">
              <a:rPr lang="en-GB"/>
            </a:fld>
            <a:endParaRPr lang="en-GB" dirty="0"/>
          </a:p>
        </p:txBody>
      </p:sp>
      <p:sp>
        <p:nvSpPr>
          <p:cNvPr id="10" name="TextBox 4"/>
          <p:cNvSpPr txBox="1">
            <a:spLocks noChangeArrowheads="1"/>
          </p:cNvSpPr>
          <p:nvPr/>
        </p:nvSpPr>
        <p:spPr bwMode="auto">
          <a:xfrm>
            <a:off x="0" y="0"/>
            <a:ext cx="7143750" cy="1506855"/>
          </a:xfrm>
          <a:prstGeom prst="rect">
            <a:avLst/>
          </a:prstGeom>
          <a:noFill/>
          <a:ln w="9525">
            <a:noFill/>
            <a:miter lim="800000"/>
          </a:ln>
        </p:spPr>
        <p:txBody>
          <a:bodyPr>
            <a:spAutoFit/>
          </a:bodyPr>
          <a:p>
            <a:pPr>
              <a:defRPr/>
            </a:pPr>
            <a:r>
              <a:rPr lang="en-US" sz="3200" b="1" dirty="0">
                <a:solidFill>
                  <a:srgbClr val="6775FD"/>
                </a:solidFill>
                <a:latin typeface="+mj-lt"/>
              </a:rPr>
              <a:t>SSIPL - Product Specifications</a:t>
            </a:r>
            <a:endParaRPr lang="en-US" sz="3200" b="1" dirty="0">
              <a:solidFill>
                <a:srgbClr val="6775FD"/>
              </a:solidFill>
              <a:latin typeface="+mj-lt"/>
            </a:endParaRPr>
          </a:p>
          <a:p>
            <a:pPr>
              <a:defRPr/>
            </a:pPr>
            <a:endParaRPr lang="en-US" sz="3200" b="1" dirty="0">
              <a:solidFill>
                <a:srgbClr val="FF6A47"/>
              </a:solidFill>
              <a:latin typeface="+mj-lt"/>
            </a:endParaRPr>
          </a:p>
          <a:p>
            <a:pPr>
              <a:defRPr/>
            </a:pPr>
            <a:endParaRPr lang="en-US" sz="2800" dirty="0">
              <a:solidFill>
                <a:srgbClr val="6775FD"/>
              </a:solidFill>
              <a:latin typeface="+mj-lt"/>
            </a:endParaRPr>
          </a:p>
        </p:txBody>
      </p:sp>
      <p:sp>
        <p:nvSpPr>
          <p:cNvPr id="7" name="Content Placeholder 6"/>
          <p:cNvSpPr txBox="1"/>
          <p:nvPr/>
        </p:nvSpPr>
        <p:spPr>
          <a:xfrm>
            <a:off x="457200" y="824865"/>
            <a:ext cx="8229600" cy="5360670"/>
          </a:xfrm>
          <a:prstGeom prst="rect">
            <a:avLst/>
          </a:prstGeom>
        </p:spPr>
        <p:txBody>
          <a:bodyPr/>
          <a:p>
            <a:pPr marL="342900" indent="-342900" eaLnBrk="0" hangingPunct="0">
              <a:spcBef>
                <a:spcPct val="20000"/>
              </a:spcBef>
              <a:buFont typeface="Arial" panose="020B0604020202020204" pitchFamily="34" charset="0"/>
              <a:buChar char="•"/>
              <a:defRPr/>
            </a:pPr>
            <a:endParaRPr lang="en-US" sz="1800" b="1"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800" b="1" dirty="0">
                <a:latin typeface="+mn-lt"/>
                <a:ea typeface="+mn-ea"/>
                <a:cs typeface="+mn-cs"/>
              </a:rPr>
              <a:t>Item Master</a:t>
            </a:r>
            <a:r>
              <a:rPr lang="en-US" sz="1800" dirty="0">
                <a:latin typeface="+mn-lt"/>
                <a:ea typeface="+mn-ea"/>
                <a:cs typeface="+mn-cs"/>
              </a:rPr>
              <a:t> - Used only to Service Charges related items - Parts will not be stored in MService for SSIPL as per their decision - Usage: Service Quotation workflow</a:t>
            </a: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800" b="1" dirty="0">
                <a:latin typeface="+mn-lt"/>
                <a:ea typeface="+mn-ea"/>
                <a:cs typeface="+mn-cs"/>
              </a:rPr>
              <a:t>Customer master</a:t>
            </a:r>
            <a:r>
              <a:rPr lang="en-US" sz="1800" dirty="0">
                <a:latin typeface="+mn-lt"/>
                <a:ea typeface="+mn-ea"/>
                <a:cs typeface="+mn-cs"/>
              </a:rPr>
              <a:t> and - </a:t>
            </a:r>
            <a:r>
              <a:rPr lang="en-US" sz="1800" b="1" dirty="0">
                <a:latin typeface="+mn-lt"/>
                <a:ea typeface="+mn-ea"/>
                <a:cs typeface="+mn-cs"/>
              </a:rPr>
              <a:t>SAP code entered will be used as Customer ID</a:t>
            </a:r>
            <a:r>
              <a:rPr lang="en-US" sz="1800" dirty="0">
                <a:latin typeface="+mn-lt"/>
                <a:ea typeface="+mn-ea"/>
                <a:cs typeface="+mn-cs"/>
              </a:rPr>
              <a:t> - MService will not generate Customer ID; Type of application -  is the business type of the customer</a:t>
            </a: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800" b="1" dirty="0">
                <a:latin typeface="+mn-lt"/>
                <a:ea typeface="+mn-ea"/>
                <a:cs typeface="+mn-cs"/>
                <a:sym typeface="+mn-ea"/>
              </a:rPr>
              <a:t> Customer Location- </a:t>
            </a:r>
            <a:r>
              <a:rPr lang="en-US" sz="1800" dirty="0">
                <a:latin typeface="+mn-lt"/>
                <a:ea typeface="+mn-ea"/>
                <a:cs typeface="+mn-cs"/>
              </a:rPr>
              <a:t>In customer locations </a:t>
            </a:r>
            <a:r>
              <a:rPr lang="en-US" sz="1800" b="1" dirty="0">
                <a:latin typeface="+mn-lt"/>
                <a:ea typeface="+mn-ea"/>
                <a:cs typeface="+mn-cs"/>
              </a:rPr>
              <a:t>Bill To / Site (Ship To)</a:t>
            </a:r>
            <a:r>
              <a:rPr lang="en-US" sz="1800" dirty="0">
                <a:latin typeface="+mn-lt"/>
                <a:ea typeface="+mn-ea"/>
                <a:cs typeface="+mn-cs"/>
              </a:rPr>
              <a:t> locations can be created - Bill To location will come in Service Quotation PDF and Ship To location wil come in PWC claim PDF</a:t>
            </a: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800" b="1" dirty="0">
                <a:latin typeface="+mn-lt"/>
                <a:ea typeface="+mn-ea"/>
                <a:cs typeface="+mn-cs"/>
              </a:rPr>
              <a:t>Asset master:</a:t>
            </a:r>
            <a:r>
              <a:rPr lang="en-US" sz="1800" dirty="0">
                <a:latin typeface="+mn-lt"/>
                <a:ea typeface="+mn-ea"/>
                <a:cs typeface="+mn-cs"/>
              </a:rPr>
              <a:t> Asset ID will be a combination of </a:t>
            </a:r>
            <a:r>
              <a:rPr lang="en-US" sz="1800" b="1" dirty="0">
                <a:latin typeface="+mn-lt"/>
                <a:ea typeface="+mn-ea"/>
                <a:cs typeface="+mn-cs"/>
              </a:rPr>
              <a:t>ModelNo-Machine Serial No</a:t>
            </a:r>
            <a:r>
              <a:rPr lang="en-US" sz="1800" dirty="0">
                <a:latin typeface="+mn-lt"/>
                <a:ea typeface="+mn-ea"/>
                <a:cs typeface="+mn-cs"/>
              </a:rPr>
              <a:t>; Ship To (Site) location is selected when adding an asset (</a:t>
            </a:r>
            <a:r>
              <a:rPr lang="en-US" sz="1800" dirty="0">
                <a:solidFill>
                  <a:srgbClr val="FF0000"/>
                </a:solidFill>
                <a:latin typeface="+mn-lt"/>
                <a:ea typeface="+mn-ea"/>
                <a:cs typeface="+mn-cs"/>
              </a:rPr>
              <a:t>GAP:need to store in Machine Master</a:t>
            </a:r>
            <a:r>
              <a:rPr lang="en-US" sz="1800" dirty="0">
                <a:latin typeface="+mn-lt"/>
                <a:ea typeface="+mn-ea"/>
                <a:cs typeface="+mn-cs"/>
              </a:rPr>
              <a:t>), which comes automatically on selecting the asset in call register - this is used in PWC claim PDF; View/Edit screens additional fields as requested by SSIPL</a:t>
            </a: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800" dirty="0">
                <a:latin typeface="+mn-lt"/>
                <a:ea typeface="+mn-ea"/>
                <a:cs typeface="+mn-cs"/>
              </a:rPr>
              <a:t>Introduced </a:t>
            </a:r>
            <a:r>
              <a:rPr lang="en-US" sz="1800" b="1" dirty="0">
                <a:latin typeface="+mn-lt"/>
                <a:ea typeface="+mn-ea"/>
                <a:cs typeface="+mn-cs"/>
              </a:rPr>
              <a:t>additional HMR</a:t>
            </a:r>
            <a:r>
              <a:rPr lang="en-US" sz="1800" dirty="0">
                <a:latin typeface="+mn-lt"/>
                <a:ea typeface="+mn-ea"/>
                <a:cs typeface="+mn-cs"/>
              </a:rPr>
              <a:t> for SSIPL -(</a:t>
            </a:r>
            <a:r>
              <a:rPr lang="en-US" sz="1800" dirty="0">
                <a:solidFill>
                  <a:srgbClr val="FF0000"/>
                </a:solidFill>
                <a:latin typeface="+mn-lt"/>
                <a:ea typeface="+mn-ea"/>
                <a:cs typeface="+mn-cs"/>
              </a:rPr>
              <a:t>GAP:  HMR2 to be stored in core field</a:t>
            </a:r>
            <a:r>
              <a:rPr lang="en-US" sz="1800" dirty="0">
                <a:latin typeface="+mn-lt"/>
                <a:ea typeface="+mn-ea"/>
                <a:cs typeface="+mn-cs"/>
              </a:rPr>
              <a:t>s) shown in Asset Master and Maintenance History - </a:t>
            </a:r>
            <a:r>
              <a:rPr lang="en-US" sz="1800" b="1" dirty="0">
                <a:solidFill>
                  <a:srgbClr val="7EC234"/>
                </a:solidFill>
                <a:latin typeface="+mn-lt"/>
                <a:ea typeface="+mn-ea"/>
                <a:cs typeface="+mn-cs"/>
                <a:sym typeface="+mn-ea"/>
              </a:rPr>
              <a:t>CIR-17</a:t>
            </a: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endParaRPr lang="en-US" sz="1800" dirty="0">
              <a:latin typeface="+mn-lt"/>
              <a:ea typeface="+mn-ea"/>
              <a:cs typeface="+mn-cs"/>
            </a:endParaRPr>
          </a:p>
          <a:p>
            <a:pPr marL="0" indent="0" eaLnBrk="0" hangingPunct="0">
              <a:spcBef>
                <a:spcPct val="20000"/>
              </a:spcBef>
              <a:buFont typeface="Arial" panose="020B0604020202020204" pitchFamily="34" charset="0"/>
              <a:buNone/>
              <a:defRPr/>
            </a:pP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endParaRPr lang="en-US" sz="1800" dirty="0">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pPr>
              <a:defRPr/>
            </a:pPr>
            <a:fld id="{AF5F95BF-71FB-46E8-B930-71E44B5AFDE5}" type="datetime1">
              <a:rPr lang="en-GB"/>
            </a:fld>
            <a:endParaRPr lang="en-GB" dirty="0"/>
          </a:p>
        </p:txBody>
      </p:sp>
      <p:sp>
        <p:nvSpPr>
          <p:cNvPr id="4" name="Slide Number Placeholder 3"/>
          <p:cNvSpPr>
            <a:spLocks noGrp="1"/>
          </p:cNvSpPr>
          <p:nvPr>
            <p:ph type="sldNum" sz="quarter" idx="11"/>
          </p:nvPr>
        </p:nvSpPr>
        <p:spPr/>
        <p:txBody>
          <a:bodyPr/>
          <a:p>
            <a:pPr>
              <a:defRPr/>
            </a:pPr>
            <a:fld id="{2FE55862-935E-4A28-ACAD-49CD152E2AE3}" type="slidenum">
              <a:rPr lang="en-GB"/>
            </a:fld>
            <a:endParaRPr lang="en-GB" dirty="0"/>
          </a:p>
        </p:txBody>
      </p:sp>
      <p:sp>
        <p:nvSpPr>
          <p:cNvPr id="10" name="TextBox 4"/>
          <p:cNvSpPr txBox="1">
            <a:spLocks noChangeArrowheads="1"/>
          </p:cNvSpPr>
          <p:nvPr/>
        </p:nvSpPr>
        <p:spPr bwMode="auto">
          <a:xfrm>
            <a:off x="0" y="0"/>
            <a:ext cx="7143750" cy="1506855"/>
          </a:xfrm>
          <a:prstGeom prst="rect">
            <a:avLst/>
          </a:prstGeom>
          <a:noFill/>
          <a:ln w="9525">
            <a:noFill/>
            <a:miter lim="800000"/>
          </a:ln>
        </p:spPr>
        <p:txBody>
          <a:bodyPr>
            <a:spAutoFit/>
          </a:bodyPr>
          <a:p>
            <a:pPr>
              <a:defRPr/>
            </a:pPr>
            <a:r>
              <a:rPr lang="en-US" sz="3200" b="1" dirty="0">
                <a:solidFill>
                  <a:srgbClr val="6775FD"/>
                </a:solidFill>
                <a:latin typeface="+mj-lt"/>
              </a:rPr>
              <a:t>SSIPL - Product Specifications</a:t>
            </a:r>
            <a:endParaRPr lang="en-US" sz="3200" b="1" dirty="0">
              <a:solidFill>
                <a:srgbClr val="6775FD"/>
              </a:solidFill>
              <a:latin typeface="+mj-lt"/>
            </a:endParaRPr>
          </a:p>
          <a:p>
            <a:pPr>
              <a:defRPr/>
            </a:pPr>
            <a:endParaRPr lang="en-US" sz="3200" b="1" dirty="0">
              <a:solidFill>
                <a:srgbClr val="FF6A47"/>
              </a:solidFill>
              <a:latin typeface="+mj-lt"/>
            </a:endParaRPr>
          </a:p>
          <a:p>
            <a:pPr>
              <a:defRPr/>
            </a:pPr>
            <a:endParaRPr lang="en-US" sz="2800" dirty="0">
              <a:solidFill>
                <a:srgbClr val="6775FD"/>
              </a:solidFill>
              <a:latin typeface="+mj-lt"/>
            </a:endParaRPr>
          </a:p>
        </p:txBody>
      </p:sp>
      <p:sp>
        <p:nvSpPr>
          <p:cNvPr id="7" name="Content Placeholder 6"/>
          <p:cNvSpPr txBox="1"/>
          <p:nvPr/>
        </p:nvSpPr>
        <p:spPr>
          <a:xfrm>
            <a:off x="457200" y="824865"/>
            <a:ext cx="8229600" cy="5360670"/>
          </a:xfrm>
          <a:prstGeom prst="rect">
            <a:avLst/>
          </a:prstGeom>
        </p:spPr>
        <p:txBody>
          <a:bodyPr/>
          <a:p>
            <a:pPr marL="342900" indent="-342900" eaLnBrk="0" hangingPunct="0">
              <a:spcBef>
                <a:spcPct val="20000"/>
              </a:spcBef>
              <a:buFont typeface="Arial" panose="020B0604020202020204" pitchFamily="34" charset="0"/>
              <a:buChar char="•"/>
              <a:defRPr/>
            </a:pPr>
            <a:endParaRPr lang="en-US" sz="1800" b="1" dirty="0">
              <a:latin typeface="+mn-lt"/>
              <a:ea typeface="+mn-ea"/>
              <a:cs typeface="+mn-cs"/>
            </a:endParaRPr>
          </a:p>
          <a:p>
            <a:pPr marL="342900" indent="-342900" eaLnBrk="0" hangingPunct="0">
              <a:spcBef>
                <a:spcPct val="20000"/>
              </a:spcBef>
              <a:buFont typeface="Arial" panose="020B0604020202020204" pitchFamily="34" charset="0"/>
              <a:buChar char="•"/>
              <a:defRPr/>
            </a:pP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800" b="1" dirty="0">
                <a:latin typeface="+mn-lt"/>
                <a:ea typeface="+mn-ea"/>
                <a:cs typeface="+mn-cs"/>
                <a:sym typeface="+mn-ea"/>
              </a:rPr>
              <a:t>Call Register:</a:t>
            </a:r>
            <a:r>
              <a:rPr lang="en-US" sz="1800" dirty="0">
                <a:latin typeface="+mn-lt"/>
                <a:ea typeface="+mn-ea"/>
                <a:cs typeface="+mn-cs"/>
                <a:sym typeface="+mn-ea"/>
              </a:rPr>
              <a:t> Customer Requested Date - Mandatory field - indicates the date when the customer wants the engineer to visit for service - Escalation configured to send notifications if not visited in 24 / 48 / 72 hours; Commissioning calls can be created with Asset ID 'zzz' - before closing the call, Branch Coordinator should edit the call and update the Machine Serial No (from Commissioning form submitted by engineer); Upon submitting the commissiong report, the commission date gets automatically updated in asset master</a:t>
            </a:r>
            <a:endParaRPr lang="en-US" sz="1800" dirty="0">
              <a:latin typeface="+mn-lt"/>
              <a:ea typeface="+mn-ea"/>
              <a:cs typeface="+mn-cs"/>
              <a:sym typeface="+mn-ea"/>
            </a:endParaRPr>
          </a:p>
          <a:p>
            <a:pPr marL="342900" indent="-342900" eaLnBrk="0" hangingPunct="0">
              <a:spcBef>
                <a:spcPct val="20000"/>
              </a:spcBef>
              <a:buFont typeface="Arial" panose="020B0604020202020204" pitchFamily="34" charset="0"/>
              <a:buChar char="•"/>
              <a:defRPr/>
            </a:pPr>
            <a:r>
              <a:rPr lang="en-US" sz="1800" b="1" dirty="0">
                <a:latin typeface="+mn-lt"/>
                <a:ea typeface="+mn-ea"/>
                <a:cs typeface="+mn-cs"/>
              </a:rPr>
              <a:t>Service Quotation</a:t>
            </a:r>
            <a:r>
              <a:rPr lang="en-US" sz="1800" b="1" dirty="0">
                <a:latin typeface="+mn-lt"/>
                <a:ea typeface="+mn-ea"/>
                <a:cs typeface="+mn-cs"/>
                <a:sym typeface="+mn-ea"/>
              </a:rPr>
              <a:t>:</a:t>
            </a:r>
            <a:r>
              <a:rPr lang="en-US" sz="1800" dirty="0">
                <a:latin typeface="+mn-lt"/>
                <a:ea typeface="+mn-ea"/>
                <a:cs typeface="+mn-cs"/>
                <a:sym typeface="+mn-ea"/>
              </a:rPr>
              <a:t> Workflow: From call register -&gt; Generate Quotation -&gt; Edit Quotation and submit details -&gt; Submit for Approval -&gt; Approve -&gt; Customer Approved (or) Customer Rejected;  Only allowed for two chargeable call types;  Bill To location selected - which is shown in Quotation PDF; Only if the quotation is accepted by the customer, the call should proceed</a:t>
            </a:r>
            <a:endParaRPr lang="en-US" sz="1800" dirty="0">
              <a:latin typeface="+mn-lt"/>
              <a:ea typeface="+mn-ea"/>
              <a:cs typeface="+mn-cs"/>
              <a:sym typeface="+mn-ea"/>
            </a:endParaRPr>
          </a:p>
          <a:p>
            <a:pPr marL="342900" indent="-342900" eaLnBrk="0" hangingPunct="0">
              <a:spcBef>
                <a:spcPct val="20000"/>
              </a:spcBef>
              <a:buFont typeface="Arial" panose="020B0604020202020204" pitchFamily="34" charset="0"/>
              <a:buChar char="•"/>
              <a:defRPr/>
            </a:pPr>
            <a:endParaRPr lang="en-US" sz="1800" dirty="0">
              <a:latin typeface="+mn-lt"/>
              <a:ea typeface="+mn-ea"/>
              <a:cs typeface="+mn-cs"/>
              <a:sym typeface="+mn-ea"/>
            </a:endParaRPr>
          </a:p>
          <a:p>
            <a:pPr marL="0" indent="0" eaLnBrk="0" hangingPunct="0">
              <a:spcBef>
                <a:spcPct val="20000"/>
              </a:spcBef>
              <a:buFont typeface="Arial" panose="020B0604020202020204" pitchFamily="34" charset="0"/>
              <a:buNone/>
              <a:defRPr/>
            </a:pPr>
            <a:endParaRPr lang="en-US" sz="1800" dirty="0">
              <a:latin typeface="+mn-lt"/>
              <a:ea typeface="+mn-ea"/>
              <a:cs typeface="+mn-cs"/>
              <a:sym typeface="+mn-ea"/>
            </a:endParaRPr>
          </a:p>
          <a:p>
            <a:pPr marL="342900" indent="-342900" eaLnBrk="0" hangingPunct="0">
              <a:spcBef>
                <a:spcPct val="20000"/>
              </a:spcBef>
              <a:buFont typeface="Arial" panose="020B0604020202020204" pitchFamily="34" charset="0"/>
              <a:buChar char="•"/>
              <a:defRPr/>
            </a:pPr>
            <a:endParaRPr lang="en-US" sz="1800" dirty="0">
              <a:latin typeface="+mn-lt"/>
              <a:ea typeface="+mn-ea"/>
              <a:cs typeface="+mn-cs"/>
            </a:endParaRPr>
          </a:p>
          <a:p>
            <a:pPr marL="0" indent="0" eaLnBrk="0" hangingPunct="0">
              <a:spcBef>
                <a:spcPct val="20000"/>
              </a:spcBef>
              <a:buFont typeface="Arial" panose="020B0604020202020204" pitchFamily="34" charset="0"/>
              <a:buNone/>
              <a:defRPr/>
            </a:pP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endParaRPr lang="en-US" sz="1800" dirty="0">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pPr>
              <a:defRPr/>
            </a:pPr>
            <a:fld id="{AF5F95BF-71FB-46E8-B930-71E44B5AFDE5}" type="datetime1">
              <a:rPr lang="en-GB"/>
            </a:fld>
            <a:endParaRPr lang="en-GB" dirty="0"/>
          </a:p>
        </p:txBody>
      </p:sp>
      <p:sp>
        <p:nvSpPr>
          <p:cNvPr id="4" name="Slide Number Placeholder 3"/>
          <p:cNvSpPr>
            <a:spLocks noGrp="1"/>
          </p:cNvSpPr>
          <p:nvPr>
            <p:ph type="sldNum" sz="quarter" idx="11"/>
          </p:nvPr>
        </p:nvSpPr>
        <p:spPr/>
        <p:txBody>
          <a:bodyPr/>
          <a:p>
            <a:pPr>
              <a:defRPr/>
            </a:pPr>
            <a:fld id="{2FE55862-935E-4A28-ACAD-49CD152E2AE3}" type="slidenum">
              <a:rPr lang="en-GB"/>
            </a:fld>
            <a:endParaRPr lang="en-GB" dirty="0"/>
          </a:p>
        </p:txBody>
      </p:sp>
      <p:sp>
        <p:nvSpPr>
          <p:cNvPr id="10" name="TextBox 4"/>
          <p:cNvSpPr txBox="1">
            <a:spLocks noChangeArrowheads="1"/>
          </p:cNvSpPr>
          <p:nvPr/>
        </p:nvSpPr>
        <p:spPr bwMode="auto">
          <a:xfrm>
            <a:off x="0" y="0"/>
            <a:ext cx="7143750" cy="1506855"/>
          </a:xfrm>
          <a:prstGeom prst="rect">
            <a:avLst/>
          </a:prstGeom>
          <a:noFill/>
          <a:ln w="9525">
            <a:noFill/>
            <a:miter lim="800000"/>
          </a:ln>
        </p:spPr>
        <p:txBody>
          <a:bodyPr>
            <a:spAutoFit/>
          </a:bodyPr>
          <a:p>
            <a:pPr>
              <a:defRPr/>
            </a:pPr>
            <a:r>
              <a:rPr lang="en-US" sz="3200" b="1" dirty="0">
                <a:solidFill>
                  <a:srgbClr val="6775FD"/>
                </a:solidFill>
                <a:latin typeface="+mj-lt"/>
              </a:rPr>
              <a:t>SSIPL - Product Specifications</a:t>
            </a:r>
            <a:endParaRPr lang="en-US" sz="3200" b="1" dirty="0">
              <a:solidFill>
                <a:srgbClr val="6775FD"/>
              </a:solidFill>
              <a:latin typeface="+mj-lt"/>
            </a:endParaRPr>
          </a:p>
          <a:p>
            <a:pPr>
              <a:defRPr/>
            </a:pPr>
            <a:endParaRPr lang="en-US" sz="3200" b="1" dirty="0">
              <a:solidFill>
                <a:srgbClr val="FF6A47"/>
              </a:solidFill>
              <a:latin typeface="+mj-lt"/>
            </a:endParaRPr>
          </a:p>
          <a:p>
            <a:pPr>
              <a:defRPr/>
            </a:pPr>
            <a:endParaRPr lang="en-US" sz="2800" dirty="0">
              <a:solidFill>
                <a:srgbClr val="6775FD"/>
              </a:solidFill>
              <a:latin typeface="+mj-lt"/>
            </a:endParaRPr>
          </a:p>
        </p:txBody>
      </p:sp>
      <p:sp>
        <p:nvSpPr>
          <p:cNvPr id="7" name="Content Placeholder 6"/>
          <p:cNvSpPr txBox="1"/>
          <p:nvPr/>
        </p:nvSpPr>
        <p:spPr>
          <a:xfrm>
            <a:off x="457200" y="824865"/>
            <a:ext cx="8229600" cy="5360670"/>
          </a:xfrm>
          <a:prstGeom prst="rect">
            <a:avLst/>
          </a:prstGeom>
        </p:spPr>
        <p:txBody>
          <a:bodyPr/>
          <a:p>
            <a:pPr marL="342900" indent="-342900" eaLnBrk="0" hangingPunct="0">
              <a:spcBef>
                <a:spcPct val="20000"/>
              </a:spcBef>
              <a:buFont typeface="Arial" panose="020B0604020202020204" pitchFamily="34" charset="0"/>
              <a:buChar char="•"/>
              <a:defRPr/>
            </a:pPr>
            <a:endParaRPr lang="en-US" sz="1800" b="1"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800" b="1" dirty="0">
                <a:solidFill>
                  <a:srgbClr val="FF0000"/>
                </a:solidFill>
                <a:latin typeface="+mn-lt"/>
                <a:ea typeface="+mn-ea"/>
                <a:cs typeface="+mn-cs"/>
                <a:sym typeface="+mn-ea"/>
              </a:rPr>
              <a:t>Parts Warranty Claim</a:t>
            </a:r>
            <a:r>
              <a:rPr lang="en-US" sz="1800" b="1" dirty="0">
                <a:latin typeface="+mn-lt"/>
                <a:ea typeface="+mn-ea"/>
                <a:cs typeface="+mn-cs"/>
                <a:sym typeface="+mn-ea"/>
              </a:rPr>
              <a:t>:</a:t>
            </a:r>
            <a:r>
              <a:rPr lang="en-US" sz="1800" dirty="0">
                <a:latin typeface="+mn-lt"/>
                <a:ea typeface="+mn-ea"/>
                <a:cs typeface="+mn-cs"/>
                <a:sym typeface="+mn-ea"/>
              </a:rPr>
              <a:t> The existing workflow available for other DREAMS clients &amp; PWC Form should be submitted by the engineer as a pre-requisite - PWC PDF (will have Sold To and Ship To locations among other information); Branch coordinator will fill up the PWC Details on the screen with part details from PWC form submitted by the engineer; Pre-requisites: Asset should be under warranty, PWC form should be submitted, Call has to be put on hold with PWC Claim as the reason chosen from drop down in call hold popup - </a:t>
            </a:r>
            <a:r>
              <a:rPr lang="en-US" sz="1800" b="1" dirty="0">
                <a:solidFill>
                  <a:srgbClr val="7EC234"/>
                </a:solidFill>
                <a:latin typeface="+mn-lt"/>
                <a:ea typeface="+mn-ea"/>
                <a:cs typeface="+mn-cs"/>
                <a:sym typeface="+mn-ea"/>
              </a:rPr>
              <a:t>CIR-125</a:t>
            </a:r>
            <a:endParaRPr lang="en-US" sz="1800" dirty="0">
              <a:latin typeface="+mn-lt"/>
              <a:ea typeface="+mn-ea"/>
              <a:cs typeface="+mn-cs"/>
              <a:sym typeface="+mn-ea"/>
            </a:endParaRPr>
          </a:p>
          <a:p>
            <a:pPr marL="342900" indent="-342900" eaLnBrk="0" hangingPunct="0">
              <a:spcBef>
                <a:spcPct val="20000"/>
              </a:spcBef>
              <a:buFont typeface="Arial" panose="020B0604020202020204" pitchFamily="34" charset="0"/>
              <a:buChar char="•"/>
              <a:defRPr/>
            </a:pPr>
            <a:r>
              <a:rPr lang="en-US" sz="1800" b="1" dirty="0">
                <a:latin typeface="+mn-lt"/>
                <a:ea typeface="+mn-ea"/>
                <a:cs typeface="+mn-cs"/>
                <a:sym typeface="+mn-ea"/>
              </a:rPr>
              <a:t>Call Assignment / Rejections</a:t>
            </a:r>
            <a:r>
              <a:rPr lang="en-US" sz="1800" b="1" dirty="0">
                <a:latin typeface="+mn-lt"/>
                <a:ea typeface="+mn-ea"/>
                <a:cs typeface="+mn-cs"/>
                <a:sym typeface="+mn-ea"/>
              </a:rPr>
              <a:t>:</a:t>
            </a:r>
            <a:r>
              <a:rPr lang="en-US" sz="1800" dirty="0">
                <a:latin typeface="+mn-lt"/>
                <a:ea typeface="+mn-ea"/>
                <a:cs typeface="+mn-cs"/>
                <a:sym typeface="+mn-ea"/>
              </a:rPr>
              <a:t> Branch Coordinator assigns the call to Team Leader, who assigns to Group Leader, who assigns to Service Engineer; Anyone who receives a call on their Engg App can reject a call, and it gets back to the assignor. When Team Leader rejects, it goes back to Branch Coordinator; For Warranty Calls, Branch coordinator should assign the call to the Branch Manager,  who will check and provide comments and assign the call to Team Leader (if it can proceed), else, assign to Branch coordinator if that call cannot be proceeded; Call Categories other than SE - New categories added for Schwing</a:t>
            </a:r>
            <a:endParaRPr lang="en-US" sz="1800" dirty="0">
              <a:latin typeface="+mn-lt"/>
              <a:ea typeface="+mn-ea"/>
              <a:cs typeface="+mn-cs"/>
              <a:sym typeface="+mn-ea"/>
            </a:endParaRPr>
          </a:p>
          <a:p>
            <a:pPr marL="0" indent="0" eaLnBrk="0" hangingPunct="0">
              <a:spcBef>
                <a:spcPct val="20000"/>
              </a:spcBef>
              <a:buFont typeface="Arial" panose="020B0604020202020204" pitchFamily="34" charset="0"/>
              <a:buNone/>
              <a:defRPr/>
            </a:pP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endParaRPr lang="en-US" sz="1800" dirty="0">
              <a:latin typeface="+mn-lt"/>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pPr>
              <a:defRPr/>
            </a:pPr>
            <a:fld id="{AF5F95BF-71FB-46E8-B930-71E44B5AFDE5}" type="datetime1">
              <a:rPr lang="en-GB"/>
            </a:fld>
            <a:endParaRPr lang="en-GB" dirty="0"/>
          </a:p>
        </p:txBody>
      </p:sp>
      <p:sp>
        <p:nvSpPr>
          <p:cNvPr id="4" name="Slide Number Placeholder 3"/>
          <p:cNvSpPr>
            <a:spLocks noGrp="1"/>
          </p:cNvSpPr>
          <p:nvPr>
            <p:ph type="sldNum" sz="quarter" idx="11"/>
          </p:nvPr>
        </p:nvSpPr>
        <p:spPr/>
        <p:txBody>
          <a:bodyPr/>
          <a:p>
            <a:pPr>
              <a:defRPr/>
            </a:pPr>
            <a:fld id="{2FE55862-935E-4A28-ACAD-49CD152E2AE3}" type="slidenum">
              <a:rPr lang="en-GB"/>
            </a:fld>
            <a:endParaRPr lang="en-GB" dirty="0"/>
          </a:p>
        </p:txBody>
      </p:sp>
      <p:sp>
        <p:nvSpPr>
          <p:cNvPr id="10" name="TextBox 4"/>
          <p:cNvSpPr txBox="1">
            <a:spLocks noChangeArrowheads="1"/>
          </p:cNvSpPr>
          <p:nvPr/>
        </p:nvSpPr>
        <p:spPr bwMode="auto">
          <a:xfrm>
            <a:off x="0" y="0"/>
            <a:ext cx="7143750" cy="1506855"/>
          </a:xfrm>
          <a:prstGeom prst="rect">
            <a:avLst/>
          </a:prstGeom>
          <a:noFill/>
          <a:ln w="9525">
            <a:noFill/>
            <a:miter lim="800000"/>
          </a:ln>
        </p:spPr>
        <p:txBody>
          <a:bodyPr>
            <a:spAutoFit/>
          </a:bodyPr>
          <a:p>
            <a:pPr>
              <a:defRPr/>
            </a:pPr>
            <a:r>
              <a:rPr lang="en-US" sz="3200" b="1" dirty="0">
                <a:solidFill>
                  <a:srgbClr val="6775FD"/>
                </a:solidFill>
                <a:latin typeface="+mj-lt"/>
              </a:rPr>
              <a:t>SSIPL - Product Specifications</a:t>
            </a:r>
            <a:endParaRPr lang="en-US" sz="3200" b="1" dirty="0">
              <a:solidFill>
                <a:srgbClr val="6775FD"/>
              </a:solidFill>
              <a:latin typeface="+mj-lt"/>
            </a:endParaRPr>
          </a:p>
          <a:p>
            <a:pPr>
              <a:defRPr/>
            </a:pPr>
            <a:endParaRPr lang="en-US" sz="3200" b="1" dirty="0">
              <a:solidFill>
                <a:srgbClr val="FF6A47"/>
              </a:solidFill>
              <a:latin typeface="+mj-lt"/>
            </a:endParaRPr>
          </a:p>
          <a:p>
            <a:pPr>
              <a:defRPr/>
            </a:pPr>
            <a:endParaRPr lang="en-US" sz="2800" dirty="0">
              <a:solidFill>
                <a:srgbClr val="6775FD"/>
              </a:solidFill>
              <a:latin typeface="+mj-lt"/>
            </a:endParaRPr>
          </a:p>
        </p:txBody>
      </p:sp>
      <p:sp>
        <p:nvSpPr>
          <p:cNvPr id="7" name="Content Placeholder 6"/>
          <p:cNvSpPr txBox="1"/>
          <p:nvPr/>
        </p:nvSpPr>
        <p:spPr>
          <a:xfrm>
            <a:off x="457200" y="824865"/>
            <a:ext cx="8229600" cy="5360670"/>
          </a:xfrm>
          <a:prstGeom prst="rect">
            <a:avLst/>
          </a:prstGeom>
        </p:spPr>
        <p:txBody>
          <a:bodyPr/>
          <a:p>
            <a:pPr marL="342900" indent="-342900" eaLnBrk="0" hangingPunct="0">
              <a:spcBef>
                <a:spcPct val="20000"/>
              </a:spcBef>
              <a:buFont typeface="Arial" panose="020B0604020202020204" pitchFamily="34" charset="0"/>
              <a:buChar char="•"/>
              <a:defRPr/>
            </a:pP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800" b="1" dirty="0">
                <a:latin typeface="+mn-lt"/>
                <a:ea typeface="+mn-ea"/>
                <a:cs typeface="+mn-cs"/>
              </a:rPr>
              <a:t>Forms: DSR - </a:t>
            </a:r>
            <a:r>
              <a:rPr lang="en-US" sz="1800" dirty="0">
                <a:latin typeface="+mn-lt"/>
                <a:ea typeface="+mn-ea"/>
                <a:cs typeface="+mn-cs"/>
              </a:rPr>
              <a:t>Daily Status report - For every visit for a call, Engineer will submit this form - This will be sent to customer also; FSR - Field Service report - Once per call during call finish - First page of this form (this first page will be same as DSR) will go to customer; Comm - Commissioning report - Only for commissioning call; PWC - Only for submitting Parts Warranty related information - Only if this is submitted, we can create PWC claim for a call</a:t>
            </a: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800" b="1" dirty="0">
                <a:latin typeface="+mn-lt"/>
                <a:ea typeface="+mn-ea"/>
                <a:cs typeface="+mn-cs"/>
              </a:rPr>
              <a:t>My Team:</a:t>
            </a:r>
            <a:r>
              <a:rPr lang="en-US" sz="1800" dirty="0">
                <a:latin typeface="+mn-lt"/>
                <a:ea typeface="+mn-ea"/>
                <a:cs typeface="+mn-cs"/>
              </a:rPr>
              <a:t> Enabled in Engineer App for Team Leaders and Group Leaders - using they can see what their team members are assigned</a:t>
            </a: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800" b="1" dirty="0">
                <a:latin typeface="+mn-lt"/>
                <a:ea typeface="+mn-ea"/>
                <a:cs typeface="+mn-cs"/>
              </a:rPr>
              <a:t>Users:</a:t>
            </a:r>
            <a:r>
              <a:rPr lang="en-US" sz="1800" dirty="0">
                <a:latin typeface="+mn-lt"/>
                <a:ea typeface="+mn-ea"/>
                <a:cs typeface="+mn-cs"/>
              </a:rPr>
              <a:t> User ID should be in this format: ss&lt;employeeid&gt;; There could be one branch coordinator managing more than one branch - We will have to create separate user IDs for that branch coordinator for each branch</a:t>
            </a:r>
            <a:endParaRPr lang="en-US" sz="1800" dirty="0">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pPr>
              <a:defRPr/>
            </a:pPr>
            <a:fld id="{AF5F95BF-71FB-46E8-B930-71E44B5AFDE5}" type="datetime1">
              <a:rPr lang="en-GB"/>
            </a:fld>
            <a:endParaRPr lang="en-GB" dirty="0"/>
          </a:p>
        </p:txBody>
      </p:sp>
      <p:sp>
        <p:nvSpPr>
          <p:cNvPr id="4" name="Slide Number Placeholder 3"/>
          <p:cNvSpPr>
            <a:spLocks noGrp="1"/>
          </p:cNvSpPr>
          <p:nvPr>
            <p:ph type="sldNum" sz="quarter" idx="11"/>
          </p:nvPr>
        </p:nvSpPr>
        <p:spPr/>
        <p:txBody>
          <a:bodyPr/>
          <a:p>
            <a:pPr>
              <a:defRPr/>
            </a:pPr>
            <a:fld id="{2FE55862-935E-4A28-ACAD-49CD152E2AE3}" type="slidenum">
              <a:rPr lang="en-GB"/>
            </a:fld>
            <a:endParaRPr lang="en-GB" dirty="0"/>
          </a:p>
        </p:txBody>
      </p:sp>
      <p:sp>
        <p:nvSpPr>
          <p:cNvPr id="10" name="TextBox 4"/>
          <p:cNvSpPr txBox="1">
            <a:spLocks noChangeArrowheads="1"/>
          </p:cNvSpPr>
          <p:nvPr/>
        </p:nvSpPr>
        <p:spPr bwMode="auto">
          <a:xfrm>
            <a:off x="0" y="0"/>
            <a:ext cx="7143750" cy="1506855"/>
          </a:xfrm>
          <a:prstGeom prst="rect">
            <a:avLst/>
          </a:prstGeom>
          <a:noFill/>
          <a:ln w="9525">
            <a:noFill/>
            <a:miter lim="800000"/>
          </a:ln>
        </p:spPr>
        <p:txBody>
          <a:bodyPr>
            <a:spAutoFit/>
          </a:bodyPr>
          <a:p>
            <a:pPr>
              <a:defRPr/>
            </a:pPr>
            <a:r>
              <a:rPr lang="en-US" sz="3200" b="1" dirty="0">
                <a:solidFill>
                  <a:srgbClr val="6775FD"/>
                </a:solidFill>
                <a:latin typeface="+mj-lt"/>
              </a:rPr>
              <a:t>SSIPL - Pending</a:t>
            </a:r>
            <a:endParaRPr lang="en-US" sz="3200" b="1" dirty="0">
              <a:solidFill>
                <a:srgbClr val="6775FD"/>
              </a:solidFill>
              <a:latin typeface="+mj-lt"/>
            </a:endParaRPr>
          </a:p>
          <a:p>
            <a:pPr>
              <a:defRPr/>
            </a:pPr>
            <a:endParaRPr lang="en-US" sz="3200" b="1" dirty="0">
              <a:solidFill>
                <a:srgbClr val="FF6A47"/>
              </a:solidFill>
              <a:latin typeface="+mj-lt"/>
            </a:endParaRPr>
          </a:p>
          <a:p>
            <a:pPr>
              <a:defRPr/>
            </a:pPr>
            <a:endParaRPr lang="en-US" sz="2800" dirty="0">
              <a:solidFill>
                <a:srgbClr val="6775FD"/>
              </a:solidFill>
              <a:latin typeface="+mj-lt"/>
            </a:endParaRPr>
          </a:p>
        </p:txBody>
      </p:sp>
      <p:sp>
        <p:nvSpPr>
          <p:cNvPr id="7" name="Content Placeholder 6"/>
          <p:cNvSpPr txBox="1"/>
          <p:nvPr/>
        </p:nvSpPr>
        <p:spPr>
          <a:xfrm>
            <a:off x="457200" y="824865"/>
            <a:ext cx="8229600" cy="5360670"/>
          </a:xfrm>
          <a:prstGeom prst="rect">
            <a:avLst/>
          </a:prstGeom>
        </p:spPr>
        <p:txBody>
          <a:bodyPr/>
          <a:p>
            <a:pPr marL="342900" indent="-342900" eaLnBrk="0" hangingPunct="0">
              <a:spcBef>
                <a:spcPct val="20000"/>
              </a:spcBef>
              <a:buFont typeface="Arial" panose="020B0604020202020204" pitchFamily="34" charset="0"/>
              <a:buChar char="•"/>
              <a:defRPr/>
            </a:pPr>
            <a:r>
              <a:rPr lang="en-US" sz="1800" dirty="0">
                <a:latin typeface="+mn-lt"/>
                <a:ea typeface="+mn-ea"/>
                <a:cs typeface="+mn-cs"/>
              </a:rPr>
              <a:t>Feedback - Action plan workflow -To provide a new workflow based on the customer feedback against a call and by NPS Score in both Web and Customer app</a:t>
            </a: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800" dirty="0">
                <a:latin typeface="+mn-lt"/>
                <a:ea typeface="+mn-ea"/>
                <a:cs typeface="+mn-cs"/>
              </a:rPr>
              <a:t>Customer Approvals  - To provide Quotation approval access in Customer App for ex., Quotation</a:t>
            </a: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800" dirty="0">
                <a:solidFill>
                  <a:srgbClr val="FF0000"/>
                </a:solidFill>
                <a:latin typeface="+mn-lt"/>
                <a:ea typeface="+mn-ea"/>
                <a:cs typeface="+mn-cs"/>
              </a:rPr>
              <a:t>Customer App - No Call types </a:t>
            </a:r>
            <a:r>
              <a:rPr lang="en-US" sz="1800" dirty="0">
                <a:latin typeface="+mn-lt"/>
                <a:ea typeface="+mn-ea"/>
                <a:cs typeface="+mn-cs"/>
              </a:rPr>
              <a:t>-- Determine as IW or OW and choose a default IW or OW call type and assign to appropriate Branch Coordinator who will edit and choose correct call type and other info before assigning to Engineers</a:t>
            </a:r>
            <a:endParaRPr lang="en-US" sz="18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800" dirty="0">
                <a:solidFill>
                  <a:srgbClr val="FF0000"/>
                </a:solidFill>
                <a:latin typeface="+mn-lt"/>
                <a:ea typeface="+mn-ea"/>
                <a:cs typeface="+mn-cs"/>
              </a:rPr>
              <a:t>Customer Location handling - to be discussed</a:t>
            </a:r>
            <a:endParaRPr lang="en-US" sz="1800" dirty="0">
              <a:latin typeface="+mn-lt"/>
              <a:ea typeface="+mn-ea"/>
              <a:cs typeface="+mn-cs"/>
            </a:endParaRPr>
          </a:p>
          <a:p>
            <a:pPr marL="285750" indent="-285750" eaLnBrk="0" hangingPunct="0">
              <a:spcBef>
                <a:spcPct val="20000"/>
              </a:spcBef>
              <a:buFont typeface="Arial" panose="020B0604020202020204" pitchFamily="34" charset="0"/>
              <a:buChar char="•"/>
              <a:defRPr/>
            </a:pPr>
            <a:r>
              <a:rPr lang="en-US" sz="1800" dirty="0">
                <a:solidFill>
                  <a:srgbClr val="FF0000"/>
                </a:solidFill>
                <a:latin typeface="+mn-lt"/>
                <a:ea typeface="+mn-ea"/>
                <a:cs typeface="+mn-cs"/>
              </a:rPr>
              <a:t>Visitor/User - Profiling - OTP etc., - New - </a:t>
            </a:r>
            <a:r>
              <a:rPr lang="en-US" sz="1800" b="1" dirty="0">
                <a:solidFill>
                  <a:srgbClr val="7EC234"/>
                </a:solidFill>
                <a:latin typeface="+mn-lt"/>
                <a:ea typeface="+mn-ea"/>
                <a:cs typeface="+mn-cs"/>
                <a:sym typeface="+mn-ea"/>
              </a:rPr>
              <a:t>CIR-105 (all updates of Customer APP)</a:t>
            </a:r>
            <a:endParaRPr lang="en-US" sz="1800" dirty="0">
              <a:solidFill>
                <a:srgbClr val="FF0000"/>
              </a:solidFill>
              <a:latin typeface="+mn-lt"/>
              <a:ea typeface="+mn-ea"/>
              <a:cs typeface="+mn-cs"/>
            </a:endParaRPr>
          </a:p>
          <a:p>
            <a:pPr marL="285750" indent="-285750" eaLnBrk="0" hangingPunct="0">
              <a:spcBef>
                <a:spcPct val="20000"/>
              </a:spcBef>
              <a:buFont typeface="Arial" panose="020B0604020202020204" pitchFamily="34" charset="0"/>
              <a:buChar char="•"/>
              <a:defRPr/>
            </a:pPr>
            <a:r>
              <a:rPr lang="en-US" sz="1800" dirty="0">
                <a:solidFill>
                  <a:srgbClr val="FF0000"/>
                </a:solidFill>
                <a:latin typeface="+mn-lt"/>
                <a:ea typeface="+mn-ea"/>
                <a:cs typeface="+mn-cs"/>
              </a:rPr>
              <a:t>Product Information screen change -To group products into product group-product sub-group-models</a:t>
            </a:r>
            <a:endParaRPr lang="en-US" sz="1800" dirty="0">
              <a:solidFill>
                <a:srgbClr val="FF0000"/>
              </a:solidFill>
              <a:latin typeface="+mn-lt"/>
              <a:ea typeface="+mn-ea"/>
              <a:cs typeface="+mn-cs"/>
            </a:endParaRPr>
          </a:p>
          <a:p>
            <a:pPr marL="285750" indent="-285750" eaLnBrk="0" hangingPunct="0">
              <a:spcBef>
                <a:spcPct val="20000"/>
              </a:spcBef>
              <a:buFont typeface="Arial" panose="020B0604020202020204" pitchFamily="34" charset="0"/>
              <a:buChar char="•"/>
              <a:defRPr/>
            </a:pPr>
            <a:r>
              <a:rPr lang="en-US" sz="1800" dirty="0">
                <a:solidFill>
                  <a:srgbClr val="FF0000"/>
                </a:solidFill>
                <a:latin typeface="+mn-lt"/>
                <a:ea typeface="+mn-ea"/>
                <a:cs typeface="+mn-cs"/>
              </a:rPr>
              <a:t>Other information to show - Website linking, Schwing locations map, etc.,</a:t>
            </a:r>
            <a:endParaRPr lang="en-US" sz="1800" dirty="0">
              <a:solidFill>
                <a:srgbClr val="FF0000"/>
              </a:solidFill>
              <a:latin typeface="+mn-lt"/>
              <a:ea typeface="+mn-ea"/>
              <a:cs typeface="+mn-cs"/>
            </a:endParaRPr>
          </a:p>
          <a:p>
            <a:pPr marL="285750" indent="-285750" eaLnBrk="0" hangingPunct="0">
              <a:spcBef>
                <a:spcPct val="20000"/>
              </a:spcBef>
              <a:buFont typeface="Arial" panose="020B0604020202020204" pitchFamily="34" charset="0"/>
              <a:buChar char="•"/>
              <a:defRPr/>
            </a:pPr>
            <a:r>
              <a:rPr lang="en-US" sz="1800" dirty="0">
                <a:solidFill>
                  <a:schemeClr val="tx1"/>
                </a:solidFill>
                <a:latin typeface="+mn-lt"/>
                <a:ea typeface="+mn-ea"/>
                <a:cs typeface="+mn-cs"/>
              </a:rPr>
              <a:t>QR Code support - Allow customers to download app by scanning a QR Code - done</a:t>
            </a:r>
            <a:endParaRPr lang="en-US" sz="1800" dirty="0">
              <a:solidFill>
                <a:schemeClr val="tx1"/>
              </a:solidFill>
              <a:latin typeface="+mn-lt"/>
              <a:ea typeface="+mn-ea"/>
              <a:cs typeface="+mn-cs"/>
            </a:endParaRPr>
          </a:p>
          <a:p>
            <a:pPr marL="285750" indent="-285750" eaLnBrk="0" hangingPunct="0">
              <a:spcBef>
                <a:spcPct val="20000"/>
              </a:spcBef>
              <a:buFont typeface="Arial" panose="020B0604020202020204" pitchFamily="34" charset="0"/>
              <a:buChar char="•"/>
              <a:defRPr/>
            </a:pPr>
            <a:r>
              <a:rPr lang="en-US" sz="1800" dirty="0">
                <a:solidFill>
                  <a:srgbClr val="FF0000"/>
                </a:solidFill>
                <a:latin typeface="+mn-lt"/>
                <a:ea typeface="+mn-ea"/>
                <a:cs typeface="+mn-cs"/>
              </a:rPr>
              <a:t>Value based approvals for PWClaim</a:t>
            </a:r>
            <a:r>
              <a:rPr lang="en-US" sz="1800" dirty="0">
                <a:solidFill>
                  <a:schemeClr val="tx1"/>
                </a:solidFill>
                <a:latin typeface="+mn-lt"/>
                <a:ea typeface="+mn-ea"/>
                <a:cs typeface="+mn-cs"/>
              </a:rPr>
              <a:t> - Maker-Checker based approval workflow - PWC work flow -</a:t>
            </a:r>
            <a:r>
              <a:rPr lang="en-US" sz="1800" b="1" dirty="0">
                <a:solidFill>
                  <a:schemeClr val="tx1"/>
                </a:solidFill>
                <a:latin typeface="+mn-lt"/>
                <a:ea typeface="+mn-ea"/>
                <a:cs typeface="+mn-cs"/>
              </a:rPr>
              <a:t> </a:t>
            </a:r>
            <a:r>
              <a:rPr lang="en-US" sz="1800" b="1" dirty="0">
                <a:solidFill>
                  <a:srgbClr val="7EC234"/>
                </a:solidFill>
                <a:latin typeface="+mn-lt"/>
                <a:ea typeface="+mn-ea"/>
                <a:cs typeface="+mn-cs"/>
              </a:rPr>
              <a:t>CIR-15</a:t>
            </a:r>
            <a:endParaRPr lang="en-US" sz="1800" dirty="0">
              <a:solidFill>
                <a:schemeClr val="tx1"/>
              </a:solidFill>
              <a:latin typeface="+mn-lt"/>
              <a:ea typeface="+mn-ea"/>
              <a:cs typeface="+mn-cs"/>
            </a:endParaRPr>
          </a:p>
          <a:p>
            <a:pPr marL="285750" indent="-285750" eaLnBrk="0" hangingPunct="0">
              <a:spcBef>
                <a:spcPct val="20000"/>
              </a:spcBef>
              <a:buFont typeface="Arial" panose="020B0604020202020204" pitchFamily="34" charset="0"/>
              <a:buChar char="•"/>
              <a:defRPr/>
            </a:pPr>
            <a:r>
              <a:rPr lang="en-US" sz="1800" dirty="0">
                <a:solidFill>
                  <a:srgbClr val="FF0000"/>
                </a:solidFill>
                <a:latin typeface="+mn-lt"/>
                <a:ea typeface="+mn-ea"/>
                <a:cs typeface="+mn-cs"/>
              </a:rPr>
              <a:t>Integration with SAP</a:t>
            </a:r>
            <a:r>
              <a:rPr lang="en-US" sz="1800" dirty="0">
                <a:solidFill>
                  <a:schemeClr val="tx1"/>
                </a:solidFill>
                <a:latin typeface="+mn-lt"/>
                <a:ea typeface="+mn-ea"/>
                <a:cs typeface="+mn-cs"/>
              </a:rPr>
              <a:t> - To send data through APIs provided by SAP to send these information for PWClaim, Service Quotation - </a:t>
            </a:r>
            <a:r>
              <a:rPr lang="en-US" sz="1800" b="1" dirty="0">
                <a:solidFill>
                  <a:schemeClr val="tx1"/>
                </a:solidFill>
                <a:latin typeface="+mn-lt"/>
                <a:ea typeface="+mn-ea"/>
                <a:cs typeface="+mn-cs"/>
              </a:rPr>
              <a:t>sent template for approval </a:t>
            </a:r>
            <a:r>
              <a:rPr lang="en-US" sz="1800" b="1" dirty="0">
                <a:solidFill>
                  <a:srgbClr val="7EC234"/>
                </a:solidFill>
                <a:latin typeface="+mn-lt"/>
                <a:ea typeface="+mn-ea"/>
                <a:cs typeface="+mn-cs"/>
                <a:sym typeface="+mn-ea"/>
              </a:rPr>
              <a:t>CIR-26</a:t>
            </a:r>
            <a:endParaRPr lang="en-US" sz="1800" dirty="0">
              <a:solidFill>
                <a:schemeClr val="tx1"/>
              </a:solidFill>
              <a:latin typeface="+mn-lt"/>
              <a:ea typeface="+mn-ea"/>
              <a:cs typeface="+mn-cs"/>
            </a:endParaRPr>
          </a:p>
          <a:p>
            <a:pPr marL="285750" indent="-285750" eaLnBrk="0" hangingPunct="0">
              <a:spcBef>
                <a:spcPct val="20000"/>
              </a:spcBef>
              <a:buFont typeface="Arial" panose="020B0604020202020204" pitchFamily="34" charset="0"/>
              <a:buChar char="•"/>
              <a:defRPr/>
            </a:pPr>
            <a:endParaRPr lang="en-US" sz="1800" dirty="0">
              <a:solidFill>
                <a:schemeClr val="tx1"/>
              </a:solidFill>
              <a:latin typeface="+mn-lt"/>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pPr>
              <a:defRPr/>
            </a:pPr>
            <a:fld id="{AF5F95BF-71FB-46E8-B930-71E44B5AFDE5}" type="datetime1">
              <a:rPr lang="en-GB"/>
            </a:fld>
            <a:endParaRPr lang="en-GB" dirty="0"/>
          </a:p>
        </p:txBody>
      </p:sp>
      <p:sp>
        <p:nvSpPr>
          <p:cNvPr id="4" name="Slide Number Placeholder 3"/>
          <p:cNvSpPr>
            <a:spLocks noGrp="1"/>
          </p:cNvSpPr>
          <p:nvPr>
            <p:ph type="sldNum" sz="quarter" idx="11"/>
          </p:nvPr>
        </p:nvSpPr>
        <p:spPr/>
        <p:txBody>
          <a:bodyPr/>
          <a:p>
            <a:pPr>
              <a:defRPr/>
            </a:pPr>
            <a:fld id="{2FE55862-935E-4A28-ACAD-49CD152E2AE3}" type="slidenum">
              <a:rPr lang="en-GB"/>
            </a:fld>
            <a:endParaRPr lang="en-GB" dirty="0"/>
          </a:p>
        </p:txBody>
      </p:sp>
      <p:sp>
        <p:nvSpPr>
          <p:cNvPr id="10" name="TextBox 4"/>
          <p:cNvSpPr txBox="1">
            <a:spLocks noChangeArrowheads="1"/>
          </p:cNvSpPr>
          <p:nvPr/>
        </p:nvSpPr>
        <p:spPr bwMode="auto">
          <a:xfrm>
            <a:off x="0" y="0"/>
            <a:ext cx="7143750" cy="1506855"/>
          </a:xfrm>
          <a:prstGeom prst="rect">
            <a:avLst/>
          </a:prstGeom>
          <a:noFill/>
          <a:ln w="9525">
            <a:noFill/>
            <a:miter lim="800000"/>
          </a:ln>
        </p:spPr>
        <p:txBody>
          <a:bodyPr>
            <a:spAutoFit/>
          </a:bodyPr>
          <a:p>
            <a:pPr>
              <a:defRPr/>
            </a:pPr>
            <a:r>
              <a:rPr lang="en-US" sz="3200" b="1" dirty="0">
                <a:solidFill>
                  <a:srgbClr val="6775FD"/>
                </a:solidFill>
                <a:latin typeface="+mj-lt"/>
              </a:rPr>
              <a:t>SSIPL - Pending</a:t>
            </a:r>
            <a:endParaRPr lang="en-US" sz="3200" b="1" dirty="0">
              <a:solidFill>
                <a:srgbClr val="6775FD"/>
              </a:solidFill>
              <a:latin typeface="+mj-lt"/>
            </a:endParaRPr>
          </a:p>
          <a:p>
            <a:pPr>
              <a:defRPr/>
            </a:pPr>
            <a:endParaRPr lang="en-US" sz="3200" b="1" dirty="0">
              <a:solidFill>
                <a:srgbClr val="FF6A47"/>
              </a:solidFill>
              <a:latin typeface="+mj-lt"/>
            </a:endParaRPr>
          </a:p>
          <a:p>
            <a:pPr>
              <a:defRPr/>
            </a:pPr>
            <a:endParaRPr lang="en-US" sz="2800" dirty="0">
              <a:solidFill>
                <a:srgbClr val="6775FD"/>
              </a:solidFill>
              <a:latin typeface="+mj-lt"/>
            </a:endParaRPr>
          </a:p>
        </p:txBody>
      </p:sp>
      <p:sp>
        <p:nvSpPr>
          <p:cNvPr id="7" name="Content Placeholder 6"/>
          <p:cNvSpPr txBox="1"/>
          <p:nvPr/>
        </p:nvSpPr>
        <p:spPr>
          <a:xfrm>
            <a:off x="457200" y="824865"/>
            <a:ext cx="8229600" cy="5360670"/>
          </a:xfrm>
          <a:prstGeom prst="rect">
            <a:avLst/>
          </a:prstGeom>
        </p:spPr>
        <p:txBody>
          <a:bodyPr/>
          <a:p>
            <a:pPr marL="285750" indent="-285750" eaLnBrk="0" hangingPunct="0">
              <a:spcBef>
                <a:spcPct val="20000"/>
              </a:spcBef>
              <a:buFont typeface="Arial" panose="020B0604020202020204" pitchFamily="34" charset="0"/>
              <a:buChar char="•"/>
              <a:defRPr/>
            </a:pPr>
            <a:r>
              <a:rPr lang="en-US" sz="1800" dirty="0">
                <a:solidFill>
                  <a:srgbClr val="FF0000"/>
                </a:solidFill>
                <a:latin typeface="+mn-lt"/>
                <a:ea typeface="+mn-ea"/>
                <a:cs typeface="+mn-cs"/>
              </a:rPr>
              <a:t>Integration with Salesforce</a:t>
            </a:r>
            <a:r>
              <a:rPr lang="en-US" sz="1800" dirty="0">
                <a:solidFill>
                  <a:schemeClr val="tx1"/>
                </a:solidFill>
                <a:latin typeface="+mn-lt"/>
                <a:ea typeface="+mn-ea"/>
                <a:cs typeface="+mn-cs"/>
              </a:rPr>
              <a:t> - Call creation workflow through call centre, branch coordinator, Customer App for sending sales related queries like PE, and SA - To send data through APIs provided by Salesforce to send these information - </a:t>
            </a:r>
            <a:r>
              <a:rPr lang="en-US" sz="1800" b="1" dirty="0">
                <a:solidFill>
                  <a:srgbClr val="7EC234"/>
                </a:solidFill>
                <a:latin typeface="+mn-lt"/>
                <a:ea typeface="+mn-ea"/>
                <a:cs typeface="+mn-cs"/>
              </a:rPr>
              <a:t>CIR-27</a:t>
            </a:r>
            <a:endParaRPr lang="en-US" sz="1800" dirty="0">
              <a:solidFill>
                <a:schemeClr val="tx1"/>
              </a:solidFill>
              <a:latin typeface="+mn-lt"/>
              <a:ea typeface="+mn-ea"/>
              <a:cs typeface="+mn-cs"/>
            </a:endParaRPr>
          </a:p>
          <a:p>
            <a:pPr marL="285750" indent="-285750" eaLnBrk="0" hangingPunct="0">
              <a:spcBef>
                <a:spcPct val="20000"/>
              </a:spcBef>
              <a:buFont typeface="Arial" panose="020B0604020202020204" pitchFamily="34" charset="0"/>
              <a:buChar char="•"/>
              <a:defRPr/>
            </a:pPr>
            <a:r>
              <a:rPr lang="en-US" sz="1800" dirty="0">
                <a:solidFill>
                  <a:srgbClr val="FF0000"/>
                </a:solidFill>
                <a:latin typeface="+mn-lt"/>
                <a:ea typeface="+mn-ea"/>
                <a:cs typeface="+mn-cs"/>
              </a:rPr>
              <a:t>Field report - split </a:t>
            </a:r>
            <a:r>
              <a:rPr lang="en-US" sz="1800" dirty="0">
                <a:solidFill>
                  <a:schemeClr val="tx1"/>
                </a:solidFill>
                <a:latin typeface="+mn-lt"/>
                <a:ea typeface="+mn-ea"/>
                <a:cs typeface="+mn-cs"/>
              </a:rPr>
              <a:t>- between customer and office use - To split a digital report into two different PDFs and send one to customer and file other under content store - To design/code separately as a script and put in task scheduler </a:t>
            </a:r>
            <a:r>
              <a:rPr lang="en-US" sz="1800" b="1" dirty="0">
                <a:solidFill>
                  <a:srgbClr val="7EC234"/>
                </a:solidFill>
                <a:latin typeface="+mn-lt"/>
                <a:ea typeface="+mn-ea"/>
                <a:cs typeface="+mn-cs"/>
                <a:sym typeface="+mn-ea"/>
              </a:rPr>
              <a:t>CIR-25</a:t>
            </a:r>
            <a:endParaRPr lang="en-US" sz="1800" dirty="0">
              <a:solidFill>
                <a:schemeClr val="tx1"/>
              </a:solidFill>
              <a:latin typeface="+mn-lt"/>
              <a:ea typeface="+mn-ea"/>
              <a:cs typeface="+mn-cs"/>
            </a:endParaRPr>
          </a:p>
          <a:p>
            <a:pPr marL="285750" indent="-285750" eaLnBrk="0" hangingPunct="0">
              <a:spcBef>
                <a:spcPct val="20000"/>
              </a:spcBef>
              <a:buFont typeface="Arial" panose="020B0604020202020204" pitchFamily="34" charset="0"/>
              <a:buChar char="•"/>
              <a:defRPr/>
            </a:pPr>
            <a:r>
              <a:rPr lang="en-US" sz="1800" dirty="0">
                <a:solidFill>
                  <a:srgbClr val="FF0000"/>
                </a:solidFill>
                <a:latin typeface="+mn-lt"/>
                <a:ea typeface="+mn-ea"/>
                <a:cs typeface="+mn-cs"/>
              </a:rPr>
              <a:t>Product specifc access for product managers</a:t>
            </a:r>
            <a:r>
              <a:rPr lang="en-US" sz="1800" dirty="0">
                <a:solidFill>
                  <a:schemeClr val="tx1"/>
                </a:solidFill>
                <a:latin typeface="+mn-lt"/>
                <a:ea typeface="+mn-ea"/>
                <a:cs typeface="+mn-cs"/>
              </a:rPr>
              <a:t> - Product Managers should be able to access only their calls/features - Few users should be designated as product managers for specific group of products and should have access only to the info related to their products - like calls, quotations, etc., - </a:t>
            </a:r>
            <a:r>
              <a:rPr lang="en-US" sz="1800" b="1" dirty="0">
                <a:solidFill>
                  <a:srgbClr val="7EC234"/>
                </a:solidFill>
                <a:latin typeface="+mn-lt"/>
                <a:ea typeface="+mn-ea"/>
                <a:cs typeface="+mn-cs"/>
                <a:sym typeface="+mn-ea"/>
              </a:rPr>
              <a:t>CIR-19</a:t>
            </a:r>
            <a:endParaRPr lang="en-US" sz="1800" dirty="0">
              <a:solidFill>
                <a:schemeClr val="tx1"/>
              </a:solidFill>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pPr>
              <a:defRPr/>
            </a:pPr>
            <a:fld id="{AF5F95BF-71FB-46E8-B930-71E44B5AFDE5}" type="datetime1">
              <a:rPr lang="en-GB"/>
            </a:fld>
            <a:endParaRPr lang="en-GB" dirty="0"/>
          </a:p>
        </p:txBody>
      </p:sp>
      <p:sp>
        <p:nvSpPr>
          <p:cNvPr id="4" name="Slide Number Placeholder 3"/>
          <p:cNvSpPr>
            <a:spLocks noGrp="1"/>
          </p:cNvSpPr>
          <p:nvPr>
            <p:ph type="sldNum" sz="quarter" idx="11"/>
          </p:nvPr>
        </p:nvSpPr>
        <p:spPr/>
        <p:txBody>
          <a:bodyPr/>
          <a:p>
            <a:pPr>
              <a:defRPr/>
            </a:pPr>
            <a:fld id="{2FE55862-935E-4A28-ACAD-49CD152E2AE3}" type="slidenum">
              <a:rPr lang="en-GB"/>
            </a:fld>
            <a:endParaRPr lang="en-GB" dirty="0"/>
          </a:p>
        </p:txBody>
      </p:sp>
      <p:sp>
        <p:nvSpPr>
          <p:cNvPr id="10" name="TextBox 4"/>
          <p:cNvSpPr txBox="1">
            <a:spLocks noChangeArrowheads="1"/>
          </p:cNvSpPr>
          <p:nvPr/>
        </p:nvSpPr>
        <p:spPr bwMode="auto">
          <a:xfrm>
            <a:off x="0" y="0"/>
            <a:ext cx="7143750" cy="1014730"/>
          </a:xfrm>
          <a:prstGeom prst="rect">
            <a:avLst/>
          </a:prstGeom>
          <a:noFill/>
          <a:ln w="9525">
            <a:noFill/>
            <a:miter lim="800000"/>
          </a:ln>
        </p:spPr>
        <p:txBody>
          <a:bodyPr>
            <a:spAutoFit/>
          </a:bodyPr>
          <a:p>
            <a:pPr>
              <a:defRPr/>
            </a:pPr>
            <a:r>
              <a:rPr lang="en-US" sz="3200" b="1" dirty="0">
                <a:solidFill>
                  <a:srgbClr val="6775FD"/>
                </a:solidFill>
                <a:latin typeface="+mj-lt"/>
              </a:rPr>
              <a:t>Work Flows: </a:t>
            </a:r>
            <a:endParaRPr lang="en-US" sz="3200" b="1" dirty="0">
              <a:solidFill>
                <a:srgbClr val="FF6A47"/>
              </a:solidFill>
              <a:latin typeface="+mj-lt"/>
            </a:endParaRPr>
          </a:p>
          <a:p>
            <a:pPr>
              <a:defRPr/>
            </a:pPr>
            <a:endParaRPr lang="en-US" sz="2800" dirty="0">
              <a:solidFill>
                <a:srgbClr val="6775FD"/>
              </a:solidFill>
              <a:latin typeface="+mj-lt"/>
            </a:endParaRPr>
          </a:p>
        </p:txBody>
      </p:sp>
      <p:sp>
        <p:nvSpPr>
          <p:cNvPr id="7" name="Content Placeholder 6"/>
          <p:cNvSpPr txBox="1"/>
          <p:nvPr/>
        </p:nvSpPr>
        <p:spPr>
          <a:xfrm>
            <a:off x="457200" y="998220"/>
            <a:ext cx="8229600" cy="5187315"/>
          </a:xfrm>
          <a:prstGeom prst="rect">
            <a:avLst/>
          </a:prstGeom>
        </p:spPr>
        <p:txBody>
          <a:bodyPr/>
          <a:p>
            <a:pPr marL="342900" indent="-342900" eaLnBrk="0" hangingPunct="0">
              <a:spcBef>
                <a:spcPct val="20000"/>
              </a:spcBef>
              <a:buFont typeface="Arial" panose="020B0604020202020204" pitchFamily="34" charset="0"/>
              <a:buChar char="•"/>
              <a:defRPr/>
            </a:pPr>
            <a:r>
              <a:rPr lang="en-US" sz="1600" dirty="0">
                <a:solidFill>
                  <a:srgbClr val="FF0000"/>
                </a:solidFill>
                <a:latin typeface="+mn-lt"/>
                <a:ea typeface="+mn-ea"/>
                <a:cs typeface="+mn-cs"/>
                <a:sym typeface="+mn-ea"/>
              </a:rPr>
              <a:t>Service Call: </a:t>
            </a:r>
            <a:r>
              <a:rPr lang="en-US" sz="1600" dirty="0">
                <a:latin typeface="+mn-lt"/>
                <a:ea typeface="+mn-ea"/>
                <a:cs typeface="+mn-cs"/>
                <a:sym typeface="+mn-ea"/>
              </a:rPr>
              <a:t>From call register -&gt;  Assigned - Assign / Reassign / Reject Call</a:t>
            </a:r>
            <a:endParaRPr lang="en-US" sz="1600" dirty="0">
              <a:latin typeface="+mn-lt"/>
              <a:ea typeface="+mn-ea"/>
              <a:cs typeface="+mn-cs"/>
              <a:sym typeface="+mn-ea"/>
            </a:endParaRPr>
          </a:p>
          <a:p>
            <a:pPr marL="342900" indent="-342900" eaLnBrk="0" hangingPunct="0">
              <a:spcBef>
                <a:spcPct val="20000"/>
              </a:spcBef>
              <a:buFont typeface="Arial" panose="020B0604020202020204" pitchFamily="34" charset="0"/>
              <a:buChar char="•"/>
              <a:defRPr/>
            </a:pPr>
            <a:r>
              <a:rPr lang="en-US" sz="1600" dirty="0">
                <a:latin typeface="+mn-lt"/>
                <a:ea typeface="+mn-ea"/>
                <a:cs typeface="+mn-cs"/>
                <a:sym typeface="+mn-ea"/>
              </a:rPr>
              <a:t> -&gt; TripStart -&gt; Call Start -&gt; Call Finish -&gt; Trip Finish  -&gt; Call Finish   -&gt; Trip Start  -&gt; Trip Finish  -&gt;  Call Complete  (Reports - Attached)</a:t>
            </a:r>
            <a:endParaRPr lang="en-US" sz="1600" dirty="0">
              <a:latin typeface="+mn-lt"/>
              <a:ea typeface="+mn-ea"/>
              <a:cs typeface="+mn-cs"/>
              <a:sym typeface="+mn-ea"/>
            </a:endParaRPr>
          </a:p>
          <a:p>
            <a:pPr marL="342900" indent="-342900" eaLnBrk="0" hangingPunct="0">
              <a:spcBef>
                <a:spcPct val="20000"/>
              </a:spcBef>
              <a:buFont typeface="Arial" panose="020B0604020202020204" pitchFamily="34" charset="0"/>
              <a:buChar char="•"/>
              <a:defRPr/>
            </a:pPr>
            <a:r>
              <a:rPr lang="en-US" sz="1600" dirty="0">
                <a:solidFill>
                  <a:srgbClr val="FF0000"/>
                </a:solidFill>
                <a:latin typeface="+mn-lt"/>
                <a:ea typeface="+mn-ea"/>
                <a:cs typeface="+mn-cs"/>
                <a:sym typeface="+mn-ea"/>
              </a:rPr>
              <a:t>Service Quotation: </a:t>
            </a:r>
            <a:r>
              <a:rPr lang="en-US" sz="1600" dirty="0">
                <a:latin typeface="+mn-lt"/>
                <a:ea typeface="+mn-ea"/>
                <a:cs typeface="+mn-cs"/>
                <a:sym typeface="+mn-ea"/>
              </a:rPr>
              <a:t>From call register -&gt; Generate Quotation -&gt; Edit Quotation and submit details -&gt; Submit for Approval -&gt; Approve -&gt; Customer Approved (or) Customer Rejected</a:t>
            </a:r>
            <a:endParaRPr lang="en-US" sz="1600" dirty="0">
              <a:latin typeface="+mn-lt"/>
              <a:ea typeface="+mn-ea"/>
              <a:cs typeface="+mn-cs"/>
              <a:sym typeface="+mn-ea"/>
            </a:endParaRPr>
          </a:p>
          <a:p>
            <a:pPr marL="342900" indent="-342900" eaLnBrk="0" hangingPunct="0">
              <a:spcBef>
                <a:spcPct val="20000"/>
              </a:spcBef>
              <a:buFont typeface="Arial" panose="020B0604020202020204" pitchFamily="34" charset="0"/>
              <a:buChar char="•"/>
              <a:defRPr/>
            </a:pPr>
            <a:r>
              <a:rPr lang="en-US" sz="1600" dirty="0">
                <a:latin typeface="+mn-lt"/>
                <a:ea typeface="+mn-ea"/>
                <a:cs typeface="+mn-cs"/>
                <a:sym typeface="+mn-ea"/>
              </a:rPr>
              <a:t>Parts Warranty Flow</a:t>
            </a:r>
            <a:endParaRPr lang="en-US" sz="16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600" dirty="0">
                <a:latin typeface="+mn-lt"/>
                <a:ea typeface="+mn-ea"/>
                <a:cs typeface="+mn-cs"/>
                <a:sym typeface="+mn-ea"/>
              </a:rPr>
              <a:t>Visit Management Flow</a:t>
            </a:r>
            <a:endParaRPr lang="en-US" sz="16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600" dirty="0">
                <a:latin typeface="+mn-lt"/>
                <a:ea typeface="+mn-ea"/>
                <a:cs typeface="+mn-cs"/>
                <a:sym typeface="+mn-ea"/>
              </a:rPr>
              <a:t>Parts Enquiry Flow	</a:t>
            </a:r>
            <a:endParaRPr lang="en-US" sz="16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600" dirty="0">
                <a:latin typeface="+mn-lt"/>
                <a:ea typeface="+mn-ea"/>
                <a:cs typeface="+mn-cs"/>
                <a:sym typeface="+mn-ea"/>
              </a:rPr>
              <a:t>Equipment Enquiry Flow</a:t>
            </a:r>
            <a:endParaRPr lang="en-US" sz="1600" dirty="0">
              <a:latin typeface="+mn-lt"/>
              <a:ea typeface="+mn-ea"/>
              <a:cs typeface="+mn-cs"/>
              <a:sym typeface="+mn-ea"/>
            </a:endParaRPr>
          </a:p>
          <a:p>
            <a:pPr marL="342900" indent="-342900" eaLnBrk="0" hangingPunct="0">
              <a:spcBef>
                <a:spcPct val="20000"/>
              </a:spcBef>
              <a:buFont typeface="Arial" panose="020B0604020202020204" pitchFamily="34" charset="0"/>
              <a:buChar char="•"/>
              <a:defRPr/>
            </a:pPr>
            <a:r>
              <a:rPr lang="en-US" sz="1600" dirty="0">
                <a:latin typeface="+mn-lt"/>
                <a:ea typeface="+mn-ea"/>
                <a:cs typeface="+mn-cs"/>
                <a:sym typeface="+mn-ea"/>
              </a:rPr>
              <a:t>Service Customer Order - Review -&gt; Approve -&gt; Order Acknowledged -&gt;  Invoice Generation (Partial/Fully)  -&gt;</a:t>
            </a:r>
            <a:endParaRPr lang="en-US" sz="1600" dirty="0">
              <a:latin typeface="+mn-lt"/>
              <a:ea typeface="+mn-ea"/>
              <a:cs typeface="+mn-cs"/>
            </a:endParaRPr>
          </a:p>
          <a:p>
            <a:pPr marL="342900" indent="-342900" eaLnBrk="0" hangingPunct="0">
              <a:spcBef>
                <a:spcPct val="20000"/>
              </a:spcBef>
              <a:buFont typeface="Arial" panose="020B0604020202020204" pitchFamily="34" charset="0"/>
              <a:buChar char="•"/>
              <a:defRPr/>
            </a:pPr>
            <a:r>
              <a:rPr lang="en-US" sz="1600" dirty="0">
                <a:latin typeface="+mn-lt"/>
                <a:ea typeface="+mn-ea"/>
                <a:cs typeface="+mn-cs"/>
                <a:sym typeface="+mn-ea"/>
              </a:rPr>
              <a:t>Anciliary Flows:</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sym typeface="+mn-ea"/>
              </a:rPr>
              <a:t>Competition PPT - CP	</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sym typeface="+mn-ea"/>
              </a:rPr>
              <a:t>Engineering Change Request - ECR</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sym typeface="+mn-ea"/>
              </a:rPr>
              <a:t>General Feedback - EQ	</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sym typeface="+mn-ea"/>
              </a:rPr>
              <a:t>Spare Parts Enquiry - PE</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sym typeface="+mn-ea"/>
              </a:rPr>
              <a:t>Project Performance Report - PPR</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sym typeface="+mn-ea"/>
              </a:rPr>
              <a:t>Query - QU</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sym typeface="+mn-ea"/>
              </a:rPr>
              <a:t>Quality Issue - QUA</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sym typeface="+mn-ea"/>
              </a:rPr>
              <a:t>New Equipment Enquiry - SA</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sym typeface="+mn-ea"/>
              </a:rPr>
              <a:t>Service Centre - SC	</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sym typeface="+mn-ea"/>
              </a:rPr>
              <a:t>Training - TR</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sym typeface="+mn-ea"/>
              </a:rPr>
              <a:t>Training Tasks - TT</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sym typeface="+mn-ea"/>
              </a:rPr>
              <a:t>Visit - VI</a:t>
            </a:r>
            <a:endParaRPr lang="en-US" sz="1600" dirty="0">
              <a:latin typeface="+mn-lt"/>
              <a:ea typeface="+mn-ea"/>
              <a:cs typeface="+mn-cs"/>
            </a:endParaRPr>
          </a:p>
          <a:p>
            <a:pPr lvl="1" indent="0" eaLnBrk="0" hangingPunct="0">
              <a:spcBef>
                <a:spcPct val="20000"/>
              </a:spcBef>
              <a:buFont typeface="Arial" panose="020B0604020202020204" pitchFamily="34" charset="0"/>
              <a:buNone/>
              <a:defRPr/>
            </a:pP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endParaRPr lang="en-US" sz="1600" dirty="0">
              <a:latin typeface="+mn-lt"/>
              <a:ea typeface="+mn-ea"/>
              <a:cs typeface="+mn-cs"/>
            </a:endParaRPr>
          </a:p>
          <a:p>
            <a:pPr marL="342900" indent="-342900" eaLnBrk="0" hangingPunct="0">
              <a:spcBef>
                <a:spcPct val="20000"/>
              </a:spcBef>
              <a:buFont typeface="Arial" panose="020B0604020202020204" pitchFamily="34" charset="0"/>
              <a:buChar char="•"/>
              <a:defRPr/>
            </a:pPr>
            <a:endParaRPr lang="en-US" sz="1600" dirty="0">
              <a:latin typeface="+mn-lt"/>
              <a:ea typeface="+mn-ea"/>
              <a:cs typeface="+mn-cs"/>
              <a:sym typeface="+mn-ea"/>
            </a:endParaRPr>
          </a:p>
          <a:p>
            <a:pPr marL="342900" indent="-342900" eaLnBrk="0" hangingPunct="0">
              <a:spcBef>
                <a:spcPct val="20000"/>
              </a:spcBef>
              <a:buFont typeface="Arial" panose="020B0604020202020204" pitchFamily="34" charset="0"/>
              <a:buChar char="•"/>
              <a:defRPr/>
            </a:pPr>
            <a:endParaRPr lang="en-US" sz="1600" dirty="0">
              <a:solidFill>
                <a:srgbClr val="FF0000"/>
              </a:solidFill>
              <a:latin typeface="+mn-lt"/>
              <a:ea typeface="+mn-ea"/>
              <a:cs typeface="+mn-cs"/>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pPr>
              <a:defRPr/>
            </a:pPr>
            <a:fld id="{AF5F95BF-71FB-46E8-B930-71E44B5AFDE5}" type="datetime1">
              <a:rPr lang="en-GB"/>
            </a:fld>
            <a:endParaRPr lang="en-GB" dirty="0"/>
          </a:p>
        </p:txBody>
      </p:sp>
      <p:sp>
        <p:nvSpPr>
          <p:cNvPr id="4" name="Slide Number Placeholder 3"/>
          <p:cNvSpPr>
            <a:spLocks noGrp="1"/>
          </p:cNvSpPr>
          <p:nvPr>
            <p:ph type="sldNum" sz="quarter" idx="11"/>
          </p:nvPr>
        </p:nvSpPr>
        <p:spPr/>
        <p:txBody>
          <a:bodyPr/>
          <a:p>
            <a:pPr>
              <a:defRPr/>
            </a:pPr>
            <a:fld id="{2FE55862-935E-4A28-ACAD-49CD152E2AE3}" type="slidenum">
              <a:rPr lang="en-GB"/>
            </a:fld>
            <a:endParaRPr lang="en-GB" dirty="0"/>
          </a:p>
        </p:txBody>
      </p:sp>
      <p:sp>
        <p:nvSpPr>
          <p:cNvPr id="10" name="TextBox 4"/>
          <p:cNvSpPr txBox="1">
            <a:spLocks noChangeArrowheads="1"/>
          </p:cNvSpPr>
          <p:nvPr/>
        </p:nvSpPr>
        <p:spPr bwMode="auto">
          <a:xfrm>
            <a:off x="0" y="0"/>
            <a:ext cx="7143750" cy="1014730"/>
          </a:xfrm>
          <a:prstGeom prst="rect">
            <a:avLst/>
          </a:prstGeom>
          <a:noFill/>
          <a:ln w="9525">
            <a:noFill/>
            <a:miter lim="800000"/>
          </a:ln>
        </p:spPr>
        <p:txBody>
          <a:bodyPr>
            <a:spAutoFit/>
          </a:bodyPr>
          <a:p>
            <a:pPr>
              <a:defRPr/>
            </a:pPr>
            <a:r>
              <a:rPr lang="en-US" sz="3200" b="1" dirty="0">
                <a:solidFill>
                  <a:srgbClr val="6775FD"/>
                </a:solidFill>
                <a:latin typeface="+mj-lt"/>
              </a:rPr>
              <a:t>Work Flows: </a:t>
            </a:r>
            <a:r>
              <a:rPr lang="en-US" sz="3200" b="1" dirty="0">
                <a:solidFill>
                  <a:srgbClr val="FF6A47"/>
                </a:solidFill>
                <a:latin typeface="+mj-lt"/>
              </a:rPr>
              <a:t>Service Call Flow</a:t>
            </a:r>
            <a:endParaRPr lang="en-US" sz="3200" b="1" dirty="0">
              <a:solidFill>
                <a:srgbClr val="FF6A47"/>
              </a:solidFill>
              <a:latin typeface="+mj-lt"/>
            </a:endParaRPr>
          </a:p>
          <a:p>
            <a:pPr>
              <a:defRPr/>
            </a:pPr>
            <a:endParaRPr lang="en-US" sz="2800" dirty="0">
              <a:solidFill>
                <a:srgbClr val="6775FD"/>
              </a:solidFill>
              <a:latin typeface="+mj-lt"/>
            </a:endParaRPr>
          </a:p>
        </p:txBody>
      </p:sp>
      <p:sp>
        <p:nvSpPr>
          <p:cNvPr id="7" name="Content Placeholder 6"/>
          <p:cNvSpPr txBox="1"/>
          <p:nvPr/>
        </p:nvSpPr>
        <p:spPr>
          <a:xfrm>
            <a:off x="457200" y="998220"/>
            <a:ext cx="8229600" cy="5187315"/>
          </a:xfrm>
          <a:prstGeom prst="rect">
            <a:avLst/>
          </a:prstGeom>
        </p:spPr>
        <p:txBody>
          <a:bodyPr/>
          <a:p>
            <a:pPr marL="342900" indent="-342900" eaLnBrk="0" hangingPunct="0">
              <a:spcBef>
                <a:spcPct val="20000"/>
              </a:spcBef>
              <a:buFont typeface="Arial" panose="020B0604020202020204" pitchFamily="34" charset="0"/>
              <a:buChar char="•"/>
              <a:defRPr/>
            </a:pPr>
            <a:r>
              <a:rPr lang="en-US" sz="1600" dirty="0">
                <a:latin typeface="+mn-lt"/>
                <a:ea typeface="+mn-ea"/>
                <a:cs typeface="+mn-cs"/>
              </a:rPr>
              <a:t>Call Types: </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rPr>
              <a:t>New ERE &amp; Comm  - COMM : New Commissioned Equipment</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rPr>
              <a:t>AMC - CTAMC </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rPr>
              <a:t>CAMC - CTCAMC</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rPr>
              <a:t>OMC - CTOMC</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rPr>
              <a:t>PSA - CTPSA</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rPr>
              <a:t>EXTENDED WWARRANTY - EXTWTY</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rPr>
              <a:t>Foreclosure - FCLOSURE</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rPr>
              <a:t>Non Warranty Chargeable - NWTYCHG</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rPr>
              <a:t>Non Warranty Mrk  GoodWill - NWTYMKTGW</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rPr>
              <a:t>Non Warranty Others GoodWill - NWTYOTHGW</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rPr>
              <a:t>Non Warranty Package - NWTYPKG</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rPr>
              <a:t>RCP ERE &amp; COMM - RCPCOMM</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rPr>
              <a:t>Warranty Breakdown - WTYBDWN</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rPr>
              <a:t>Warranty Chargeable - WTYCHG</a:t>
            </a:r>
            <a:endParaRPr lang="en-US" sz="1600" dirty="0">
              <a:latin typeface="+mn-lt"/>
              <a:ea typeface="+mn-ea"/>
              <a:cs typeface="+mn-cs"/>
            </a:endParaRPr>
          </a:p>
          <a:p>
            <a:pPr marL="800100" lvl="1" indent="-342900" eaLnBrk="0" hangingPunct="0">
              <a:spcBef>
                <a:spcPct val="20000"/>
              </a:spcBef>
              <a:buFont typeface="Arial" panose="020B0604020202020204" pitchFamily="34" charset="0"/>
              <a:buChar char="•"/>
              <a:defRPr/>
            </a:pPr>
            <a:r>
              <a:rPr lang="en-US" sz="1600" dirty="0">
                <a:latin typeface="+mn-lt"/>
                <a:ea typeface="+mn-ea"/>
                <a:cs typeface="+mn-cs"/>
              </a:rPr>
              <a:t>Warranty General - WTYGEN</a:t>
            </a:r>
            <a:endParaRPr lang="en-US" sz="1600" dirty="0">
              <a:latin typeface="+mn-lt"/>
              <a:ea typeface="+mn-ea"/>
              <a:cs typeface="+mn-cs"/>
            </a:endParaRPr>
          </a:p>
          <a:p>
            <a:pPr lvl="1" indent="0" eaLnBrk="0" hangingPunct="0">
              <a:spcBef>
                <a:spcPct val="20000"/>
              </a:spcBef>
              <a:buFont typeface="Arial" panose="020B0604020202020204" pitchFamily="34" charset="0"/>
              <a:buNone/>
              <a:defRPr/>
            </a:pPr>
            <a:r>
              <a:rPr lang="en-US" sz="1600" dirty="0">
                <a:solidFill>
                  <a:srgbClr val="FF0000"/>
                </a:solidFill>
                <a:latin typeface="+mn-lt"/>
                <a:ea typeface="+mn-ea"/>
                <a:cs typeface="+mn-cs"/>
              </a:rPr>
              <a:t>Note: </a:t>
            </a:r>
            <a:r>
              <a:rPr lang="en-US" sz="1600" dirty="0">
                <a:solidFill>
                  <a:srgbClr val="FF0000"/>
                </a:solidFill>
                <a:latin typeface="+mn-lt"/>
                <a:ea typeface="+mn-ea"/>
                <a:cs typeface="+mn-cs"/>
                <a:sym typeface="+mn-ea"/>
              </a:rPr>
              <a:t>Warranty based call types are not yet been used</a:t>
            </a:r>
            <a:endParaRPr lang="en-US" sz="1600" dirty="0">
              <a:solidFill>
                <a:srgbClr val="FF0000"/>
              </a:solidFill>
              <a:latin typeface="+mn-lt"/>
              <a:ea typeface="+mn-ea"/>
              <a:cs typeface="+mn-cs"/>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Date Placeholder 1"/>
          <p:cNvSpPr>
            <a:spLocks noGrp="1"/>
          </p:cNvSpPr>
          <p:nvPr>
            <p:ph type="dt" sz="half" idx="10"/>
          </p:nvPr>
        </p:nvSpPr>
        <p:spPr/>
        <p:txBody>
          <a:bodyPr/>
          <a:p>
            <a:pPr>
              <a:defRPr/>
            </a:pPr>
            <a:fld id="{AF5F95BF-71FB-46E8-B930-71E44B5AFDE5}" type="datetime1">
              <a:rPr lang="en-GB"/>
            </a:fld>
            <a:endParaRPr lang="en-GB" dirty="0"/>
          </a:p>
        </p:txBody>
      </p:sp>
      <p:sp>
        <p:nvSpPr>
          <p:cNvPr id="3" name="Footer Placeholder 2"/>
          <p:cNvSpPr>
            <a:spLocks noGrp="1"/>
          </p:cNvSpPr>
          <p:nvPr>
            <p:ph type="ftr" sz="quarter" idx="11"/>
          </p:nvPr>
        </p:nvSpPr>
        <p:spPr/>
        <p:txBody>
          <a:bodyPr/>
          <a:p>
            <a:pPr>
              <a:defRPr/>
            </a:pPr>
            <a:r>
              <a:rPr lang="en-US"/>
              <a:t>Confidential to Selfservit, TVS &amp; Sons</a:t>
            </a:r>
            <a:endParaRPr lang="en-US"/>
          </a:p>
        </p:txBody>
      </p:sp>
      <p:sp>
        <p:nvSpPr>
          <p:cNvPr id="4" name="Slide Number Placeholder 3"/>
          <p:cNvSpPr>
            <a:spLocks noGrp="1"/>
          </p:cNvSpPr>
          <p:nvPr>
            <p:ph type="sldNum" sz="quarter" idx="12"/>
          </p:nvPr>
        </p:nvSpPr>
        <p:spPr/>
        <p:txBody>
          <a:bodyPr/>
          <a:p>
            <a:pPr>
              <a:defRPr/>
            </a:pPr>
            <a:fld id="{2FE55862-935E-4A28-ACAD-49CD152E2AE3}" type="slidenum">
              <a:rPr lang="en-GB"/>
            </a:fld>
            <a:endParaRPr lang="en-GB" dirty="0"/>
          </a:p>
        </p:txBody>
      </p:sp>
      <p:sp>
        <p:nvSpPr>
          <p:cNvPr id="5" name="Text Box 4"/>
          <p:cNvSpPr txBox="1"/>
          <p:nvPr/>
        </p:nvSpPr>
        <p:spPr>
          <a:xfrm>
            <a:off x="1407160" y="3256915"/>
            <a:ext cx="5941695" cy="645160"/>
          </a:xfrm>
          <a:prstGeom prst="rect">
            <a:avLst/>
          </a:prstGeom>
          <a:noFill/>
        </p:spPr>
        <p:txBody>
          <a:bodyPr wrap="square" rtlCol="0">
            <a:spAutoFit/>
          </a:bodyPr>
          <a:p>
            <a:pPr algn="ctr"/>
            <a:r>
              <a:rPr lang="en-US" sz="3600">
                <a:solidFill>
                  <a:schemeClr val="tx1"/>
                </a:solidFill>
                <a:effectLst>
                  <a:outerShdw blurRad="38100" dist="19050" dir="2700000" algn="tl" rotWithShape="0">
                    <a:schemeClr val="dk1">
                      <a:alpha val="40000"/>
                    </a:schemeClr>
                  </a:outerShdw>
                </a:effectLst>
                <a:latin typeface="Arial Black" panose="020B0A04020102020204" charset="0"/>
                <a:cs typeface="Arial Black" panose="020B0A04020102020204" charset="0"/>
              </a:rPr>
              <a:t>THANK YOU</a:t>
            </a:r>
            <a:endParaRPr lang="en-US" sz="3600">
              <a:solidFill>
                <a:schemeClr val="tx1"/>
              </a:solidFill>
              <a:effectLst>
                <a:outerShdw blurRad="38100" dist="19050" dir="2700000" algn="tl" rotWithShape="0">
                  <a:schemeClr val="dk1">
                    <a:alpha val="40000"/>
                  </a:schemeClr>
                </a:outerShdw>
              </a:effectLst>
              <a:latin typeface="Arial Black" panose="020B0A04020102020204" charset="0"/>
              <a:cs typeface="Arial Black" panose="020B0A04020102020204" charset="0"/>
            </a:endParaRPr>
          </a:p>
        </p:txBody>
      </p:sp>
    </p:spTree>
  </p:cSld>
  <p:clrMapOvr>
    <a:masterClrMapping/>
  </p:clrMapOvr>
</p:sld>
</file>

<file path=ppt/theme/theme1.xml><?xml version="1.0" encoding="utf-8"?>
<a:theme xmlns:a="http://schemas.openxmlformats.org/drawingml/2006/main" name="Proposal to Jayaraj Automobiles - MService - 26.Dec.1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Proposal to Jayaraj Automobiles - MService - 26.Dec.12</Template>
  <TotalTime>0</TotalTime>
  <Words>9024</Words>
  <Application>WPS Presentation</Application>
  <PresentationFormat>On-screen Show (4:3)</PresentationFormat>
  <Paragraphs>364</Paragraphs>
  <Slides>17</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17</vt:i4>
      </vt:variant>
    </vt:vector>
  </HeadingPairs>
  <TitlesOfParts>
    <vt:vector size="28" baseType="lpstr">
      <vt:lpstr>Arial</vt:lpstr>
      <vt:lpstr>SimSun</vt:lpstr>
      <vt:lpstr>Wingdings</vt:lpstr>
      <vt:lpstr>Arial Unicode MS</vt:lpstr>
      <vt:lpstr>Calibri</vt:lpstr>
      <vt:lpstr>Wingdings</vt:lpstr>
      <vt:lpstr>Arial Black</vt:lpstr>
      <vt:lpstr>Microsoft YaHei</vt:lpstr>
      <vt:lpstr>Arial Unicode MS</vt:lpstr>
      <vt:lpstr>Calibri</vt:lpstr>
      <vt:lpstr>Proposal to Jayaraj Automobiles - MService - 26.Dec.12</vt:lpstr>
      <vt:lpstr>  </vt:lpstr>
      <vt:lpstr>Branches, Dealers &amp; CUSTOMERS SERVICE &amp; EQUIPMENT MAINTENACE &amp; management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Acer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MService</dc:title>
  <dc:creator>Chak</dc:creator>
  <dc:subject>Overview</dc:subject>
  <cp:lastModifiedBy>Admin</cp:lastModifiedBy>
  <cp:revision>837</cp:revision>
  <dcterms:created xsi:type="dcterms:W3CDTF">2012-12-26T12:58:00Z</dcterms:created>
  <dcterms:modified xsi:type="dcterms:W3CDTF">2021-04-07T10:07:07Z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1033-11.2.0.10078</vt:lpwstr>
  </property>
</Properties>
</file>