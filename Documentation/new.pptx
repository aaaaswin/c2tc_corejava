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"/>
  </p:notesMasterIdLst>
  <p:sldIdLst>
    <p:sldId id="763" r:id="rId5"/>
    <p:sldId id="314" r:id="rId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9D4EA-EB0C-5C05-EC0F-92739EDDF123}" v="1" dt="2025-08-29T04:45:33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>
        <p:guide orient="horz" pos="2880"/>
        <p:guide pos="21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A0CF0-952E-4A55-ADC5-7CF556879365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B2594-525F-45A3-8401-F707257DDA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697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57200" y="6172200"/>
            <a:ext cx="8229600" cy="1270"/>
          </a:xfrm>
          <a:custGeom>
            <a:avLst/>
            <a:gdLst/>
            <a:ahLst/>
            <a:cxnLst/>
            <a:rect l="l" t="t" r="r" b="b"/>
            <a:pathLst>
              <a:path w="8229600" h="1270">
                <a:moveTo>
                  <a:pt x="0" y="0"/>
                </a:moveTo>
                <a:lnTo>
                  <a:pt x="8229600" y="12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62800" y="0"/>
            <a:ext cx="1981200" cy="5394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56787" y="1742389"/>
            <a:ext cx="163042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112266"/>
            <a:ext cx="6724650" cy="4618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6854" y="6490623"/>
            <a:ext cx="77787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15"/>
              <a:t>24/02/2024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8095" y="6393726"/>
            <a:ext cx="241300" cy="241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service.in/" TargetMode="External"/><Relationship Id="rId2" Type="http://schemas.openxmlformats.org/officeDocument/2006/relationships/hyperlink" Target="http://www.selfservi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72C148-579D-1CF8-458B-4D9BA991BDD1}"/>
              </a:ext>
            </a:extLst>
          </p:cNvPr>
          <p:cNvSpPr/>
          <p:nvPr/>
        </p:nvSpPr>
        <p:spPr>
          <a:xfrm>
            <a:off x="278219" y="2162767"/>
            <a:ext cx="2806996" cy="170231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100" dirty="0"/>
              <a:t>If part required for Vendor Claim- For critical issues (irrespective part required or not, and irrespective whether claimable or not)- If Failed Part is required (only when failed part is received and QA acknowledged)System should generate different SWP for different suppliers (as per FPR)All SWP will be assigned to CQA first</a:t>
            </a:r>
            <a:endParaRPr lang="en-AE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E0A4D9-A6C7-1233-DEEC-DAAF51A50F69}"/>
              </a:ext>
            </a:extLst>
          </p:cNvPr>
          <p:cNvSpPr/>
          <p:nvPr/>
        </p:nvSpPr>
        <p:spPr>
          <a:xfrm>
            <a:off x="3432544" y="1434841"/>
            <a:ext cx="2404731" cy="138223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100" dirty="0"/>
              <a:t>Attach analysis report- Mention Failure Type (textbox)- Mention Failure Reason (textbox)- Mention Type of Claim (Standard/Goodwill dropdown)- Mark as claimable or not claimable- Enter Comments Assign SWP to SCM</a:t>
            </a:r>
            <a:endParaRPr lang="en-AE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F546D7-F6C9-1BD2-3507-940B9FEDD7C3}"/>
              </a:ext>
            </a:extLst>
          </p:cNvPr>
          <p:cNvSpPr/>
          <p:nvPr/>
        </p:nvSpPr>
        <p:spPr>
          <a:xfrm>
            <a:off x="6482315" y="3784638"/>
            <a:ext cx="2158410" cy="9144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100" dirty="0"/>
              <a:t>Prepare &amp; Attach analysis report- Approve/Reject/Return Claim (CQA analysis report viewable)Assign SWP to Supplier Finance Dept</a:t>
            </a:r>
            <a:endParaRPr lang="en-AE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E12B40-2A02-C0E8-434A-238D57074827}"/>
              </a:ext>
            </a:extLst>
          </p:cNvPr>
          <p:cNvSpPr/>
          <p:nvPr/>
        </p:nvSpPr>
        <p:spPr>
          <a:xfrm>
            <a:off x="6299790" y="1274799"/>
            <a:ext cx="2523461" cy="164804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100" dirty="0"/>
              <a:t>Review claim (CQA report viewable)- Fill </a:t>
            </a:r>
            <a:r>
              <a:rPr lang="en-US" sz="1100" dirty="0" err="1"/>
              <a:t>Despatch</a:t>
            </a:r>
            <a:r>
              <a:rPr lang="en-US" sz="1100" dirty="0"/>
              <a:t> details (optional)- Enter Claim reference (if vendor portal available)- Enter quality reporting site ref (if available)- Submit Claim System auto-generates PCA ticket (if severity = critical in FPR → assign to Supplier QA/R&amp;D Dept)After submission, flow splits into </a:t>
            </a:r>
            <a:r>
              <a:rPr lang="en-US" sz="1100" b="1" dirty="0"/>
              <a:t>SWP Flow</a:t>
            </a:r>
            <a:r>
              <a:rPr lang="en-US" sz="1100" dirty="0"/>
              <a:t> &amp; </a:t>
            </a:r>
            <a:r>
              <a:rPr lang="en-US" sz="1100" b="1" dirty="0"/>
              <a:t>PCA Flow</a:t>
            </a:r>
            <a:endParaRPr lang="en-AE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23A94-9D89-C4CE-B098-BB3097A7EFA2}"/>
              </a:ext>
            </a:extLst>
          </p:cNvPr>
          <p:cNvSpPr/>
          <p:nvPr/>
        </p:nvSpPr>
        <p:spPr>
          <a:xfrm>
            <a:off x="497959" y="5560832"/>
            <a:ext cx="2158410" cy="9144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Confirm Permanent Action/Return- Issue &amp; Attach ECN- Confirm Permanent Closure</a:t>
            </a:r>
            <a:endParaRPr lang="en-AE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F34CE3-8F7D-1208-DFD2-BF4E2B61CBFD}"/>
              </a:ext>
            </a:extLst>
          </p:cNvPr>
          <p:cNvSpPr/>
          <p:nvPr/>
        </p:nvSpPr>
        <p:spPr>
          <a:xfrm>
            <a:off x="3678421" y="3746319"/>
            <a:ext cx="2158410" cy="9144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100" dirty="0"/>
              <a:t>PCA ticket assigned- Take action for Permanent Solution (textbox)- Attach Report- Do Permanent Closure Initiated After closure, PCA ticket auto-assigned to CQA</a:t>
            </a:r>
            <a:endParaRPr lang="en-AE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9F1F6E-A1B3-5A47-3A16-3638A7FC8270}"/>
              </a:ext>
            </a:extLst>
          </p:cNvPr>
          <p:cNvSpPr/>
          <p:nvPr/>
        </p:nvSpPr>
        <p:spPr>
          <a:xfrm>
            <a:off x="6664841" y="5499277"/>
            <a:ext cx="2158410" cy="76554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100" dirty="0"/>
              <a:t>Make Payment &amp; enter payment details- Do Financial </a:t>
            </a:r>
            <a:r>
              <a:rPr lang="en-US" sz="1100"/>
              <a:t>Closure Initiated Assign </a:t>
            </a:r>
            <a:r>
              <a:rPr lang="en-US" sz="1100" dirty="0"/>
              <a:t>SWP to </a:t>
            </a:r>
            <a:r>
              <a:rPr lang="en-US" sz="1100" dirty="0" err="1"/>
              <a:t>Liugong</a:t>
            </a:r>
            <a:r>
              <a:rPr lang="en-US" sz="1100" dirty="0"/>
              <a:t> Finance Dept</a:t>
            </a:r>
            <a:endParaRPr lang="en-AE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A03A25-CA09-5785-160B-FF2875E21C3D}"/>
              </a:ext>
            </a:extLst>
          </p:cNvPr>
          <p:cNvSpPr/>
          <p:nvPr/>
        </p:nvSpPr>
        <p:spPr>
          <a:xfrm>
            <a:off x="3764811" y="5560831"/>
            <a:ext cx="1897912" cy="76554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100" dirty="0"/>
              <a:t>Do Payment Confirmation (textbox)- Do Final Financial Closure</a:t>
            </a:r>
            <a:endParaRPr lang="en-AE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9BE963-28DA-14A2-09A8-192FE7BF407F}"/>
              </a:ext>
            </a:extLst>
          </p:cNvPr>
          <p:cNvSpPr txBox="1"/>
          <p:nvPr/>
        </p:nvSpPr>
        <p:spPr>
          <a:xfrm>
            <a:off x="320749" y="1575602"/>
            <a:ext cx="3111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SWP to be generated in following conditions</a:t>
            </a:r>
            <a:endParaRPr lang="en-AE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5FD790-2790-0CBA-B582-345B4123263C}"/>
              </a:ext>
            </a:extLst>
          </p:cNvPr>
          <p:cNvSpPr txBox="1"/>
          <p:nvPr/>
        </p:nvSpPr>
        <p:spPr>
          <a:xfrm>
            <a:off x="3833037" y="942398"/>
            <a:ext cx="17614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CQA</a:t>
            </a:r>
            <a:r>
              <a:rPr lang="en-US" sz="1200" b="1" dirty="0"/>
              <a:t> (Customer Quality Assurance Dept)</a:t>
            </a:r>
            <a:endParaRPr lang="en-AE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AD2EA8-DA6B-855F-7A50-8BB1363C464F}"/>
              </a:ext>
            </a:extLst>
          </p:cNvPr>
          <p:cNvSpPr txBox="1"/>
          <p:nvPr/>
        </p:nvSpPr>
        <p:spPr>
          <a:xfrm>
            <a:off x="5963978" y="944073"/>
            <a:ext cx="31950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SCM (Supply Chain Management Dept)</a:t>
            </a:r>
            <a:endParaRPr lang="en-AE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56B70C-AFE3-8764-A393-A6CF0398AEEE}"/>
              </a:ext>
            </a:extLst>
          </p:cNvPr>
          <p:cNvSpPr txBox="1"/>
          <p:nvPr/>
        </p:nvSpPr>
        <p:spPr>
          <a:xfrm>
            <a:off x="6534593" y="3476861"/>
            <a:ext cx="457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Supplier Technical Dept</a:t>
            </a:r>
            <a:endParaRPr lang="en-AE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04D0A6-4FCE-E6A4-88CC-E7F9AC7F3B8A}"/>
              </a:ext>
            </a:extLst>
          </p:cNvPr>
          <p:cNvSpPr txBox="1"/>
          <p:nvPr/>
        </p:nvSpPr>
        <p:spPr>
          <a:xfrm>
            <a:off x="3856958" y="4712485"/>
            <a:ext cx="5555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Supplier QA/R&amp;D Dept</a:t>
            </a:r>
            <a:endParaRPr lang="en-AE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C5F0BE-8C44-64F3-BD75-F4EA704F3EDA}"/>
              </a:ext>
            </a:extLst>
          </p:cNvPr>
          <p:cNvSpPr txBox="1"/>
          <p:nvPr/>
        </p:nvSpPr>
        <p:spPr>
          <a:xfrm>
            <a:off x="900666" y="6509930"/>
            <a:ext cx="5555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CQA Final Step</a:t>
            </a:r>
            <a:endParaRPr lang="en-AE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CDFCCA-2FCE-1BF8-B994-B0ECACBD30B9}"/>
              </a:ext>
            </a:extLst>
          </p:cNvPr>
          <p:cNvSpPr txBox="1"/>
          <p:nvPr/>
        </p:nvSpPr>
        <p:spPr>
          <a:xfrm>
            <a:off x="6930656" y="6321343"/>
            <a:ext cx="5555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Supplier Finance Dept</a:t>
            </a:r>
            <a:endParaRPr lang="en-AE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826B67-7920-F3A9-FCDA-33CF8A4F8F36}"/>
              </a:ext>
            </a:extLst>
          </p:cNvPr>
          <p:cNvSpPr txBox="1"/>
          <p:nvPr/>
        </p:nvSpPr>
        <p:spPr>
          <a:xfrm>
            <a:off x="3856958" y="6382898"/>
            <a:ext cx="3308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/>
              <a:t>Liugong</a:t>
            </a:r>
            <a:r>
              <a:rPr lang="en-US" sz="1400" b="1" dirty="0"/>
              <a:t> Finance Dept:</a:t>
            </a:r>
            <a:endParaRPr lang="en-AE" sz="1400" dirty="0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0B281D4F-A528-4C86-5830-08CAA21EA99E}"/>
              </a:ext>
            </a:extLst>
          </p:cNvPr>
          <p:cNvCxnSpPr>
            <a:cxnSpLocks/>
            <a:stCxn id="7" idx="3"/>
            <a:endCxn id="22" idx="3"/>
          </p:cNvCxnSpPr>
          <p:nvPr/>
        </p:nvCxnSpPr>
        <p:spPr>
          <a:xfrm flipV="1">
            <a:off x="3085215" y="1837212"/>
            <a:ext cx="347329" cy="1176714"/>
          </a:xfrm>
          <a:prstGeom prst="bentConnector3">
            <a:avLst>
              <a:gd name="adj1" fmla="val 403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0BB569DF-921A-57B9-1BA1-EF1C8CF6C7D5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837275" y="2125957"/>
            <a:ext cx="347329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50AD20F9-97BD-2759-F9F9-0F94672C971A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7436169" y="3048197"/>
            <a:ext cx="250705" cy="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7CB825DC-71CA-4CE2-8151-26A36B23BFDC}"/>
              </a:ext>
            </a:extLst>
          </p:cNvPr>
          <p:cNvCxnSpPr>
            <a:cxnSpLocks/>
          </p:cNvCxnSpPr>
          <p:nvPr/>
        </p:nvCxnSpPr>
        <p:spPr>
          <a:xfrm rot="10800000">
            <a:off x="4486940" y="3173550"/>
            <a:ext cx="3074580" cy="12700"/>
          </a:xfrm>
          <a:prstGeom prst="bentConnector3">
            <a:avLst>
              <a:gd name="adj1" fmla="val 10049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4847ACA9-7670-03BA-C521-27F382AEDF8C}"/>
              </a:ext>
            </a:extLst>
          </p:cNvPr>
          <p:cNvCxnSpPr>
            <a:cxnSpLocks/>
          </p:cNvCxnSpPr>
          <p:nvPr/>
        </p:nvCxnSpPr>
        <p:spPr>
          <a:xfrm rot="5400000">
            <a:off x="4280017" y="3380472"/>
            <a:ext cx="41384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8C889598-34A4-6CD9-71B4-434011EBA489}"/>
              </a:ext>
            </a:extLst>
          </p:cNvPr>
          <p:cNvCxnSpPr>
            <a:cxnSpLocks/>
          </p:cNvCxnSpPr>
          <p:nvPr/>
        </p:nvCxnSpPr>
        <p:spPr>
          <a:xfrm rot="5400000">
            <a:off x="7354597" y="3280285"/>
            <a:ext cx="413846" cy="1"/>
          </a:xfrm>
          <a:prstGeom prst="bentConnector3">
            <a:avLst>
              <a:gd name="adj1" fmla="val 885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77B487F4-9E7C-801C-D2CB-27463E4002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70437" y="5060271"/>
            <a:ext cx="69557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9131A10C-8DEA-6AB3-4150-B35AFF5754B8}"/>
              </a:ext>
            </a:extLst>
          </p:cNvPr>
          <p:cNvCxnSpPr>
            <a:cxnSpLocks/>
            <a:stCxn id="17" idx="1"/>
            <a:endCxn id="16" idx="0"/>
          </p:cNvCxnSpPr>
          <p:nvPr/>
        </p:nvCxnSpPr>
        <p:spPr>
          <a:xfrm rot="10800000" flipV="1">
            <a:off x="1577165" y="4203518"/>
            <a:ext cx="2101257" cy="13573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Curved 103">
            <a:extLst>
              <a:ext uri="{FF2B5EF4-FFF2-40B4-BE49-F238E27FC236}">
                <a16:creationId xmlns:a16="http://schemas.microsoft.com/office/drawing/2014/main" id="{0824617C-DF35-21D3-BBFB-8300243A0CED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 flipV="1">
            <a:off x="5749113" y="5882050"/>
            <a:ext cx="915729" cy="1119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284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95"/>
              </a:spcBef>
            </a:pPr>
            <a:r>
              <a:rPr spc="-5"/>
              <a:t>Thank</a:t>
            </a:r>
            <a:r>
              <a:rPr spc="-130"/>
              <a:t> </a:t>
            </a:r>
            <a:r>
              <a:rPr spc="-25"/>
              <a:t>You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13759" y="5494654"/>
            <a:ext cx="1297305" cy="13335"/>
            <a:chOff x="3413759" y="5494654"/>
            <a:chExt cx="1297305" cy="13335"/>
          </a:xfrm>
        </p:grpSpPr>
        <p:sp>
          <p:nvSpPr>
            <p:cNvPr id="5" name="object 5"/>
            <p:cNvSpPr/>
            <p:nvPr/>
          </p:nvSpPr>
          <p:spPr>
            <a:xfrm>
              <a:off x="3413759" y="5498591"/>
              <a:ext cx="1266190" cy="7620"/>
            </a:xfrm>
            <a:custGeom>
              <a:avLst/>
              <a:gdLst/>
              <a:ahLst/>
              <a:cxnLst/>
              <a:rect l="l" t="t" r="r" b="b"/>
              <a:pathLst>
                <a:path w="1266189" h="7620">
                  <a:moveTo>
                    <a:pt x="1266063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1266063" y="7620"/>
                  </a:lnTo>
                  <a:lnTo>
                    <a:pt x="12660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80203" y="5500117"/>
              <a:ext cx="30480" cy="7620"/>
            </a:xfrm>
            <a:custGeom>
              <a:avLst/>
              <a:gdLst/>
              <a:ahLst/>
              <a:cxnLst/>
              <a:rect l="l" t="t" r="r" b="b"/>
              <a:pathLst>
                <a:path w="30479" h="7620">
                  <a:moveTo>
                    <a:pt x="30479" y="0"/>
                  </a:moveTo>
                  <a:lnTo>
                    <a:pt x="0" y="0"/>
                  </a:lnTo>
                  <a:lnTo>
                    <a:pt x="0" y="7618"/>
                  </a:lnTo>
                  <a:lnTo>
                    <a:pt x="30479" y="7618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1F47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14140" y="5494654"/>
              <a:ext cx="1274445" cy="10795"/>
            </a:xfrm>
            <a:custGeom>
              <a:avLst/>
              <a:gdLst/>
              <a:ahLst/>
              <a:cxnLst/>
              <a:rect l="l" t="t" r="r" b="b"/>
              <a:pathLst>
                <a:path w="1274445" h="10795">
                  <a:moveTo>
                    <a:pt x="1274064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274064" y="10668"/>
                  </a:lnTo>
                  <a:lnTo>
                    <a:pt x="127406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65372" y="4719573"/>
            <a:ext cx="25406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>
                <a:latin typeface="Calibri" panose="020F0502020204030204"/>
                <a:cs typeface="Calibri" panose="020F0502020204030204"/>
              </a:rPr>
              <a:t>S</a:t>
            </a:r>
            <a:r>
              <a:rPr sz="1800" b="1" spc="5">
                <a:latin typeface="Calibri" panose="020F0502020204030204"/>
                <a:cs typeface="Calibri" panose="020F0502020204030204"/>
              </a:rPr>
              <a:t>e</a:t>
            </a:r>
            <a:r>
              <a:rPr sz="1800" b="1">
                <a:latin typeface="Calibri" panose="020F0502020204030204"/>
                <a:cs typeface="Calibri" panose="020F0502020204030204"/>
              </a:rPr>
              <a:t>lfservit</a:t>
            </a:r>
            <a:r>
              <a:rPr sz="1800" b="1" spc="-85">
                <a:latin typeface="Calibri" panose="020F0502020204030204"/>
                <a:cs typeface="Calibri" panose="020F0502020204030204"/>
              </a:rPr>
              <a:t> </a:t>
            </a:r>
            <a:r>
              <a:rPr sz="1800" b="1">
                <a:latin typeface="Calibri" panose="020F0502020204030204"/>
                <a:cs typeface="Calibri" panose="020F0502020204030204"/>
              </a:rPr>
              <a:t>Solutions</a:t>
            </a:r>
            <a:r>
              <a:rPr sz="18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800" b="1">
                <a:latin typeface="Calibri" panose="020F0502020204030204"/>
                <a:cs typeface="Calibri" panose="020F0502020204030204"/>
              </a:rPr>
              <a:t>(P)</a:t>
            </a:r>
            <a:r>
              <a:rPr sz="1800" b="1" spc="-6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30">
                <a:latin typeface="Calibri" panose="020F0502020204030204"/>
                <a:cs typeface="Calibri" panose="020F0502020204030204"/>
              </a:rPr>
              <a:t>L</a:t>
            </a:r>
            <a:r>
              <a:rPr sz="1800" b="1" spc="-25">
                <a:latin typeface="Calibri" panose="020F0502020204030204"/>
                <a:cs typeface="Calibri" panose="020F0502020204030204"/>
              </a:rPr>
              <a:t>t</a:t>
            </a:r>
            <a:r>
              <a:rPr sz="1800" b="1" spc="-20">
                <a:latin typeface="Calibri" panose="020F0502020204030204"/>
                <a:cs typeface="Calibri" panose="020F0502020204030204"/>
              </a:rPr>
              <a:t>d</a:t>
            </a:r>
            <a:r>
              <a:rPr sz="1800" b="1">
                <a:latin typeface="Calibri" panose="020F0502020204030204"/>
                <a:cs typeface="Calibri" panose="020F0502020204030204"/>
              </a:rPr>
              <a:t>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400" b="1" spc="-5">
                <a:latin typeface="Calibri" panose="020F0502020204030204"/>
                <a:cs typeface="Calibri" panose="020F0502020204030204"/>
              </a:rPr>
              <a:t>(CIN</a:t>
            </a:r>
            <a:r>
              <a:rPr sz="1400" b="1" spc="-45">
                <a:latin typeface="Calibri" panose="020F0502020204030204"/>
                <a:cs typeface="Calibri" panose="020F0502020204030204"/>
              </a:rPr>
              <a:t> </a:t>
            </a:r>
            <a:r>
              <a:rPr sz="1400" b="1">
                <a:latin typeface="Calibri" panose="020F0502020204030204"/>
                <a:cs typeface="Calibri" panose="020F0502020204030204"/>
              </a:rPr>
              <a:t>–</a:t>
            </a:r>
            <a:r>
              <a:rPr sz="1400" b="1" spc="-40"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15">
                <a:latin typeface="Calibri" panose="020F0502020204030204"/>
                <a:cs typeface="Calibri" panose="020F0502020204030204"/>
              </a:rPr>
              <a:t>U72900TN2008PTC068979)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48895">
              <a:lnSpc>
                <a:spcPct val="100000"/>
              </a:lnSpc>
              <a:spcBef>
                <a:spcPts val="815"/>
              </a:spcBef>
            </a:pPr>
            <a:r>
              <a:rPr sz="1200" b="1" spc="-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www.selfservit.com</a:t>
            </a:r>
            <a:r>
              <a:rPr sz="1200" b="1" spc="125">
                <a:solidFill>
                  <a:srgbClr val="0000FF"/>
                </a:solidFill>
                <a:latin typeface="Calibri" panose="020F0502020204030204"/>
                <a:cs typeface="Calibri" panose="020F0502020204030204"/>
                <a:hlinkClick r:id="rId2"/>
              </a:rPr>
              <a:t> </a:t>
            </a:r>
            <a:r>
              <a:rPr sz="1200" b="1" u="sng" spc="-1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 panose="020F0502020204030204"/>
                <a:cs typeface="Calibri" panose="020F0502020204030204"/>
                <a:hlinkClick r:id="rId3"/>
              </a:rPr>
              <a:t>www.mservice.in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47971" y="5181600"/>
            <a:ext cx="0" cy="1172210"/>
          </a:xfrm>
          <a:custGeom>
            <a:avLst/>
            <a:gdLst/>
            <a:ahLst/>
            <a:cxnLst/>
            <a:rect l="l" t="t" r="r" b="b"/>
            <a:pathLst>
              <a:path h="1172210">
                <a:moveTo>
                  <a:pt x="0" y="1171702"/>
                </a:moveTo>
                <a:lnTo>
                  <a:pt x="0" y="0"/>
                </a:lnTo>
              </a:path>
            </a:pathLst>
          </a:custGeom>
          <a:ln w="9142">
            <a:solidFill>
              <a:srgbClr val="FCFCF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4724400"/>
            <a:ext cx="9144000" cy="1270"/>
          </a:xfrm>
          <a:custGeom>
            <a:avLst/>
            <a:gdLst/>
            <a:ahLst/>
            <a:cxnLst/>
            <a:rect l="l" t="t" r="r" b="b"/>
            <a:pathLst>
              <a:path w="9144000" h="1270">
                <a:moveTo>
                  <a:pt x="0" y="0"/>
                </a:moveTo>
                <a:lnTo>
                  <a:pt x="9144000" y="126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06398" y="5589219"/>
            <a:ext cx="1438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100"/>
              </a:spcBef>
            </a:pPr>
            <a:r>
              <a:rPr sz="1200" b="1" u="sng" spc="-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Chennai:</a:t>
            </a:r>
            <a:r>
              <a:rPr sz="1200" b="1" u="sng" spc="-6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1200" b="1" u="sng" spc="-4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HO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algn="just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51/2</a:t>
            </a:r>
            <a:r>
              <a:rPr sz="1200" spc="-4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(Old</a:t>
            </a:r>
            <a:r>
              <a:rPr sz="1200" spc="-3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No.</a:t>
            </a:r>
            <a:r>
              <a:rPr sz="1200" spc="-35">
                <a:latin typeface="Calibri" panose="020F0502020204030204"/>
                <a:cs typeface="Calibri" panose="020F0502020204030204"/>
              </a:rPr>
              <a:t> </a:t>
            </a:r>
            <a:r>
              <a:rPr sz="1200" spc="-20">
                <a:latin typeface="Calibri" panose="020F0502020204030204"/>
                <a:cs typeface="Calibri" panose="020F0502020204030204"/>
              </a:rPr>
              <a:t>26)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141605" algn="just">
              <a:lnSpc>
                <a:spcPct val="100000"/>
              </a:lnSpc>
            </a:pP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 </a:t>
            </a:r>
            <a:r>
              <a:rPr sz="1200" spc="-5">
                <a:latin typeface="Calibri" panose="020F0502020204030204"/>
                <a:cs typeface="Calibri" panose="020F0502020204030204"/>
              </a:rPr>
              <a:t>Main Road </a:t>
            </a:r>
            <a:r>
              <a:rPr sz="1200" spc="-30">
                <a:latin typeface="Calibri" panose="020F0502020204030204"/>
                <a:cs typeface="Calibri" panose="020F0502020204030204"/>
              </a:rPr>
              <a:t>West, </a:t>
            </a:r>
            <a:r>
              <a:rPr sz="1200" spc="-26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Shenoy Nagar </a:t>
            </a:r>
            <a:r>
              <a:rPr sz="1200" spc="-20">
                <a:latin typeface="Calibri" panose="020F0502020204030204"/>
                <a:cs typeface="Calibri" panose="020F0502020204030204"/>
              </a:rPr>
              <a:t>West </a:t>
            </a:r>
            <a:r>
              <a:rPr sz="1200" spc="-1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C</a:t>
            </a:r>
            <a:r>
              <a:rPr sz="1200">
                <a:latin typeface="Calibri" panose="020F0502020204030204"/>
                <a:cs typeface="Calibri" panose="020F0502020204030204"/>
              </a:rPr>
              <a:t>he</a:t>
            </a:r>
            <a:r>
              <a:rPr sz="1200" spc="5">
                <a:latin typeface="Calibri" panose="020F0502020204030204"/>
                <a:cs typeface="Calibri" panose="020F0502020204030204"/>
              </a:rPr>
              <a:t>n</a:t>
            </a:r>
            <a:r>
              <a:rPr sz="1200">
                <a:latin typeface="Calibri" panose="020F0502020204030204"/>
                <a:cs typeface="Calibri" panose="020F0502020204030204"/>
              </a:rPr>
              <a:t>nai</a:t>
            </a:r>
            <a:r>
              <a:rPr sz="1200" spc="-6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600</a:t>
            </a:r>
            <a:r>
              <a:rPr sz="1200" spc="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030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73025" algn="just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+91-76048-78864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36894" y="5589219"/>
            <a:ext cx="175513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u="sng" spc="-15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Bangalore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 marR="30480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3262/1,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st</a:t>
            </a:r>
            <a:r>
              <a:rPr sz="1200" spc="89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13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th</a:t>
            </a:r>
            <a:r>
              <a:rPr sz="1200" spc="112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15">
                <a:latin typeface="Calibri" panose="020F0502020204030204"/>
                <a:cs typeface="Calibri" panose="020F0502020204030204"/>
              </a:rPr>
              <a:t>Cross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2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n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d</a:t>
            </a:r>
            <a:r>
              <a:rPr sz="1200" spc="97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tage,</a:t>
            </a:r>
            <a:r>
              <a:rPr sz="1200" spc="-4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Indira</a:t>
            </a:r>
            <a:r>
              <a:rPr sz="1200" spc="-95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N</a:t>
            </a:r>
            <a:r>
              <a:rPr sz="1200" spc="-15">
                <a:latin typeface="Calibri" panose="020F0502020204030204"/>
                <a:cs typeface="Calibri" panose="020F0502020204030204"/>
              </a:rPr>
              <a:t>agar</a:t>
            </a:r>
            <a:r>
              <a:rPr sz="1200">
                <a:latin typeface="Calibri" panose="020F0502020204030204"/>
                <a:cs typeface="Calibri" panose="020F0502020204030204"/>
              </a:rPr>
              <a:t>,  </a:t>
            </a:r>
            <a:r>
              <a:rPr sz="1200" spc="-15">
                <a:latin typeface="Calibri" panose="020F0502020204030204"/>
                <a:cs typeface="Calibri" panose="020F0502020204030204"/>
              </a:rPr>
              <a:t>Bangalore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25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38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8100">
              <a:lnSpc>
                <a:spcPct val="100000"/>
              </a:lnSpc>
            </a:pPr>
            <a:r>
              <a:rPr sz="1200">
                <a:latin typeface="Calibri" panose="020F0502020204030204"/>
                <a:cs typeface="Calibri" panose="020F0502020204030204"/>
              </a:rPr>
              <a:t>Ph</a:t>
            </a:r>
            <a:r>
              <a:rPr sz="1200" spc="-1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-</a:t>
            </a:r>
            <a:r>
              <a:rPr sz="1200" spc="-10">
                <a:latin typeface="Calibri" panose="020F0502020204030204"/>
                <a:cs typeface="Calibri" panose="020F0502020204030204"/>
              </a:rPr>
              <a:t> +91-80-25216635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2021" y="5589219"/>
            <a:ext cx="708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>
                <a:latin typeface="Calibri" panose="020F0502020204030204"/>
                <a:cs typeface="Calibri" panose="020F0502020204030204"/>
              </a:rPr>
              <a:t>H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y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d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e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r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b="1" spc="-20">
                <a:latin typeface="Calibri" panose="020F0502020204030204"/>
                <a:cs typeface="Calibri" panose="020F0502020204030204"/>
              </a:rPr>
              <a:t>a</a:t>
            </a:r>
            <a:r>
              <a:rPr sz="1200" b="1">
                <a:latin typeface="Calibri" panose="020F0502020204030204"/>
                <a:cs typeface="Calibri" panose="020F0502020204030204"/>
              </a:rPr>
              <a:t>d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44467" y="5775961"/>
            <a:ext cx="690245" cy="7620"/>
          </a:xfrm>
          <a:custGeom>
            <a:avLst/>
            <a:gdLst/>
            <a:ahLst/>
            <a:cxnLst/>
            <a:rect l="l" t="t" r="r" b="b"/>
            <a:pathLst>
              <a:path w="690245" h="7620">
                <a:moveTo>
                  <a:pt x="689863" y="0"/>
                </a:moveTo>
                <a:lnTo>
                  <a:pt x="0" y="0"/>
                </a:lnTo>
                <a:lnTo>
                  <a:pt x="0" y="7618"/>
                </a:lnTo>
                <a:lnTo>
                  <a:pt x="689863" y="7618"/>
                </a:lnTo>
                <a:lnTo>
                  <a:pt x="689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07257" y="5772099"/>
            <a:ext cx="20396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Plot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No.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6,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Lane.</a:t>
            </a:r>
            <a:r>
              <a:rPr sz="1200" spc="-25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Opp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5">
                <a:latin typeface="Calibri" panose="020F0502020204030204"/>
                <a:cs typeface="Calibri" panose="020F0502020204030204"/>
              </a:rPr>
              <a:t>OBC </a:t>
            </a:r>
            <a:r>
              <a:rPr sz="1200" spc="-25">
                <a:latin typeface="Calibri" panose="020F0502020204030204"/>
                <a:cs typeface="Calibri" panose="020F0502020204030204"/>
              </a:rPr>
              <a:t>Bank, </a:t>
            </a:r>
            <a:r>
              <a:rPr sz="1200" spc="-254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1</a:t>
            </a:r>
            <a:r>
              <a:rPr sz="1200" spc="-7" baseline="21000">
                <a:latin typeface="Calibri" panose="020F0502020204030204"/>
                <a:cs typeface="Calibri" panose="020F0502020204030204"/>
              </a:rPr>
              <a:t>s</a:t>
            </a:r>
            <a:r>
              <a:rPr sz="1200" baseline="21000">
                <a:latin typeface="Calibri" panose="020F0502020204030204"/>
                <a:cs typeface="Calibri" panose="020F0502020204030204"/>
              </a:rPr>
              <a:t>t</a:t>
            </a:r>
            <a:r>
              <a:rPr sz="1200" spc="60" baseline="21000">
                <a:latin typeface="Calibri" panose="020F0502020204030204"/>
                <a:cs typeface="Calibri" panose="020F0502020204030204"/>
              </a:rPr>
              <a:t> </a:t>
            </a:r>
            <a:r>
              <a:rPr sz="1200" spc="-25">
                <a:latin typeface="Calibri" panose="020F0502020204030204"/>
                <a:cs typeface="Calibri" panose="020F0502020204030204"/>
              </a:rPr>
              <a:t>Floor</a:t>
            </a:r>
            <a:r>
              <a:rPr sz="1200">
                <a:latin typeface="Calibri" panose="020F0502020204030204"/>
                <a:cs typeface="Calibri" panose="020F0502020204030204"/>
              </a:rPr>
              <a:t>,</a:t>
            </a:r>
            <a:r>
              <a:rPr sz="1200" spc="-2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>
                <a:latin typeface="Calibri" panose="020F0502020204030204"/>
                <a:cs typeface="Calibri" panose="020F0502020204030204"/>
              </a:rPr>
              <a:t>e</a:t>
            </a:r>
            <a:r>
              <a:rPr sz="1200" spc="5">
                <a:latin typeface="Calibri" panose="020F0502020204030204"/>
                <a:cs typeface="Calibri" panose="020F0502020204030204"/>
              </a:rPr>
              <a:t>t</a:t>
            </a:r>
            <a:r>
              <a:rPr sz="1200">
                <a:latin typeface="Calibri" panose="020F0502020204030204"/>
                <a:cs typeface="Calibri" panose="020F0502020204030204"/>
              </a:rPr>
              <a:t>hany</a:t>
            </a:r>
            <a:r>
              <a:rPr sz="1200" spc="-80">
                <a:latin typeface="Calibri" panose="020F0502020204030204"/>
                <a:cs typeface="Calibri" panose="020F0502020204030204"/>
              </a:rPr>
              <a:t> </a:t>
            </a:r>
            <a:r>
              <a:rPr sz="1200" spc="-30">
                <a:latin typeface="Calibri" panose="020F0502020204030204"/>
                <a:cs typeface="Calibri" panose="020F0502020204030204"/>
              </a:rPr>
              <a:t>H</a:t>
            </a:r>
            <a:r>
              <a:rPr sz="1200" spc="-25">
                <a:latin typeface="Calibri" panose="020F0502020204030204"/>
                <a:cs typeface="Calibri" panose="020F0502020204030204"/>
              </a:rPr>
              <a:t>o</a:t>
            </a:r>
            <a:r>
              <a:rPr sz="1200" spc="-20">
                <a:latin typeface="Calibri" panose="020F0502020204030204"/>
                <a:cs typeface="Calibri" panose="020F0502020204030204"/>
              </a:rPr>
              <a:t>u</a:t>
            </a:r>
            <a:r>
              <a:rPr sz="1200" spc="-30">
                <a:latin typeface="Calibri" panose="020F0502020204030204"/>
                <a:cs typeface="Calibri" panose="020F0502020204030204"/>
              </a:rPr>
              <a:t>s</a:t>
            </a:r>
            <a:r>
              <a:rPr sz="1200">
                <a:latin typeface="Calibri" panose="020F0502020204030204"/>
                <a:cs typeface="Calibri" panose="020F0502020204030204"/>
              </a:rPr>
              <a:t>e  </a:t>
            </a:r>
            <a:r>
              <a:rPr sz="1200" spc="-15">
                <a:latin typeface="Calibri" panose="020F0502020204030204"/>
                <a:cs typeface="Calibri" panose="020F0502020204030204"/>
              </a:rPr>
              <a:t>S</a:t>
            </a:r>
            <a:r>
              <a:rPr sz="1200" spc="-10">
                <a:latin typeface="Calibri" panose="020F0502020204030204"/>
                <a:cs typeface="Calibri" panose="020F0502020204030204"/>
              </a:rPr>
              <a:t>e</a:t>
            </a:r>
            <a:r>
              <a:rPr sz="1200" spc="-20">
                <a:latin typeface="Calibri" panose="020F0502020204030204"/>
                <a:cs typeface="Calibri" panose="020F0502020204030204"/>
              </a:rPr>
              <a:t>c</a:t>
            </a:r>
            <a:r>
              <a:rPr sz="1200" spc="-10">
                <a:latin typeface="Calibri" panose="020F0502020204030204"/>
                <a:cs typeface="Calibri" panose="020F0502020204030204"/>
              </a:rPr>
              <a:t>unde</a:t>
            </a:r>
            <a:r>
              <a:rPr sz="1200" spc="-15">
                <a:latin typeface="Calibri" panose="020F0502020204030204"/>
                <a:cs typeface="Calibri" panose="020F0502020204030204"/>
              </a:rPr>
              <a:t>ra</a:t>
            </a:r>
            <a:r>
              <a:rPr sz="1200" spc="-10">
                <a:latin typeface="Calibri" panose="020F0502020204030204"/>
                <a:cs typeface="Calibri" panose="020F0502020204030204"/>
              </a:rPr>
              <a:t>b</a:t>
            </a:r>
            <a:r>
              <a:rPr sz="1200" spc="-15">
                <a:latin typeface="Calibri" panose="020F0502020204030204"/>
                <a:cs typeface="Calibri" panose="020F0502020204030204"/>
              </a:rPr>
              <a:t>a</a:t>
            </a:r>
            <a:r>
              <a:rPr sz="1200">
                <a:latin typeface="Calibri" panose="020F0502020204030204"/>
                <a:cs typeface="Calibri" panose="020F0502020204030204"/>
              </a:rPr>
              <a:t>d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>
                <a:latin typeface="Calibri" panose="020F0502020204030204"/>
                <a:cs typeface="Calibri" panose="020F0502020204030204"/>
              </a:rPr>
              <a:t>–</a:t>
            </a:r>
            <a:r>
              <a:rPr sz="1200" spc="4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500003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2021" y="6321348"/>
            <a:ext cx="1077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 panose="020F0502020204030204"/>
                <a:cs typeface="Calibri" panose="020F0502020204030204"/>
              </a:rPr>
              <a:t>Ph-</a:t>
            </a:r>
            <a:r>
              <a:rPr sz="1200" spc="-50">
                <a:latin typeface="Calibri" panose="020F0502020204030204"/>
                <a:cs typeface="Calibri" panose="020F0502020204030204"/>
              </a:rPr>
              <a:t> </a:t>
            </a:r>
            <a:r>
              <a:rPr sz="1200" spc="-10">
                <a:latin typeface="Calibri" panose="020F0502020204030204"/>
                <a:cs typeface="Calibri" panose="020F0502020204030204"/>
              </a:rPr>
              <a:t>99891-21094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5306CFCD34E84FB9AF5E894D6C3073" ma:contentTypeVersion="14" ma:contentTypeDescription="Create a new document." ma:contentTypeScope="" ma:versionID="2f773f5274a411c36a13d712746532c4">
  <xsd:schema xmlns:xsd="http://www.w3.org/2001/XMLSchema" xmlns:xs="http://www.w3.org/2001/XMLSchema" xmlns:p="http://schemas.microsoft.com/office/2006/metadata/properties" xmlns:ns3="944e8e7f-c586-4da5-b625-25ca602de198" xmlns:ns4="09882c4c-98d3-42d4-9fa4-9b997bf31c9f" targetNamespace="http://schemas.microsoft.com/office/2006/metadata/properties" ma:root="true" ma:fieldsID="fe7d79485c4578d231ee9735e9a8c86a" ns3:_="" ns4:_="">
    <xsd:import namespace="944e8e7f-c586-4da5-b625-25ca602de198"/>
    <xsd:import namespace="09882c4c-98d3-42d4-9fa4-9b997bf31c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4e8e7f-c586-4da5-b625-25ca602de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82c4c-98d3-42d4-9fa4-9b997bf31c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4e8e7f-c586-4da5-b625-25ca602de19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DF5F45-434B-4C51-AE99-29B5FA6DBA9E}">
  <ds:schemaRefs>
    <ds:schemaRef ds:uri="09882c4c-98d3-42d4-9fa4-9b997bf31c9f"/>
    <ds:schemaRef ds:uri="944e8e7f-c586-4da5-b625-25ca602de1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E6DB5ED-6937-4BC3-BCC6-8A103A480F64}">
  <ds:schemaRefs>
    <ds:schemaRef ds:uri="09882c4c-98d3-42d4-9fa4-9b997bf31c9f"/>
    <ds:schemaRef ds:uri="944e8e7f-c586-4da5-b625-25ca602de19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A2A7700-D0B7-47B9-AE21-3C3F317AE3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384</Words>
  <Application>Microsoft Office PowerPoint</Application>
  <PresentationFormat>On-screen Show (4:3)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 MT</vt:lpstr>
      <vt:lpstr>Calibri</vt:lpstr>
      <vt:lpstr>Office Theme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MService</dc:title>
  <dc:subject>Overview</dc:subject>
  <dc:creator>Chak</dc:creator>
  <cp:lastModifiedBy>Aswin R</cp:lastModifiedBy>
  <cp:revision>6</cp:revision>
  <dcterms:created xsi:type="dcterms:W3CDTF">2024-03-14T07:43:00Z</dcterms:created>
  <dcterms:modified xsi:type="dcterms:W3CDTF">2025-09-02T11:18:53Z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2024-02-24T05:30:00Z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2024-03-14T05:30:00Z</vt:filetime>
  </property>
  <property fmtid="{D5CDD505-2E9C-101B-9397-08002B2CF9AE}" pid="5" name="ICV">
    <vt:lpwstr>8095A703FF644F2FADEED5D7B10CAF49_13</vt:lpwstr>
  </property>
  <property fmtid="{D5CDD505-2E9C-101B-9397-08002B2CF9AE}" pid="6" name="KSOProductBuildVer">
    <vt:lpwstr>1033-12.2.0.16731</vt:lpwstr>
  </property>
  <property fmtid="{D5CDD505-2E9C-101B-9397-08002B2CF9AE}" pid="7" name="ContentTypeId">
    <vt:lpwstr>0x010100785306CFCD34E84FB9AF5E894D6C3073</vt:lpwstr>
  </property>
</Properties>
</file>